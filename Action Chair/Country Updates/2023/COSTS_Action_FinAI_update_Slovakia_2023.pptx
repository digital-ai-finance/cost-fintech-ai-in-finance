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63" r:id="rId5"/>
    <p:sldMasterId id="2147483678" r:id="rId6"/>
  </p:sldMasterIdLst>
  <p:notesMasterIdLst>
    <p:notesMasterId r:id="rId16"/>
  </p:notesMasterIdLst>
  <p:sldIdLst>
    <p:sldId id="256" r:id="rId7"/>
    <p:sldId id="257" r:id="rId8"/>
    <p:sldId id="266" r:id="rId9"/>
    <p:sldId id="267" r:id="rId10"/>
    <p:sldId id="259" r:id="rId11"/>
    <p:sldId id="264" r:id="rId12"/>
    <p:sldId id="265" r:id="rId13"/>
    <p:sldId id="260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94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SK0XLjbvQH3rkIBtZsH7aLKbd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13FDC1-CDFC-4A88-85DF-0B6200295325}">
  <a:tblStyle styleId="{0C13FDC1-CDFC-4A88-85DF-0B62002953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46" y="151"/>
      </p:cViewPr>
      <p:guideLst>
        <p:guide pos="594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a Peliova | Prorektor EU v Bratislave" userId="0b5fefa0-339c-4b71-88ad-4510c24d3c86" providerId="ADAL" clId="{3DFAE4D7-3AF0-4B22-AC7E-CB719EE30151}"/>
    <pc:docChg chg="modSld">
      <pc:chgData name="Jana Peliova | Prorektor EU v Bratislave" userId="0b5fefa0-339c-4b71-88ad-4510c24d3c86" providerId="ADAL" clId="{3DFAE4D7-3AF0-4B22-AC7E-CB719EE30151}" dt="2023-09-22T05:20:04.642" v="14" actId="20577"/>
      <pc:docMkLst>
        <pc:docMk/>
      </pc:docMkLst>
      <pc:sldChg chg="modSp">
        <pc:chgData name="Jana Peliova | Prorektor EU v Bratislave" userId="0b5fefa0-339c-4b71-88ad-4510c24d3c86" providerId="ADAL" clId="{3DFAE4D7-3AF0-4B22-AC7E-CB719EE30151}" dt="2023-09-22T05:20:04.642" v="14" actId="20577"/>
        <pc:sldMkLst>
          <pc:docMk/>
          <pc:sldMk cId="4289595660" sldId="266"/>
        </pc:sldMkLst>
        <pc:spChg chg="mod">
          <ac:chgData name="Jana Peliova | Prorektor EU v Bratislave" userId="0b5fefa0-339c-4b71-88ad-4510c24d3c86" providerId="ADAL" clId="{3DFAE4D7-3AF0-4B22-AC7E-CB719EE30151}" dt="2023-09-22T05:20:04.642" v="14" actId="20577"/>
          <ac:spMkLst>
            <pc:docMk/>
            <pc:sldMk cId="4289595660" sldId="266"/>
            <ac:spMk id="2" creationId="{5E50BB9A-CBE2-491C-BDCF-7DA0842536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1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2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3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1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4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1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1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6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16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7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8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9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20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en-US" sz="16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20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72" name="Google Shape;72;p20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73" name="Google Shape;73;p20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20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20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20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20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8" name="Google Shape;78;p20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4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7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2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8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0" name="Google Shape;110;p2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9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0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3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0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1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6" name="Google Shape;126;p31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1" name="Google Shape;131;p32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3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6" name="Google Shape;136;p33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4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34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5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6" name="Google Shape;146;p35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en-US" sz="1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35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148" name="Google Shape;148;p35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149" name="Google Shape;149;p35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35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1" name="Google Shape;151;p35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35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" name="Google Shape;153;p35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4" name="Google Shape;154;p35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title">
  <p:cSld name="3_Presentation - titl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9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39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resentation - title">
  <p:cSld name="4_Presentation - titl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0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0" name="Google Shape;170;p40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40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Presentation - title">
  <p:cSld name="5_Presentation - titl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41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41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Content">
  <p:cSld name="2_Presentation - Conten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2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7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42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1" name="Google Shape;181;p4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Content 2">
  <p:cSld name="2_Presentation - Content 2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3"/>
          <p:cNvSpPr txBox="1">
            <a:spLocks noGrp="1"/>
          </p:cNvSpPr>
          <p:nvPr>
            <p:ph type="body" idx="1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43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6" name="Google Shape;186;p4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Empty - Content">
  <p:cSld name="2_Presentation - Empty - Conten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4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8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44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1" name="Google Shape;191;p4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5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p45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4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5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Content">
  <p:cSld name="3_Presentation -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6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46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Content 2">
  <p:cSld name="3_Presentation - Content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47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Empty - Content">
  <p:cSld name="3_Presentation - Empty - Conten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" name="Google Shape;212;p48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9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7" name="Google Shape;217;p49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" name="Google Shape;218;p49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">
  <p:cSld name="1_Presentation - Empt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0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2" name="Google Shape;222;p50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en-US" sz="1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50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224" name="Google Shape;224;p50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225" name="Google Shape;225;p50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50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7" name="Google Shape;227;p50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50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50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0" name="Google Shape;230;p50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2">
  <p:cSld name="1_Presentation - Empty 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5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Empty">
  <p:cSld name="1_Presentation - Empty - Empty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-US" dirty="0"/>
              <a:t>COST Fin AI Country Update</a:t>
            </a:r>
            <a:endParaRPr dirty="0"/>
          </a:p>
        </p:txBody>
      </p:sp>
      <p:sp>
        <p:nvSpPr>
          <p:cNvPr id="242" name="Google Shape;242;p1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sk-SK" dirty="0"/>
              <a:t>Slovakia</a:t>
            </a:r>
            <a:endParaRPr dirty="0"/>
          </a:p>
        </p:txBody>
      </p:sp>
      <p:sp>
        <p:nvSpPr>
          <p:cNvPr id="243" name="Google Shape;243;p1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"/>
          <p:cNvSpPr txBox="1">
            <a:spLocks noGrp="1"/>
          </p:cNvSpPr>
          <p:nvPr>
            <p:ph type="body" idx="1"/>
          </p:nvPr>
        </p:nvSpPr>
        <p:spPr>
          <a:xfrm>
            <a:off x="237745" y="1545162"/>
            <a:ext cx="11832336" cy="477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7400" dirty="0"/>
              <a:t>MC:</a:t>
            </a:r>
          </a:p>
          <a:p>
            <a:pPr marL="685800" lvl="1" indent="-2286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sk-SK" sz="7000" dirty="0"/>
              <a:t>Jana Peliova</a:t>
            </a:r>
            <a:r>
              <a:rPr lang="en-US" sz="7000" dirty="0"/>
              <a:t>, University of </a:t>
            </a:r>
            <a:r>
              <a:rPr lang="sk-SK" sz="7000" dirty="0"/>
              <a:t>Economics in Bratislave</a:t>
            </a:r>
            <a:endParaRPr lang="en-US" sz="7000" dirty="0"/>
          </a:p>
          <a:p>
            <a:pPr marL="685800" lvl="1" indent="-2286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sk-SK" sz="7000" dirty="0"/>
              <a:t>Marek Kacer</a:t>
            </a:r>
            <a:r>
              <a:rPr lang="en-US" sz="7000" dirty="0"/>
              <a:t>, University of </a:t>
            </a:r>
            <a:r>
              <a:rPr lang="sk-SK" sz="7000" dirty="0"/>
              <a:t>Economics in Bratislave 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sz="7400" dirty="0"/>
              <a:t>Other Members:</a:t>
            </a:r>
            <a:endParaRPr sz="7400" dirty="0"/>
          </a:p>
          <a:p>
            <a:pPr marL="685800" lvl="1" indent="-228600">
              <a:lnSpc>
                <a:spcPct val="120000"/>
              </a:lnSpc>
              <a:spcBef>
                <a:spcPts val="1000"/>
              </a:spcBef>
              <a:buSzPct val="100000"/>
            </a:pPr>
            <a:r>
              <a:rPr lang="sk-SK" sz="7000" dirty="0"/>
              <a:t>Miroslav Hudec, Erika </a:t>
            </a:r>
            <a:r>
              <a:rPr lang="sk-SK" sz="7000" dirty="0" err="1"/>
              <a:t>Minarikova</a:t>
            </a:r>
            <a:r>
              <a:rPr lang="sk-SK" sz="7000" dirty="0"/>
              <a:t>, Maria </a:t>
            </a:r>
            <a:r>
              <a:rPr lang="sk-SK" sz="7000" dirty="0" err="1"/>
              <a:t>Vojtasova</a:t>
            </a:r>
            <a:r>
              <a:rPr lang="sk-SK" sz="7000" dirty="0"/>
              <a:t>, Martin Alexy, Andrea </a:t>
            </a:r>
            <a:r>
              <a:rPr lang="sk-SK" sz="7000" dirty="0" err="1"/>
              <a:t>Furkova</a:t>
            </a:r>
            <a:r>
              <a:rPr lang="sk-SK" sz="7000" dirty="0"/>
              <a:t>, Michal Kompan</a:t>
            </a:r>
            <a:endParaRPr lang="en-US" sz="7000"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sk-SK" sz="7400" dirty="0"/>
              <a:t>8</a:t>
            </a:r>
            <a:r>
              <a:rPr lang="en-US" sz="7400" dirty="0"/>
              <a:t> Members (some of them inactive); </a:t>
            </a:r>
            <a:r>
              <a:rPr lang="sk-SK" sz="7400" dirty="0"/>
              <a:t>4</a:t>
            </a:r>
            <a:r>
              <a:rPr lang="en-US" sz="7400" dirty="0"/>
              <a:t> males, 4 females</a:t>
            </a:r>
            <a:br>
              <a:rPr lang="en-US" sz="7400" dirty="0"/>
            </a:br>
            <a:br>
              <a:rPr lang="en-US" sz="4800" dirty="0"/>
            </a:br>
            <a:endParaRPr dirty="0"/>
          </a:p>
        </p:txBody>
      </p:sp>
      <p:sp>
        <p:nvSpPr>
          <p:cNvPr id="249" name="Google Shape;249;p2"/>
          <p:cNvSpPr txBox="1">
            <a:spLocks noGrp="1"/>
          </p:cNvSpPr>
          <p:nvPr>
            <p:ph type="title"/>
          </p:nvPr>
        </p:nvSpPr>
        <p:spPr>
          <a:xfrm>
            <a:off x="3389313" y="957395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dirty="0"/>
              <a:t>Members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text 1">
            <a:extLst>
              <a:ext uri="{FF2B5EF4-FFF2-40B4-BE49-F238E27FC236}">
                <a16:creationId xmlns:a16="http://schemas.microsoft.com/office/drawing/2014/main" id="{5E50BB9A-CBE2-491C-BDCF-7DA084253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50800" indent="0">
              <a:buNone/>
            </a:pPr>
            <a:r>
              <a:rPr lang="sk-SK" b="1" dirty="0" err="1"/>
              <a:t>WiF</a:t>
            </a:r>
            <a:r>
              <a:rPr lang="sk-SK" b="1" dirty="0"/>
              <a:t> </a:t>
            </a:r>
            <a:r>
              <a:rPr lang="en-GB" b="1" dirty="0"/>
              <a:t>Coimbra workshop presentation</a:t>
            </a:r>
            <a:r>
              <a:rPr lang="en-GB" dirty="0"/>
              <a:t>:</a:t>
            </a:r>
            <a:endParaRPr lang="sk-SK" dirty="0"/>
          </a:p>
          <a:p>
            <a:r>
              <a:rPr lang="en-GB" i="1" dirty="0"/>
              <a:t>Linguistic summaries in explaining, classifying and ranking entities in the context of</a:t>
            </a:r>
            <a:r>
              <a:rPr lang="sk-SK" i="1" dirty="0"/>
              <a:t> </a:t>
            </a:r>
            <a:r>
              <a:rPr lang="en-GB" i="1" dirty="0"/>
              <a:t>financial data - ideas and perspectives</a:t>
            </a:r>
            <a:r>
              <a:rPr lang="en-GB" dirty="0"/>
              <a:t> commonly prepared by Erika Mináriková, Miroslav Hudec and Galena Pisoni.</a:t>
            </a:r>
            <a:endParaRPr lang="sk-SK" dirty="0"/>
          </a:p>
          <a:p>
            <a:pPr marL="50800" indent="0">
              <a:buNone/>
            </a:pPr>
            <a:r>
              <a:rPr lang="sk-SK" b="1" dirty="0" err="1"/>
              <a:t>WiF</a:t>
            </a:r>
            <a:r>
              <a:rPr lang="sk-SK" b="1" dirty="0"/>
              <a:t> </a:t>
            </a:r>
            <a:r>
              <a:rPr lang="en-GB" b="1" dirty="0"/>
              <a:t>Napoli Workshop presentation:</a:t>
            </a:r>
            <a:endParaRPr lang="sk-SK" dirty="0"/>
          </a:p>
          <a:p>
            <a:r>
              <a:rPr lang="en-GB" dirty="0"/>
              <a:t>The inclusion of explainable AI approaches for well-being – theory and applications prepared by Miroslav Hudec and Erika Mináriková.</a:t>
            </a:r>
            <a:endParaRPr lang="sk-SK" dirty="0"/>
          </a:p>
          <a:p>
            <a:pPr marL="50800" indent="0">
              <a:buNone/>
            </a:pPr>
            <a:r>
              <a:rPr lang="sk-SK" b="1" dirty="0" err="1"/>
              <a:t>Diversity</a:t>
            </a:r>
            <a:r>
              <a:rPr lang="sk-SK" b="1" dirty="0"/>
              <a:t> </a:t>
            </a:r>
            <a:r>
              <a:rPr lang="sk-SK" b="1"/>
              <a:t>group </a:t>
            </a:r>
            <a:r>
              <a:rPr lang="sk-SK" b="1" dirty="0"/>
              <a:t>Tirana Workshop</a:t>
            </a:r>
          </a:p>
          <a:p>
            <a:pPr marL="50800" indent="0">
              <a:buNone/>
            </a:pPr>
            <a:r>
              <a:rPr lang="sk-SK" dirty="0"/>
              <a:t>Jana Peliova</a:t>
            </a:r>
          </a:p>
          <a:p>
            <a:pPr marL="50800" indent="0">
              <a:buNone/>
            </a:pPr>
            <a:r>
              <a:rPr lang="en-GB" dirty="0"/>
              <a:t> </a:t>
            </a:r>
            <a:endParaRPr lang="sk-SK" dirty="0"/>
          </a:p>
          <a:p>
            <a:endParaRPr lang="sk-SK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3742CDFB-88FF-455B-98AF-162C6502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Cost</a:t>
            </a:r>
            <a:r>
              <a:rPr lang="sk-SK" dirty="0"/>
              <a:t> </a:t>
            </a:r>
            <a:r>
              <a:rPr lang="sk-SK" dirty="0" err="1"/>
              <a:t>events</a:t>
            </a:r>
            <a:r>
              <a:rPr lang="sk-SK" dirty="0"/>
              <a:t> </a:t>
            </a:r>
            <a:r>
              <a:rPr lang="sk-SK" dirty="0" err="1"/>
              <a:t>participation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8959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text 1">
            <a:extLst>
              <a:ext uri="{FF2B5EF4-FFF2-40B4-BE49-F238E27FC236}">
                <a16:creationId xmlns:a16="http://schemas.microsoft.com/office/drawing/2014/main" id="{C733D02D-D2A9-4399-9542-834C6D8E5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GB" b="1" dirty="0"/>
              <a:t>Bern December 2022</a:t>
            </a:r>
            <a:endParaRPr lang="sk-SK" dirty="0"/>
          </a:p>
          <a:p>
            <a:r>
              <a:rPr lang="en-GB" i="1" dirty="0"/>
              <a:t>Fuzzy functional dependencies and linguistic summaries in interpreting knowledge from data – A case of financial literacy and emotional features</a:t>
            </a:r>
            <a:r>
              <a:rPr lang="sk-SK" i="1" dirty="0"/>
              <a:t>:</a:t>
            </a:r>
            <a:r>
              <a:rPr lang="en-GB" dirty="0"/>
              <a:t> Miroslav Hudec</a:t>
            </a:r>
            <a:endParaRPr lang="sk-SK" dirty="0"/>
          </a:p>
          <a:p>
            <a:endParaRPr lang="sk-SK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9CA20B37-E104-4136-A29C-359A4D96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Not</a:t>
            </a:r>
            <a:r>
              <a:rPr lang="sk-SK" dirty="0"/>
              <a:t> </a:t>
            </a:r>
            <a:r>
              <a:rPr lang="sk-SK" dirty="0" err="1"/>
              <a:t>Cost</a:t>
            </a:r>
            <a:r>
              <a:rPr lang="sk-SK" dirty="0"/>
              <a:t> </a:t>
            </a:r>
            <a:r>
              <a:rPr lang="sk-SK" dirty="0" err="1"/>
              <a:t>funded</a:t>
            </a:r>
            <a:r>
              <a:rPr lang="sk-SK" dirty="0"/>
              <a:t> </a:t>
            </a:r>
            <a:r>
              <a:rPr lang="sk-SK" dirty="0" err="1"/>
              <a:t>events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11462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"/>
          <p:cNvSpPr txBox="1">
            <a:spLocks noGrp="1"/>
          </p:cNvSpPr>
          <p:nvPr>
            <p:ph type="title"/>
          </p:nvPr>
        </p:nvSpPr>
        <p:spPr>
          <a:xfrm>
            <a:off x="3297873" y="1021403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dirty="0"/>
              <a:t>Publications</a:t>
            </a:r>
            <a:endParaRPr dirty="0"/>
          </a:p>
        </p:txBody>
      </p:sp>
      <p:sp>
        <p:nvSpPr>
          <p:cNvPr id="261" name="Google Shape;261;p4"/>
          <p:cNvSpPr txBox="1">
            <a:spLocks noGrp="1"/>
          </p:cNvSpPr>
          <p:nvPr>
            <p:ph type="body" idx="1"/>
          </p:nvPr>
        </p:nvSpPr>
        <p:spPr>
          <a:xfrm>
            <a:off x="1465750" y="1884225"/>
            <a:ext cx="94401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58700" rIns="91425" bIns="45700" anchor="ctr" anchorCtr="0">
            <a:noAutofit/>
          </a:bodyPr>
          <a:lstStyle/>
          <a:p>
            <a:pPr marL="0" lvl="0" indent="-228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dirty="0">
                <a:solidFill>
                  <a:schemeClr val="dk1"/>
                </a:solidFill>
              </a:rPr>
              <a:t>Conference</a:t>
            </a:r>
            <a:r>
              <a:rPr lang="sk-SK" sz="2300" b="1" dirty="0">
                <a:solidFill>
                  <a:schemeClr val="dk1"/>
                </a:solidFill>
              </a:rPr>
              <a:t> </a:t>
            </a:r>
            <a:r>
              <a:rPr lang="sk-SK" sz="2300" b="1" dirty="0" err="1">
                <a:solidFill>
                  <a:schemeClr val="dk1"/>
                </a:solidFill>
              </a:rPr>
              <a:t>proceedings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GB" sz="2300" dirty="0"/>
              <a:t>Hudec M., Mináriková E., Schwarz D., </a:t>
            </a:r>
            <a:r>
              <a:rPr lang="en-GB" sz="2300" dirty="0" err="1"/>
              <a:t>Fivaz</a:t>
            </a:r>
            <a:r>
              <a:rPr lang="en-GB" sz="2300" dirty="0"/>
              <a:t> J. (2022). Estimating linguistic summaries on the unit interval data. 2022 IEEE International Conference on Fuzzy Systems (FUZZ-IEEE), Padua 18. – 22. July 2022.</a:t>
            </a:r>
            <a:endParaRPr lang="sk-SK" sz="2300" dirty="0"/>
          </a:p>
          <a:p>
            <a:pPr marL="0" indent="-22860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sz="2300" b="1" dirty="0">
                <a:solidFill>
                  <a:schemeClr val="dk1"/>
                </a:solidFill>
              </a:rPr>
              <a:t>Journals</a:t>
            </a:r>
          </a:p>
          <a:p>
            <a:r>
              <a:rPr lang="en-GB" sz="2300" dirty="0"/>
              <a:t>A common work with Serbian COST member </a:t>
            </a:r>
            <a:r>
              <a:rPr lang="en-GB" sz="2300" dirty="0" err="1"/>
              <a:t>Miljan</a:t>
            </a:r>
            <a:r>
              <a:rPr lang="en-GB" sz="2300" dirty="0"/>
              <a:t> </a:t>
            </a:r>
            <a:r>
              <a:rPr lang="en-GB" sz="2300" dirty="0" err="1"/>
              <a:t>Vučetić</a:t>
            </a:r>
            <a:r>
              <a:rPr lang="en-GB" sz="2300" dirty="0"/>
              <a:t>:</a:t>
            </a:r>
            <a:endParaRPr lang="sk-SK" sz="2300" dirty="0"/>
          </a:p>
          <a:p>
            <a:pPr marL="50800" indent="0">
              <a:buNone/>
            </a:pPr>
            <a:r>
              <a:rPr lang="en-GB" sz="2300" dirty="0" err="1"/>
              <a:t>Vučetić</a:t>
            </a:r>
            <a:r>
              <a:rPr lang="en-GB" sz="2300" dirty="0"/>
              <a:t> M., Brokešová Z., Hudec M., Pastoráková E. (2022). Financial literacy and psychological disaster preparedness: applicability of approach based on fuzzy functional dependencies. </a:t>
            </a:r>
            <a:r>
              <a:rPr lang="en-GB" sz="2300" i="1" dirty="0"/>
              <a:t>Information Processing and Management</a:t>
            </a:r>
            <a:r>
              <a:rPr lang="en-GB" sz="2300" dirty="0"/>
              <a:t>, vol. 59, id. 102848.</a:t>
            </a:r>
            <a:endParaRPr lang="sk-SK" sz="2300" dirty="0"/>
          </a:p>
          <a:p>
            <a:pPr marL="0" lvl="0" indent="-228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</a:pPr>
            <a:endParaRPr sz="9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text 1">
            <a:extLst>
              <a:ext uri="{FF2B5EF4-FFF2-40B4-BE49-F238E27FC236}">
                <a16:creationId xmlns:a16="http://schemas.microsoft.com/office/drawing/2014/main" id="{394FA09C-0A8C-428E-8A92-8D6598ED0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-22860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b="1" dirty="0">
                <a:solidFill>
                  <a:schemeClr val="dk1"/>
                </a:solidFill>
              </a:rPr>
              <a:t>Journals</a:t>
            </a:r>
          </a:p>
          <a:p>
            <a:r>
              <a:rPr lang="en-GB" dirty="0" err="1"/>
              <a:t>Vučetić</a:t>
            </a:r>
            <a:r>
              <a:rPr lang="en-GB" dirty="0"/>
              <a:t> M., Brokešová Z., Hudec M., Pastoráková E. (2022). Financial literacy and psychological disaster preparedness: applicability of approach based on fuzzy functional dependencies. </a:t>
            </a:r>
            <a:r>
              <a:rPr lang="en-GB" i="1" dirty="0"/>
              <a:t>Information Processing and Management</a:t>
            </a:r>
            <a:r>
              <a:rPr lang="en-GB" dirty="0"/>
              <a:t>, vol. 59, id. 102848.</a:t>
            </a:r>
            <a:endParaRPr lang="sk-SK" dirty="0"/>
          </a:p>
          <a:p>
            <a:r>
              <a:rPr lang="en-GB" dirty="0" err="1"/>
              <a:t>Zapletal</a:t>
            </a:r>
            <a:r>
              <a:rPr lang="en-GB" dirty="0"/>
              <a:t> F., Hudec M., </a:t>
            </a:r>
            <a:r>
              <a:rPr lang="en-GB" dirty="0" err="1"/>
              <a:t>Švaňa</a:t>
            </a:r>
            <a:r>
              <a:rPr lang="en-GB" dirty="0"/>
              <a:t> M., </a:t>
            </a:r>
            <a:r>
              <a:rPr lang="en-GB" dirty="0" err="1"/>
              <a:t>Němec</a:t>
            </a:r>
            <a:r>
              <a:rPr lang="en-GB" dirty="0"/>
              <a:t> R. (2023). Three-level model for opinion aggregation under hesitance. </a:t>
            </a:r>
            <a:r>
              <a:rPr lang="en-GB" i="1" dirty="0"/>
              <a:t>Soft Computing</a:t>
            </a:r>
            <a:r>
              <a:rPr lang="en-GB" dirty="0"/>
              <a:t>, vol. 27, pp. 6653–6669.</a:t>
            </a:r>
            <a:endParaRPr lang="sk-SK" dirty="0"/>
          </a:p>
          <a:p>
            <a:pPr marL="50800" indent="0">
              <a:buNone/>
            </a:pPr>
            <a:endParaRPr lang="sk-SK" dirty="0"/>
          </a:p>
          <a:p>
            <a:endParaRPr lang="sk-SK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80605A35-9E46-4728-A4EC-A010208F1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3953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text 1">
            <a:extLst>
              <a:ext uri="{FF2B5EF4-FFF2-40B4-BE49-F238E27FC236}">
                <a16:creationId xmlns:a16="http://schemas.microsoft.com/office/drawing/2014/main" id="{4387A290-D02B-4D84-AF52-07DAE27C3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common activity of Miroslav Hudec and new PhD student Nina </a:t>
            </a:r>
            <a:r>
              <a:rPr lang="sk-SK" dirty="0" err="1"/>
              <a:t>Barčáková</a:t>
            </a:r>
            <a:r>
              <a:rPr lang="sk-SK" dirty="0"/>
              <a:t> </a:t>
            </a:r>
            <a:r>
              <a:rPr lang="en-GB" dirty="0"/>
              <a:t>with Serbian COST member </a:t>
            </a:r>
            <a:r>
              <a:rPr lang="en-GB" dirty="0" err="1"/>
              <a:t>Miljan</a:t>
            </a:r>
            <a:r>
              <a:rPr lang="en-GB" dirty="0"/>
              <a:t> </a:t>
            </a:r>
            <a:r>
              <a:rPr lang="en-GB" dirty="0" err="1"/>
              <a:t>Vučetić</a:t>
            </a:r>
            <a:r>
              <a:rPr lang="en-GB" dirty="0"/>
              <a:t> on improving mathematical formalization of fuzzy functional dependencies for the other data types and ML automatization. </a:t>
            </a:r>
            <a:endParaRPr lang="sk-SK" dirty="0"/>
          </a:p>
          <a:p>
            <a:r>
              <a:rPr lang="en-GB" dirty="0"/>
              <a:t>A common activity of Erika Mináriková and Miroslav Hudec with French COST member Galena Pisoni and Icelandic COST member Hanna Kristin </a:t>
            </a:r>
            <a:r>
              <a:rPr lang="en-GB" dirty="0" err="1"/>
              <a:t>Skaftadottir</a:t>
            </a:r>
            <a:r>
              <a:rPr lang="en-GB" dirty="0"/>
              <a:t> on interpreting data by hierarchical linguistic summaries for supporting financial decisions in sustainable transport in smart cities.</a:t>
            </a:r>
            <a:endParaRPr lang="sk-SK" dirty="0"/>
          </a:p>
          <a:p>
            <a:r>
              <a:rPr lang="en-GB" dirty="0"/>
              <a:t>Mináriková E., Hudec M., Pisoni G. (2023) Business Intelligence Reporting by Linguistic Summaries for Smart Cities</a:t>
            </a:r>
            <a:endParaRPr lang="sk-SK" dirty="0"/>
          </a:p>
          <a:p>
            <a:endParaRPr lang="sk-SK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47DC2611-DC0D-4252-8252-D1EC8BE0E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In the </a:t>
            </a:r>
            <a:r>
              <a:rPr lang="sk-SK" dirty="0" err="1"/>
              <a:t>process</a:t>
            </a:r>
            <a:r>
              <a:rPr lang="sk-SK" dirty="0"/>
              <a:t>:</a:t>
            </a:r>
            <a:br>
              <a:rPr lang="sk-SK" dirty="0"/>
            </a:b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27251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indent="-201930">
              <a:spcBef>
                <a:spcPts val="0"/>
              </a:spcBef>
              <a:buSzPct val="100000"/>
            </a:pPr>
            <a:r>
              <a:rPr lang="en-US" dirty="0"/>
              <a:t>Project application:</a:t>
            </a:r>
            <a:endParaRPr lang="sk-SK" dirty="0"/>
          </a:p>
          <a:p>
            <a:pPr marL="228600" indent="-201930">
              <a:spcBef>
                <a:spcPts val="0"/>
              </a:spcBef>
              <a:buSzPct val="100000"/>
            </a:pPr>
            <a:endParaRPr lang="en-US" b="1" dirty="0"/>
          </a:p>
          <a:p>
            <a:pPr marL="228600" indent="-201930">
              <a:spcBef>
                <a:spcPts val="0"/>
              </a:spcBef>
              <a:buSzPct val="100000"/>
            </a:pPr>
            <a:r>
              <a:rPr lang="en-GB" dirty="0"/>
              <a:t>Grant scheme: Iceland, Liechtenstein, Norway grants.</a:t>
            </a:r>
            <a:endParaRPr lang="sk-SK" dirty="0"/>
          </a:p>
          <a:p>
            <a:pPr marL="50800" indent="0">
              <a:buNone/>
            </a:pPr>
            <a:r>
              <a:rPr lang="en-GB" dirty="0"/>
              <a:t>Miroslav Hudec and Erika Mináriková with Icelandic COST member Hanna Kristin </a:t>
            </a:r>
            <a:r>
              <a:rPr lang="en-GB" dirty="0" err="1"/>
              <a:t>Skaftadottir</a:t>
            </a:r>
            <a:r>
              <a:rPr lang="en-GB" dirty="0"/>
              <a:t>:</a:t>
            </a:r>
            <a:endParaRPr lang="sk-SK" dirty="0"/>
          </a:p>
          <a:p>
            <a:pPr marL="50800" indent="0">
              <a:buNone/>
            </a:pPr>
            <a:r>
              <a:rPr lang="en-GB" dirty="0"/>
              <a:t>Title: </a:t>
            </a:r>
            <a:r>
              <a:rPr lang="en-GB" i="1" dirty="0"/>
              <a:t>The cooperation in the fields of business intelligence and artificial intelligence    for science and education – BICISEDU</a:t>
            </a:r>
            <a:r>
              <a:rPr lang="en-GB" dirty="0"/>
              <a:t>. </a:t>
            </a:r>
            <a:endParaRPr lang="sk-SK" dirty="0"/>
          </a:p>
          <a:p>
            <a:pPr marL="50800" indent="0">
              <a:buNone/>
            </a:pPr>
            <a:r>
              <a:rPr lang="sk-SK" dirty="0"/>
              <a:t>S</a:t>
            </a:r>
            <a:r>
              <a:rPr lang="en-GB" dirty="0"/>
              <a:t>tart</a:t>
            </a:r>
            <a:r>
              <a:rPr lang="sk-SK" dirty="0"/>
              <a:t>:</a:t>
            </a:r>
            <a:r>
              <a:rPr lang="en-GB" dirty="0"/>
              <a:t> September 1, 2023. </a:t>
            </a:r>
            <a:endParaRPr lang="sk-SK" dirty="0"/>
          </a:p>
          <a:p>
            <a:pPr marL="228600" indent="-201930">
              <a:spcBef>
                <a:spcPts val="0"/>
              </a:spcBef>
              <a:buSzPct val="100000"/>
            </a:pPr>
            <a:endParaRPr lang="en-US" b="1" dirty="0"/>
          </a:p>
          <a:p>
            <a:pPr marL="228600" lvl="0" indent="-201930">
              <a:spcBef>
                <a:spcPts val="0"/>
              </a:spcBef>
              <a:buSzPct val="100000"/>
            </a:pPr>
            <a:r>
              <a:rPr lang="en-GB" dirty="0"/>
              <a:t>Grant scheme: </a:t>
            </a:r>
            <a:r>
              <a:rPr lang="en-US" dirty="0"/>
              <a:t>Erasmus </a:t>
            </a:r>
            <a:endParaRPr lang="sk-SK" dirty="0"/>
          </a:p>
          <a:p>
            <a:pPr marL="50800" indent="0">
              <a:buNone/>
            </a:pPr>
            <a:r>
              <a:rPr lang="sk-SK" dirty="0"/>
              <a:t>BIP on </a:t>
            </a:r>
            <a:r>
              <a:rPr lang="sk-SK" dirty="0" err="1"/>
              <a:t>Advanced</a:t>
            </a:r>
            <a:r>
              <a:rPr lang="sk-SK" dirty="0"/>
              <a:t> </a:t>
            </a:r>
            <a:r>
              <a:rPr lang="sk-SK" dirty="0" err="1"/>
              <a:t>Analytics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</a:t>
            </a:r>
            <a:r>
              <a:rPr lang="sk-SK" dirty="0" err="1"/>
              <a:t>Data</a:t>
            </a:r>
            <a:r>
              <a:rPr lang="sk-SK" dirty="0"/>
              <a:t> </a:t>
            </a:r>
            <a:r>
              <a:rPr lang="sk-SK" dirty="0" err="1"/>
              <a:t>Science</a:t>
            </a:r>
            <a:endParaRPr lang="sk-SK" dirty="0"/>
          </a:p>
          <a:p>
            <a:pPr marL="50800" indent="0">
              <a:buNone/>
            </a:pPr>
            <a:r>
              <a:rPr lang="sk-SK" dirty="0" err="1"/>
              <a:t>Coordinator</a:t>
            </a:r>
            <a:r>
              <a:rPr lang="sk-SK" dirty="0"/>
              <a:t>: Maria </a:t>
            </a:r>
            <a:r>
              <a:rPr lang="sk-SK" dirty="0" err="1"/>
              <a:t>Iannario</a:t>
            </a:r>
            <a:r>
              <a:rPr lang="en-US" dirty="0"/>
              <a:t>.</a:t>
            </a:r>
          </a:p>
          <a:p>
            <a:pPr marL="228600" lvl="0" indent="-20193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Noto Sans Symbols"/>
              <a:buNone/>
            </a:pPr>
            <a:endParaRPr dirty="0"/>
          </a:p>
        </p:txBody>
      </p:sp>
      <p:sp>
        <p:nvSpPr>
          <p:cNvPr id="267" name="Google Shape;267;p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br>
              <a:rPr lang="en-US" b="0" dirty="0"/>
            </a:b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text 1">
            <a:extLst>
              <a:ext uri="{FF2B5EF4-FFF2-40B4-BE49-F238E27FC236}">
                <a16:creationId xmlns:a16="http://schemas.microsoft.com/office/drawing/2014/main" id="{E631447A-872A-4161-8242-665051E7C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jana.peliova@euba.sk</a:t>
            </a: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1C1C86EA-69FB-4058-AD27-BB431A55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69930606"/>
      </p:ext>
    </p:extLst>
  </p:cSld>
  <p:clrMapOvr>
    <a:masterClrMapping/>
  </p:clrMapOvr>
</p:sld>
</file>

<file path=ppt/theme/theme1.xml><?xml version="1.0" encoding="utf-8"?>
<a:theme xmlns:a="http://schemas.openxmlformats.org/drawingml/2006/main" name="COST_ppt-16_9-color_1">
  <a:themeElements>
    <a:clrScheme name="COST THEME FUSHIA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ST_ppt-16_9-color_2">
  <a:themeElements>
    <a:clrScheme name="COST THEME GREEN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00AB9D"/>
      </a:accent1>
      <a:accent2>
        <a:srgbClr val="6E82BE"/>
      </a:accent2>
      <a:accent3>
        <a:srgbClr val="2D3778"/>
      </a:accent3>
      <a:accent4>
        <a:srgbClr val="961E64"/>
      </a:accent4>
      <a:accent5>
        <a:srgbClr val="692364"/>
      </a:accent5>
      <a:accent6>
        <a:srgbClr val="E1783C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ST_ppt-16_9-color_3">
  <a:themeElements>
    <a:clrScheme name="COST THEME GREEN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00AB9D"/>
      </a:accent1>
      <a:accent2>
        <a:srgbClr val="6E82BE"/>
      </a:accent2>
      <a:accent3>
        <a:srgbClr val="2D3778"/>
      </a:accent3>
      <a:accent4>
        <a:srgbClr val="961E64"/>
      </a:accent4>
      <a:accent5>
        <a:srgbClr val="692364"/>
      </a:accent5>
      <a:accent6>
        <a:srgbClr val="E1783C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A2ABB19A221B0409C286D5177234211" ma:contentTypeVersion="19" ma:contentTypeDescription="Umožňuje vytvoriť nový dokument." ma:contentTypeScope="" ma:versionID="a1e22ff4921cbb143101ab28ce198926">
  <xsd:schema xmlns:xsd="http://www.w3.org/2001/XMLSchema" xmlns:xs="http://www.w3.org/2001/XMLSchema" xmlns:p="http://schemas.microsoft.com/office/2006/metadata/properties" xmlns:ns1="http://schemas.microsoft.com/sharepoint/v3" xmlns:ns3="b7818aa3-e4ee-4106-8f5d-08d4a4ca9cbc" xmlns:ns4="afe0fdec-229d-4f93-80f6-68337efacb36" targetNamespace="http://schemas.microsoft.com/office/2006/metadata/properties" ma:root="true" ma:fieldsID="850ad67ef6b24ceaa7cc025951022758" ns1:_="" ns3:_="" ns4:_="">
    <xsd:import namespace="http://schemas.microsoft.com/sharepoint/v3"/>
    <xsd:import namespace="b7818aa3-e4ee-4106-8f5d-08d4a4ca9cbc"/>
    <xsd:import namespace="afe0fdec-229d-4f93-80f6-68337efacb3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LengthInSeconds" minOccurs="0"/>
                <xsd:element ref="ns1:_ip_UnifiedCompliancePolicyProperties" minOccurs="0"/>
                <xsd:element ref="ns1:_ip_UnifiedCompliancePolicyUIAction" minOccurs="0"/>
                <xsd:element ref="ns4:_activity" minOccurs="0"/>
                <xsd:element ref="ns4:MediaServiceSearchProperties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Vlastnosti zjednotenej politiky dodržiavania súladu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Akcia v používateľskom rozhraní zjednotenej politiky dodržiavania súladu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18aa3-e4ee-4106-8f5d-08d4a4ca9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Zdieľa sa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Zdieľané s podrobnosťa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ríkaz hash indikátora zdieľania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e0fdec-229d-4f93-80f6-68337efacb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afe0fdec-229d-4f93-80f6-68337efacb36" xsi:nil="true"/>
  </documentManagement>
</p:properties>
</file>

<file path=customXml/itemProps1.xml><?xml version="1.0" encoding="utf-8"?>
<ds:datastoreItem xmlns:ds="http://schemas.openxmlformats.org/officeDocument/2006/customXml" ds:itemID="{EFAF733F-BD73-4EA9-AE81-56C95B89DA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7818aa3-e4ee-4106-8f5d-08d4a4ca9cbc"/>
    <ds:schemaRef ds:uri="afe0fdec-229d-4f93-80f6-68337efacb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77E376-CFB4-4E79-9E58-3BB1A87360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3D81F0-4D48-44C1-9358-5E16C4322A1D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b7818aa3-e4ee-4106-8f5d-08d4a4ca9cbc"/>
    <ds:schemaRef ds:uri="http://purl.org/dc/terms/"/>
    <ds:schemaRef ds:uri="http://schemas.microsoft.com/sharepoint/v3"/>
    <ds:schemaRef ds:uri="http://schemas.microsoft.com/office/infopath/2007/PartnerControls"/>
    <ds:schemaRef ds:uri="afe0fdec-229d-4f93-80f6-68337efacb3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522</Words>
  <Application>Microsoft Office PowerPoint</Application>
  <PresentationFormat>Širokouhlá</PresentationFormat>
  <Paragraphs>47</Paragraphs>
  <Slides>9</Slides>
  <Notes>4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3</vt:i4>
      </vt:variant>
      <vt:variant>
        <vt:lpstr>Nadpisy snímok</vt:lpstr>
      </vt:variant>
      <vt:variant>
        <vt:i4>9</vt:i4>
      </vt:variant>
    </vt:vector>
  </HeadingPairs>
  <TitlesOfParts>
    <vt:vector size="16" baseType="lpstr">
      <vt:lpstr>Arial</vt:lpstr>
      <vt:lpstr>Calibri</vt:lpstr>
      <vt:lpstr>Noto Sans Symbols</vt:lpstr>
      <vt:lpstr>Times New Roman</vt:lpstr>
      <vt:lpstr>COST_ppt-16_9-color_1</vt:lpstr>
      <vt:lpstr>COST_ppt-16_9-color_2</vt:lpstr>
      <vt:lpstr>COST_ppt-16_9-color_3</vt:lpstr>
      <vt:lpstr>COST Fin AI Country Update</vt:lpstr>
      <vt:lpstr>Members</vt:lpstr>
      <vt:lpstr>Cost events participation</vt:lpstr>
      <vt:lpstr>Not Cost funded events</vt:lpstr>
      <vt:lpstr>Publications</vt:lpstr>
      <vt:lpstr>Publications</vt:lpstr>
      <vt:lpstr>In the process: </vt:lpstr>
      <vt:lpstr> </vt:lpstr>
      <vt:lpstr>Prezentácia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Fin AI Country Update</dc:title>
  <dc:creator>Molnár Bálint</dc:creator>
  <cp:lastModifiedBy>Jana Peliova | Prorektor EU v Bratislave</cp:lastModifiedBy>
  <cp:revision>15</cp:revision>
  <dcterms:created xsi:type="dcterms:W3CDTF">2020-11-09T15:57:23Z</dcterms:created>
  <dcterms:modified xsi:type="dcterms:W3CDTF">2023-09-22T05:20:09Z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0x010100AA2ABB19A221B0409C286D5177234211</vt:lpwstr>
  </property>
</Properties>
</file>