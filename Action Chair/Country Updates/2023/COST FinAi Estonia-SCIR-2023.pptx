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1" r:id="rId4"/>
    <p:sldId id="262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94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j3l4owGN+woN3viJXoi67ftlsc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>
        <p:scale>
          <a:sx n="100" d="100"/>
          <a:sy n="100" d="100"/>
        </p:scale>
        <p:origin x="1000" y="312"/>
      </p:cViewPr>
      <p:guideLst>
        <p:guide pos="594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0445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5488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en-US" sz="16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72" name="Google Shape;72;p15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73" name="Google Shape;73;p15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5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15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5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5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" name="Google Shape;78;p15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irynamihus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1732/2663-2209-2022-69-52-5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36690/DIFTDE-2023-207-229" TargetMode="External"/><Relationship Id="rId4" Type="http://schemas.openxmlformats.org/officeDocument/2006/relationships/hyperlink" Target="https://doi.org/10.36690/DIFTDE-2023-23-4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3683587" y="31351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br>
              <a:rPr lang="en-US" dirty="0"/>
            </a:br>
            <a:r>
              <a:rPr lang="en-US" dirty="0"/>
              <a:t>COST </a:t>
            </a:r>
            <a:r>
              <a:rPr lang="en-US" dirty="0" err="1"/>
              <a:t>FinAI</a:t>
            </a:r>
            <a:r>
              <a:rPr lang="en-US" dirty="0"/>
              <a:t> annual meeting 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body" idx="2"/>
          </p:nvPr>
        </p:nvSpPr>
        <p:spPr>
          <a:xfrm>
            <a:off x="5946997" y="4212304"/>
            <a:ext cx="2482900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dirty="0"/>
              <a:t>September 27-28, 2023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880B9-2900-1E30-D0AE-04861425C648}"/>
              </a:ext>
            </a:extLst>
          </p:cNvPr>
          <p:cNvSpPr txBox="1"/>
          <p:nvPr/>
        </p:nvSpPr>
        <p:spPr>
          <a:xfrm>
            <a:off x="4266005" y="5097698"/>
            <a:ext cx="584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800" b="1" i="0" u="none" strike="noStrike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Scientific Center of Innovative Research, Estonia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pic>
        <p:nvPicPr>
          <p:cNvPr id="7" name="Рисунок 6" descr="Изображение выглядит как текст, снимок экрана, Шриф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2B384ACE-47A3-86D8-BCEE-F5D599838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35" t="26543" r="9564" b="23905"/>
          <a:stretch/>
        </p:blipFill>
        <p:spPr>
          <a:xfrm>
            <a:off x="2658532" y="4499265"/>
            <a:ext cx="1242868" cy="11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45838" y="1506179"/>
            <a:ext cx="7080704" cy="197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400" b="1" i="1" dirty="0">
                <a:solidFill>
                  <a:schemeClr val="tx1"/>
                </a:solidFill>
              </a:rPr>
              <a:t>MC </a:t>
            </a:r>
            <a:r>
              <a:rPr lang="lt-LT" sz="2400" b="1" i="1" dirty="0">
                <a:solidFill>
                  <a:schemeClr val="tx1"/>
                </a:solidFill>
              </a:rPr>
              <a:t>M</a:t>
            </a:r>
            <a:r>
              <a:rPr lang="en-US" sz="2400" b="1" i="1" dirty="0">
                <a:solidFill>
                  <a:schemeClr val="tx1"/>
                </a:solidFill>
              </a:rPr>
              <a:t>embers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en-US" sz="2400" dirty="0">
                <a:solidFill>
                  <a:schemeClr val="tx1"/>
                </a:solidFill>
              </a:rPr>
              <a:t>Iryna </a:t>
            </a:r>
            <a:r>
              <a:rPr lang="en-US" sz="2400" dirty="0" err="1">
                <a:solidFill>
                  <a:schemeClr val="tx1"/>
                </a:solidFill>
              </a:rPr>
              <a:t>Mihus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endParaRPr lang="lt-LT" sz="1000" dirty="0">
              <a:solidFill>
                <a:schemeClr val="tx1"/>
              </a:solidFill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400" i="1" dirty="0">
                <a:solidFill>
                  <a:schemeClr val="tx1"/>
                </a:solidFill>
              </a:rPr>
              <a:t>Coauthors and potential members</a:t>
            </a:r>
            <a:r>
              <a:rPr lang="lt-LT" sz="2400" i="1" dirty="0">
                <a:solidFill>
                  <a:schemeClr val="tx1"/>
                </a:solidFill>
              </a:rPr>
              <a:t>:</a:t>
            </a:r>
            <a:endParaRPr lang="en-US" sz="2400" i="1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</a:rPr>
              <a:t>Zinaida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Zhyvko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" sz="1000" b="1" i="0" u="none" strike="noStrike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Scientific Center of Innovative Research</a:t>
            </a:r>
            <a:r>
              <a:rPr lang="en-US" sz="1200" i="1" dirty="0">
                <a:solidFill>
                  <a:schemeClr val="tx1"/>
                </a:solidFill>
              </a:rPr>
              <a:t> </a:t>
            </a:r>
            <a:br>
              <a:rPr lang="en-US" sz="1200" i="1" dirty="0">
                <a:solidFill>
                  <a:schemeClr val="tx1"/>
                </a:solidFill>
              </a:rPr>
            </a:br>
            <a:r>
              <a:rPr lang="en-US" sz="1200" i="1" dirty="0" err="1">
                <a:solidFill>
                  <a:schemeClr val="tx1"/>
                </a:solidFill>
              </a:rPr>
              <a:t>Phd</a:t>
            </a:r>
            <a:r>
              <a:rPr lang="en-US" sz="1200" i="1" dirty="0">
                <a:solidFill>
                  <a:schemeClr val="tx1"/>
                </a:solidFill>
              </a:rPr>
              <a:t> (Economics), Professor 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1400" i="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400" dirty="0">
                <a:solidFill>
                  <a:schemeClr val="tx1"/>
                </a:solidFill>
              </a:rPr>
              <a:t>Interdisciplinary background :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Anti Fraud, Blockchain</a:t>
            </a:r>
            <a:endParaRPr sz="2400" dirty="0">
              <a:solidFill>
                <a:schemeClr val="tx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dirty="0">
              <a:solidFill>
                <a:schemeClr val="tx1"/>
              </a:solidFill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96;p2">
            <a:extLst>
              <a:ext uri="{FF2B5EF4-FFF2-40B4-BE49-F238E27FC236}">
                <a16:creationId xmlns:a16="http://schemas.microsoft.com/office/drawing/2014/main" id="{B50D290F-878C-4299-829E-1AE156874799}"/>
              </a:ext>
            </a:extLst>
          </p:cNvPr>
          <p:cNvSpPr txBox="1">
            <a:spLocks/>
          </p:cNvSpPr>
          <p:nvPr/>
        </p:nvSpPr>
        <p:spPr>
          <a:xfrm>
            <a:off x="7302501" y="3188904"/>
            <a:ext cx="4505358" cy="197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0" indent="0">
              <a:buNone/>
            </a:pPr>
            <a:r>
              <a:rPr lang="en-US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</a:t>
            </a:r>
            <a: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(Economics), Professor</a:t>
            </a:r>
          </a:p>
          <a:p>
            <a:pPr marL="5080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Director, </a:t>
            </a:r>
            <a:r>
              <a:rPr lang="en" sz="160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Scientific Center of Innovative Research, (Estonia)</a:t>
            </a:r>
            <a:endParaRPr lang="en-US" sz="1600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Font typeface="Noto Sans Symbols"/>
              <a:buNone/>
            </a:pPr>
            <a: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Visiting Prof., KROK University (Ukraine)</a:t>
            </a:r>
            <a:b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irynamihus@gmail.com</a:t>
            </a:r>
            <a:b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office@scnchub.com</a:t>
            </a:r>
            <a:b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lt-L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buFont typeface="Noto Sans Symbols"/>
              <a:buNone/>
            </a:pPr>
            <a:endParaRPr lang="lt-L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Font typeface="Noto Sans Symbols"/>
              <a:buNone/>
            </a:pPr>
            <a:r>
              <a:rPr lang="lt-LT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lt-L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Изображение выглядит как Человеческое лицо, человек, одежда, портрет&#10;&#10;Автоматически созданное описание">
            <a:extLst>
              <a:ext uri="{FF2B5EF4-FFF2-40B4-BE49-F238E27FC236}">
                <a16:creationId xmlns:a16="http://schemas.microsoft.com/office/drawing/2014/main" id="{E0DB96A3-13F9-9F11-AF28-3AE24EECB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1" y="1242775"/>
            <a:ext cx="1325388" cy="16674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122582" y="523180"/>
            <a:ext cx="11946836" cy="413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lt-LT" sz="2000" b="1" i="1" dirty="0">
                <a:solidFill>
                  <a:schemeClr val="dk1"/>
                </a:solidFill>
              </a:rPr>
              <a:t>Papers and presentations</a:t>
            </a:r>
            <a:r>
              <a:rPr lang="lt-LT" sz="2000" b="1" dirty="0">
                <a:solidFill>
                  <a:schemeClr val="dk1"/>
                </a:solidFill>
              </a:rPr>
              <a:t>:</a:t>
            </a:r>
            <a:endParaRPr lang="en-US" sz="2000" b="1" dirty="0">
              <a:solidFill>
                <a:schemeClr val="dk1"/>
              </a:solidFill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endParaRPr lang="lt-LT" sz="2000" b="1" dirty="0">
              <a:solidFill>
                <a:schemeClr val="dk1"/>
              </a:solidFill>
            </a:endParaRPr>
          </a:p>
          <a:p>
            <a:pPr algn="l"/>
            <a:r>
              <a:rPr lang="en" sz="18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Mihus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 (2023). The main trends in the development of industry 4.0 and its impact on the economic security of the state: an international aspect. Science Notes of KROK University, (1(69), 52–59. 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https://doi.org/10.31732/2663-2209-2022-69-52-59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algn="l"/>
            <a:r>
              <a:rPr lang="en" sz="18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Mihus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I., Gupta, S.G. (2023). The main trends of the development of the digital economy in the EU countries. The development of innovations and financial technology in the digital economy: monograph. OÜ Scientific Center of Innovative Research. 2023. 230p.PP. 23-41, 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https://doi.org/10.36690/DIFTDE-2023-23-41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" sz="18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Mihus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I., </a:t>
            </a:r>
            <a:r>
              <a:rPr lang="en" sz="18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Shakhatreh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H.J.M. (2023). The main trends in the development of blockchain technologies and the prospects for their use to protect fraud. The development of innovations and financial technology in the digital economy: </a:t>
            </a:r>
            <a:r>
              <a:rPr lang="en" sz="18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monograph.OÜ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Scientific Center of Innovative Research. 2023. 230p. PP. 207-229. DOI: </a:t>
            </a:r>
            <a:r>
              <a:rPr lang="en" sz="1800" b="0" i="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https://doi.org/10.36690/DIFTDE-2023-207-229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00" indent="0">
              <a:buNone/>
            </a:pPr>
            <a:endParaRPr lang="en" sz="1600" b="0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uk-UA" sz="2000" dirty="0">
              <a:solidFill>
                <a:schemeClr val="dk1"/>
              </a:solidFill>
            </a:endParaRPr>
          </a:p>
          <a:p>
            <a:pPr marL="50800" lvl="0" indent="0">
              <a:buNone/>
            </a:pPr>
            <a:r>
              <a:rPr lang="en-US" sz="2000" dirty="0">
                <a:solidFill>
                  <a:schemeClr val="dk1"/>
                </a:solidFill>
              </a:rPr>
              <a:t> </a:t>
            </a:r>
            <a:br>
              <a:rPr lang="uk-UA" sz="2000" dirty="0">
                <a:solidFill>
                  <a:schemeClr val="dk1"/>
                </a:solidFill>
              </a:rPr>
            </a:br>
            <a:endParaRPr lang="uk-UA" sz="2000" dirty="0">
              <a:solidFill>
                <a:schemeClr val="dk1"/>
              </a:solidFill>
            </a:endParaRPr>
          </a:p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05" name="Google Shape;105;p18"/>
          <p:cNvSpPr/>
          <p:nvPr/>
        </p:nvSpPr>
        <p:spPr>
          <a:xfrm>
            <a:off x="3607904" y="0"/>
            <a:ext cx="941235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solidFill>
                  <a:srgbClr val="C00000"/>
                </a:solidFill>
              </a:rPr>
              <a:t>       Contribution:</a:t>
            </a:r>
            <a:endParaRPr sz="28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995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1051410" y="1359376"/>
            <a:ext cx="10865287" cy="413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</a:pPr>
            <a:r>
              <a:rPr lang="en-US" sz="2000" b="1" i="1" dirty="0">
                <a:solidFill>
                  <a:schemeClr val="dk1"/>
                </a:solidFill>
              </a:rPr>
              <a:t>In printing </a:t>
            </a:r>
            <a:endParaRPr lang="lt-LT" sz="2000" b="1" i="1" dirty="0">
              <a:solidFill>
                <a:schemeClr val="dk1"/>
              </a:solidFill>
            </a:endParaRPr>
          </a:p>
          <a:p>
            <a:pPr lvl="0" algn="just"/>
            <a:r>
              <a:rPr lang="en" sz="2000" b="0" i="0" u="none" strike="noStrike" dirty="0">
                <a:solidFill>
                  <a:srgbClr val="050505"/>
                </a:solidFill>
                <a:effectLst/>
                <a:latin typeface="system-ui"/>
              </a:rPr>
              <a:t>Sandeep Kumar Gupta, Anoop Kumar, Deepa Rajesh, Neha Nagar, Fatima </a:t>
            </a:r>
            <a:r>
              <a:rPr lang="en" sz="2000" b="0" i="0" u="none" strike="noStrike" dirty="0" err="1">
                <a:solidFill>
                  <a:srgbClr val="050505"/>
                </a:solidFill>
                <a:effectLst/>
                <a:latin typeface="system-ui"/>
              </a:rPr>
              <a:t>Qasim</a:t>
            </a:r>
            <a:r>
              <a:rPr lang="en" sz="2000" b="0" i="0" u="none" strike="noStrike" dirty="0">
                <a:solidFill>
                  <a:srgbClr val="050505"/>
                </a:solidFill>
                <a:effectLst/>
                <a:latin typeface="system-ui"/>
              </a:rPr>
              <a:t> Hasan, Iryna </a:t>
            </a:r>
            <a:r>
              <a:rPr lang="en" sz="2000" b="0" i="0" u="none" strike="noStrike" dirty="0" err="1">
                <a:solidFill>
                  <a:srgbClr val="050505"/>
                </a:solidFill>
                <a:effectLst/>
                <a:latin typeface="system-ui"/>
              </a:rPr>
              <a:t>Mihus</a:t>
            </a:r>
            <a:r>
              <a:rPr lang="en" sz="2000" b="0" i="0" u="none" strike="noStrike" dirty="0">
                <a:solidFill>
                  <a:srgbClr val="050505"/>
                </a:solidFill>
                <a:effectLst/>
                <a:latin typeface="system-ui"/>
              </a:rPr>
              <a:t> (2023), The parameters that influence the achievement and letdown of performance management schemes in major enterprises in India's manufacturing industries, Intelligent Systems, Business, and Innovation Research </a:t>
            </a:r>
            <a:r>
              <a:rPr lang="en" sz="2000" b="0" i="0" u="sng" strike="noStrike" dirty="0">
                <a:solidFill>
                  <a:srgbClr val="050505"/>
                </a:solidFill>
                <a:effectLst/>
                <a:latin typeface="inherit"/>
              </a:rPr>
              <a:t>(</a:t>
            </a:r>
            <a:r>
              <a:rPr lang="en-US" sz="2000" i="1" dirty="0">
                <a:solidFill>
                  <a:schemeClr val="dk1"/>
                </a:solidFill>
              </a:rPr>
              <a:t>USA journal from the Scopus list</a:t>
            </a:r>
            <a:r>
              <a:rPr lang="en" sz="2000" b="0" i="0" u="sng" strike="noStrike" dirty="0">
                <a:solidFill>
                  <a:srgbClr val="050505"/>
                </a:solidFill>
                <a:effectLst/>
                <a:latin typeface="inherit"/>
              </a:rPr>
              <a:t>)</a:t>
            </a:r>
          </a:p>
          <a:p>
            <a:pPr lvl="0" algn="just"/>
            <a:endParaRPr lang="en" sz="2000" b="1" i="0" u="none" strike="noStrike" dirty="0">
              <a:effectLst/>
              <a:latin typeface="Noto Sans" panose="020B0502040504020204" pitchFamily="34" charset="0"/>
            </a:endParaRPr>
          </a:p>
          <a:p>
            <a:pPr marL="50800" lvl="0" indent="0"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05" name="Google Shape;105;p18"/>
          <p:cNvSpPr/>
          <p:nvPr/>
        </p:nvSpPr>
        <p:spPr>
          <a:xfrm>
            <a:off x="3607904" y="0"/>
            <a:ext cx="941235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solidFill>
                  <a:srgbClr val="C00000"/>
                </a:solidFill>
              </a:rPr>
              <a:t>       Contribution:</a:t>
            </a:r>
            <a:endParaRPr sz="28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843024"/>
      </p:ext>
    </p:extLst>
  </p:cSld>
  <p:clrMapOvr>
    <a:masterClrMapping/>
  </p:clrMapOvr>
</p:sld>
</file>

<file path=ppt/theme/theme1.xml><?xml version="1.0" encoding="utf-8"?>
<a:theme xmlns:a="http://schemas.openxmlformats.org/drawingml/2006/main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359</Words>
  <Application>Microsoft Macintosh PowerPoint</Application>
  <PresentationFormat>Широкоэкранный</PresentationFormat>
  <Paragraphs>36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2" baseType="lpstr">
      <vt:lpstr>Arial</vt:lpstr>
      <vt:lpstr>Calibri</vt:lpstr>
      <vt:lpstr>inherit</vt:lpstr>
      <vt:lpstr>Noto Sans</vt:lpstr>
      <vt:lpstr>Noto Sans Symbols</vt:lpstr>
      <vt:lpstr>system-ui</vt:lpstr>
      <vt:lpstr>Times New Roman</vt:lpstr>
      <vt:lpstr>COST_ppt-16_9-color_1</vt:lpstr>
      <vt:lpstr> COST FinAI annual meeting 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FinAI annual meeting</dc:title>
  <dc:creator>ctaranto</dc:creator>
  <cp:lastModifiedBy>Мігус Ірина Петрівна</cp:lastModifiedBy>
  <cp:revision>61</cp:revision>
  <dcterms:modified xsi:type="dcterms:W3CDTF">2023-09-20T19:03:39Z</dcterms:modified>
</cp:coreProperties>
</file>