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0" r:id="rId1"/>
    <p:sldMasterId id="2147483691" r:id="rId2"/>
    <p:sldMasterId id="2147483692" r:id="rId3"/>
  </p:sldMasterIdLst>
  <p:notesMasterIdLst>
    <p:notesMasterId r:id="rId14"/>
  </p:notesMasterIdLst>
  <p:sldIdLst>
    <p:sldId id="256" r:id="rId4"/>
    <p:sldId id="257" r:id="rId5"/>
    <p:sldId id="258" r:id="rId6"/>
    <p:sldId id="262" r:id="rId7"/>
    <p:sldId id="263" r:id="rId8"/>
    <p:sldId id="259" r:id="rId9"/>
    <p:sldId id="264" r:id="rId10"/>
    <p:sldId id="265" r:id="rId11"/>
    <p:sldId id="266" r:id="rId12"/>
    <p:sldId id="260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94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7"/>
  </p:normalViewPr>
  <p:slideViewPr>
    <p:cSldViewPr snapToGrid="0">
      <p:cViewPr varScale="1">
        <p:scale>
          <a:sx n="118" d="100"/>
          <a:sy n="118" d="100"/>
        </p:scale>
        <p:origin x="108" y="378"/>
      </p:cViewPr>
      <p:guideLst>
        <p:guide pos="594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34173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081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025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77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2768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4720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879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0274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0121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0626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6b0f3d1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a6b0f3d1d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a6b0f3d1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2789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COST.Programme/" TargetMode="External"/><Relationship Id="rId3" Type="http://schemas.openxmlformats.org/officeDocument/2006/relationships/hyperlink" Target="https://twitter.com/costprogramme?lang=fr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youtube.com/user/COSTOffice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://www.cost.eu/" TargetMode="External"/><Relationship Id="rId10" Type="http://schemas.openxmlformats.org/officeDocument/2006/relationships/hyperlink" Target="https://www.linkedin.com/company/cost-office" TargetMode="External"/><Relationship Id="rId4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9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1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2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72" name="Google Shape;72;p13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73" name="Google Shape;73;p13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3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" name="Google Shape;75;p13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3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3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" name="Google Shape;78;p13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itle">
  <p:cSld name="Presentation - 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title">
  <p:cSld name="1_Presentation - 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title">
  <p:cSld name="2_Presentation - 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">
  <p:cSld name="Presentation - Conte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6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2">
  <p:cSld name="Presentation - Content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384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Content">
  <p:cSld name="Presentation - Empty -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874713" y="1093982"/>
            <a:ext cx="10225087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">
  <p:cSld name="1_Presentation - Conte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24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Content 2">
  <p:cSld name="1_Presentation - Content 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25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Content">
  <p:cSld name="1_Presentation - Empty - Conte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6" name="Google Shape;136;p26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">
  <p:cSld name="Presentation - Empt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6" name="Google Shape;146;p28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28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148" name="Google Shape;148;p28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149" name="Google Shape;149;p28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8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1" name="Google Shape;151;p28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28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28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4" name="Google Shape;154;p28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2">
  <p:cSld name="Presentation - Empty 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Empty - Empty">
  <p:cSld name="Presentation - Empty - Empt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title">
  <p:cSld name="3_Presentation - titl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2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resentation - title">
  <p:cSld name="4_Presentation - titl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resentation - title">
  <p:cSld name="5_Presentation - titl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4"/>
          <p:cNvSpPr txBox="1">
            <a:spLocks noGrp="1"/>
          </p:cNvSpPr>
          <p:nvPr>
            <p:ph type="title"/>
          </p:nvPr>
        </p:nvSpPr>
        <p:spPr>
          <a:xfrm>
            <a:off x="1107254" y="1159488"/>
            <a:ext cx="8327542" cy="184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body" idx="1"/>
          </p:nvPr>
        </p:nvSpPr>
        <p:spPr>
          <a:xfrm>
            <a:off x="1106771" y="3010626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body" idx="2"/>
          </p:nvPr>
        </p:nvSpPr>
        <p:spPr>
          <a:xfrm>
            <a:off x="1106771" y="3496137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5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">
  <p:cSld name="2_Presentation - Conte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5"/>
          <p:cNvSpPr txBox="1">
            <a:spLocks noGrp="1"/>
          </p:cNvSpPr>
          <p:nvPr>
            <p:ph type="body" idx="1"/>
          </p:nvPr>
        </p:nvSpPr>
        <p:spPr>
          <a:xfrm>
            <a:off x="874713" y="2102946"/>
            <a:ext cx="10225087" cy="367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1" name="Google Shape;181;p3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Content 2">
  <p:cSld name="2_Presentation - Content 2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6" name="Google Shape;186;p36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resentation - Empty - Content">
  <p:cSld name="2_Presentation - Empty - Conten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7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10225087" cy="468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1783C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1783C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37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Two content shapes">
  <p:cSld name="Presentation - Two content shapes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5078720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38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8"/>
          <p:cNvSpPr txBox="1">
            <a:spLocks noGrp="1"/>
          </p:cNvSpPr>
          <p:nvPr>
            <p:ph type="body" idx="2"/>
          </p:nvPr>
        </p:nvSpPr>
        <p:spPr>
          <a:xfrm>
            <a:off x="6365967" y="1093983"/>
            <a:ext cx="5039386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">
  <p:cSld name="3_Presentation - Conten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9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9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39"/>
          <p:cNvSpPr>
            <a:spLocks noGrp="1"/>
          </p:cNvSpPr>
          <p:nvPr>
            <p:ph type="tbl" idx="2"/>
          </p:nvPr>
        </p:nvSpPr>
        <p:spPr>
          <a:xfrm>
            <a:off x="874713" y="2103438"/>
            <a:ext cx="10225087" cy="3673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Content 2">
  <p:cSld name="3_Presentation - Content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0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0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40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3847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504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resentation - Empty - Content">
  <p:cSld name="3_Presentation - Empty - Conten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1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1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41"/>
          <p:cNvSpPr>
            <a:spLocks noGrp="1"/>
          </p:cNvSpPr>
          <p:nvPr>
            <p:ph type="tbl" idx="2"/>
          </p:nvPr>
        </p:nvSpPr>
        <p:spPr>
          <a:xfrm>
            <a:off x="874713" y="1093984"/>
            <a:ext cx="10225087" cy="468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tion - Content - Smartart">
  <p:cSld name="Presentation - Content - Smartar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2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2"/>
          <p:cNvSpPr txBox="1">
            <a:spLocks noGrp="1"/>
          </p:cNvSpPr>
          <p:nvPr>
            <p:ph type="title"/>
          </p:nvPr>
        </p:nvSpPr>
        <p:spPr>
          <a:xfrm>
            <a:off x="874713" y="50621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7" name="Google Shape;217;p42"/>
          <p:cNvSpPr txBox="1">
            <a:spLocks noGrp="1"/>
          </p:cNvSpPr>
          <p:nvPr>
            <p:ph type="body" idx="1"/>
          </p:nvPr>
        </p:nvSpPr>
        <p:spPr>
          <a:xfrm>
            <a:off x="874713" y="1093983"/>
            <a:ext cx="2546893" cy="4674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42"/>
          <p:cNvSpPr>
            <a:spLocks noGrp="1"/>
          </p:cNvSpPr>
          <p:nvPr>
            <p:ph type="dgm" idx="2"/>
          </p:nvPr>
        </p:nvSpPr>
        <p:spPr>
          <a:xfrm>
            <a:off x="3598863" y="1093788"/>
            <a:ext cx="8064500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">
  <p:cSld name="1_Presentation - Empt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3"/>
          <p:cNvSpPr txBox="1">
            <a:spLocks noGrp="1"/>
          </p:cNvSpPr>
          <p:nvPr>
            <p:ph type="title"/>
          </p:nvPr>
        </p:nvSpPr>
        <p:spPr>
          <a:xfrm>
            <a:off x="1107254" y="3390841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sz="3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2" name="Google Shape;222;p43"/>
          <p:cNvSpPr txBox="1"/>
          <p:nvPr/>
        </p:nvSpPr>
        <p:spPr>
          <a:xfrm>
            <a:off x="1107254" y="4313604"/>
            <a:ext cx="7027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Subscribe to our news: </a:t>
            </a:r>
            <a:r>
              <a:rPr lang="fr-FR" sz="16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www.cost.eu/subscribe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43"/>
          <p:cNvGrpSpPr/>
          <p:nvPr/>
        </p:nvGrpSpPr>
        <p:grpSpPr>
          <a:xfrm>
            <a:off x="9026219" y="5182889"/>
            <a:ext cx="2200682" cy="1172172"/>
            <a:chOff x="6636485" y="5354057"/>
            <a:chExt cx="2200682" cy="1172172"/>
          </a:xfrm>
        </p:grpSpPr>
        <p:grpSp>
          <p:nvGrpSpPr>
            <p:cNvPr id="224" name="Google Shape;224;p43"/>
            <p:cNvGrpSpPr/>
            <p:nvPr/>
          </p:nvGrpSpPr>
          <p:grpSpPr>
            <a:xfrm>
              <a:off x="6883674" y="5354057"/>
              <a:ext cx="1953493" cy="1172172"/>
              <a:chOff x="6883674" y="5354057"/>
              <a:chExt cx="1953493" cy="1172172"/>
            </a:xfrm>
          </p:grpSpPr>
          <p:pic>
            <p:nvPicPr>
              <p:cNvPr id="225" name="Google Shape;225;p43" descr="Plan de travail 1OFF-Icones.jpg">
                <a:hlinkClick r:id="rId3"/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903" y="5776143"/>
                <a:ext cx="360000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43">
                <a:hlinkClick r:id="rId5"/>
              </p:cNvPr>
              <p:cNvSpPr txBox="1"/>
              <p:nvPr/>
            </p:nvSpPr>
            <p:spPr>
              <a:xfrm>
                <a:off x="6935575" y="6218452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www.cost.eu</a:t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7" name="Google Shape;227;p43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7500289" y="5780684"/>
                <a:ext cx="779907" cy="331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43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069413" y="5781094"/>
                <a:ext cx="330628" cy="3306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43"/>
              <p:cNvSpPr txBox="1"/>
              <p:nvPr/>
            </p:nvSpPr>
            <p:spPr>
              <a:xfrm>
                <a:off x="6883674" y="5354057"/>
                <a:ext cx="190159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400" b="1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Subscribe</a:t>
                </a:r>
                <a:endParaRPr sz="14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0" name="Google Shape;230;p43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636485" y="5778159"/>
              <a:ext cx="328612" cy="3286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2">
  <p:cSld name="1_Presentation - Empty 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4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resentation - Empty - Empty">
  <p:cSld name="1_Presentation - Empty - Empty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5"/>
          <p:cNvSpPr txBox="1"/>
          <p:nvPr/>
        </p:nvSpPr>
        <p:spPr>
          <a:xfrm>
            <a:off x="9413934" y="6216896"/>
            <a:ext cx="22497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1253">
          <p15:clr>
            <a:srgbClr val="FBAE40"/>
          </p15:clr>
        </p15:guide>
        <p15:guide id="3" orient="horz" pos="3634">
          <p15:clr>
            <a:srgbClr val="FBAE40"/>
          </p15:clr>
        </p15:guide>
        <p15:guide id="4" pos="6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rai.2021.71845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1111/exsy.13317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>
            <a:spLocks noGrp="1"/>
          </p:cNvSpPr>
          <p:nvPr>
            <p:ph type="title"/>
          </p:nvPr>
        </p:nvSpPr>
        <p:spPr>
          <a:xfrm>
            <a:off x="1107254" y="3961396"/>
            <a:ext cx="8327542" cy="587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fr-FR" dirty="0"/>
              <a:t>COST Fin AI Country </a:t>
            </a:r>
            <a:r>
              <a:rPr lang="fr-FR" dirty="0" smtClean="0"/>
              <a:t>Update</a:t>
            </a:r>
            <a:r>
              <a:rPr lang="pl-PL" dirty="0" smtClean="0"/>
              <a:t> 2023</a:t>
            </a:r>
            <a:endParaRPr dirty="0"/>
          </a:p>
        </p:txBody>
      </p:sp>
      <p:sp>
        <p:nvSpPr>
          <p:cNvPr id="242" name="Google Shape;242;p46"/>
          <p:cNvSpPr txBox="1">
            <a:spLocks noGrp="1"/>
          </p:cNvSpPr>
          <p:nvPr>
            <p:ph type="body" idx="1"/>
          </p:nvPr>
        </p:nvSpPr>
        <p:spPr>
          <a:xfrm>
            <a:off x="1106771" y="4557940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pl-PL" dirty="0"/>
              <a:t>Poland</a:t>
            </a:r>
            <a:endParaRPr dirty="0"/>
          </a:p>
        </p:txBody>
      </p:sp>
      <p:sp>
        <p:nvSpPr>
          <p:cNvPr id="243" name="Google Shape;243;p46"/>
          <p:cNvSpPr txBox="1">
            <a:spLocks noGrp="1"/>
          </p:cNvSpPr>
          <p:nvPr>
            <p:ph type="body" idx="2"/>
          </p:nvPr>
        </p:nvSpPr>
        <p:spPr>
          <a:xfrm>
            <a:off x="1106771" y="5043451"/>
            <a:ext cx="8328025" cy="46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pl-PL" dirty="0"/>
              <a:t>Piotr Wójcik and Barbara </a:t>
            </a:r>
            <a:r>
              <a:rPr lang="pl-PL" dirty="0" err="1"/>
              <a:t>Będowska</a:t>
            </a:r>
            <a:r>
              <a:rPr lang="pl-PL" dirty="0"/>
              <a:t>-Sójka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fr-FR" sz="2000" dirty="0"/>
              <a:t>Dr</a:t>
            </a:r>
            <a:r>
              <a:rPr lang="pl-PL" sz="2000" dirty="0"/>
              <a:t> hab.</a:t>
            </a:r>
            <a:r>
              <a:rPr lang="fr-FR" sz="2000" dirty="0"/>
              <a:t> </a:t>
            </a:r>
            <a:r>
              <a:rPr lang="pl-PL" sz="2000" b="1" dirty="0"/>
              <a:t>Piotr Wójcik</a:t>
            </a:r>
            <a:r>
              <a:rPr lang="pl-PL" sz="2000" dirty="0"/>
              <a:t>, prof. UW</a:t>
            </a:r>
            <a:r>
              <a:rPr lang="fr-FR" sz="2000" dirty="0"/>
              <a:t> is </a:t>
            </a:r>
            <a:r>
              <a:rPr lang="pl-PL" sz="2000" dirty="0" err="1"/>
              <a:t>an</a:t>
            </a:r>
            <a:r>
              <a:rPr lang="pl-PL" sz="2000" dirty="0"/>
              <a:t> </a:t>
            </a:r>
            <a:r>
              <a:rPr lang="pl-PL" sz="2000" dirty="0" err="1"/>
              <a:t>Associate</a:t>
            </a:r>
            <a:r>
              <a:rPr lang="fr-FR" sz="2000" dirty="0"/>
              <a:t> Professor in </a:t>
            </a:r>
            <a:r>
              <a:rPr lang="pl-PL" sz="2000" dirty="0"/>
              <a:t>the </a:t>
            </a:r>
            <a:r>
              <a:rPr lang="pl-PL" sz="2000" dirty="0" err="1"/>
              <a:t>Department</a:t>
            </a:r>
            <a:r>
              <a:rPr lang="pl-PL" sz="2000" dirty="0"/>
              <a:t> of </a:t>
            </a:r>
            <a:r>
              <a:rPr lang="pl-PL" sz="2000" dirty="0" err="1"/>
              <a:t>Quantitative</a:t>
            </a:r>
            <a:r>
              <a:rPr lang="pl-PL" sz="2000" dirty="0"/>
              <a:t> </a:t>
            </a:r>
            <a:r>
              <a:rPr lang="fr-FR" sz="2000" dirty="0"/>
              <a:t>Finance at </a:t>
            </a:r>
            <a:r>
              <a:rPr lang="pl-PL" sz="2000" b="1" dirty="0"/>
              <a:t>University of </a:t>
            </a:r>
            <a:r>
              <a:rPr lang="pl-PL" sz="2000" b="1" dirty="0" err="1"/>
              <a:t>Warsaw</a:t>
            </a:r>
            <a:r>
              <a:rPr lang="pl-PL" sz="2000" dirty="0"/>
              <a:t>, </a:t>
            </a:r>
            <a:r>
              <a:rPr lang="pl-PL" sz="2000" dirty="0" err="1"/>
              <a:t>Faculty</a:t>
            </a:r>
            <a:r>
              <a:rPr lang="pl-PL" sz="2000" dirty="0"/>
              <a:t> of </a:t>
            </a:r>
            <a:r>
              <a:rPr lang="pl-PL" sz="2000" dirty="0" err="1"/>
              <a:t>Economic</a:t>
            </a:r>
            <a:r>
              <a:rPr lang="pl-PL" sz="2000" dirty="0"/>
              <a:t> </a:t>
            </a:r>
            <a:r>
              <a:rPr lang="pl-PL" sz="2000" dirty="0" err="1"/>
              <a:t>Sciences</a:t>
            </a:r>
            <a:r>
              <a:rPr lang="pl-PL" sz="2000" dirty="0"/>
              <a:t> and the </a:t>
            </a:r>
            <a:r>
              <a:rPr lang="pl-PL" sz="2000" dirty="0" err="1"/>
              <a:t>head</a:t>
            </a:r>
            <a:r>
              <a:rPr lang="pl-PL" sz="2000" dirty="0"/>
              <a:t> of Data Science Lab (MC </a:t>
            </a:r>
            <a:r>
              <a:rPr lang="pl-PL" sz="2000" dirty="0" err="1"/>
              <a:t>member</a:t>
            </a:r>
            <a:r>
              <a:rPr lang="pl-PL" sz="2000" dirty="0"/>
              <a:t>)</a:t>
            </a:r>
            <a:endParaRPr sz="2000" dirty="0"/>
          </a:p>
          <a:p>
            <a:pPr indent="-355600">
              <a:spcBef>
                <a:spcPts val="0"/>
              </a:spcBef>
              <a:buSzPts val="2000"/>
            </a:pPr>
            <a:r>
              <a:rPr lang="pl-PL" sz="2000" dirty="0"/>
              <a:t>Prof. d</a:t>
            </a:r>
            <a:r>
              <a:rPr lang="en-US" sz="2000" dirty="0"/>
              <a:t>r hab. </a:t>
            </a:r>
            <a:r>
              <a:rPr lang="pl-PL" sz="2000" b="1" dirty="0"/>
              <a:t>Barbara </a:t>
            </a:r>
            <a:r>
              <a:rPr lang="pl-PL" sz="2000" b="1" dirty="0" err="1"/>
              <a:t>Będowska</a:t>
            </a:r>
            <a:r>
              <a:rPr lang="pl-PL" sz="2000" dirty="0"/>
              <a:t> </a:t>
            </a:r>
            <a:r>
              <a:rPr lang="en-US" sz="2000" dirty="0"/>
              <a:t>is </a:t>
            </a:r>
            <a:r>
              <a:rPr lang="pl-PL" sz="2000" dirty="0"/>
              <a:t>a Full</a:t>
            </a:r>
            <a:r>
              <a:rPr lang="en-US" sz="2000" dirty="0"/>
              <a:t> Professor </a:t>
            </a:r>
            <a:r>
              <a:rPr lang="pl-PL" sz="2000" dirty="0"/>
              <a:t>and </a:t>
            </a:r>
            <a:r>
              <a:rPr lang="en-US" sz="2000" dirty="0"/>
              <a:t>Head of the Department of Econometrics </a:t>
            </a:r>
            <a:r>
              <a:rPr lang="pl-PL" sz="2000" dirty="0"/>
              <a:t>in the </a:t>
            </a:r>
            <a:r>
              <a:rPr lang="pl-PL" sz="2000" dirty="0" err="1"/>
              <a:t>Economic</a:t>
            </a:r>
            <a:r>
              <a:rPr lang="pl-PL" sz="2000" dirty="0"/>
              <a:t> </a:t>
            </a:r>
            <a:r>
              <a:rPr lang="en-US" sz="2000" b="1" dirty="0" err="1"/>
              <a:t>Poznań</a:t>
            </a:r>
            <a:r>
              <a:rPr lang="en-US" sz="2000" b="1" dirty="0"/>
              <a:t> University of Economics and Business </a:t>
            </a:r>
            <a:r>
              <a:rPr lang="en-US" sz="2000" dirty="0" smtClean="0"/>
              <a:t>(</a:t>
            </a:r>
            <a:r>
              <a:rPr lang="en-US" sz="2000" dirty="0"/>
              <a:t>MC member)</a:t>
            </a:r>
          </a:p>
          <a:p>
            <a:pPr indent="-355600">
              <a:spcBef>
                <a:spcPts val="0"/>
              </a:spcBef>
              <a:buSzPts val="2000"/>
            </a:pPr>
            <a:endParaRPr lang="pl-PL" sz="2000" b="1" dirty="0"/>
          </a:p>
          <a:p>
            <a:pPr indent="-355600">
              <a:spcBef>
                <a:spcPts val="0"/>
              </a:spcBef>
              <a:buSzPts val="2000"/>
            </a:pPr>
            <a:endParaRPr lang="pl-PL" sz="2000" b="1" dirty="0"/>
          </a:p>
          <a:p>
            <a:pPr indent="-355600">
              <a:spcBef>
                <a:spcPts val="0"/>
              </a:spcBef>
              <a:buSzPts val="2000"/>
            </a:pPr>
            <a:r>
              <a:rPr lang="pl-PL" sz="2000" b="1" dirty="0"/>
              <a:t>Marcin </a:t>
            </a:r>
            <a:r>
              <a:rPr lang="pl-PL" sz="2000" b="1" dirty="0" err="1"/>
              <a:t>Chlebus</a:t>
            </a:r>
            <a:r>
              <a:rPr lang="fr-FR" sz="2000" dirty="0"/>
              <a:t>, PhD is </a:t>
            </a:r>
            <a:r>
              <a:rPr lang="pl-PL" sz="2000" dirty="0"/>
              <a:t>Assistant </a:t>
            </a:r>
            <a:r>
              <a:rPr lang="pl-PL" sz="2000" dirty="0" err="1"/>
              <a:t>Professor</a:t>
            </a:r>
            <a:r>
              <a:rPr lang="pl-PL" sz="2000" dirty="0"/>
              <a:t> in </a:t>
            </a:r>
            <a:r>
              <a:rPr lang="pl-PL" sz="2000" dirty="0" err="1"/>
              <a:t>Quantitative</a:t>
            </a:r>
            <a:r>
              <a:rPr lang="pl-PL" sz="2000" dirty="0"/>
              <a:t> Finance</a:t>
            </a:r>
            <a:r>
              <a:rPr lang="fr-FR" sz="2000" dirty="0"/>
              <a:t> at </a:t>
            </a:r>
            <a:r>
              <a:rPr lang="pl-PL" sz="2000" dirty="0"/>
              <a:t>University of </a:t>
            </a:r>
            <a:r>
              <a:rPr lang="pl-PL" sz="2000" dirty="0" err="1"/>
              <a:t>Warsaw</a:t>
            </a:r>
            <a:r>
              <a:rPr lang="pl-PL" sz="2000" dirty="0"/>
              <a:t>, </a:t>
            </a:r>
            <a:r>
              <a:rPr lang="pl-PL" sz="2000" dirty="0" err="1"/>
              <a:t>Faculty</a:t>
            </a:r>
            <a:r>
              <a:rPr lang="pl-PL" sz="2000" dirty="0"/>
              <a:t> of </a:t>
            </a:r>
            <a:r>
              <a:rPr lang="pl-PL" sz="2000" dirty="0" err="1"/>
              <a:t>Economic</a:t>
            </a:r>
            <a:r>
              <a:rPr lang="pl-PL" sz="2000" dirty="0"/>
              <a:t> </a:t>
            </a:r>
            <a:r>
              <a:rPr lang="pl-PL" sz="2000" dirty="0" err="1"/>
              <a:t>Sciences</a:t>
            </a:r>
            <a:r>
              <a:rPr lang="pl-PL" sz="2000" dirty="0"/>
              <a:t> and Co-</a:t>
            </a:r>
            <a:r>
              <a:rPr lang="pl-PL" sz="2000" dirty="0" err="1"/>
              <a:t>Owner</a:t>
            </a:r>
            <a:r>
              <a:rPr lang="pl-PL" sz="2000" dirty="0"/>
              <a:t> of Data </a:t>
            </a:r>
            <a:r>
              <a:rPr lang="pl-PL" sz="2000" dirty="0" err="1"/>
              <a:t>Juice</a:t>
            </a:r>
            <a:r>
              <a:rPr lang="pl-PL" sz="2000" dirty="0"/>
              <a:t> Lab (</a:t>
            </a:r>
            <a:r>
              <a:rPr lang="pl-PL" sz="2000" dirty="0" err="1"/>
              <a:t>Substitute</a:t>
            </a:r>
            <a:r>
              <a:rPr lang="pl-PL" sz="2000" dirty="0"/>
              <a:t> MC </a:t>
            </a:r>
            <a:r>
              <a:rPr lang="pl-PL" sz="2000" dirty="0" err="1"/>
              <a:t>member</a:t>
            </a:r>
            <a:r>
              <a:rPr lang="pl-PL" sz="2000" dirty="0"/>
              <a:t>)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pl-PL" sz="2000" b="1" dirty="0"/>
              <a:t>Karolina Bolesta</a:t>
            </a:r>
            <a:r>
              <a:rPr lang="pl-PL" sz="2000" dirty="0"/>
              <a:t> – </a:t>
            </a:r>
            <a:r>
              <a:rPr lang="pl-PL" sz="2000" dirty="0" err="1"/>
              <a:t>PhD</a:t>
            </a:r>
            <a:r>
              <a:rPr lang="pl-PL" sz="2000" dirty="0"/>
              <a:t> Student </a:t>
            </a:r>
            <a:r>
              <a:rPr lang="pl-PL" sz="2000" dirty="0" err="1"/>
              <a:t>at</a:t>
            </a:r>
            <a:r>
              <a:rPr lang="pl-PL" sz="2000" dirty="0"/>
              <a:t> </a:t>
            </a:r>
            <a:r>
              <a:rPr lang="pl-PL" sz="2000" dirty="0" err="1"/>
              <a:t>Warsaw</a:t>
            </a:r>
            <a:r>
              <a:rPr lang="pl-PL" sz="2000" dirty="0"/>
              <a:t> School of </a:t>
            </a:r>
            <a:r>
              <a:rPr lang="pl-PL" sz="2000" dirty="0" err="1"/>
              <a:t>Economics</a:t>
            </a:r>
            <a:endParaRPr lang="pl-PL"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MC Members </a:t>
            </a:r>
            <a:r>
              <a:rPr lang="pl-PL" dirty="0"/>
              <a:t>Poland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en-US" sz="2000" dirty="0" err="1" smtClean="0"/>
              <a:t>Karimov</a:t>
            </a:r>
            <a:r>
              <a:rPr lang="en-US" sz="2000" dirty="0" smtClean="0"/>
              <a:t> </a:t>
            </a:r>
            <a:r>
              <a:rPr lang="en-US" sz="2000" dirty="0" err="1"/>
              <a:t>Bedil</a:t>
            </a:r>
            <a:r>
              <a:rPr lang="en-US" sz="2000" dirty="0"/>
              <a:t> and </a:t>
            </a:r>
            <a:r>
              <a:rPr lang="en-US" sz="2000" b="1" dirty="0" err="1"/>
              <a:t>Wójcik</a:t>
            </a:r>
            <a:r>
              <a:rPr lang="en-US" sz="2000" b="1" dirty="0"/>
              <a:t> Piotr </a:t>
            </a:r>
            <a:r>
              <a:rPr lang="en-US" sz="2000" dirty="0"/>
              <a:t>(2021), “Identification of Scams in Initial Coin Offerings With Machine Learning”, Frontiers in Artificial Intelligence, section Artificial Intelligence in Finance, </a:t>
            </a:r>
            <a:r>
              <a:rPr lang="en-US" sz="2000" dirty="0">
                <a:hlinkClick r:id="rId3"/>
              </a:rPr>
              <a:t>https://doi.org/10.3389/frai.2021.718450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Grądzki Przemysław, </a:t>
            </a:r>
            <a:r>
              <a:rPr lang="pl-PL" sz="2000" b="1" dirty="0"/>
              <a:t>Wójcik Piotr</a:t>
            </a:r>
            <a:r>
              <a:rPr lang="pl-PL" sz="2000" dirty="0"/>
              <a:t> (2023) “</a:t>
            </a:r>
            <a:r>
              <a:rPr lang="pl-PL" sz="2000" dirty="0" err="1"/>
              <a:t>Is</a:t>
            </a:r>
            <a:r>
              <a:rPr lang="pl-PL" sz="2000" dirty="0"/>
              <a:t> </a:t>
            </a:r>
            <a:r>
              <a:rPr lang="pl-PL" sz="2000" dirty="0" err="1"/>
              <a:t>attention</a:t>
            </a:r>
            <a:r>
              <a:rPr lang="pl-PL" sz="2000" dirty="0"/>
              <a:t> </a:t>
            </a:r>
            <a:r>
              <a:rPr lang="pl-PL" sz="2000" dirty="0" err="1"/>
              <a:t>all</a:t>
            </a:r>
            <a:r>
              <a:rPr lang="pl-PL" sz="2000" dirty="0"/>
              <a:t> </a:t>
            </a:r>
            <a:r>
              <a:rPr lang="pl-PL" sz="2000" dirty="0" err="1"/>
              <a:t>you</a:t>
            </a:r>
            <a:r>
              <a:rPr lang="pl-PL" sz="2000" dirty="0"/>
              <a:t> </a:t>
            </a:r>
            <a:r>
              <a:rPr lang="pl-PL" sz="2000" dirty="0" err="1"/>
              <a:t>need</a:t>
            </a:r>
            <a:r>
              <a:rPr lang="pl-PL" sz="2000" dirty="0"/>
              <a:t> for </a:t>
            </a:r>
            <a:r>
              <a:rPr lang="pl-PL" sz="2000" dirty="0" err="1"/>
              <a:t>intraday</a:t>
            </a:r>
            <a:r>
              <a:rPr lang="pl-PL" sz="2000" dirty="0"/>
              <a:t> </a:t>
            </a:r>
            <a:r>
              <a:rPr lang="pl-PL" sz="2000" dirty="0" err="1"/>
              <a:t>Forex</a:t>
            </a:r>
            <a:r>
              <a:rPr lang="pl-PL" sz="2000" dirty="0"/>
              <a:t> trading?”, </a:t>
            </a:r>
            <a:r>
              <a:rPr lang="pl-PL" sz="2000" dirty="0" err="1"/>
              <a:t>Expert</a:t>
            </a:r>
            <a:r>
              <a:rPr lang="pl-PL" sz="2000" dirty="0"/>
              <a:t> Systems, e13317, </a:t>
            </a:r>
            <a:r>
              <a:rPr lang="pl-PL" sz="2000" dirty="0">
                <a:hlinkClick r:id="rId4"/>
              </a:rPr>
              <a:t>https://</a:t>
            </a:r>
            <a:r>
              <a:rPr lang="pl-PL" sz="2000" dirty="0" smtClean="0">
                <a:hlinkClick r:id="rId4"/>
              </a:rPr>
              <a:t>doi.org/10.1111/exsy.13317</a:t>
            </a:r>
            <a:endParaRPr lang="pl-PL" sz="2000" dirty="0" smtClean="0"/>
          </a:p>
          <a:p>
            <a:pPr marL="0" indent="0">
              <a:buNone/>
            </a:pPr>
            <a:r>
              <a:rPr lang="pl-PL" sz="2000" dirty="0" smtClean="0"/>
              <a:t>Osowska </a:t>
            </a:r>
            <a:r>
              <a:rPr lang="pl-PL" sz="2000" dirty="0"/>
              <a:t>Ewelina, </a:t>
            </a:r>
            <a:r>
              <a:rPr lang="pl-PL" sz="2000" b="1" dirty="0"/>
              <a:t>Wójcik Piotr</a:t>
            </a:r>
            <a:r>
              <a:rPr lang="pl-PL" sz="2000" dirty="0"/>
              <a:t> (2023), „</a:t>
            </a:r>
            <a:r>
              <a:rPr lang="pl-PL" sz="2000" dirty="0" err="1"/>
              <a:t>Predicting</a:t>
            </a:r>
            <a:r>
              <a:rPr lang="pl-PL" sz="2000" dirty="0"/>
              <a:t> the </a:t>
            </a:r>
            <a:r>
              <a:rPr lang="pl-PL" sz="2000" dirty="0" err="1"/>
              <a:t>reaction</a:t>
            </a:r>
            <a:r>
              <a:rPr lang="pl-PL" sz="2000" dirty="0"/>
              <a:t> of </a:t>
            </a:r>
            <a:r>
              <a:rPr lang="pl-PL" sz="2000" dirty="0" err="1"/>
              <a:t>financial</a:t>
            </a:r>
            <a:r>
              <a:rPr lang="pl-PL" sz="2000" dirty="0"/>
              <a:t> </a:t>
            </a:r>
            <a:r>
              <a:rPr lang="pl-PL" sz="2000" dirty="0" err="1"/>
              <a:t>markets</a:t>
            </a:r>
            <a:r>
              <a:rPr lang="pl-PL" sz="2000" dirty="0"/>
              <a:t> to Federal Open Market </a:t>
            </a:r>
            <a:r>
              <a:rPr lang="pl-PL" sz="2000" dirty="0" err="1"/>
              <a:t>Committee</a:t>
            </a:r>
            <a:r>
              <a:rPr lang="pl-PL" sz="2000" dirty="0"/>
              <a:t> post-</a:t>
            </a:r>
            <a:r>
              <a:rPr lang="pl-PL" sz="2000" dirty="0" err="1"/>
              <a:t>meeting</a:t>
            </a:r>
            <a:r>
              <a:rPr lang="pl-PL" sz="2000" dirty="0"/>
              <a:t> </a:t>
            </a:r>
            <a:r>
              <a:rPr lang="pl-PL" sz="2000" dirty="0" err="1"/>
              <a:t>statements</a:t>
            </a:r>
            <a:r>
              <a:rPr lang="pl-PL" sz="2000" dirty="0"/>
              <a:t>”, Digital Finance, </a:t>
            </a:r>
            <a:r>
              <a:rPr lang="pl-PL" sz="2000" dirty="0" err="1"/>
              <a:t>accepted</a:t>
            </a:r>
            <a:r>
              <a:rPr lang="pl-PL" sz="2000" dirty="0"/>
              <a:t>, in </a:t>
            </a:r>
            <a:r>
              <a:rPr lang="pl-PL" sz="2000" dirty="0" err="1"/>
              <a:t>production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endParaRPr lang="pl-PL"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 smtClean="0"/>
              <a:t>Papers</a:t>
            </a:r>
            <a:r>
              <a:rPr lang="pl-PL" dirty="0" smtClean="0"/>
              <a:t> - </a:t>
            </a:r>
            <a:r>
              <a:rPr lang="pl-PL" dirty="0" err="1" smtClean="0"/>
              <a:t>published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01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pl-PL" sz="2000" b="1" dirty="0" smtClean="0"/>
              <a:t>Barbara </a:t>
            </a:r>
            <a:r>
              <a:rPr lang="pl-PL" sz="2000" b="1" dirty="0" err="1"/>
              <a:t>Będowska</a:t>
            </a:r>
            <a:r>
              <a:rPr lang="pl-PL" sz="2000" b="1" dirty="0"/>
              <a:t>-Sójka</a:t>
            </a:r>
            <a:r>
              <a:rPr lang="pl-PL" sz="2000" dirty="0"/>
              <a:t>, Joanna Górka, </a:t>
            </a:r>
            <a:r>
              <a:rPr lang="pl-PL" sz="2000" dirty="0" err="1"/>
              <a:t>Danial</a:t>
            </a:r>
            <a:r>
              <a:rPr lang="pl-PL" sz="2000" dirty="0"/>
              <a:t> </a:t>
            </a:r>
            <a:r>
              <a:rPr lang="pl-PL" sz="2000" dirty="0" err="1"/>
              <a:t>Hemmings</a:t>
            </a:r>
            <a:r>
              <a:rPr lang="pl-PL" sz="2000" dirty="0"/>
              <a:t>, Adam </a:t>
            </a:r>
            <a:r>
              <a:rPr lang="pl-PL" sz="2000" dirty="0" smtClean="0"/>
              <a:t>Zaremba „Do </a:t>
            </a:r>
            <a:r>
              <a:rPr lang="pl-PL" sz="2000" dirty="0" err="1"/>
              <a:t>uncertainty</a:t>
            </a:r>
            <a:r>
              <a:rPr lang="pl-PL" sz="2000" dirty="0"/>
              <a:t> </a:t>
            </a:r>
            <a:r>
              <a:rPr lang="pl-PL" sz="2000" dirty="0" err="1"/>
              <a:t>indices</a:t>
            </a:r>
            <a:r>
              <a:rPr lang="pl-PL" sz="2000" dirty="0"/>
              <a:t> </a:t>
            </a:r>
            <a:r>
              <a:rPr lang="pl-PL" sz="2000" dirty="0" err="1"/>
              <a:t>affect</a:t>
            </a:r>
            <a:r>
              <a:rPr lang="pl-PL" sz="2000" dirty="0"/>
              <a:t> </a:t>
            </a:r>
            <a:r>
              <a:rPr lang="pl-PL" sz="2000" dirty="0" err="1"/>
              <a:t>cryptocurrencies</a:t>
            </a:r>
            <a:r>
              <a:rPr lang="pl-PL" sz="2000" dirty="0"/>
              <a:t>? </a:t>
            </a:r>
            <a:r>
              <a:rPr lang="pl-PL" sz="2000" dirty="0" err="1"/>
              <a:t>Lesson</a:t>
            </a:r>
            <a:r>
              <a:rPr lang="pl-PL" sz="2000" dirty="0"/>
              <a:t> from the </a:t>
            </a:r>
            <a:r>
              <a:rPr lang="pl-PL" sz="2000" dirty="0" err="1"/>
              <a:t>turbulent</a:t>
            </a:r>
            <a:r>
              <a:rPr lang="pl-PL" sz="2000" dirty="0"/>
              <a:t> </a:t>
            </a:r>
            <a:r>
              <a:rPr lang="pl-PL" sz="2000" dirty="0" smtClean="0"/>
              <a:t>Times”</a:t>
            </a:r>
          </a:p>
          <a:p>
            <a:pPr marL="0" indent="0">
              <a:buNone/>
            </a:pPr>
            <a:r>
              <a:rPr lang="pl-PL" sz="2000" b="1" dirty="0"/>
              <a:t>Barbara </a:t>
            </a:r>
            <a:r>
              <a:rPr lang="pl-PL" sz="2000" b="1" dirty="0" err="1" smtClean="0"/>
              <a:t>Będowska</a:t>
            </a:r>
            <a:r>
              <a:rPr lang="pl-PL" sz="2000" b="1" dirty="0" smtClean="0"/>
              <a:t>-Sójka</a:t>
            </a:r>
            <a:r>
              <a:rPr lang="pl-PL" sz="2000" dirty="0" smtClean="0"/>
              <a:t>, </a:t>
            </a:r>
            <a:r>
              <a:rPr lang="pl-PL" sz="2000" b="1" dirty="0" smtClean="0"/>
              <a:t>Piotr Wójcik</a:t>
            </a:r>
            <a:r>
              <a:rPr lang="pl-PL" sz="2000" dirty="0" smtClean="0"/>
              <a:t>, „</a:t>
            </a:r>
            <a:r>
              <a:rPr lang="pl-PL" sz="2000" dirty="0" err="1" smtClean="0"/>
              <a:t>Zombies</a:t>
            </a:r>
            <a:r>
              <a:rPr lang="pl-PL" sz="2000" dirty="0" smtClean="0"/>
              <a:t> </a:t>
            </a:r>
            <a:r>
              <a:rPr lang="pl-PL" sz="2000" dirty="0" err="1"/>
              <a:t>running</a:t>
            </a:r>
            <a:r>
              <a:rPr lang="pl-PL" sz="2000" dirty="0"/>
              <a:t> </a:t>
            </a:r>
            <a:r>
              <a:rPr lang="pl-PL" sz="2000" dirty="0" err="1"/>
              <a:t>wild</a:t>
            </a:r>
            <a:r>
              <a:rPr lang="pl-PL" sz="2000" dirty="0"/>
              <a:t>: </a:t>
            </a:r>
            <a:r>
              <a:rPr lang="pl-PL" sz="2000" dirty="0" err="1"/>
              <a:t>Which</a:t>
            </a:r>
            <a:r>
              <a:rPr lang="pl-PL" sz="2000" dirty="0"/>
              <a:t> </a:t>
            </a:r>
            <a:r>
              <a:rPr lang="pl-PL" sz="2000" dirty="0" err="1"/>
              <a:t>cryptocurrencies</a:t>
            </a:r>
            <a:r>
              <a:rPr lang="pl-PL" sz="2000" dirty="0"/>
              <a:t> </a:t>
            </a:r>
            <a:r>
              <a:rPr lang="pl-PL" sz="2000" dirty="0" err="1"/>
              <a:t>are</a:t>
            </a:r>
            <a:r>
              <a:rPr lang="pl-PL" sz="2000" dirty="0"/>
              <a:t> </a:t>
            </a:r>
            <a:r>
              <a:rPr lang="pl-PL" sz="2000" dirty="0" err="1"/>
              <a:t>next</a:t>
            </a:r>
            <a:r>
              <a:rPr lang="pl-PL" sz="2000" dirty="0" smtClean="0"/>
              <a:t>?”</a:t>
            </a:r>
          </a:p>
          <a:p>
            <a:pPr marL="0" indent="0">
              <a:buNone/>
            </a:pPr>
            <a:endParaRPr lang="pl-PL"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 smtClean="0"/>
              <a:t>Papers</a:t>
            </a:r>
            <a:r>
              <a:rPr lang="pl-PL" dirty="0" smtClean="0"/>
              <a:t> – in </a:t>
            </a:r>
            <a:r>
              <a:rPr lang="pl-PL" dirty="0" err="1" smtClean="0"/>
              <a:t>review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4929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None/>
            </a:pPr>
            <a:r>
              <a:rPr lang="pl-PL" sz="1800" dirty="0" smtClean="0"/>
              <a:t>„</a:t>
            </a:r>
            <a:r>
              <a:rPr lang="pl-PL" sz="1800" dirty="0" err="1" smtClean="0"/>
              <a:t>Editorial</a:t>
            </a:r>
            <a:r>
              <a:rPr lang="pl-PL" sz="1800" dirty="0" smtClean="0"/>
              <a:t> </a:t>
            </a:r>
            <a:r>
              <a:rPr lang="pl-PL" sz="1800" dirty="0" err="1"/>
              <a:t>Boards</a:t>
            </a:r>
            <a:r>
              <a:rPr lang="pl-PL" sz="1800" dirty="0"/>
              <a:t> of Finance </a:t>
            </a:r>
            <a:r>
              <a:rPr lang="pl-PL" sz="1800" dirty="0" err="1"/>
              <a:t>Journals</a:t>
            </a:r>
            <a:r>
              <a:rPr lang="pl-PL" sz="1800" dirty="0"/>
              <a:t>: The </a:t>
            </a:r>
            <a:r>
              <a:rPr lang="pl-PL" sz="1800" dirty="0" err="1"/>
              <a:t>Gender</a:t>
            </a:r>
            <a:r>
              <a:rPr lang="pl-PL" sz="1800" dirty="0"/>
              <a:t> Gap and </a:t>
            </a:r>
            <a:r>
              <a:rPr lang="pl-PL" sz="1800" dirty="0" err="1"/>
              <a:t>Social</a:t>
            </a:r>
            <a:r>
              <a:rPr lang="pl-PL" sz="1800" dirty="0"/>
              <a:t> </a:t>
            </a:r>
            <a:r>
              <a:rPr lang="pl-PL" sz="1800" dirty="0" smtClean="0"/>
              <a:t>Networks” </a:t>
            </a:r>
            <a:r>
              <a:rPr lang="pl-PL" sz="1800" dirty="0"/>
              <a:t>by </a:t>
            </a:r>
            <a:r>
              <a:rPr lang="pl-PL" sz="1800" b="1" dirty="0" smtClean="0"/>
              <a:t>Barbara </a:t>
            </a:r>
            <a:r>
              <a:rPr lang="pl-PL" sz="1800" b="1" dirty="0" err="1"/>
              <a:t>Bedowska</a:t>
            </a:r>
            <a:r>
              <a:rPr lang="pl-PL" sz="1800" b="1" dirty="0"/>
              <a:t>-Sójka</a:t>
            </a:r>
            <a:r>
              <a:rPr lang="pl-PL" sz="1800" dirty="0"/>
              <a:t>, Claudia </a:t>
            </a:r>
            <a:r>
              <a:rPr lang="pl-PL" sz="1800" dirty="0" err="1"/>
              <a:t>Tarantola</a:t>
            </a:r>
            <a:r>
              <a:rPr lang="pl-PL" sz="1800" dirty="0"/>
              <a:t>, </a:t>
            </a:r>
            <a:r>
              <a:rPr lang="pl-PL" sz="1800" dirty="0" err="1"/>
              <a:t>Codruta</a:t>
            </a:r>
            <a:r>
              <a:rPr lang="pl-PL" sz="1800" dirty="0"/>
              <a:t> Mare, </a:t>
            </a:r>
            <a:r>
              <a:rPr lang="pl-PL" sz="1800" dirty="0" err="1"/>
              <a:t>Alessia</a:t>
            </a:r>
            <a:r>
              <a:rPr lang="pl-PL" sz="1800" dirty="0"/>
              <a:t> </a:t>
            </a:r>
            <a:r>
              <a:rPr lang="pl-PL" sz="1800" dirty="0" err="1"/>
              <a:t>Paccagnini</a:t>
            </a:r>
            <a:r>
              <a:rPr lang="pl-PL" sz="1800" dirty="0"/>
              <a:t>, </a:t>
            </a:r>
            <a:r>
              <a:rPr lang="pl-PL" sz="1800" dirty="0" err="1"/>
              <a:t>Belma</a:t>
            </a:r>
            <a:r>
              <a:rPr lang="pl-PL" sz="1800" dirty="0"/>
              <a:t> </a:t>
            </a:r>
            <a:r>
              <a:rPr lang="pl-PL" sz="1800" dirty="0" err="1"/>
              <a:t>Ozturkkal</a:t>
            </a:r>
            <a:r>
              <a:rPr lang="pl-PL" sz="1800" dirty="0"/>
              <a:t>, Galena </a:t>
            </a:r>
            <a:r>
              <a:rPr lang="pl-PL" sz="1800" dirty="0" err="1"/>
              <a:t>Pisoni</a:t>
            </a:r>
            <a:r>
              <a:rPr lang="pl-PL" sz="1800" dirty="0"/>
              <a:t>, </a:t>
            </a:r>
            <a:r>
              <a:rPr lang="pl-PL" sz="1800" dirty="0" err="1"/>
              <a:t>Albulena</a:t>
            </a:r>
            <a:r>
              <a:rPr lang="pl-PL" sz="1800" dirty="0"/>
              <a:t> </a:t>
            </a:r>
            <a:r>
              <a:rPr lang="pl-PL" sz="1800" dirty="0" err="1"/>
              <a:t>Shala</a:t>
            </a:r>
            <a:r>
              <a:rPr lang="pl-PL" sz="1800" dirty="0"/>
              <a:t>, </a:t>
            </a:r>
            <a:r>
              <a:rPr lang="pl-PL" sz="1800" dirty="0" err="1"/>
              <a:t>Rezarta</a:t>
            </a:r>
            <a:r>
              <a:rPr lang="pl-PL" sz="1800" dirty="0"/>
              <a:t> </a:t>
            </a:r>
            <a:r>
              <a:rPr lang="pl-PL" sz="1800" dirty="0" err="1"/>
              <a:t>Perri</a:t>
            </a:r>
            <a:r>
              <a:rPr lang="pl-PL" sz="1800" dirty="0"/>
              <a:t>, Hanna </a:t>
            </a:r>
            <a:r>
              <a:rPr lang="pl-PL" sz="1800" dirty="0" err="1"/>
              <a:t>Kristın</a:t>
            </a:r>
            <a:r>
              <a:rPr lang="pl-PL" sz="1800" dirty="0"/>
              <a:t> </a:t>
            </a:r>
            <a:r>
              <a:rPr lang="pl-PL" sz="1800" dirty="0" err="1" smtClean="0"/>
              <a:t>Skaftadottir</a:t>
            </a:r>
            <a:endParaRPr lang="pl-PL" sz="1800" dirty="0"/>
          </a:p>
          <a:p>
            <a:pPr marL="0" indent="0">
              <a:buNone/>
            </a:pPr>
            <a:r>
              <a:rPr lang="pl-PL" sz="1800" dirty="0" smtClean="0"/>
              <a:t>„</a:t>
            </a:r>
            <a:r>
              <a:rPr lang="pl-PL" sz="1800" dirty="0" err="1" smtClean="0"/>
              <a:t>Mitigating</a:t>
            </a:r>
            <a:r>
              <a:rPr lang="pl-PL" sz="1800" dirty="0" smtClean="0"/>
              <a:t> </a:t>
            </a:r>
            <a:r>
              <a:rPr lang="pl-PL" sz="1800" dirty="0"/>
              <a:t>Digital </a:t>
            </a:r>
            <a:r>
              <a:rPr lang="pl-PL" sz="1800" dirty="0" err="1"/>
              <a:t>Asset</a:t>
            </a:r>
            <a:r>
              <a:rPr lang="pl-PL" sz="1800" dirty="0"/>
              <a:t> </a:t>
            </a:r>
            <a:r>
              <a:rPr lang="pl-PL" sz="1800" dirty="0" err="1" smtClean="0"/>
              <a:t>Risks</a:t>
            </a:r>
            <a:r>
              <a:rPr lang="pl-PL" sz="1800" dirty="0" smtClean="0"/>
              <a:t>” by </a:t>
            </a:r>
            <a:r>
              <a:rPr lang="pl-PL" sz="1800" b="1" dirty="0"/>
              <a:t>Barbara </a:t>
            </a:r>
            <a:r>
              <a:rPr lang="pl-PL" sz="1800" b="1" dirty="0" err="1" smtClean="0"/>
              <a:t>Bedowska</a:t>
            </a:r>
            <a:r>
              <a:rPr lang="pl-PL" sz="1800" b="1" dirty="0" smtClean="0"/>
              <a:t>-Sójka</a:t>
            </a:r>
            <a:r>
              <a:rPr lang="pl-PL" sz="1800" dirty="0" smtClean="0"/>
              <a:t>, </a:t>
            </a:r>
            <a:r>
              <a:rPr lang="pl-PL" sz="1800" b="1" dirty="0" smtClean="0"/>
              <a:t>Karolina Bolesta </a:t>
            </a:r>
            <a:r>
              <a:rPr lang="pl-PL" sz="1800" dirty="0" smtClean="0"/>
              <a:t>+ 30 </a:t>
            </a:r>
            <a:r>
              <a:rPr lang="pl-PL" sz="1800" dirty="0" err="1" smtClean="0"/>
              <a:t>other</a:t>
            </a:r>
            <a:r>
              <a:rPr lang="pl-PL" sz="1800" dirty="0" smtClean="0"/>
              <a:t> </a:t>
            </a:r>
            <a:r>
              <a:rPr lang="pl-PL" sz="1800" dirty="0" err="1" smtClean="0"/>
              <a:t>persons</a:t>
            </a:r>
            <a:endParaRPr lang="pl-PL" sz="1800" dirty="0"/>
          </a:p>
          <a:p>
            <a:pPr marL="0" indent="0">
              <a:buNone/>
            </a:pPr>
            <a:r>
              <a:rPr lang="pl-PL" sz="1800" dirty="0" smtClean="0"/>
              <a:t>„</a:t>
            </a:r>
            <a:r>
              <a:rPr lang="pl-PL" sz="1800" dirty="0" err="1" smtClean="0"/>
              <a:t>Ethical</a:t>
            </a:r>
            <a:r>
              <a:rPr lang="pl-PL" sz="1800" dirty="0" smtClean="0"/>
              <a:t> </a:t>
            </a:r>
            <a:r>
              <a:rPr lang="pl-PL" sz="1800" dirty="0" err="1"/>
              <a:t>Artificial</a:t>
            </a:r>
            <a:r>
              <a:rPr lang="pl-PL" sz="1800" dirty="0"/>
              <a:t> </a:t>
            </a:r>
            <a:r>
              <a:rPr lang="pl-PL" sz="1800" dirty="0" err="1"/>
              <a:t>Intelligence</a:t>
            </a:r>
            <a:r>
              <a:rPr lang="pl-PL" sz="1800" dirty="0"/>
              <a:t>, </a:t>
            </a:r>
            <a:r>
              <a:rPr lang="pl-PL" sz="1800" dirty="0" err="1"/>
              <a:t>Fintech</a:t>
            </a:r>
            <a:r>
              <a:rPr lang="pl-PL" sz="1800" dirty="0"/>
              <a:t> and Data </a:t>
            </a:r>
            <a:r>
              <a:rPr lang="pl-PL" sz="1800" dirty="0" err="1"/>
              <a:t>Protection</a:t>
            </a:r>
            <a:r>
              <a:rPr lang="pl-PL" sz="1800" dirty="0"/>
              <a:t>: A </a:t>
            </a:r>
            <a:r>
              <a:rPr lang="pl-PL" sz="1800" dirty="0" err="1"/>
              <a:t>Path</a:t>
            </a:r>
            <a:r>
              <a:rPr lang="pl-PL" sz="1800" dirty="0"/>
              <a:t> </a:t>
            </a:r>
            <a:r>
              <a:rPr lang="pl-PL" sz="1800" dirty="0" err="1"/>
              <a:t>Forward</a:t>
            </a:r>
            <a:r>
              <a:rPr lang="pl-PL" sz="1800" dirty="0"/>
              <a:t> for Training in </a:t>
            </a:r>
            <a:r>
              <a:rPr lang="pl-PL" sz="1800" dirty="0" smtClean="0"/>
              <a:t>Europe” </a:t>
            </a:r>
            <a:r>
              <a:rPr lang="pl-PL" sz="1800" dirty="0"/>
              <a:t>by </a:t>
            </a:r>
            <a:r>
              <a:rPr lang="pl-PL" sz="1800" dirty="0" err="1" smtClean="0"/>
              <a:t>Moloney</a:t>
            </a:r>
            <a:r>
              <a:rPr lang="pl-PL" sz="1800" dirty="0" smtClean="0"/>
              <a:t> </a:t>
            </a:r>
            <a:r>
              <a:rPr lang="pl-PL" sz="1800" dirty="0"/>
              <a:t>M, </a:t>
            </a:r>
            <a:r>
              <a:rPr lang="pl-PL" sz="1800" dirty="0" err="1"/>
              <a:t>Coita</a:t>
            </a:r>
            <a:r>
              <a:rPr lang="pl-PL" sz="1800" dirty="0"/>
              <a:t> IF, </a:t>
            </a:r>
            <a:r>
              <a:rPr lang="pl-PL" sz="1800" dirty="0" err="1"/>
              <a:t>Paschalidou</a:t>
            </a:r>
            <a:r>
              <a:rPr lang="pl-PL" sz="1800" dirty="0"/>
              <a:t> E, Mare C, </a:t>
            </a:r>
            <a:r>
              <a:rPr lang="pl-PL" sz="1800" b="1" dirty="0"/>
              <a:t>Bolesta K</a:t>
            </a:r>
            <a:r>
              <a:rPr lang="pl-PL" sz="1800" dirty="0"/>
              <a:t>, </a:t>
            </a:r>
            <a:r>
              <a:rPr lang="pl-PL" sz="1800" b="1" dirty="0" err="1"/>
              <a:t>Będowska</a:t>
            </a:r>
            <a:r>
              <a:rPr lang="pl-PL" sz="1800" b="1" dirty="0"/>
              <a:t>-Sójka B</a:t>
            </a:r>
            <a:r>
              <a:rPr lang="pl-PL" sz="1800" dirty="0"/>
              <a:t>, Stanca LM, </a:t>
            </a:r>
            <a:r>
              <a:rPr lang="pl-PL" sz="1800" dirty="0" err="1"/>
              <a:t>Filipovska</a:t>
            </a:r>
            <a:r>
              <a:rPr lang="pl-PL" sz="1800" dirty="0"/>
              <a:t> O et al.</a:t>
            </a:r>
          </a:p>
          <a:p>
            <a:pPr marL="0" indent="0">
              <a:buNone/>
            </a:pPr>
            <a:r>
              <a:rPr lang="pl-PL" sz="1800" dirty="0" smtClean="0"/>
              <a:t>„AI-</a:t>
            </a:r>
            <a:r>
              <a:rPr lang="pl-PL" sz="1800" dirty="0" err="1" smtClean="0"/>
              <a:t>based</a:t>
            </a:r>
            <a:r>
              <a:rPr lang="pl-PL" sz="1800" dirty="0" smtClean="0"/>
              <a:t> </a:t>
            </a:r>
            <a:r>
              <a:rPr lang="pl-PL" sz="1800" dirty="0" err="1"/>
              <a:t>digital</a:t>
            </a:r>
            <a:r>
              <a:rPr lang="pl-PL" sz="1800" dirty="0"/>
              <a:t> </a:t>
            </a:r>
            <a:r>
              <a:rPr lang="pl-PL" sz="1800" dirty="0" err="1"/>
              <a:t>finance</a:t>
            </a:r>
            <a:r>
              <a:rPr lang="pl-PL" sz="1800" dirty="0"/>
              <a:t>: </a:t>
            </a:r>
            <a:r>
              <a:rPr lang="pl-PL" sz="1800" dirty="0" err="1"/>
              <a:t>Current</a:t>
            </a:r>
            <a:r>
              <a:rPr lang="pl-PL" sz="1800" dirty="0"/>
              <a:t> </a:t>
            </a:r>
            <a:r>
              <a:rPr lang="pl-PL" sz="1800" dirty="0" err="1"/>
              <a:t>challenges</a:t>
            </a:r>
            <a:r>
              <a:rPr lang="pl-PL" sz="1800" dirty="0"/>
              <a:t> and the </a:t>
            </a:r>
            <a:r>
              <a:rPr lang="pl-PL" sz="1800" dirty="0" err="1"/>
              <a:t>path</a:t>
            </a:r>
            <a:r>
              <a:rPr lang="pl-PL" sz="1800" dirty="0"/>
              <a:t> </a:t>
            </a:r>
            <a:r>
              <a:rPr lang="pl-PL" sz="1800" dirty="0" err="1"/>
              <a:t>forward</a:t>
            </a:r>
            <a:r>
              <a:rPr lang="pl-PL" sz="1800" dirty="0"/>
              <a:t> for </a:t>
            </a:r>
            <a:r>
              <a:rPr lang="pl-PL" sz="1800" dirty="0" err="1" smtClean="0"/>
              <a:t>regulation</a:t>
            </a:r>
            <a:r>
              <a:rPr lang="pl-PL" sz="1800" dirty="0" smtClean="0"/>
              <a:t>” </a:t>
            </a:r>
            <a:r>
              <a:rPr lang="pl-PL" sz="1800" dirty="0"/>
              <a:t>by Galena </a:t>
            </a:r>
            <a:r>
              <a:rPr lang="pl-PL" sz="1800" dirty="0" err="1"/>
              <a:t>Pisoni</a:t>
            </a:r>
            <a:r>
              <a:rPr lang="pl-PL" sz="1800" dirty="0"/>
              <a:t>, Maria </a:t>
            </a:r>
            <a:r>
              <a:rPr lang="pl-PL" sz="1800" dirty="0" err="1"/>
              <a:t>Moloney</a:t>
            </a:r>
            <a:r>
              <a:rPr lang="pl-PL" sz="1800" dirty="0"/>
              <a:t>, </a:t>
            </a:r>
            <a:r>
              <a:rPr lang="pl-PL" sz="1800" dirty="0" err="1"/>
              <a:t>Codruta</a:t>
            </a:r>
            <a:r>
              <a:rPr lang="pl-PL" sz="1800" dirty="0"/>
              <a:t> Mare, </a:t>
            </a:r>
            <a:r>
              <a:rPr lang="pl-PL" sz="1800" dirty="0" err="1"/>
              <a:t>Molnár</a:t>
            </a:r>
            <a:r>
              <a:rPr lang="pl-PL" sz="1800" dirty="0"/>
              <a:t> </a:t>
            </a:r>
            <a:r>
              <a:rPr lang="pl-PL" sz="1800" dirty="0" err="1"/>
              <a:t>Bálint</a:t>
            </a:r>
            <a:r>
              <a:rPr lang="pl-PL" sz="1800" dirty="0"/>
              <a:t>, Korba </a:t>
            </a:r>
            <a:r>
              <a:rPr lang="pl-PL" sz="1800" dirty="0" err="1"/>
              <a:t>Szabolcs</a:t>
            </a:r>
            <a:r>
              <a:rPr lang="pl-PL" sz="1800" dirty="0"/>
              <a:t>, Achim </a:t>
            </a:r>
            <a:r>
              <a:rPr lang="pl-PL" sz="1800" dirty="0" err="1"/>
              <a:t>Monica</a:t>
            </a:r>
            <a:r>
              <a:rPr lang="pl-PL" sz="1800" dirty="0"/>
              <a:t>, </a:t>
            </a:r>
            <a:r>
              <a:rPr lang="pl-PL" sz="1800" b="1" dirty="0"/>
              <a:t>Barbara </a:t>
            </a:r>
            <a:r>
              <a:rPr lang="pl-PL" sz="1800" b="1" dirty="0" err="1" smtClean="0"/>
              <a:t>Będowska</a:t>
            </a:r>
            <a:r>
              <a:rPr lang="pl-PL" sz="1800" b="1" dirty="0" smtClean="0"/>
              <a:t>-Sójka</a:t>
            </a:r>
            <a:r>
              <a:rPr lang="pl-PL" sz="1800" dirty="0" smtClean="0"/>
              <a:t> - </a:t>
            </a:r>
            <a:r>
              <a:rPr lang="pl-PL" sz="1800" dirty="0"/>
              <a:t>in </a:t>
            </a:r>
            <a:r>
              <a:rPr lang="pl-PL" sz="1800" dirty="0" err="1"/>
              <a:t>revision</a:t>
            </a:r>
            <a:r>
              <a:rPr lang="pl-PL" sz="1800" dirty="0"/>
              <a:t> in </a:t>
            </a:r>
            <a:r>
              <a:rPr lang="pl-PL" sz="1800" dirty="0" err="1"/>
              <a:t>Electronic</a:t>
            </a:r>
            <a:r>
              <a:rPr lang="pl-PL" sz="1800" dirty="0"/>
              <a:t> </a:t>
            </a:r>
            <a:r>
              <a:rPr lang="pl-PL" sz="1800" dirty="0" err="1"/>
              <a:t>Markets</a:t>
            </a:r>
            <a:r>
              <a:rPr lang="pl-PL" sz="1800" dirty="0"/>
              <a:t> </a:t>
            </a:r>
            <a:endParaRPr lang="pl-PL" sz="1800" dirty="0" smtClean="0"/>
          </a:p>
          <a:p>
            <a:pPr marL="0" indent="0">
              <a:buNone/>
            </a:pPr>
            <a:r>
              <a:rPr lang="en-US" sz="1800" dirty="0" smtClean="0"/>
              <a:t>Discussion </a:t>
            </a:r>
            <a:r>
              <a:rPr lang="en-US" sz="1800" dirty="0"/>
              <a:t>paper for possible approaches to building a statistically valid back-testing framework </a:t>
            </a:r>
            <a:r>
              <a:rPr lang="en-US" sz="1800" dirty="0" smtClean="0"/>
              <a:t>– </a:t>
            </a:r>
            <a:r>
              <a:rPr lang="pl-PL" sz="1800" b="1" dirty="0" smtClean="0"/>
              <a:t>Karolina Bolesta</a:t>
            </a:r>
            <a:r>
              <a:rPr lang="pl-PL" sz="1800" dirty="0" smtClean="0"/>
              <a:t>, </a:t>
            </a:r>
            <a:r>
              <a:rPr lang="en-US" sz="1800" dirty="0" smtClean="0"/>
              <a:t>in progress</a:t>
            </a:r>
            <a:endParaRPr lang="pl-PL" sz="1800" dirty="0"/>
          </a:p>
          <a:p>
            <a:pPr marL="0" indent="0">
              <a:buNone/>
            </a:pPr>
            <a:endParaRPr lang="pl-PL" sz="1800" dirty="0"/>
          </a:p>
          <a:p>
            <a:pPr marL="0" indent="0">
              <a:buNone/>
            </a:pPr>
            <a:endParaRPr lang="pl-PL" sz="1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 smtClean="0"/>
              <a:t>Papers</a:t>
            </a:r>
            <a:r>
              <a:rPr lang="pl-PL" dirty="0" smtClean="0"/>
              <a:t> – </a:t>
            </a:r>
            <a:r>
              <a:rPr lang="pl-PL" dirty="0" err="1" smtClean="0"/>
              <a:t>large</a:t>
            </a:r>
            <a:r>
              <a:rPr lang="pl-PL" dirty="0" smtClean="0"/>
              <a:t> </a:t>
            </a:r>
            <a:r>
              <a:rPr lang="pl-PL" dirty="0" err="1" smtClean="0"/>
              <a:t>common</a:t>
            </a:r>
            <a:r>
              <a:rPr lang="pl-PL" dirty="0" smtClean="0"/>
              <a:t> COST </a:t>
            </a:r>
            <a:r>
              <a:rPr lang="pl-PL" dirty="0" err="1" smtClean="0"/>
              <a:t>papers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420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l-PL" sz="2000" dirty="0"/>
              <a:t>Barbara </a:t>
            </a:r>
            <a:r>
              <a:rPr lang="pl-PL" sz="2000" dirty="0" err="1"/>
              <a:t>Będowska</a:t>
            </a:r>
            <a:r>
              <a:rPr lang="pl-PL" sz="2000" dirty="0"/>
              <a:t>-Sójka – </a:t>
            </a:r>
            <a:r>
              <a:rPr lang="pl-PL" sz="2000" dirty="0" err="1"/>
              <a:t>leading</a:t>
            </a:r>
            <a:r>
              <a:rPr lang="pl-PL" sz="2000" dirty="0"/>
              <a:t> a </a:t>
            </a:r>
            <a:r>
              <a:rPr lang="pl-PL" sz="2000" dirty="0" err="1"/>
              <a:t>research</a:t>
            </a:r>
            <a:r>
              <a:rPr lang="pl-PL" sz="2000" dirty="0"/>
              <a:t> </a:t>
            </a:r>
            <a:r>
              <a:rPr lang="pl-PL" sz="2000" dirty="0" err="1"/>
              <a:t>project</a:t>
            </a:r>
            <a:r>
              <a:rPr lang="pl-PL" sz="2000" dirty="0"/>
              <a:t> </a:t>
            </a:r>
            <a:r>
              <a:rPr lang="en-US" sz="2000" dirty="0"/>
              <a:t>“Properties of a cross-section of rates of return in the cryptocurrency markets”</a:t>
            </a:r>
            <a:r>
              <a:rPr lang="pl-PL" sz="2000" dirty="0"/>
              <a:t> </a:t>
            </a:r>
            <a:r>
              <a:rPr lang="pl-PL" sz="2000" dirty="0" err="1"/>
              <a:t>financed</a:t>
            </a:r>
            <a:r>
              <a:rPr lang="pl-PL" sz="2000" dirty="0"/>
              <a:t> by </a:t>
            </a:r>
            <a:r>
              <a:rPr lang="pl-PL" sz="2000" dirty="0" err="1"/>
              <a:t>Polish</a:t>
            </a:r>
            <a:r>
              <a:rPr lang="pl-PL" sz="2000" dirty="0"/>
              <a:t> </a:t>
            </a:r>
            <a:r>
              <a:rPr lang="pl-PL" sz="2000" dirty="0" err="1"/>
              <a:t>National</a:t>
            </a:r>
            <a:r>
              <a:rPr lang="pl-PL" sz="2000" dirty="0"/>
              <a:t> Science Center</a:t>
            </a:r>
          </a:p>
          <a:p>
            <a:pPr lvl="0"/>
            <a:r>
              <a:rPr lang="en-US" sz="2000" dirty="0"/>
              <a:t>Marcin </a:t>
            </a:r>
            <a:r>
              <a:rPr lang="en-US" sz="2000" dirty="0" err="1"/>
              <a:t>Chlebus</a:t>
            </a:r>
            <a:r>
              <a:rPr lang="en-US" sz="2000" dirty="0"/>
              <a:t> – conducting research seminar of WG2 related to “XAI Tools in Model Selection for Business Decision Modelling”, 16.03.2021.</a:t>
            </a:r>
            <a:endParaRPr lang="pl-PL" sz="2000" dirty="0"/>
          </a:p>
          <a:p>
            <a:r>
              <a:rPr lang="en-US" sz="2000" dirty="0"/>
              <a:t>Piotr </a:t>
            </a:r>
            <a:r>
              <a:rPr lang="en-US" sz="2000" dirty="0" err="1"/>
              <a:t>Wójcik</a:t>
            </a:r>
            <a:r>
              <a:rPr lang="en-US" sz="2000" dirty="0"/>
              <a:t> – participation in the </a:t>
            </a:r>
            <a:r>
              <a:rPr lang="en-US" sz="2000" dirty="0" err="1"/>
              <a:t>Blockchain</a:t>
            </a:r>
            <a:r>
              <a:rPr lang="en-US" sz="2000" dirty="0"/>
              <a:t> Research Center (Humboldt University in Berlin) as a member; organizing the node of the BRC in the Faculty of Economic </a:t>
            </a:r>
            <a:r>
              <a:rPr lang="en-US" sz="2000" dirty="0" smtClean="0"/>
              <a:t>Sciences</a:t>
            </a:r>
            <a:endParaRPr lang="pl-PL" sz="2000" dirty="0" smtClean="0"/>
          </a:p>
          <a:p>
            <a:r>
              <a:rPr lang="pl-PL" sz="2000" dirty="0" smtClean="0"/>
              <a:t>Joint </a:t>
            </a:r>
            <a:r>
              <a:rPr lang="pl-PL" sz="2000" dirty="0" err="1" smtClean="0"/>
              <a:t>application</a:t>
            </a:r>
            <a:r>
              <a:rPr lang="pl-PL" sz="2000" dirty="0" smtClean="0"/>
              <a:t> with prof. Wolfgang </a:t>
            </a:r>
            <a:r>
              <a:rPr lang="pl-PL" sz="2000" dirty="0" err="1" smtClean="0"/>
              <a:t>Haerdle</a:t>
            </a:r>
            <a:r>
              <a:rPr lang="pl-PL" sz="2000" dirty="0" smtClean="0"/>
              <a:t> for the </a:t>
            </a:r>
            <a:r>
              <a:rPr lang="pl-PL" sz="2000" dirty="0" err="1" smtClean="0"/>
              <a:t>research</a:t>
            </a:r>
            <a:r>
              <a:rPr lang="pl-PL" sz="2000" dirty="0" smtClean="0"/>
              <a:t> </a:t>
            </a:r>
            <a:r>
              <a:rPr lang="pl-PL" sz="2000" dirty="0" err="1" smtClean="0"/>
              <a:t>project</a:t>
            </a:r>
            <a:r>
              <a:rPr lang="pl-PL" sz="2000" dirty="0" smtClean="0"/>
              <a:t> </a:t>
            </a:r>
            <a:r>
              <a:rPr lang="en-US" sz="2000" dirty="0"/>
              <a:t>"Market Risk Modeling Using Enhanced Machine Learning and Explainable Artificial Intelligence"</a:t>
            </a:r>
            <a:endParaRPr lang="pl-PL" sz="2000" dirty="0" smtClean="0"/>
          </a:p>
          <a:p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Impact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83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l-PL" sz="2000" dirty="0" smtClean="0"/>
              <a:t>Barbara </a:t>
            </a:r>
            <a:r>
              <a:rPr lang="pl-PL" sz="2000" dirty="0" err="1" smtClean="0"/>
              <a:t>Będowska</a:t>
            </a:r>
            <a:r>
              <a:rPr lang="pl-PL" sz="2000" dirty="0" smtClean="0"/>
              <a:t>-Sójka – 13+</a:t>
            </a:r>
          </a:p>
          <a:p>
            <a:r>
              <a:rPr lang="pl-PL" sz="2000" dirty="0" smtClean="0"/>
              <a:t>Piotr Wójcik – 5+</a:t>
            </a:r>
          </a:p>
          <a:p>
            <a:r>
              <a:rPr lang="pl-PL" sz="2000" dirty="0" smtClean="0"/>
              <a:t>Karolina Bolesta – 5+</a:t>
            </a:r>
          </a:p>
          <a:p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10397492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 smtClean="0"/>
              <a:t>Conferences</a:t>
            </a:r>
            <a:r>
              <a:rPr lang="pl-PL" dirty="0" smtClean="0"/>
              <a:t> – </a:t>
            </a:r>
            <a:r>
              <a:rPr lang="pl-PL" dirty="0" err="1" smtClean="0"/>
              <a:t>participation</a:t>
            </a:r>
            <a:r>
              <a:rPr lang="pl-PL" dirty="0" smtClean="0"/>
              <a:t> with COST </a:t>
            </a:r>
            <a:r>
              <a:rPr lang="pl-PL" dirty="0" err="1" smtClean="0"/>
              <a:t>related</a:t>
            </a:r>
            <a:r>
              <a:rPr lang="pl-PL" dirty="0" smtClean="0"/>
              <a:t> </a:t>
            </a:r>
            <a:r>
              <a:rPr lang="pl-PL" dirty="0" err="1" smtClean="0"/>
              <a:t>papers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986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l-PL" sz="2000" dirty="0" smtClean="0"/>
              <a:t>Barbara </a:t>
            </a:r>
            <a:r>
              <a:rPr lang="pl-PL" sz="2000" dirty="0" err="1" smtClean="0"/>
              <a:t>Będowska</a:t>
            </a:r>
            <a:r>
              <a:rPr lang="pl-PL" sz="2000" dirty="0" smtClean="0"/>
              <a:t>-Sójka – AFFINE </a:t>
            </a:r>
            <a:r>
              <a:rPr lang="pl-PL" sz="2000" dirty="0"/>
              <a:t>Training School, </a:t>
            </a:r>
            <a:r>
              <a:rPr lang="pl-PL" sz="2000" dirty="0" err="1" smtClean="0"/>
              <a:t>Naples</a:t>
            </a:r>
            <a:r>
              <a:rPr lang="pl-PL" sz="2000" dirty="0" smtClean="0"/>
              <a:t> 13-15.09.2023</a:t>
            </a:r>
          </a:p>
          <a:p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10397492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smtClean="0"/>
              <a:t>COST </a:t>
            </a:r>
            <a:r>
              <a:rPr lang="pl-PL" dirty="0" err="1" smtClean="0"/>
              <a:t>training</a:t>
            </a:r>
            <a:r>
              <a:rPr lang="pl-PL" dirty="0" smtClean="0"/>
              <a:t> </a:t>
            </a:r>
            <a:r>
              <a:rPr lang="pl-PL" dirty="0" err="1" smtClean="0"/>
              <a:t>schools</a:t>
            </a:r>
            <a:r>
              <a:rPr lang="pl-PL" dirty="0" smtClean="0"/>
              <a:t> </a:t>
            </a:r>
            <a:r>
              <a:rPr lang="pl-PL" dirty="0" err="1" smtClean="0"/>
              <a:t>participation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0615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pl-PL" sz="2000" dirty="0" smtClean="0"/>
              <a:t>Karolina Bolesta:</a:t>
            </a:r>
          </a:p>
          <a:p>
            <a:r>
              <a:rPr lang="en-US" sz="2000" dirty="0"/>
              <a:t>COST Action </a:t>
            </a:r>
            <a:r>
              <a:rPr lang="en-US" sz="2000" dirty="0" err="1"/>
              <a:t>FinAI</a:t>
            </a:r>
            <a:r>
              <a:rPr lang="en-US" sz="2000" dirty="0"/>
              <a:t> meets Brussels: AI in Finance - Policy </a:t>
            </a:r>
            <a:r>
              <a:rPr lang="en-US" sz="2000" dirty="0" smtClean="0"/>
              <a:t>Implications</a:t>
            </a:r>
            <a:endParaRPr lang="pl-PL" sz="2000" dirty="0" smtClean="0"/>
          </a:p>
          <a:p>
            <a:r>
              <a:rPr lang="en-US" sz="2000" dirty="0" smtClean="0"/>
              <a:t>Local </a:t>
            </a:r>
            <a:r>
              <a:rPr lang="en-US" sz="2000" dirty="0"/>
              <a:t>Organizer for the event: COST Fintech and AI in Finance visits Scandinavia, Helsinki, 10-11 July </a:t>
            </a:r>
            <a:r>
              <a:rPr lang="en-US" sz="2000" dirty="0" smtClean="0"/>
              <a:t>2023</a:t>
            </a:r>
            <a:endParaRPr lang="pl-PL" sz="2000" dirty="0" smtClean="0"/>
          </a:p>
          <a:p>
            <a:pPr marL="50800" indent="0">
              <a:buNone/>
            </a:pPr>
            <a:endParaRPr lang="pl-PL" sz="2000" dirty="0"/>
          </a:p>
          <a:p>
            <a:pPr marL="50800" indent="0">
              <a:buNone/>
            </a:pPr>
            <a:r>
              <a:rPr lang="pl-PL" sz="2000" dirty="0" smtClean="0"/>
              <a:t>Piotr Wójcik</a:t>
            </a:r>
          </a:p>
          <a:p>
            <a:r>
              <a:rPr lang="pl-PL" sz="2000" dirty="0" smtClean="0"/>
              <a:t>Brno COST </a:t>
            </a:r>
            <a:r>
              <a:rPr lang="pl-PL" sz="2000" dirty="0" err="1" smtClean="0"/>
              <a:t>seminar</a:t>
            </a:r>
            <a:r>
              <a:rPr lang="pl-PL" sz="2000" dirty="0" smtClean="0"/>
              <a:t> </a:t>
            </a:r>
            <a:r>
              <a:rPr lang="en-US" sz="2000" dirty="0" smtClean="0"/>
              <a:t>21</a:t>
            </a:r>
            <a:r>
              <a:rPr lang="pl-PL" sz="2000" dirty="0" smtClean="0"/>
              <a:t>.10.2022</a:t>
            </a:r>
            <a:r>
              <a:rPr lang="en-US" sz="2000" dirty="0" smtClean="0"/>
              <a:t> </a:t>
            </a:r>
            <a:endParaRPr lang="pl-PL" sz="2000" dirty="0" smtClean="0"/>
          </a:p>
          <a:p>
            <a:endParaRPr sz="2000" dirty="0"/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10397492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 smtClean="0"/>
              <a:t>Events</a:t>
            </a:r>
            <a:r>
              <a:rPr lang="pl-PL" dirty="0" smtClean="0"/>
              <a:t> </a:t>
            </a:r>
            <a:r>
              <a:rPr lang="pl-PL" dirty="0" err="1" smtClean="0"/>
              <a:t>coorganization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2648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>
            <a:spLocks noGrp="1"/>
          </p:cNvSpPr>
          <p:nvPr>
            <p:ph type="body" idx="1"/>
          </p:nvPr>
        </p:nvSpPr>
        <p:spPr>
          <a:xfrm>
            <a:off x="874712" y="2102946"/>
            <a:ext cx="10502689" cy="366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buNone/>
            </a:pPr>
            <a:r>
              <a:rPr lang="pl-PL" sz="2000" dirty="0"/>
              <a:t>Piotr Wójcik – co-o</a:t>
            </a:r>
            <a:r>
              <a:rPr lang="en-US" sz="2000" dirty="0" err="1"/>
              <a:t>rganization</a:t>
            </a:r>
            <a:r>
              <a:rPr lang="en-US" sz="2000" dirty="0"/>
              <a:t> of </a:t>
            </a:r>
            <a:r>
              <a:rPr lang="en-US" sz="2000" b="1" dirty="0"/>
              <a:t>monthly series of open seminars</a:t>
            </a:r>
            <a:r>
              <a:rPr lang="en-US" sz="2000" dirty="0"/>
              <a:t> conducted by Data Science Lab in cooperation with Quantitative Finance Research Group </a:t>
            </a:r>
            <a:r>
              <a:rPr lang="pl-PL" sz="2000" dirty="0"/>
              <a:t>(</a:t>
            </a:r>
            <a:r>
              <a:rPr lang="en-US" sz="2000" dirty="0"/>
              <a:t>both in the Faculty of Economic Sciences University of Warsaw</a:t>
            </a:r>
            <a:r>
              <a:rPr lang="pl-PL" sz="2000" dirty="0" smtClean="0"/>
              <a:t>)</a:t>
            </a:r>
          </a:p>
          <a:p>
            <a:pPr marL="0" lvl="0" indent="0">
              <a:buNone/>
            </a:pPr>
            <a:endParaRPr lang="pl-PL" sz="2000" dirty="0" smtClean="0"/>
          </a:p>
          <a:p>
            <a:pPr marL="0" lvl="0" indent="0">
              <a:buNone/>
            </a:pPr>
            <a:r>
              <a:rPr lang="pl-PL" sz="2000" dirty="0"/>
              <a:t>Piotr Wójcik </a:t>
            </a:r>
            <a:r>
              <a:rPr lang="pl-PL" sz="2000" dirty="0" smtClean="0"/>
              <a:t>– </a:t>
            </a:r>
            <a:r>
              <a:rPr lang="pl-PL" sz="2000" dirty="0" err="1" smtClean="0"/>
              <a:t>organizing</a:t>
            </a:r>
            <a:r>
              <a:rPr lang="pl-PL" sz="2000" dirty="0" smtClean="0"/>
              <a:t> p</a:t>
            </a:r>
            <a:r>
              <a:rPr lang="en-US" sz="2000" dirty="0" err="1" smtClean="0"/>
              <a:t>rof</a:t>
            </a:r>
            <a:r>
              <a:rPr lang="pl-PL" sz="2000" dirty="0" smtClean="0"/>
              <a:t>. Wolfgang</a:t>
            </a:r>
            <a:r>
              <a:rPr lang="en-US" sz="2000" dirty="0" smtClean="0"/>
              <a:t> </a:t>
            </a:r>
            <a:r>
              <a:rPr lang="en-US" sz="2000" dirty="0" err="1"/>
              <a:t>Haerdle</a:t>
            </a:r>
            <a:r>
              <a:rPr lang="en-US" sz="2000" dirty="0"/>
              <a:t> </a:t>
            </a:r>
            <a:r>
              <a:rPr lang="pl-PL" sz="2000" dirty="0" err="1" smtClean="0"/>
              <a:t>research</a:t>
            </a:r>
            <a:r>
              <a:rPr lang="pl-PL" sz="2000" dirty="0" smtClean="0"/>
              <a:t> </a:t>
            </a:r>
            <a:r>
              <a:rPr lang="en-US" sz="2000" dirty="0" smtClean="0"/>
              <a:t>visit </a:t>
            </a:r>
            <a:r>
              <a:rPr lang="en-US" sz="2000" dirty="0"/>
              <a:t>in </a:t>
            </a:r>
            <a:r>
              <a:rPr lang="pl-PL" sz="2000" dirty="0" smtClean="0"/>
              <a:t>the University of </a:t>
            </a:r>
            <a:r>
              <a:rPr lang="pl-PL" sz="2000" dirty="0" err="1" smtClean="0"/>
              <a:t>Warsaw</a:t>
            </a:r>
            <a:r>
              <a:rPr lang="pl-PL" sz="2000" dirty="0" smtClean="0"/>
              <a:t> (</a:t>
            </a:r>
            <a:r>
              <a:rPr lang="pl-PL" sz="2000" dirty="0" err="1" smtClean="0"/>
              <a:t>October</a:t>
            </a:r>
            <a:r>
              <a:rPr lang="pl-PL" sz="2000" dirty="0" smtClean="0"/>
              <a:t> 2022)</a:t>
            </a:r>
            <a:endParaRPr lang="pl-PL" sz="2000" dirty="0"/>
          </a:p>
          <a:p>
            <a:pPr marL="0" lvl="0" indent="0">
              <a:buNone/>
            </a:pPr>
            <a:r>
              <a:rPr lang="pl-PL" sz="2000" dirty="0"/>
              <a:t>Piotr Wójcik </a:t>
            </a:r>
            <a:r>
              <a:rPr lang="pl-PL" sz="2000" dirty="0" smtClean="0"/>
              <a:t>– </a:t>
            </a:r>
            <a:r>
              <a:rPr lang="pl-PL" sz="2000" dirty="0" err="1" smtClean="0"/>
              <a:t>cooperation</a:t>
            </a:r>
            <a:r>
              <a:rPr lang="pl-PL" sz="2000" dirty="0" smtClean="0"/>
              <a:t> with </a:t>
            </a:r>
            <a:r>
              <a:rPr lang="pl-PL" sz="2000" dirty="0" err="1" smtClean="0"/>
              <a:t>several</a:t>
            </a:r>
            <a:r>
              <a:rPr lang="pl-PL" sz="2000" dirty="0" smtClean="0"/>
              <a:t> </a:t>
            </a:r>
            <a:r>
              <a:rPr lang="pl-PL" sz="2000" dirty="0" err="1" smtClean="0"/>
              <a:t>partners</a:t>
            </a:r>
            <a:r>
              <a:rPr lang="pl-PL" sz="2000" dirty="0" smtClean="0"/>
              <a:t> in VGM „</a:t>
            </a:r>
            <a:r>
              <a:rPr lang="en-US" sz="2000" dirty="0"/>
              <a:t> Bibliometric Research on Our COST </a:t>
            </a:r>
            <a:r>
              <a:rPr lang="en-US" sz="2000" dirty="0" err="1"/>
              <a:t>FinAI</a:t>
            </a:r>
            <a:r>
              <a:rPr lang="en-US" sz="2000" dirty="0"/>
              <a:t> action member research </a:t>
            </a:r>
            <a:r>
              <a:rPr lang="en-US" sz="2000" dirty="0" smtClean="0"/>
              <a:t>visibility</a:t>
            </a:r>
            <a:r>
              <a:rPr lang="pl-PL" sz="2000" dirty="0" smtClean="0"/>
              <a:t>”</a:t>
            </a:r>
          </a:p>
        </p:txBody>
      </p:sp>
      <p:sp>
        <p:nvSpPr>
          <p:cNvPr id="250" name="Google Shape;250;p47"/>
          <p:cNvSpPr txBox="1">
            <a:spLocks noGrp="1"/>
          </p:cNvSpPr>
          <p:nvPr>
            <p:ph type="title"/>
          </p:nvPr>
        </p:nvSpPr>
        <p:spPr>
          <a:xfrm>
            <a:off x="874713" y="1515179"/>
            <a:ext cx="8327400" cy="5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Other</a:t>
            </a:r>
            <a:r>
              <a:rPr lang="pl-PL" dirty="0"/>
              <a:t> </a:t>
            </a:r>
            <a:r>
              <a:rPr lang="pl-PL" dirty="0" err="1"/>
              <a:t>activities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4861916"/>
      </p:ext>
    </p:extLst>
  </p:cSld>
  <p:clrMapOvr>
    <a:masterClrMapping/>
  </p:clrMapOvr>
</p:sld>
</file>

<file path=ppt/theme/theme1.xml><?xml version="1.0" encoding="utf-8"?>
<a:theme xmlns:a="http://schemas.openxmlformats.org/drawingml/2006/main" name="COST_ppt-16_9-color_1">
  <a:themeElements>
    <a:clrScheme name="COST THEME FUSHIA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ST_ppt-16_9-color_2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ST_ppt-16_9-color_3">
  <a:themeElements>
    <a:clrScheme name="COST THEME GREEN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00AB9D"/>
      </a:accent1>
      <a:accent2>
        <a:srgbClr val="6E82BE"/>
      </a:accent2>
      <a:accent3>
        <a:srgbClr val="2D3778"/>
      </a:accent3>
      <a:accent4>
        <a:srgbClr val="961E64"/>
      </a:accent4>
      <a:accent5>
        <a:srgbClr val="692364"/>
      </a:accent5>
      <a:accent6>
        <a:srgbClr val="E1783C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705</Words>
  <Application>Microsoft Office PowerPoint</Application>
  <PresentationFormat>Panoramiczny</PresentationFormat>
  <Paragraphs>56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10</vt:i4>
      </vt:variant>
    </vt:vector>
  </HeadingPairs>
  <TitlesOfParts>
    <vt:vector size="16" baseType="lpstr">
      <vt:lpstr>Arial</vt:lpstr>
      <vt:lpstr>Calibri</vt:lpstr>
      <vt:lpstr>Noto Sans Symbols</vt:lpstr>
      <vt:lpstr>COST_ppt-16_9-color_1</vt:lpstr>
      <vt:lpstr>COST_ppt-16_9-color_2</vt:lpstr>
      <vt:lpstr>COST_ppt-16_9-color_3</vt:lpstr>
      <vt:lpstr>COST Fin AI Country Update 2023</vt:lpstr>
      <vt:lpstr>MC Members Poland</vt:lpstr>
      <vt:lpstr>Papers - published</vt:lpstr>
      <vt:lpstr>Papers – in review</vt:lpstr>
      <vt:lpstr>Papers – large common COST papers</vt:lpstr>
      <vt:lpstr>Impact</vt:lpstr>
      <vt:lpstr>Conferences – participation with COST related papers</vt:lpstr>
      <vt:lpstr>COST training schools participation</vt:lpstr>
      <vt:lpstr>Events coorganization</vt:lpstr>
      <vt:lpstr>Other activities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Fin AI Country Update</dc:title>
  <dc:creator>Piotr</dc:creator>
  <cp:lastModifiedBy>ptwojcik ptwojcik</cp:lastModifiedBy>
  <cp:revision>24</cp:revision>
  <dcterms:modified xsi:type="dcterms:W3CDTF">2023-09-25T13:36:52Z</dcterms:modified>
</cp:coreProperties>
</file>