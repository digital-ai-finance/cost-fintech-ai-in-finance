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 id="2147483678" r:id="rId3"/>
  </p:sldMasterIdLst>
  <p:notesMasterIdLst>
    <p:notesMasterId r:id="rId12"/>
  </p:notesMasterIdLst>
  <p:sldIdLst>
    <p:sldId id="256" r:id="rId4"/>
    <p:sldId id="257" r:id="rId5"/>
    <p:sldId id="258" r:id="rId6"/>
    <p:sldId id="259" r:id="rId7"/>
    <p:sldId id="260" r:id="rId8"/>
    <p:sldId id="261" r:id="rId9"/>
    <p:sldId id="262" r:id="rId10"/>
    <p:sldId id="263"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949">
          <p15:clr>
            <a:srgbClr val="A4A3A4"/>
          </p15:clr>
        </p15:guide>
        <p15:guide id="2" orient="horz"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iF0Uo4tisDuAF8sWrxIgSjEG+s7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43" y="43"/>
      </p:cViewPr>
      <p:guideLst>
        <p:guide pos="5949"/>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Master" Target="slideMasters/slideMaster2.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s://www.facebook.com/COST.Programme/" TargetMode="External"/><Relationship Id="rId3" Type="http://schemas.openxmlformats.org/officeDocument/2006/relationships/hyperlink" Target="https://twitter.com/costprogramme?lang=fr" TargetMode="External"/><Relationship Id="rId7" Type="http://schemas.openxmlformats.org/officeDocument/2006/relationships/image" Target="../media/image8.pn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hyperlink" Target="https://www.youtube.com/user/COSTOffice" TargetMode="External"/><Relationship Id="rId11" Type="http://schemas.openxmlformats.org/officeDocument/2006/relationships/image" Target="../media/image10.png"/><Relationship Id="rId5" Type="http://schemas.openxmlformats.org/officeDocument/2006/relationships/hyperlink" Target="http://www.cost.eu/" TargetMode="External"/><Relationship Id="rId10" Type="http://schemas.openxmlformats.org/officeDocument/2006/relationships/hyperlink" Target="https://www.linkedin.com/company/cost-office" TargetMode="External"/><Relationship Id="rId4" Type="http://schemas.openxmlformats.org/officeDocument/2006/relationships/image" Target="../media/image7.jpg"/><Relationship Id="rId9"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hyperlink" Target="https://www.facebook.com/COST.Programme/" TargetMode="External"/><Relationship Id="rId3" Type="http://schemas.openxmlformats.org/officeDocument/2006/relationships/hyperlink" Target="https://twitter.com/costprogramme?lang=fr" TargetMode="External"/><Relationship Id="rId7" Type="http://schemas.openxmlformats.org/officeDocument/2006/relationships/image" Target="../media/image8.png"/><Relationship Id="rId2" Type="http://schemas.openxmlformats.org/officeDocument/2006/relationships/image" Target="../media/image14.jpg"/><Relationship Id="rId1" Type="http://schemas.openxmlformats.org/officeDocument/2006/relationships/slideMaster" Target="../slideMasters/slideMaster2.xml"/><Relationship Id="rId6" Type="http://schemas.openxmlformats.org/officeDocument/2006/relationships/hyperlink" Target="https://www.youtube.com/user/COSTOffice" TargetMode="External"/><Relationship Id="rId11" Type="http://schemas.openxmlformats.org/officeDocument/2006/relationships/image" Target="../media/image10.png"/><Relationship Id="rId5" Type="http://schemas.openxmlformats.org/officeDocument/2006/relationships/hyperlink" Target="http://www.cost.eu/" TargetMode="External"/><Relationship Id="rId10" Type="http://schemas.openxmlformats.org/officeDocument/2006/relationships/hyperlink" Target="https://www.linkedin.com/company/cost-office" TargetMode="External"/><Relationship Id="rId4" Type="http://schemas.openxmlformats.org/officeDocument/2006/relationships/image" Target="../media/image7.jpg"/><Relationship Id="rId9"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8" Type="http://schemas.openxmlformats.org/officeDocument/2006/relationships/hyperlink" Target="https://www.facebook.com/COST.Programme/" TargetMode="External"/><Relationship Id="rId3" Type="http://schemas.openxmlformats.org/officeDocument/2006/relationships/hyperlink" Target="https://twitter.com/costprogramme?lang=fr" TargetMode="External"/><Relationship Id="rId7" Type="http://schemas.openxmlformats.org/officeDocument/2006/relationships/image" Target="../media/image8.png"/><Relationship Id="rId2" Type="http://schemas.openxmlformats.org/officeDocument/2006/relationships/image" Target="../media/image19.jpg"/><Relationship Id="rId1" Type="http://schemas.openxmlformats.org/officeDocument/2006/relationships/slideMaster" Target="../slideMasters/slideMaster3.xml"/><Relationship Id="rId6" Type="http://schemas.openxmlformats.org/officeDocument/2006/relationships/hyperlink" Target="https://www.youtube.com/user/COSTOffice" TargetMode="External"/><Relationship Id="rId11" Type="http://schemas.openxmlformats.org/officeDocument/2006/relationships/image" Target="../media/image10.png"/><Relationship Id="rId5" Type="http://schemas.openxmlformats.org/officeDocument/2006/relationships/hyperlink" Target="http://www.cost.eu/" TargetMode="External"/><Relationship Id="rId10" Type="http://schemas.openxmlformats.org/officeDocument/2006/relationships/hyperlink" Target="https://www.linkedin.com/company/cost-office" TargetMode="External"/><Relationship Id="rId4" Type="http://schemas.openxmlformats.org/officeDocument/2006/relationships/image" Target="../media/image7.jpg"/><Relationship Id="rId9"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Presentation - title">
  <p:cSld name="1_Presentation - title">
    <p:spTree>
      <p:nvGrpSpPr>
        <p:cNvPr id="1" name="Shape 10"/>
        <p:cNvGrpSpPr/>
        <p:nvPr/>
      </p:nvGrpSpPr>
      <p:grpSpPr>
        <a:xfrm>
          <a:off x="0" y="0"/>
          <a:ext cx="0" cy="0"/>
          <a:chOff x="0" y="0"/>
          <a:chExt cx="0" cy="0"/>
        </a:xfrm>
      </p:grpSpPr>
      <p:pic>
        <p:nvPicPr>
          <p:cNvPr id="11" name="Google Shape;11;p1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 name="Google Shape;12;p10"/>
          <p:cNvSpPr txBox="1">
            <a:spLocks noGrp="1"/>
          </p:cNvSpPr>
          <p:nvPr>
            <p:ph type="title"/>
          </p:nvPr>
        </p:nvSpPr>
        <p:spPr>
          <a:xfrm>
            <a:off x="1107254" y="396139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0"/>
          <p:cNvSpPr txBox="1">
            <a:spLocks noGrp="1"/>
          </p:cNvSpPr>
          <p:nvPr>
            <p:ph type="body" idx="1"/>
          </p:nvPr>
        </p:nvSpPr>
        <p:spPr>
          <a:xfrm>
            <a:off x="1106771" y="4557940"/>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 name="Google Shape;14;p10"/>
          <p:cNvSpPr txBox="1">
            <a:spLocks noGrp="1"/>
          </p:cNvSpPr>
          <p:nvPr>
            <p:ph type="body" idx="2"/>
          </p:nvPr>
        </p:nvSpPr>
        <p:spPr>
          <a:xfrm>
            <a:off x="1106771" y="5043451"/>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resentation - title">
  <p:cSld name="Presentation - title">
    <p:spTree>
      <p:nvGrpSpPr>
        <p:cNvPr id="1" name="Shape 15"/>
        <p:cNvGrpSpPr/>
        <p:nvPr/>
      </p:nvGrpSpPr>
      <p:grpSpPr>
        <a:xfrm>
          <a:off x="0" y="0"/>
          <a:ext cx="0" cy="0"/>
          <a:chOff x="0" y="0"/>
          <a:chExt cx="0" cy="0"/>
        </a:xfrm>
      </p:grpSpPr>
      <p:pic>
        <p:nvPicPr>
          <p:cNvPr id="16" name="Google Shape;16;p1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11"/>
          <p:cNvSpPr txBox="1">
            <a:spLocks noGrp="1"/>
          </p:cNvSpPr>
          <p:nvPr>
            <p:ph type="title"/>
          </p:nvPr>
        </p:nvSpPr>
        <p:spPr>
          <a:xfrm>
            <a:off x="1107254" y="396139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 name="Google Shape;18;p11"/>
          <p:cNvSpPr txBox="1">
            <a:spLocks noGrp="1"/>
          </p:cNvSpPr>
          <p:nvPr>
            <p:ph type="body" idx="1"/>
          </p:nvPr>
        </p:nvSpPr>
        <p:spPr>
          <a:xfrm>
            <a:off x="1106771" y="4557940"/>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 name="Google Shape;19;p11"/>
          <p:cNvSpPr txBox="1">
            <a:spLocks noGrp="1"/>
          </p:cNvSpPr>
          <p:nvPr>
            <p:ph type="body" idx="2"/>
          </p:nvPr>
        </p:nvSpPr>
        <p:spPr>
          <a:xfrm>
            <a:off x="1106771" y="5043451"/>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Presentation - title">
  <p:cSld name="2_Presentation - title">
    <p:spTree>
      <p:nvGrpSpPr>
        <p:cNvPr id="1" name="Shape 20"/>
        <p:cNvGrpSpPr/>
        <p:nvPr/>
      </p:nvGrpSpPr>
      <p:grpSpPr>
        <a:xfrm>
          <a:off x="0" y="0"/>
          <a:ext cx="0" cy="0"/>
          <a:chOff x="0" y="0"/>
          <a:chExt cx="0" cy="0"/>
        </a:xfrm>
      </p:grpSpPr>
      <p:pic>
        <p:nvPicPr>
          <p:cNvPr id="21" name="Google Shape;21;p1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2" name="Google Shape;22;p12"/>
          <p:cNvSpPr txBox="1">
            <a:spLocks noGrp="1"/>
          </p:cNvSpPr>
          <p:nvPr>
            <p:ph type="title"/>
          </p:nvPr>
        </p:nvSpPr>
        <p:spPr>
          <a:xfrm>
            <a:off x="1107254" y="1159488"/>
            <a:ext cx="8327542" cy="1842362"/>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500"/>
              <a:buFont typeface="Arial"/>
              <a:buNone/>
              <a:defRPr sz="35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12"/>
          <p:cNvSpPr txBox="1">
            <a:spLocks noGrp="1"/>
          </p:cNvSpPr>
          <p:nvPr>
            <p:ph type="body" idx="1"/>
          </p:nvPr>
        </p:nvSpPr>
        <p:spPr>
          <a:xfrm>
            <a:off x="1106771" y="3010626"/>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 name="Google Shape;24;p12"/>
          <p:cNvSpPr txBox="1">
            <a:spLocks noGrp="1"/>
          </p:cNvSpPr>
          <p:nvPr>
            <p:ph type="body" idx="2"/>
          </p:nvPr>
        </p:nvSpPr>
        <p:spPr>
          <a:xfrm>
            <a:off x="1106771" y="3496137"/>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resentation - Content">
  <p:cSld name="Presentation - Content">
    <p:spTree>
      <p:nvGrpSpPr>
        <p:cNvPr id="1" name="Shape 25"/>
        <p:cNvGrpSpPr/>
        <p:nvPr/>
      </p:nvGrpSpPr>
      <p:grpSpPr>
        <a:xfrm>
          <a:off x="0" y="0"/>
          <a:ext cx="0" cy="0"/>
          <a:chOff x="0" y="0"/>
          <a:chExt cx="0" cy="0"/>
        </a:xfrm>
      </p:grpSpPr>
      <p:pic>
        <p:nvPicPr>
          <p:cNvPr id="26" name="Google Shape;26;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7" name="Google Shape;27;p13"/>
          <p:cNvSpPr txBox="1">
            <a:spLocks noGrp="1"/>
          </p:cNvSpPr>
          <p:nvPr>
            <p:ph type="body" idx="1"/>
          </p:nvPr>
        </p:nvSpPr>
        <p:spPr>
          <a:xfrm>
            <a:off x="874713" y="2102946"/>
            <a:ext cx="10225087" cy="36660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4"/>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4"/>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4"/>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4"/>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8" name="Google Shape;28;p13"/>
          <p:cNvSpPr txBox="1">
            <a:spLocks noGrp="1"/>
          </p:cNvSpPr>
          <p:nvPr>
            <p:ph type="title"/>
          </p:nvPr>
        </p:nvSpPr>
        <p:spPr>
          <a:xfrm>
            <a:off x="874713" y="1515179"/>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13"/>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resentation - Content 2">
  <p:cSld name="Presentation - Content 2">
    <p:spTree>
      <p:nvGrpSpPr>
        <p:cNvPr id="1" name="Shape 30"/>
        <p:cNvGrpSpPr/>
        <p:nvPr/>
      </p:nvGrpSpPr>
      <p:grpSpPr>
        <a:xfrm>
          <a:off x="0" y="0"/>
          <a:ext cx="0" cy="0"/>
          <a:chOff x="0" y="0"/>
          <a:chExt cx="0" cy="0"/>
        </a:xfrm>
      </p:grpSpPr>
      <p:pic>
        <p:nvPicPr>
          <p:cNvPr id="31" name="Google Shape;31;p1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2" name="Google Shape;32;p14"/>
          <p:cNvSpPr txBox="1">
            <a:spLocks noGrp="1"/>
          </p:cNvSpPr>
          <p:nvPr>
            <p:ph type="body" idx="1"/>
          </p:nvPr>
        </p:nvSpPr>
        <p:spPr>
          <a:xfrm>
            <a:off x="874713" y="1093982"/>
            <a:ext cx="10225087" cy="384790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4"/>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4"/>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4"/>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4"/>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3" name="Google Shape;33;p14"/>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4"/>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esentation - Empty - Content">
  <p:cSld name="Presentation - Empty - Content">
    <p:spTree>
      <p:nvGrpSpPr>
        <p:cNvPr id="1" name="Shape 35"/>
        <p:cNvGrpSpPr/>
        <p:nvPr/>
      </p:nvGrpSpPr>
      <p:grpSpPr>
        <a:xfrm>
          <a:off x="0" y="0"/>
          <a:ext cx="0" cy="0"/>
          <a:chOff x="0" y="0"/>
          <a:chExt cx="0" cy="0"/>
        </a:xfrm>
      </p:grpSpPr>
      <p:pic>
        <p:nvPicPr>
          <p:cNvPr id="36" name="Google Shape;36;p1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7" name="Google Shape;37;p15"/>
          <p:cNvSpPr txBox="1">
            <a:spLocks noGrp="1"/>
          </p:cNvSpPr>
          <p:nvPr>
            <p:ph type="body" idx="1"/>
          </p:nvPr>
        </p:nvSpPr>
        <p:spPr>
          <a:xfrm>
            <a:off x="874713" y="1093983"/>
            <a:ext cx="10225087"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4"/>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4"/>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4"/>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4"/>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8" name="Google Shape;38;p15"/>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9" name="Google Shape;39;p15"/>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resentation - Two content shapes">
  <p:cSld name="Presentation - Two content shapes">
    <p:spTree>
      <p:nvGrpSpPr>
        <p:cNvPr id="1" name="Shape 40"/>
        <p:cNvGrpSpPr/>
        <p:nvPr/>
      </p:nvGrpSpPr>
      <p:grpSpPr>
        <a:xfrm>
          <a:off x="0" y="0"/>
          <a:ext cx="0" cy="0"/>
          <a:chOff x="0" y="0"/>
          <a:chExt cx="0" cy="0"/>
        </a:xfrm>
      </p:grpSpPr>
      <p:pic>
        <p:nvPicPr>
          <p:cNvPr id="41" name="Google Shape;41;p1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2" name="Google Shape;42;p16"/>
          <p:cNvSpPr txBox="1">
            <a:spLocks noGrp="1"/>
          </p:cNvSpPr>
          <p:nvPr>
            <p:ph type="body" idx="1"/>
          </p:nvPr>
        </p:nvSpPr>
        <p:spPr>
          <a:xfrm>
            <a:off x="874713" y="1093983"/>
            <a:ext cx="5078720"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4"/>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4"/>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4"/>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4"/>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 name="Google Shape;43;p16"/>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16"/>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45" name="Google Shape;45;p16"/>
          <p:cNvSpPr txBox="1">
            <a:spLocks noGrp="1"/>
          </p:cNvSpPr>
          <p:nvPr>
            <p:ph type="body" idx="2"/>
          </p:nvPr>
        </p:nvSpPr>
        <p:spPr>
          <a:xfrm>
            <a:off x="6365967" y="1093983"/>
            <a:ext cx="5039386"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4"/>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4"/>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4"/>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4"/>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Presentation - Content">
  <p:cSld name="1_Presentation - Content">
    <p:spTree>
      <p:nvGrpSpPr>
        <p:cNvPr id="1" name="Shape 46"/>
        <p:cNvGrpSpPr/>
        <p:nvPr/>
      </p:nvGrpSpPr>
      <p:grpSpPr>
        <a:xfrm>
          <a:off x="0" y="0"/>
          <a:ext cx="0" cy="0"/>
          <a:chOff x="0" y="0"/>
          <a:chExt cx="0" cy="0"/>
        </a:xfrm>
      </p:grpSpPr>
      <p:pic>
        <p:nvPicPr>
          <p:cNvPr id="47" name="Google Shape;47;p1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8" name="Google Shape;48;p17"/>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49" name="Google Shape;49;p17"/>
          <p:cNvSpPr txBox="1">
            <a:spLocks noGrp="1"/>
          </p:cNvSpPr>
          <p:nvPr>
            <p:ph type="title"/>
          </p:nvPr>
        </p:nvSpPr>
        <p:spPr>
          <a:xfrm>
            <a:off x="874713" y="1515179"/>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17"/>
          <p:cNvSpPr>
            <a:spLocks noGrp="1"/>
          </p:cNvSpPr>
          <p:nvPr>
            <p:ph type="tbl" idx="2"/>
          </p:nvPr>
        </p:nvSpPr>
        <p:spPr>
          <a:xfrm>
            <a:off x="874713" y="2103438"/>
            <a:ext cx="10225087" cy="36734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Presentation - Content 2">
  <p:cSld name="1_Presentation - Content 2">
    <p:spTree>
      <p:nvGrpSpPr>
        <p:cNvPr id="1" name="Shape 51"/>
        <p:cNvGrpSpPr/>
        <p:nvPr/>
      </p:nvGrpSpPr>
      <p:grpSpPr>
        <a:xfrm>
          <a:off x="0" y="0"/>
          <a:ext cx="0" cy="0"/>
          <a:chOff x="0" y="0"/>
          <a:chExt cx="0" cy="0"/>
        </a:xfrm>
      </p:grpSpPr>
      <p:pic>
        <p:nvPicPr>
          <p:cNvPr id="52" name="Google Shape;52;p1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3" name="Google Shape;53;p18"/>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54" name="Google Shape;54;p18"/>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5" name="Google Shape;55;p18"/>
          <p:cNvSpPr>
            <a:spLocks noGrp="1"/>
          </p:cNvSpPr>
          <p:nvPr>
            <p:ph type="tbl" idx="2"/>
          </p:nvPr>
        </p:nvSpPr>
        <p:spPr>
          <a:xfrm>
            <a:off x="874713" y="1093984"/>
            <a:ext cx="10225087" cy="384790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Presentation - Empty - Content">
  <p:cSld name="1_Presentation - Empty - Content">
    <p:spTree>
      <p:nvGrpSpPr>
        <p:cNvPr id="1" name="Shape 56"/>
        <p:cNvGrpSpPr/>
        <p:nvPr/>
      </p:nvGrpSpPr>
      <p:grpSpPr>
        <a:xfrm>
          <a:off x="0" y="0"/>
          <a:ext cx="0" cy="0"/>
          <a:chOff x="0" y="0"/>
          <a:chExt cx="0" cy="0"/>
        </a:xfrm>
      </p:grpSpPr>
      <p:pic>
        <p:nvPicPr>
          <p:cNvPr id="57" name="Google Shape;57;p1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8" name="Google Shape;58;p19"/>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59" name="Google Shape;59;p19"/>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19"/>
          <p:cNvSpPr>
            <a:spLocks noGrp="1"/>
          </p:cNvSpPr>
          <p:nvPr>
            <p:ph type="tbl" idx="2"/>
          </p:nvPr>
        </p:nvSpPr>
        <p:spPr>
          <a:xfrm>
            <a:off x="874713" y="1093984"/>
            <a:ext cx="10225087" cy="468224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resentation - Content - Smartart">
  <p:cSld name="Presentation - Content - Smartart">
    <p:spTree>
      <p:nvGrpSpPr>
        <p:cNvPr id="1" name="Shape 61"/>
        <p:cNvGrpSpPr/>
        <p:nvPr/>
      </p:nvGrpSpPr>
      <p:grpSpPr>
        <a:xfrm>
          <a:off x="0" y="0"/>
          <a:ext cx="0" cy="0"/>
          <a:chOff x="0" y="0"/>
          <a:chExt cx="0" cy="0"/>
        </a:xfrm>
      </p:grpSpPr>
      <p:pic>
        <p:nvPicPr>
          <p:cNvPr id="62" name="Google Shape;62;p2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3" name="Google Shape;63;p20"/>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64" name="Google Shape;64;p20"/>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5" name="Google Shape;65;p20"/>
          <p:cNvSpPr txBox="1">
            <a:spLocks noGrp="1"/>
          </p:cNvSpPr>
          <p:nvPr>
            <p:ph type="body" idx="1"/>
          </p:nvPr>
        </p:nvSpPr>
        <p:spPr>
          <a:xfrm>
            <a:off x="874713" y="1093983"/>
            <a:ext cx="2546893"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4"/>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4"/>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4"/>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4"/>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6" name="Google Shape;66;p20"/>
          <p:cNvSpPr>
            <a:spLocks noGrp="1"/>
          </p:cNvSpPr>
          <p:nvPr>
            <p:ph type="dgm" idx="2"/>
          </p:nvPr>
        </p:nvSpPr>
        <p:spPr>
          <a:xfrm>
            <a:off x="3598863" y="1093788"/>
            <a:ext cx="8064500" cy="467518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esentation - Empty">
  <p:cSld name="Presentation - Empty">
    <p:spTree>
      <p:nvGrpSpPr>
        <p:cNvPr id="1" name="Shape 67"/>
        <p:cNvGrpSpPr/>
        <p:nvPr/>
      </p:nvGrpSpPr>
      <p:grpSpPr>
        <a:xfrm>
          <a:off x="0" y="0"/>
          <a:ext cx="0" cy="0"/>
          <a:chOff x="0" y="0"/>
          <a:chExt cx="0" cy="0"/>
        </a:xfrm>
      </p:grpSpPr>
      <p:pic>
        <p:nvPicPr>
          <p:cNvPr id="68" name="Google Shape;68;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9" name="Google Shape;69;p21"/>
          <p:cNvSpPr txBox="1">
            <a:spLocks noGrp="1"/>
          </p:cNvSpPr>
          <p:nvPr>
            <p:ph type="title"/>
          </p:nvPr>
        </p:nvSpPr>
        <p:spPr>
          <a:xfrm>
            <a:off x="1107254" y="3390841"/>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21"/>
          <p:cNvSpPr txBox="1"/>
          <p:nvPr/>
        </p:nvSpPr>
        <p:spPr>
          <a:xfrm>
            <a:off x="1107254" y="4313604"/>
            <a:ext cx="70274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u="none">
                <a:solidFill>
                  <a:schemeClr val="dk2"/>
                </a:solidFill>
                <a:latin typeface="Arial"/>
                <a:ea typeface="Arial"/>
                <a:cs typeface="Arial"/>
                <a:sym typeface="Arial"/>
              </a:rPr>
              <a:t>Subscribe to our news: </a:t>
            </a:r>
            <a:r>
              <a:rPr lang="en-US" sz="1600" u="sng">
                <a:solidFill>
                  <a:schemeClr val="dk2"/>
                </a:solidFill>
                <a:latin typeface="Arial"/>
                <a:ea typeface="Arial"/>
                <a:cs typeface="Arial"/>
                <a:sym typeface="Arial"/>
              </a:rPr>
              <a:t>www.cost.eu/subscribe</a:t>
            </a:r>
            <a:endParaRPr sz="1600">
              <a:solidFill>
                <a:schemeClr val="dk2"/>
              </a:solidFill>
              <a:latin typeface="Arial"/>
              <a:ea typeface="Arial"/>
              <a:cs typeface="Arial"/>
              <a:sym typeface="Arial"/>
            </a:endParaRPr>
          </a:p>
        </p:txBody>
      </p:sp>
      <p:grpSp>
        <p:nvGrpSpPr>
          <p:cNvPr id="71" name="Google Shape;71;p21"/>
          <p:cNvGrpSpPr/>
          <p:nvPr/>
        </p:nvGrpSpPr>
        <p:grpSpPr>
          <a:xfrm>
            <a:off x="9026219" y="5182889"/>
            <a:ext cx="2200682" cy="1172172"/>
            <a:chOff x="6636485" y="5354057"/>
            <a:chExt cx="2200682" cy="1172172"/>
          </a:xfrm>
        </p:grpSpPr>
        <p:grpSp>
          <p:nvGrpSpPr>
            <p:cNvPr id="72" name="Google Shape;72;p21"/>
            <p:cNvGrpSpPr/>
            <p:nvPr/>
          </p:nvGrpSpPr>
          <p:grpSpPr>
            <a:xfrm>
              <a:off x="6883674" y="5354057"/>
              <a:ext cx="1953493" cy="1172172"/>
              <a:chOff x="6883674" y="5354057"/>
              <a:chExt cx="1953493" cy="1172172"/>
            </a:xfrm>
          </p:grpSpPr>
          <p:pic>
            <p:nvPicPr>
              <p:cNvPr id="73" name="Google Shape;73;p21" descr="Plan de travail 1OFF-Icones.jpg">
                <a:hlinkClick r:id="rId3"/>
              </p:cNvPr>
              <p:cNvPicPr preferRelativeResize="0"/>
              <p:nvPr/>
            </p:nvPicPr>
            <p:blipFill rotWithShape="1">
              <a:blip r:embed="rId4">
                <a:alphaModFix/>
              </a:blip>
              <a:srcRect/>
              <a:stretch/>
            </p:blipFill>
            <p:spPr>
              <a:xfrm>
                <a:off x="8382903" y="5776143"/>
                <a:ext cx="360000" cy="330628"/>
              </a:xfrm>
              <a:prstGeom prst="rect">
                <a:avLst/>
              </a:prstGeom>
              <a:noFill/>
              <a:ln>
                <a:noFill/>
              </a:ln>
            </p:spPr>
          </p:pic>
          <p:sp>
            <p:nvSpPr>
              <p:cNvPr id="74" name="Google Shape;74;p21">
                <a:hlinkClick r:id="rId5"/>
              </p:cNvPr>
              <p:cNvSpPr txBox="1"/>
              <p:nvPr/>
            </p:nvSpPr>
            <p:spPr>
              <a:xfrm>
                <a:off x="6935575" y="6218452"/>
                <a:ext cx="1901592"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a:solidFill>
                      <a:schemeClr val="dk2"/>
                    </a:solidFill>
                    <a:latin typeface="Arial"/>
                    <a:ea typeface="Arial"/>
                    <a:cs typeface="Arial"/>
                    <a:sym typeface="Arial"/>
                  </a:rPr>
                  <a:t>www.cost.eu</a:t>
                </a:r>
                <a:endParaRPr sz="1400">
                  <a:solidFill>
                    <a:schemeClr val="dk2"/>
                  </a:solidFill>
                  <a:latin typeface="Arial"/>
                  <a:ea typeface="Arial"/>
                  <a:cs typeface="Arial"/>
                  <a:sym typeface="Arial"/>
                </a:endParaRPr>
              </a:p>
            </p:txBody>
          </p:sp>
          <p:pic>
            <p:nvPicPr>
              <p:cNvPr id="75" name="Google Shape;75;p21">
                <a:hlinkClick r:id="rId6"/>
              </p:cNvPr>
              <p:cNvPicPr preferRelativeResize="0"/>
              <p:nvPr/>
            </p:nvPicPr>
            <p:blipFill rotWithShape="1">
              <a:blip r:embed="rId7">
                <a:alphaModFix/>
              </a:blip>
              <a:srcRect/>
              <a:stretch/>
            </p:blipFill>
            <p:spPr>
              <a:xfrm>
                <a:off x="7500289" y="5780684"/>
                <a:ext cx="779907" cy="331038"/>
              </a:xfrm>
              <a:prstGeom prst="rect">
                <a:avLst/>
              </a:prstGeom>
              <a:noFill/>
              <a:ln>
                <a:noFill/>
              </a:ln>
            </p:spPr>
          </p:pic>
          <p:pic>
            <p:nvPicPr>
              <p:cNvPr id="76" name="Google Shape;76;p21">
                <a:hlinkClick r:id="rId8"/>
              </p:cNvPr>
              <p:cNvPicPr preferRelativeResize="0"/>
              <p:nvPr/>
            </p:nvPicPr>
            <p:blipFill rotWithShape="1">
              <a:blip r:embed="rId9">
                <a:alphaModFix/>
              </a:blip>
              <a:srcRect/>
              <a:stretch/>
            </p:blipFill>
            <p:spPr>
              <a:xfrm>
                <a:off x="7069413" y="5781094"/>
                <a:ext cx="330628" cy="330628"/>
              </a:xfrm>
              <a:prstGeom prst="rect">
                <a:avLst/>
              </a:prstGeom>
              <a:noFill/>
              <a:ln>
                <a:noFill/>
              </a:ln>
            </p:spPr>
          </p:pic>
          <p:sp>
            <p:nvSpPr>
              <p:cNvPr id="77" name="Google Shape;77;p21"/>
              <p:cNvSpPr txBox="1"/>
              <p:nvPr/>
            </p:nvSpPr>
            <p:spPr>
              <a:xfrm>
                <a:off x="6883674" y="5354057"/>
                <a:ext cx="1901592"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chemeClr val="dk2"/>
                    </a:solidFill>
                    <a:latin typeface="Arial"/>
                    <a:ea typeface="Arial"/>
                    <a:cs typeface="Arial"/>
                    <a:sym typeface="Arial"/>
                  </a:rPr>
                  <a:t>Subscribe</a:t>
                </a:r>
                <a:endParaRPr sz="1400" b="1">
                  <a:solidFill>
                    <a:schemeClr val="dk2"/>
                  </a:solidFill>
                  <a:latin typeface="Arial"/>
                  <a:ea typeface="Arial"/>
                  <a:cs typeface="Arial"/>
                  <a:sym typeface="Arial"/>
                </a:endParaRPr>
              </a:p>
            </p:txBody>
          </p:sp>
        </p:grpSp>
        <p:pic>
          <p:nvPicPr>
            <p:cNvPr id="78" name="Google Shape;78;p21">
              <a:hlinkClick r:id="rId10"/>
            </p:cNvPr>
            <p:cNvPicPr preferRelativeResize="0"/>
            <p:nvPr/>
          </p:nvPicPr>
          <p:blipFill rotWithShape="1">
            <a:blip r:embed="rId11">
              <a:alphaModFix/>
            </a:blip>
            <a:srcRect/>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esentation - Empty 2">
  <p:cSld name="Presentation - Empty 2">
    <p:spTree>
      <p:nvGrpSpPr>
        <p:cNvPr id="1" name="Shape 79"/>
        <p:cNvGrpSpPr/>
        <p:nvPr/>
      </p:nvGrpSpPr>
      <p:grpSpPr>
        <a:xfrm>
          <a:off x="0" y="0"/>
          <a:ext cx="0" cy="0"/>
          <a:chOff x="0" y="0"/>
          <a:chExt cx="0" cy="0"/>
        </a:xfrm>
      </p:grpSpPr>
      <p:pic>
        <p:nvPicPr>
          <p:cNvPr id="80" name="Google Shape;80;p2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1" name="Google Shape;81;p22"/>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esentation - Empty - Empty">
  <p:cSld name="Presentation - Empty - Empty">
    <p:spTree>
      <p:nvGrpSpPr>
        <p:cNvPr id="1" name="Shape 82"/>
        <p:cNvGrpSpPr/>
        <p:nvPr/>
      </p:nvGrpSpPr>
      <p:grpSpPr>
        <a:xfrm>
          <a:off x="0" y="0"/>
          <a:ext cx="0" cy="0"/>
          <a:chOff x="0" y="0"/>
          <a:chExt cx="0" cy="0"/>
        </a:xfrm>
      </p:grpSpPr>
      <p:pic>
        <p:nvPicPr>
          <p:cNvPr id="83" name="Google Shape;83;p2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4" name="Google Shape;84;p23"/>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esentation - title">
  <p:cSld name="Presentation - title">
    <p:spTree>
      <p:nvGrpSpPr>
        <p:cNvPr id="1" name="Shape 86"/>
        <p:cNvGrpSpPr/>
        <p:nvPr/>
      </p:nvGrpSpPr>
      <p:grpSpPr>
        <a:xfrm>
          <a:off x="0" y="0"/>
          <a:ext cx="0" cy="0"/>
          <a:chOff x="0" y="0"/>
          <a:chExt cx="0" cy="0"/>
        </a:xfrm>
      </p:grpSpPr>
      <p:pic>
        <p:nvPicPr>
          <p:cNvPr id="87" name="Google Shape;87;p2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8" name="Google Shape;88;p25"/>
          <p:cNvSpPr txBox="1">
            <a:spLocks noGrp="1"/>
          </p:cNvSpPr>
          <p:nvPr>
            <p:ph type="title"/>
          </p:nvPr>
        </p:nvSpPr>
        <p:spPr>
          <a:xfrm>
            <a:off x="1107254" y="396139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9" name="Google Shape;89;p25"/>
          <p:cNvSpPr txBox="1">
            <a:spLocks noGrp="1"/>
          </p:cNvSpPr>
          <p:nvPr>
            <p:ph type="body" idx="1"/>
          </p:nvPr>
        </p:nvSpPr>
        <p:spPr>
          <a:xfrm>
            <a:off x="1106771" y="4557940"/>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0" name="Google Shape;90;p25"/>
          <p:cNvSpPr txBox="1">
            <a:spLocks noGrp="1"/>
          </p:cNvSpPr>
          <p:nvPr>
            <p:ph type="body" idx="2"/>
          </p:nvPr>
        </p:nvSpPr>
        <p:spPr>
          <a:xfrm>
            <a:off x="1106771" y="5043451"/>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Presentation - title">
  <p:cSld name="1_Presentation - title">
    <p:spTree>
      <p:nvGrpSpPr>
        <p:cNvPr id="1" name="Shape 91"/>
        <p:cNvGrpSpPr/>
        <p:nvPr/>
      </p:nvGrpSpPr>
      <p:grpSpPr>
        <a:xfrm>
          <a:off x="0" y="0"/>
          <a:ext cx="0" cy="0"/>
          <a:chOff x="0" y="0"/>
          <a:chExt cx="0" cy="0"/>
        </a:xfrm>
      </p:grpSpPr>
      <p:pic>
        <p:nvPicPr>
          <p:cNvPr id="92" name="Google Shape;92;p2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93" name="Google Shape;93;p26"/>
          <p:cNvSpPr txBox="1">
            <a:spLocks noGrp="1"/>
          </p:cNvSpPr>
          <p:nvPr>
            <p:ph type="title"/>
          </p:nvPr>
        </p:nvSpPr>
        <p:spPr>
          <a:xfrm>
            <a:off x="1107254" y="396139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4" name="Google Shape;94;p26"/>
          <p:cNvSpPr txBox="1">
            <a:spLocks noGrp="1"/>
          </p:cNvSpPr>
          <p:nvPr>
            <p:ph type="body" idx="1"/>
          </p:nvPr>
        </p:nvSpPr>
        <p:spPr>
          <a:xfrm>
            <a:off x="1106771" y="4557940"/>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5" name="Google Shape;95;p26"/>
          <p:cNvSpPr txBox="1">
            <a:spLocks noGrp="1"/>
          </p:cNvSpPr>
          <p:nvPr>
            <p:ph type="body" idx="2"/>
          </p:nvPr>
        </p:nvSpPr>
        <p:spPr>
          <a:xfrm>
            <a:off x="1106771" y="5043451"/>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Presentation - title">
  <p:cSld name="2_Presentation - title">
    <p:spTree>
      <p:nvGrpSpPr>
        <p:cNvPr id="1" name="Shape 96"/>
        <p:cNvGrpSpPr/>
        <p:nvPr/>
      </p:nvGrpSpPr>
      <p:grpSpPr>
        <a:xfrm>
          <a:off x="0" y="0"/>
          <a:ext cx="0" cy="0"/>
          <a:chOff x="0" y="0"/>
          <a:chExt cx="0" cy="0"/>
        </a:xfrm>
      </p:grpSpPr>
      <p:pic>
        <p:nvPicPr>
          <p:cNvPr id="97" name="Google Shape;97;p2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98" name="Google Shape;98;p27"/>
          <p:cNvSpPr txBox="1">
            <a:spLocks noGrp="1"/>
          </p:cNvSpPr>
          <p:nvPr>
            <p:ph type="title"/>
          </p:nvPr>
        </p:nvSpPr>
        <p:spPr>
          <a:xfrm>
            <a:off x="1107254" y="1159488"/>
            <a:ext cx="8327542" cy="1842362"/>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500"/>
              <a:buFont typeface="Arial"/>
              <a:buNone/>
              <a:defRPr sz="35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9" name="Google Shape;99;p27"/>
          <p:cNvSpPr txBox="1">
            <a:spLocks noGrp="1"/>
          </p:cNvSpPr>
          <p:nvPr>
            <p:ph type="body" idx="1"/>
          </p:nvPr>
        </p:nvSpPr>
        <p:spPr>
          <a:xfrm>
            <a:off x="1106771" y="3010626"/>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0" name="Google Shape;100;p27"/>
          <p:cNvSpPr txBox="1">
            <a:spLocks noGrp="1"/>
          </p:cNvSpPr>
          <p:nvPr>
            <p:ph type="body" idx="2"/>
          </p:nvPr>
        </p:nvSpPr>
        <p:spPr>
          <a:xfrm>
            <a:off x="1106771" y="3496137"/>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resentation - Content">
  <p:cSld name="Presentation - Content">
    <p:spTree>
      <p:nvGrpSpPr>
        <p:cNvPr id="1" name="Shape 101"/>
        <p:cNvGrpSpPr/>
        <p:nvPr/>
      </p:nvGrpSpPr>
      <p:grpSpPr>
        <a:xfrm>
          <a:off x="0" y="0"/>
          <a:ext cx="0" cy="0"/>
          <a:chOff x="0" y="0"/>
          <a:chExt cx="0" cy="0"/>
        </a:xfrm>
      </p:grpSpPr>
      <p:pic>
        <p:nvPicPr>
          <p:cNvPr id="102" name="Google Shape;102;p2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3" name="Google Shape;103;p28"/>
          <p:cNvSpPr txBox="1">
            <a:spLocks noGrp="1"/>
          </p:cNvSpPr>
          <p:nvPr>
            <p:ph type="body" idx="1"/>
          </p:nvPr>
        </p:nvSpPr>
        <p:spPr>
          <a:xfrm>
            <a:off x="874713" y="2102946"/>
            <a:ext cx="10225087" cy="36660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28"/>
          <p:cNvSpPr txBox="1">
            <a:spLocks noGrp="1"/>
          </p:cNvSpPr>
          <p:nvPr>
            <p:ph type="title"/>
          </p:nvPr>
        </p:nvSpPr>
        <p:spPr>
          <a:xfrm>
            <a:off x="874713" y="1515179"/>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5" name="Google Shape;105;p28"/>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resentation - Content 2">
  <p:cSld name="Presentation - Content 2">
    <p:spTree>
      <p:nvGrpSpPr>
        <p:cNvPr id="1" name="Shape 106"/>
        <p:cNvGrpSpPr/>
        <p:nvPr/>
      </p:nvGrpSpPr>
      <p:grpSpPr>
        <a:xfrm>
          <a:off x="0" y="0"/>
          <a:ext cx="0" cy="0"/>
          <a:chOff x="0" y="0"/>
          <a:chExt cx="0" cy="0"/>
        </a:xfrm>
      </p:grpSpPr>
      <p:pic>
        <p:nvPicPr>
          <p:cNvPr id="107" name="Google Shape;107;p2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8" name="Google Shape;108;p29"/>
          <p:cNvSpPr txBox="1">
            <a:spLocks noGrp="1"/>
          </p:cNvSpPr>
          <p:nvPr>
            <p:ph type="body" idx="1"/>
          </p:nvPr>
        </p:nvSpPr>
        <p:spPr>
          <a:xfrm>
            <a:off x="874713" y="1093982"/>
            <a:ext cx="10225087" cy="384790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29"/>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0" name="Google Shape;110;p29"/>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resentation - Empty - Content">
  <p:cSld name="Presentation - Empty - Content">
    <p:spTree>
      <p:nvGrpSpPr>
        <p:cNvPr id="1" name="Shape 111"/>
        <p:cNvGrpSpPr/>
        <p:nvPr/>
      </p:nvGrpSpPr>
      <p:grpSpPr>
        <a:xfrm>
          <a:off x="0" y="0"/>
          <a:ext cx="0" cy="0"/>
          <a:chOff x="0" y="0"/>
          <a:chExt cx="0" cy="0"/>
        </a:xfrm>
      </p:grpSpPr>
      <p:pic>
        <p:nvPicPr>
          <p:cNvPr id="112" name="Google Shape;112;p3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3" name="Google Shape;113;p30"/>
          <p:cNvSpPr txBox="1">
            <a:spLocks noGrp="1"/>
          </p:cNvSpPr>
          <p:nvPr>
            <p:ph type="body" idx="1"/>
          </p:nvPr>
        </p:nvSpPr>
        <p:spPr>
          <a:xfrm>
            <a:off x="874713" y="1093982"/>
            <a:ext cx="10225087"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30"/>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5" name="Google Shape;115;p30"/>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resentation - Two content shapes">
  <p:cSld name="Presentation - Two content shapes">
    <p:spTree>
      <p:nvGrpSpPr>
        <p:cNvPr id="1" name="Shape 116"/>
        <p:cNvGrpSpPr/>
        <p:nvPr/>
      </p:nvGrpSpPr>
      <p:grpSpPr>
        <a:xfrm>
          <a:off x="0" y="0"/>
          <a:ext cx="0" cy="0"/>
          <a:chOff x="0" y="0"/>
          <a:chExt cx="0" cy="0"/>
        </a:xfrm>
      </p:grpSpPr>
      <p:pic>
        <p:nvPicPr>
          <p:cNvPr id="117" name="Google Shape;117;p3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8" name="Google Shape;118;p31"/>
          <p:cNvSpPr txBox="1">
            <a:spLocks noGrp="1"/>
          </p:cNvSpPr>
          <p:nvPr>
            <p:ph type="body" idx="1"/>
          </p:nvPr>
        </p:nvSpPr>
        <p:spPr>
          <a:xfrm>
            <a:off x="874713" y="1093983"/>
            <a:ext cx="5078720"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9" name="Google Shape;119;p31"/>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0" name="Google Shape;120;p31"/>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21" name="Google Shape;121;p31"/>
          <p:cNvSpPr txBox="1">
            <a:spLocks noGrp="1"/>
          </p:cNvSpPr>
          <p:nvPr>
            <p:ph type="body" idx="2"/>
          </p:nvPr>
        </p:nvSpPr>
        <p:spPr>
          <a:xfrm>
            <a:off x="6365967" y="1093983"/>
            <a:ext cx="5039386"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Presentation - Content">
  <p:cSld name="1_Presentation - Content">
    <p:spTree>
      <p:nvGrpSpPr>
        <p:cNvPr id="1" name="Shape 122"/>
        <p:cNvGrpSpPr/>
        <p:nvPr/>
      </p:nvGrpSpPr>
      <p:grpSpPr>
        <a:xfrm>
          <a:off x="0" y="0"/>
          <a:ext cx="0" cy="0"/>
          <a:chOff x="0" y="0"/>
          <a:chExt cx="0" cy="0"/>
        </a:xfrm>
      </p:grpSpPr>
      <p:pic>
        <p:nvPicPr>
          <p:cNvPr id="123" name="Google Shape;123;p3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4" name="Google Shape;124;p32"/>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25" name="Google Shape;125;p32"/>
          <p:cNvSpPr txBox="1">
            <a:spLocks noGrp="1"/>
          </p:cNvSpPr>
          <p:nvPr>
            <p:ph type="title"/>
          </p:nvPr>
        </p:nvSpPr>
        <p:spPr>
          <a:xfrm>
            <a:off x="874713" y="1515179"/>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6" name="Google Shape;126;p32"/>
          <p:cNvSpPr>
            <a:spLocks noGrp="1"/>
          </p:cNvSpPr>
          <p:nvPr>
            <p:ph type="tbl" idx="2"/>
          </p:nvPr>
        </p:nvSpPr>
        <p:spPr>
          <a:xfrm>
            <a:off x="874713" y="2103438"/>
            <a:ext cx="10225087" cy="36734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Presentation - Content 2">
  <p:cSld name="1_Presentation - Content 2">
    <p:spTree>
      <p:nvGrpSpPr>
        <p:cNvPr id="1" name="Shape 127"/>
        <p:cNvGrpSpPr/>
        <p:nvPr/>
      </p:nvGrpSpPr>
      <p:grpSpPr>
        <a:xfrm>
          <a:off x="0" y="0"/>
          <a:ext cx="0" cy="0"/>
          <a:chOff x="0" y="0"/>
          <a:chExt cx="0" cy="0"/>
        </a:xfrm>
      </p:grpSpPr>
      <p:pic>
        <p:nvPicPr>
          <p:cNvPr id="128" name="Google Shape;128;p3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9" name="Google Shape;129;p33"/>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30" name="Google Shape;130;p33"/>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1" name="Google Shape;131;p33"/>
          <p:cNvSpPr>
            <a:spLocks noGrp="1"/>
          </p:cNvSpPr>
          <p:nvPr>
            <p:ph type="tbl" idx="2"/>
          </p:nvPr>
        </p:nvSpPr>
        <p:spPr>
          <a:xfrm>
            <a:off x="874713" y="1093984"/>
            <a:ext cx="10225087" cy="384790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Presentation - Empty - Content">
  <p:cSld name="1_Presentation - Empty - Content">
    <p:spTree>
      <p:nvGrpSpPr>
        <p:cNvPr id="1" name="Shape 132"/>
        <p:cNvGrpSpPr/>
        <p:nvPr/>
      </p:nvGrpSpPr>
      <p:grpSpPr>
        <a:xfrm>
          <a:off x="0" y="0"/>
          <a:ext cx="0" cy="0"/>
          <a:chOff x="0" y="0"/>
          <a:chExt cx="0" cy="0"/>
        </a:xfrm>
      </p:grpSpPr>
      <p:pic>
        <p:nvPicPr>
          <p:cNvPr id="133" name="Google Shape;133;p3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4" name="Google Shape;134;p34"/>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35" name="Google Shape;135;p34"/>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6" name="Google Shape;136;p34"/>
          <p:cNvSpPr>
            <a:spLocks noGrp="1"/>
          </p:cNvSpPr>
          <p:nvPr>
            <p:ph type="tbl" idx="2"/>
          </p:nvPr>
        </p:nvSpPr>
        <p:spPr>
          <a:xfrm>
            <a:off x="874713" y="1093984"/>
            <a:ext cx="10225087" cy="468224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resentation - Content - Smartart">
  <p:cSld name="Presentation - Content - Smartart">
    <p:spTree>
      <p:nvGrpSpPr>
        <p:cNvPr id="1" name="Shape 137"/>
        <p:cNvGrpSpPr/>
        <p:nvPr/>
      </p:nvGrpSpPr>
      <p:grpSpPr>
        <a:xfrm>
          <a:off x="0" y="0"/>
          <a:ext cx="0" cy="0"/>
          <a:chOff x="0" y="0"/>
          <a:chExt cx="0" cy="0"/>
        </a:xfrm>
      </p:grpSpPr>
      <p:pic>
        <p:nvPicPr>
          <p:cNvPr id="138" name="Google Shape;138;p3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9" name="Google Shape;139;p35"/>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40" name="Google Shape;140;p35"/>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1" name="Google Shape;141;p35"/>
          <p:cNvSpPr txBox="1">
            <a:spLocks noGrp="1"/>
          </p:cNvSpPr>
          <p:nvPr>
            <p:ph type="body" idx="1"/>
          </p:nvPr>
        </p:nvSpPr>
        <p:spPr>
          <a:xfrm>
            <a:off x="874713" y="1093983"/>
            <a:ext cx="2546893"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2" name="Google Shape;142;p35"/>
          <p:cNvSpPr>
            <a:spLocks noGrp="1"/>
          </p:cNvSpPr>
          <p:nvPr>
            <p:ph type="dgm" idx="2"/>
          </p:nvPr>
        </p:nvSpPr>
        <p:spPr>
          <a:xfrm>
            <a:off x="3598863" y="1093788"/>
            <a:ext cx="8064500" cy="467518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resentation - Empty">
  <p:cSld name="Presentation - Empty">
    <p:spTree>
      <p:nvGrpSpPr>
        <p:cNvPr id="1" name="Shape 143"/>
        <p:cNvGrpSpPr/>
        <p:nvPr/>
      </p:nvGrpSpPr>
      <p:grpSpPr>
        <a:xfrm>
          <a:off x="0" y="0"/>
          <a:ext cx="0" cy="0"/>
          <a:chOff x="0" y="0"/>
          <a:chExt cx="0" cy="0"/>
        </a:xfrm>
      </p:grpSpPr>
      <p:pic>
        <p:nvPicPr>
          <p:cNvPr id="144" name="Google Shape;144;p3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5" name="Google Shape;145;p36"/>
          <p:cNvSpPr txBox="1">
            <a:spLocks noGrp="1"/>
          </p:cNvSpPr>
          <p:nvPr>
            <p:ph type="title"/>
          </p:nvPr>
        </p:nvSpPr>
        <p:spPr>
          <a:xfrm>
            <a:off x="1107254" y="3390841"/>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6" name="Google Shape;146;p36"/>
          <p:cNvSpPr txBox="1"/>
          <p:nvPr/>
        </p:nvSpPr>
        <p:spPr>
          <a:xfrm>
            <a:off x="1107254" y="4313604"/>
            <a:ext cx="70274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u="none">
                <a:solidFill>
                  <a:schemeClr val="dk2"/>
                </a:solidFill>
                <a:latin typeface="Arial"/>
                <a:ea typeface="Arial"/>
                <a:cs typeface="Arial"/>
                <a:sym typeface="Arial"/>
              </a:rPr>
              <a:t>Subscribe to our news: </a:t>
            </a:r>
            <a:r>
              <a:rPr lang="en-US" sz="1600" u="sng">
                <a:solidFill>
                  <a:schemeClr val="dk2"/>
                </a:solidFill>
                <a:latin typeface="Arial"/>
                <a:ea typeface="Arial"/>
                <a:cs typeface="Arial"/>
                <a:sym typeface="Arial"/>
              </a:rPr>
              <a:t>www.cost.eu/subscribe</a:t>
            </a:r>
            <a:endParaRPr sz="1600">
              <a:solidFill>
                <a:schemeClr val="dk2"/>
              </a:solidFill>
              <a:latin typeface="Arial"/>
              <a:ea typeface="Arial"/>
              <a:cs typeface="Arial"/>
              <a:sym typeface="Arial"/>
            </a:endParaRPr>
          </a:p>
        </p:txBody>
      </p:sp>
      <p:grpSp>
        <p:nvGrpSpPr>
          <p:cNvPr id="147" name="Google Shape;147;p36"/>
          <p:cNvGrpSpPr/>
          <p:nvPr/>
        </p:nvGrpSpPr>
        <p:grpSpPr>
          <a:xfrm>
            <a:off x="9026219" y="5182889"/>
            <a:ext cx="2200682" cy="1172172"/>
            <a:chOff x="6636485" y="5354057"/>
            <a:chExt cx="2200682" cy="1172172"/>
          </a:xfrm>
        </p:grpSpPr>
        <p:grpSp>
          <p:nvGrpSpPr>
            <p:cNvPr id="148" name="Google Shape;148;p36"/>
            <p:cNvGrpSpPr/>
            <p:nvPr/>
          </p:nvGrpSpPr>
          <p:grpSpPr>
            <a:xfrm>
              <a:off x="6883674" y="5354057"/>
              <a:ext cx="1953493" cy="1172172"/>
              <a:chOff x="6883674" y="5354057"/>
              <a:chExt cx="1953493" cy="1172172"/>
            </a:xfrm>
          </p:grpSpPr>
          <p:pic>
            <p:nvPicPr>
              <p:cNvPr id="149" name="Google Shape;149;p36" descr="Plan de travail 1OFF-Icones.jpg">
                <a:hlinkClick r:id="rId3"/>
              </p:cNvPr>
              <p:cNvPicPr preferRelativeResize="0"/>
              <p:nvPr/>
            </p:nvPicPr>
            <p:blipFill rotWithShape="1">
              <a:blip r:embed="rId4">
                <a:alphaModFix/>
              </a:blip>
              <a:srcRect/>
              <a:stretch/>
            </p:blipFill>
            <p:spPr>
              <a:xfrm>
                <a:off x="8382903" y="5776143"/>
                <a:ext cx="360000" cy="330628"/>
              </a:xfrm>
              <a:prstGeom prst="rect">
                <a:avLst/>
              </a:prstGeom>
              <a:noFill/>
              <a:ln>
                <a:noFill/>
              </a:ln>
            </p:spPr>
          </p:pic>
          <p:sp>
            <p:nvSpPr>
              <p:cNvPr id="150" name="Google Shape;150;p36">
                <a:hlinkClick r:id="rId5"/>
              </p:cNvPr>
              <p:cNvSpPr txBox="1"/>
              <p:nvPr/>
            </p:nvSpPr>
            <p:spPr>
              <a:xfrm>
                <a:off x="6935575" y="6218452"/>
                <a:ext cx="1901592"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a:solidFill>
                      <a:schemeClr val="dk2"/>
                    </a:solidFill>
                    <a:latin typeface="Arial"/>
                    <a:ea typeface="Arial"/>
                    <a:cs typeface="Arial"/>
                    <a:sym typeface="Arial"/>
                  </a:rPr>
                  <a:t>www.cost.eu</a:t>
                </a:r>
                <a:endParaRPr sz="1400">
                  <a:solidFill>
                    <a:schemeClr val="dk2"/>
                  </a:solidFill>
                  <a:latin typeface="Arial"/>
                  <a:ea typeface="Arial"/>
                  <a:cs typeface="Arial"/>
                  <a:sym typeface="Arial"/>
                </a:endParaRPr>
              </a:p>
            </p:txBody>
          </p:sp>
          <p:pic>
            <p:nvPicPr>
              <p:cNvPr id="151" name="Google Shape;151;p36">
                <a:hlinkClick r:id="rId6"/>
              </p:cNvPr>
              <p:cNvPicPr preferRelativeResize="0"/>
              <p:nvPr/>
            </p:nvPicPr>
            <p:blipFill rotWithShape="1">
              <a:blip r:embed="rId7">
                <a:alphaModFix/>
              </a:blip>
              <a:srcRect/>
              <a:stretch/>
            </p:blipFill>
            <p:spPr>
              <a:xfrm>
                <a:off x="7500289" y="5780684"/>
                <a:ext cx="779907" cy="331038"/>
              </a:xfrm>
              <a:prstGeom prst="rect">
                <a:avLst/>
              </a:prstGeom>
              <a:noFill/>
              <a:ln>
                <a:noFill/>
              </a:ln>
            </p:spPr>
          </p:pic>
          <p:pic>
            <p:nvPicPr>
              <p:cNvPr id="152" name="Google Shape;152;p36">
                <a:hlinkClick r:id="rId8"/>
              </p:cNvPr>
              <p:cNvPicPr preferRelativeResize="0"/>
              <p:nvPr/>
            </p:nvPicPr>
            <p:blipFill rotWithShape="1">
              <a:blip r:embed="rId9">
                <a:alphaModFix/>
              </a:blip>
              <a:srcRect/>
              <a:stretch/>
            </p:blipFill>
            <p:spPr>
              <a:xfrm>
                <a:off x="7069413" y="5781094"/>
                <a:ext cx="330628" cy="330628"/>
              </a:xfrm>
              <a:prstGeom prst="rect">
                <a:avLst/>
              </a:prstGeom>
              <a:noFill/>
              <a:ln>
                <a:noFill/>
              </a:ln>
            </p:spPr>
          </p:pic>
          <p:sp>
            <p:nvSpPr>
              <p:cNvPr id="153" name="Google Shape;153;p36"/>
              <p:cNvSpPr txBox="1"/>
              <p:nvPr/>
            </p:nvSpPr>
            <p:spPr>
              <a:xfrm>
                <a:off x="6883674" y="5354057"/>
                <a:ext cx="1901592"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chemeClr val="dk2"/>
                    </a:solidFill>
                    <a:latin typeface="Arial"/>
                    <a:ea typeface="Arial"/>
                    <a:cs typeface="Arial"/>
                    <a:sym typeface="Arial"/>
                  </a:rPr>
                  <a:t>Subscribe</a:t>
                </a:r>
                <a:endParaRPr sz="1400" b="1">
                  <a:solidFill>
                    <a:schemeClr val="dk2"/>
                  </a:solidFill>
                  <a:latin typeface="Arial"/>
                  <a:ea typeface="Arial"/>
                  <a:cs typeface="Arial"/>
                  <a:sym typeface="Arial"/>
                </a:endParaRPr>
              </a:p>
            </p:txBody>
          </p:sp>
        </p:grpSp>
        <p:pic>
          <p:nvPicPr>
            <p:cNvPr id="154" name="Google Shape;154;p36">
              <a:hlinkClick r:id="rId10"/>
            </p:cNvPr>
            <p:cNvPicPr preferRelativeResize="0"/>
            <p:nvPr/>
          </p:nvPicPr>
          <p:blipFill rotWithShape="1">
            <a:blip r:embed="rId11">
              <a:alphaModFix/>
            </a:blip>
            <a:srcRect/>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resentation - Empty 2">
  <p:cSld name="Presentation - Empty 2">
    <p:spTree>
      <p:nvGrpSpPr>
        <p:cNvPr id="1" name="Shape 155"/>
        <p:cNvGrpSpPr/>
        <p:nvPr/>
      </p:nvGrpSpPr>
      <p:grpSpPr>
        <a:xfrm>
          <a:off x="0" y="0"/>
          <a:ext cx="0" cy="0"/>
          <a:chOff x="0" y="0"/>
          <a:chExt cx="0" cy="0"/>
        </a:xfrm>
      </p:grpSpPr>
      <p:pic>
        <p:nvPicPr>
          <p:cNvPr id="156" name="Google Shape;156;p3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57" name="Google Shape;157;p37"/>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resentation - Empty - Empty">
  <p:cSld name="Presentation - Empty - Empty">
    <p:spTree>
      <p:nvGrpSpPr>
        <p:cNvPr id="1" name="Shape 158"/>
        <p:cNvGrpSpPr/>
        <p:nvPr/>
      </p:nvGrpSpPr>
      <p:grpSpPr>
        <a:xfrm>
          <a:off x="0" y="0"/>
          <a:ext cx="0" cy="0"/>
          <a:chOff x="0" y="0"/>
          <a:chExt cx="0" cy="0"/>
        </a:xfrm>
      </p:grpSpPr>
      <p:pic>
        <p:nvPicPr>
          <p:cNvPr id="159" name="Google Shape;159;p3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60" name="Google Shape;160;p38"/>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_Presentation - title">
  <p:cSld name="3_Presentation - title">
    <p:spTree>
      <p:nvGrpSpPr>
        <p:cNvPr id="1" name="Shape 162"/>
        <p:cNvGrpSpPr/>
        <p:nvPr/>
      </p:nvGrpSpPr>
      <p:grpSpPr>
        <a:xfrm>
          <a:off x="0" y="0"/>
          <a:ext cx="0" cy="0"/>
          <a:chOff x="0" y="0"/>
          <a:chExt cx="0" cy="0"/>
        </a:xfrm>
      </p:grpSpPr>
      <p:pic>
        <p:nvPicPr>
          <p:cNvPr id="163" name="Google Shape;163;p4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64" name="Google Shape;164;p40"/>
          <p:cNvSpPr txBox="1">
            <a:spLocks noGrp="1"/>
          </p:cNvSpPr>
          <p:nvPr>
            <p:ph type="title"/>
          </p:nvPr>
        </p:nvSpPr>
        <p:spPr>
          <a:xfrm>
            <a:off x="1107254" y="396139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5" name="Google Shape;165;p40"/>
          <p:cNvSpPr txBox="1">
            <a:spLocks noGrp="1"/>
          </p:cNvSpPr>
          <p:nvPr>
            <p:ph type="body" idx="1"/>
          </p:nvPr>
        </p:nvSpPr>
        <p:spPr>
          <a:xfrm>
            <a:off x="1106771" y="4557940"/>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6" name="Google Shape;166;p40"/>
          <p:cNvSpPr txBox="1">
            <a:spLocks noGrp="1"/>
          </p:cNvSpPr>
          <p:nvPr>
            <p:ph type="body" idx="2"/>
          </p:nvPr>
        </p:nvSpPr>
        <p:spPr>
          <a:xfrm>
            <a:off x="1106771" y="5043451"/>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Presentation - title">
  <p:cSld name="4_Presentation - title">
    <p:spTree>
      <p:nvGrpSpPr>
        <p:cNvPr id="1" name="Shape 167"/>
        <p:cNvGrpSpPr/>
        <p:nvPr/>
      </p:nvGrpSpPr>
      <p:grpSpPr>
        <a:xfrm>
          <a:off x="0" y="0"/>
          <a:ext cx="0" cy="0"/>
          <a:chOff x="0" y="0"/>
          <a:chExt cx="0" cy="0"/>
        </a:xfrm>
      </p:grpSpPr>
      <p:pic>
        <p:nvPicPr>
          <p:cNvPr id="168" name="Google Shape;168;p4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69" name="Google Shape;169;p41"/>
          <p:cNvSpPr txBox="1">
            <a:spLocks noGrp="1"/>
          </p:cNvSpPr>
          <p:nvPr>
            <p:ph type="title"/>
          </p:nvPr>
        </p:nvSpPr>
        <p:spPr>
          <a:xfrm>
            <a:off x="1107254" y="396139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0" name="Google Shape;170;p41"/>
          <p:cNvSpPr txBox="1">
            <a:spLocks noGrp="1"/>
          </p:cNvSpPr>
          <p:nvPr>
            <p:ph type="body" idx="1"/>
          </p:nvPr>
        </p:nvSpPr>
        <p:spPr>
          <a:xfrm>
            <a:off x="1106771" y="4557940"/>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1" name="Google Shape;171;p41"/>
          <p:cNvSpPr txBox="1">
            <a:spLocks noGrp="1"/>
          </p:cNvSpPr>
          <p:nvPr>
            <p:ph type="body" idx="2"/>
          </p:nvPr>
        </p:nvSpPr>
        <p:spPr>
          <a:xfrm>
            <a:off x="1106771" y="5043451"/>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5_Presentation - title">
  <p:cSld name="5_Presentation - title">
    <p:spTree>
      <p:nvGrpSpPr>
        <p:cNvPr id="1" name="Shape 172"/>
        <p:cNvGrpSpPr/>
        <p:nvPr/>
      </p:nvGrpSpPr>
      <p:grpSpPr>
        <a:xfrm>
          <a:off x="0" y="0"/>
          <a:ext cx="0" cy="0"/>
          <a:chOff x="0" y="0"/>
          <a:chExt cx="0" cy="0"/>
        </a:xfrm>
      </p:grpSpPr>
      <p:pic>
        <p:nvPicPr>
          <p:cNvPr id="173" name="Google Shape;173;p4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4" name="Google Shape;174;p42"/>
          <p:cNvSpPr txBox="1">
            <a:spLocks noGrp="1"/>
          </p:cNvSpPr>
          <p:nvPr>
            <p:ph type="title"/>
          </p:nvPr>
        </p:nvSpPr>
        <p:spPr>
          <a:xfrm>
            <a:off x="1107254" y="1159488"/>
            <a:ext cx="8327542" cy="1842362"/>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500"/>
              <a:buFont typeface="Arial"/>
              <a:buNone/>
              <a:defRPr sz="35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5" name="Google Shape;175;p42"/>
          <p:cNvSpPr txBox="1">
            <a:spLocks noGrp="1"/>
          </p:cNvSpPr>
          <p:nvPr>
            <p:ph type="body" idx="1"/>
          </p:nvPr>
        </p:nvSpPr>
        <p:spPr>
          <a:xfrm>
            <a:off x="1106771" y="3010626"/>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6" name="Google Shape;176;p42"/>
          <p:cNvSpPr txBox="1">
            <a:spLocks noGrp="1"/>
          </p:cNvSpPr>
          <p:nvPr>
            <p:ph type="body" idx="2"/>
          </p:nvPr>
        </p:nvSpPr>
        <p:spPr>
          <a:xfrm>
            <a:off x="1106771" y="3496137"/>
            <a:ext cx="8328025" cy="46967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Presentation - Content">
  <p:cSld name="2_Presentation - Content">
    <p:spTree>
      <p:nvGrpSpPr>
        <p:cNvPr id="1" name="Shape 177"/>
        <p:cNvGrpSpPr/>
        <p:nvPr/>
      </p:nvGrpSpPr>
      <p:grpSpPr>
        <a:xfrm>
          <a:off x="0" y="0"/>
          <a:ext cx="0" cy="0"/>
          <a:chOff x="0" y="0"/>
          <a:chExt cx="0" cy="0"/>
        </a:xfrm>
      </p:grpSpPr>
      <p:pic>
        <p:nvPicPr>
          <p:cNvPr id="178" name="Google Shape;178;p4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9" name="Google Shape;179;p43"/>
          <p:cNvSpPr txBox="1">
            <a:spLocks noGrp="1"/>
          </p:cNvSpPr>
          <p:nvPr>
            <p:ph type="body" idx="1"/>
          </p:nvPr>
        </p:nvSpPr>
        <p:spPr>
          <a:xfrm>
            <a:off x="874713" y="2102946"/>
            <a:ext cx="10225087" cy="367328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E1783C"/>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rgbClr val="E1783C"/>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rgbClr val="E1783C"/>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rgbClr val="E1783C"/>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80" name="Google Shape;180;p43"/>
          <p:cNvSpPr txBox="1">
            <a:spLocks noGrp="1"/>
          </p:cNvSpPr>
          <p:nvPr>
            <p:ph type="title"/>
          </p:nvPr>
        </p:nvSpPr>
        <p:spPr>
          <a:xfrm>
            <a:off x="874713" y="1515179"/>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1" name="Google Shape;181;p43"/>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_Presentation - Content 2">
  <p:cSld name="2_Presentation - Content 2">
    <p:spTree>
      <p:nvGrpSpPr>
        <p:cNvPr id="1" name="Shape 182"/>
        <p:cNvGrpSpPr/>
        <p:nvPr/>
      </p:nvGrpSpPr>
      <p:grpSpPr>
        <a:xfrm>
          <a:off x="0" y="0"/>
          <a:ext cx="0" cy="0"/>
          <a:chOff x="0" y="0"/>
          <a:chExt cx="0" cy="0"/>
        </a:xfrm>
      </p:grpSpPr>
      <p:pic>
        <p:nvPicPr>
          <p:cNvPr id="183" name="Google Shape;183;p4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84" name="Google Shape;184;p44"/>
          <p:cNvSpPr txBox="1">
            <a:spLocks noGrp="1"/>
          </p:cNvSpPr>
          <p:nvPr>
            <p:ph type="body" idx="1"/>
          </p:nvPr>
        </p:nvSpPr>
        <p:spPr>
          <a:xfrm>
            <a:off x="874713" y="1093984"/>
            <a:ext cx="10225087" cy="38479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E1783C"/>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rgbClr val="E1783C"/>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rgbClr val="E1783C"/>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rgbClr val="E1783C"/>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85" name="Google Shape;185;p44"/>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6" name="Google Shape;186;p44"/>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_Presentation - Empty - Content">
  <p:cSld name="2_Presentation - Empty - Content">
    <p:spTree>
      <p:nvGrpSpPr>
        <p:cNvPr id="1" name="Shape 187"/>
        <p:cNvGrpSpPr/>
        <p:nvPr/>
      </p:nvGrpSpPr>
      <p:grpSpPr>
        <a:xfrm>
          <a:off x="0" y="0"/>
          <a:ext cx="0" cy="0"/>
          <a:chOff x="0" y="0"/>
          <a:chExt cx="0" cy="0"/>
        </a:xfrm>
      </p:grpSpPr>
      <p:pic>
        <p:nvPicPr>
          <p:cNvPr id="188" name="Google Shape;188;p4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89" name="Google Shape;189;p45"/>
          <p:cNvSpPr txBox="1">
            <a:spLocks noGrp="1"/>
          </p:cNvSpPr>
          <p:nvPr>
            <p:ph type="body" idx="1"/>
          </p:nvPr>
        </p:nvSpPr>
        <p:spPr>
          <a:xfrm>
            <a:off x="874713" y="1093983"/>
            <a:ext cx="10225087" cy="468224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E1783C"/>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rgbClr val="E1783C"/>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rgbClr val="E1783C"/>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rgbClr val="E1783C"/>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0" name="Google Shape;190;p45"/>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1" name="Google Shape;191;p45"/>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resentation - Two content shapes">
  <p:cSld name="Presentation - Two content shapes">
    <p:spTree>
      <p:nvGrpSpPr>
        <p:cNvPr id="1"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94" name="Google Shape;194;p46"/>
          <p:cNvSpPr txBox="1">
            <a:spLocks noGrp="1"/>
          </p:cNvSpPr>
          <p:nvPr>
            <p:ph type="body" idx="1"/>
          </p:nvPr>
        </p:nvSpPr>
        <p:spPr>
          <a:xfrm>
            <a:off x="874713" y="1093983"/>
            <a:ext cx="5078720"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6"/>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6"/>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6"/>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6"/>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5" name="Google Shape;195;p46"/>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6" name="Google Shape;196;p46"/>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97" name="Google Shape;197;p46"/>
          <p:cNvSpPr txBox="1">
            <a:spLocks noGrp="1"/>
          </p:cNvSpPr>
          <p:nvPr>
            <p:ph type="body" idx="2"/>
          </p:nvPr>
        </p:nvSpPr>
        <p:spPr>
          <a:xfrm>
            <a:off x="6365967" y="1093983"/>
            <a:ext cx="5039386"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6"/>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6"/>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6"/>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6"/>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3_Presentation - Content">
  <p:cSld name="3_Presentation - Content">
    <p:spTree>
      <p:nvGrpSpPr>
        <p:cNvPr id="1" name="Shape 198"/>
        <p:cNvGrpSpPr/>
        <p:nvPr/>
      </p:nvGrpSpPr>
      <p:grpSpPr>
        <a:xfrm>
          <a:off x="0" y="0"/>
          <a:ext cx="0" cy="0"/>
          <a:chOff x="0" y="0"/>
          <a:chExt cx="0" cy="0"/>
        </a:xfrm>
      </p:grpSpPr>
      <p:pic>
        <p:nvPicPr>
          <p:cNvPr id="199" name="Google Shape;199;p4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00" name="Google Shape;200;p47"/>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01" name="Google Shape;201;p47"/>
          <p:cNvSpPr txBox="1">
            <a:spLocks noGrp="1"/>
          </p:cNvSpPr>
          <p:nvPr>
            <p:ph type="title"/>
          </p:nvPr>
        </p:nvSpPr>
        <p:spPr>
          <a:xfrm>
            <a:off x="874713" y="1515179"/>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2" name="Google Shape;202;p47"/>
          <p:cNvSpPr>
            <a:spLocks noGrp="1"/>
          </p:cNvSpPr>
          <p:nvPr>
            <p:ph type="tbl" idx="2"/>
          </p:nvPr>
        </p:nvSpPr>
        <p:spPr>
          <a:xfrm>
            <a:off x="874713" y="2103438"/>
            <a:ext cx="10225087" cy="36734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Presentation - Content 2">
  <p:cSld name="3_Presentation - Content 2">
    <p:spTree>
      <p:nvGrpSpPr>
        <p:cNvPr id="1" name="Shape 203"/>
        <p:cNvGrpSpPr/>
        <p:nvPr/>
      </p:nvGrpSpPr>
      <p:grpSpPr>
        <a:xfrm>
          <a:off x="0" y="0"/>
          <a:ext cx="0" cy="0"/>
          <a:chOff x="0" y="0"/>
          <a:chExt cx="0" cy="0"/>
        </a:xfrm>
      </p:grpSpPr>
      <p:pic>
        <p:nvPicPr>
          <p:cNvPr id="204" name="Google Shape;204;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05" name="Google Shape;205;p48"/>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06" name="Google Shape;206;p48"/>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7" name="Google Shape;207;p48"/>
          <p:cNvSpPr>
            <a:spLocks noGrp="1"/>
          </p:cNvSpPr>
          <p:nvPr>
            <p:ph type="tbl" idx="2"/>
          </p:nvPr>
        </p:nvSpPr>
        <p:spPr>
          <a:xfrm>
            <a:off x="874713" y="1093984"/>
            <a:ext cx="10225087" cy="384790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3_Presentation - Empty - Content">
  <p:cSld name="3_Presentation - Empty - Content">
    <p:spTree>
      <p:nvGrpSpPr>
        <p:cNvPr id="1" name="Shape 208"/>
        <p:cNvGrpSpPr/>
        <p:nvPr/>
      </p:nvGrpSpPr>
      <p:grpSpPr>
        <a:xfrm>
          <a:off x="0" y="0"/>
          <a:ext cx="0" cy="0"/>
          <a:chOff x="0" y="0"/>
          <a:chExt cx="0" cy="0"/>
        </a:xfrm>
      </p:grpSpPr>
      <p:pic>
        <p:nvPicPr>
          <p:cNvPr id="209" name="Google Shape;209;p4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0" name="Google Shape;210;p49"/>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11" name="Google Shape;211;p49"/>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2" name="Google Shape;212;p49"/>
          <p:cNvSpPr>
            <a:spLocks noGrp="1"/>
          </p:cNvSpPr>
          <p:nvPr>
            <p:ph type="tbl" idx="2"/>
          </p:nvPr>
        </p:nvSpPr>
        <p:spPr>
          <a:xfrm>
            <a:off x="874713" y="1093984"/>
            <a:ext cx="10225087" cy="468224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resentation - Content - Smartart">
  <p:cSld name="Presentation - Content - Smartart">
    <p:spTree>
      <p:nvGrpSpPr>
        <p:cNvPr id="1" name="Shape 213"/>
        <p:cNvGrpSpPr/>
        <p:nvPr/>
      </p:nvGrpSpPr>
      <p:grpSpPr>
        <a:xfrm>
          <a:off x="0" y="0"/>
          <a:ext cx="0" cy="0"/>
          <a:chOff x="0" y="0"/>
          <a:chExt cx="0" cy="0"/>
        </a:xfrm>
      </p:grpSpPr>
      <p:pic>
        <p:nvPicPr>
          <p:cNvPr id="214" name="Google Shape;214;p5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5" name="Google Shape;215;p50"/>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16" name="Google Shape;216;p50"/>
          <p:cNvSpPr txBox="1">
            <a:spLocks noGrp="1"/>
          </p:cNvSpPr>
          <p:nvPr>
            <p:ph type="title"/>
          </p:nvPr>
        </p:nvSpPr>
        <p:spPr>
          <a:xfrm>
            <a:off x="874713" y="506216"/>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7" name="Google Shape;217;p50"/>
          <p:cNvSpPr txBox="1">
            <a:spLocks noGrp="1"/>
          </p:cNvSpPr>
          <p:nvPr>
            <p:ph type="body" idx="1"/>
          </p:nvPr>
        </p:nvSpPr>
        <p:spPr>
          <a:xfrm>
            <a:off x="874713" y="1093983"/>
            <a:ext cx="2546893" cy="467499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6"/>
              </a:buClr>
              <a:buSzPts val="2800"/>
              <a:buFont typeface="Noto Sans Symbols"/>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accent6"/>
              </a:buClr>
              <a:buSzPts val="24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accent6"/>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accent6"/>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8" name="Google Shape;218;p50"/>
          <p:cNvSpPr>
            <a:spLocks noGrp="1"/>
          </p:cNvSpPr>
          <p:nvPr>
            <p:ph type="dgm" idx="2"/>
          </p:nvPr>
        </p:nvSpPr>
        <p:spPr>
          <a:xfrm>
            <a:off x="3598863" y="1093788"/>
            <a:ext cx="8064500" cy="467518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Presentation - Empty">
  <p:cSld name="1_Presentation - Empty">
    <p:spTree>
      <p:nvGrpSpPr>
        <p:cNvPr id="1" name="Shape 219"/>
        <p:cNvGrpSpPr/>
        <p:nvPr/>
      </p:nvGrpSpPr>
      <p:grpSpPr>
        <a:xfrm>
          <a:off x="0" y="0"/>
          <a:ext cx="0" cy="0"/>
          <a:chOff x="0" y="0"/>
          <a:chExt cx="0" cy="0"/>
        </a:xfrm>
      </p:grpSpPr>
      <p:pic>
        <p:nvPicPr>
          <p:cNvPr id="220" name="Google Shape;220;p5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21" name="Google Shape;221;p51"/>
          <p:cNvSpPr txBox="1">
            <a:spLocks noGrp="1"/>
          </p:cNvSpPr>
          <p:nvPr>
            <p:ph type="title"/>
          </p:nvPr>
        </p:nvSpPr>
        <p:spPr>
          <a:xfrm>
            <a:off x="1107254" y="3390841"/>
            <a:ext cx="8327542" cy="5877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3500"/>
              <a:buFont typeface="Arial"/>
              <a:buNone/>
              <a:defRPr sz="35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2" name="Google Shape;222;p51"/>
          <p:cNvSpPr txBox="1"/>
          <p:nvPr/>
        </p:nvSpPr>
        <p:spPr>
          <a:xfrm>
            <a:off x="1107254" y="4313604"/>
            <a:ext cx="70274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u="none">
                <a:solidFill>
                  <a:schemeClr val="dk2"/>
                </a:solidFill>
                <a:latin typeface="Arial"/>
                <a:ea typeface="Arial"/>
                <a:cs typeface="Arial"/>
                <a:sym typeface="Arial"/>
              </a:rPr>
              <a:t>Subscribe to our news: </a:t>
            </a:r>
            <a:r>
              <a:rPr lang="en-US" sz="1600" u="sng">
                <a:solidFill>
                  <a:schemeClr val="dk2"/>
                </a:solidFill>
                <a:latin typeface="Arial"/>
                <a:ea typeface="Arial"/>
                <a:cs typeface="Arial"/>
                <a:sym typeface="Arial"/>
              </a:rPr>
              <a:t>www.cost.eu/subscribe</a:t>
            </a:r>
            <a:endParaRPr sz="1600">
              <a:solidFill>
                <a:schemeClr val="dk2"/>
              </a:solidFill>
              <a:latin typeface="Arial"/>
              <a:ea typeface="Arial"/>
              <a:cs typeface="Arial"/>
              <a:sym typeface="Arial"/>
            </a:endParaRPr>
          </a:p>
        </p:txBody>
      </p:sp>
      <p:grpSp>
        <p:nvGrpSpPr>
          <p:cNvPr id="223" name="Google Shape;223;p51"/>
          <p:cNvGrpSpPr/>
          <p:nvPr/>
        </p:nvGrpSpPr>
        <p:grpSpPr>
          <a:xfrm>
            <a:off x="9026219" y="5182889"/>
            <a:ext cx="2200682" cy="1172172"/>
            <a:chOff x="6636485" y="5354057"/>
            <a:chExt cx="2200682" cy="1172172"/>
          </a:xfrm>
        </p:grpSpPr>
        <p:grpSp>
          <p:nvGrpSpPr>
            <p:cNvPr id="224" name="Google Shape;224;p51"/>
            <p:cNvGrpSpPr/>
            <p:nvPr/>
          </p:nvGrpSpPr>
          <p:grpSpPr>
            <a:xfrm>
              <a:off x="6883674" y="5354057"/>
              <a:ext cx="1953493" cy="1172172"/>
              <a:chOff x="6883674" y="5354057"/>
              <a:chExt cx="1953493" cy="1172172"/>
            </a:xfrm>
          </p:grpSpPr>
          <p:pic>
            <p:nvPicPr>
              <p:cNvPr id="225" name="Google Shape;225;p51" descr="Plan de travail 1OFF-Icones.jpg">
                <a:hlinkClick r:id="rId3"/>
              </p:cNvPr>
              <p:cNvPicPr preferRelativeResize="0"/>
              <p:nvPr/>
            </p:nvPicPr>
            <p:blipFill rotWithShape="1">
              <a:blip r:embed="rId4">
                <a:alphaModFix/>
              </a:blip>
              <a:srcRect/>
              <a:stretch/>
            </p:blipFill>
            <p:spPr>
              <a:xfrm>
                <a:off x="8382903" y="5776143"/>
                <a:ext cx="360000" cy="330628"/>
              </a:xfrm>
              <a:prstGeom prst="rect">
                <a:avLst/>
              </a:prstGeom>
              <a:noFill/>
              <a:ln>
                <a:noFill/>
              </a:ln>
            </p:spPr>
          </p:pic>
          <p:sp>
            <p:nvSpPr>
              <p:cNvPr id="226" name="Google Shape;226;p51">
                <a:hlinkClick r:id="rId5"/>
              </p:cNvPr>
              <p:cNvSpPr txBox="1"/>
              <p:nvPr/>
            </p:nvSpPr>
            <p:spPr>
              <a:xfrm>
                <a:off x="6935575" y="6218452"/>
                <a:ext cx="1901592"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a:solidFill>
                      <a:schemeClr val="dk2"/>
                    </a:solidFill>
                    <a:latin typeface="Arial"/>
                    <a:ea typeface="Arial"/>
                    <a:cs typeface="Arial"/>
                    <a:sym typeface="Arial"/>
                  </a:rPr>
                  <a:t>www.cost.eu</a:t>
                </a:r>
                <a:endParaRPr sz="1400">
                  <a:solidFill>
                    <a:schemeClr val="dk2"/>
                  </a:solidFill>
                  <a:latin typeface="Arial"/>
                  <a:ea typeface="Arial"/>
                  <a:cs typeface="Arial"/>
                  <a:sym typeface="Arial"/>
                </a:endParaRPr>
              </a:p>
            </p:txBody>
          </p:sp>
          <p:pic>
            <p:nvPicPr>
              <p:cNvPr id="227" name="Google Shape;227;p51">
                <a:hlinkClick r:id="rId6"/>
              </p:cNvPr>
              <p:cNvPicPr preferRelativeResize="0"/>
              <p:nvPr/>
            </p:nvPicPr>
            <p:blipFill rotWithShape="1">
              <a:blip r:embed="rId7">
                <a:alphaModFix/>
              </a:blip>
              <a:srcRect/>
              <a:stretch/>
            </p:blipFill>
            <p:spPr>
              <a:xfrm>
                <a:off x="7500289" y="5780684"/>
                <a:ext cx="779907" cy="331038"/>
              </a:xfrm>
              <a:prstGeom prst="rect">
                <a:avLst/>
              </a:prstGeom>
              <a:noFill/>
              <a:ln>
                <a:noFill/>
              </a:ln>
            </p:spPr>
          </p:pic>
          <p:pic>
            <p:nvPicPr>
              <p:cNvPr id="228" name="Google Shape;228;p51">
                <a:hlinkClick r:id="rId8"/>
              </p:cNvPr>
              <p:cNvPicPr preferRelativeResize="0"/>
              <p:nvPr/>
            </p:nvPicPr>
            <p:blipFill rotWithShape="1">
              <a:blip r:embed="rId9">
                <a:alphaModFix/>
              </a:blip>
              <a:srcRect/>
              <a:stretch/>
            </p:blipFill>
            <p:spPr>
              <a:xfrm>
                <a:off x="7069413" y="5781094"/>
                <a:ext cx="330628" cy="330628"/>
              </a:xfrm>
              <a:prstGeom prst="rect">
                <a:avLst/>
              </a:prstGeom>
              <a:noFill/>
              <a:ln>
                <a:noFill/>
              </a:ln>
            </p:spPr>
          </p:pic>
          <p:sp>
            <p:nvSpPr>
              <p:cNvPr id="229" name="Google Shape;229;p51"/>
              <p:cNvSpPr txBox="1"/>
              <p:nvPr/>
            </p:nvSpPr>
            <p:spPr>
              <a:xfrm>
                <a:off x="6883674" y="5354057"/>
                <a:ext cx="1901592"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chemeClr val="dk2"/>
                    </a:solidFill>
                    <a:latin typeface="Arial"/>
                    <a:ea typeface="Arial"/>
                    <a:cs typeface="Arial"/>
                    <a:sym typeface="Arial"/>
                  </a:rPr>
                  <a:t>Subscribe</a:t>
                </a:r>
                <a:endParaRPr sz="1400" b="1">
                  <a:solidFill>
                    <a:schemeClr val="dk2"/>
                  </a:solidFill>
                  <a:latin typeface="Arial"/>
                  <a:ea typeface="Arial"/>
                  <a:cs typeface="Arial"/>
                  <a:sym typeface="Arial"/>
                </a:endParaRPr>
              </a:p>
            </p:txBody>
          </p:sp>
        </p:grpSp>
        <p:pic>
          <p:nvPicPr>
            <p:cNvPr id="230" name="Google Shape;230;p51">
              <a:hlinkClick r:id="rId10"/>
            </p:cNvPr>
            <p:cNvPicPr preferRelativeResize="0"/>
            <p:nvPr/>
          </p:nvPicPr>
          <p:blipFill rotWithShape="1">
            <a:blip r:embed="rId11">
              <a:alphaModFix/>
            </a:blip>
            <a:srcRect/>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Presentation - Empty 2">
  <p:cSld name="1_Presentation - Empty 2">
    <p:spTree>
      <p:nvGrpSpPr>
        <p:cNvPr id="1" name="Shape 231"/>
        <p:cNvGrpSpPr/>
        <p:nvPr/>
      </p:nvGrpSpPr>
      <p:grpSpPr>
        <a:xfrm>
          <a:off x="0" y="0"/>
          <a:ext cx="0" cy="0"/>
          <a:chOff x="0" y="0"/>
          <a:chExt cx="0" cy="0"/>
        </a:xfrm>
      </p:grpSpPr>
      <p:pic>
        <p:nvPicPr>
          <p:cNvPr id="232" name="Google Shape;232;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3" name="Google Shape;233;p52"/>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Presentation - Empty - Empty">
  <p:cSld name="1_Presentation - Empty - Empty">
    <p:spTree>
      <p:nvGrpSpPr>
        <p:cNvPr id="1" name="Shape 234"/>
        <p:cNvGrpSpPr/>
        <p:nvPr/>
      </p:nvGrpSpPr>
      <p:grpSpPr>
        <a:xfrm>
          <a:off x="0" y="0"/>
          <a:ext cx="0" cy="0"/>
          <a:chOff x="0" y="0"/>
          <a:chExt cx="0" cy="0"/>
        </a:xfrm>
      </p:grpSpPr>
      <p:pic>
        <p:nvPicPr>
          <p:cNvPr id="235" name="Google Shape;235;p5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6" name="Google Shape;236;p53"/>
          <p:cNvSpPr txBox="1"/>
          <p:nvPr/>
        </p:nvSpPr>
        <p:spPr>
          <a:xfrm>
            <a:off x="9413934" y="6216896"/>
            <a:ext cx="2249714"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theme" Target="../theme/theme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conference.fin-ai.eu/AI-Conference-in-Finance/"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docs.google.com/forms/d/e/1FAIpQLSepJSC2FkCJ0fwpVBGsJoFNB3a1dQmzUrSvRhEkGRqRd02Fwg/viewfor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hyperlink" Target="https://docs.google.com/forms/d/e/1FAIpQLSfX6Ek1jpfqPxNyGMG8D2yi8bnV5CgG-3FVccTsCZ-9cve9cA/viewfor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
          <p:cNvSpPr txBox="1">
            <a:spLocks noGrp="1"/>
          </p:cNvSpPr>
          <p:nvPr>
            <p:ph type="title"/>
          </p:nvPr>
        </p:nvSpPr>
        <p:spPr>
          <a:xfrm>
            <a:off x="1241924" y="3741701"/>
            <a:ext cx="8327542" cy="58776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3500"/>
              <a:buFont typeface="Arial"/>
              <a:buNone/>
            </a:pPr>
            <a:r>
              <a:rPr lang="en-US"/>
              <a:t>Portugal</a:t>
            </a:r>
            <a:endParaRPr/>
          </a:p>
        </p:txBody>
      </p:sp>
      <p:sp>
        <p:nvSpPr>
          <p:cNvPr id="242" name="Google Shape;242;p1"/>
          <p:cNvSpPr txBox="1">
            <a:spLocks noGrp="1"/>
          </p:cNvSpPr>
          <p:nvPr>
            <p:ph type="body" idx="1"/>
          </p:nvPr>
        </p:nvSpPr>
        <p:spPr>
          <a:xfrm>
            <a:off x="1241923" y="4545018"/>
            <a:ext cx="7842115" cy="89641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None/>
            </a:pPr>
            <a:r>
              <a:rPr lang="en-US" sz="2800" dirty="0"/>
              <a:t>Country Updates, MC Meeting, September 28, 2023</a:t>
            </a:r>
            <a:endParaRPr dirty="0"/>
          </a:p>
          <a:p>
            <a:pPr marL="0" lvl="0" indent="0" algn="l" rtl="0">
              <a:lnSpc>
                <a:spcPct val="90000"/>
              </a:lnSpc>
              <a:spcBef>
                <a:spcPts val="1000"/>
              </a:spcBef>
              <a:spcAft>
                <a:spcPts val="0"/>
              </a:spcAft>
              <a:buClr>
                <a:schemeClr val="dk2"/>
              </a:buClr>
              <a:buSzPts val="2800"/>
              <a:buNone/>
            </a:pPr>
            <a:endParaRPr sz="2800" dirty="0"/>
          </a:p>
          <a:p>
            <a:pPr marL="0" lvl="0" indent="0" algn="l" rtl="0">
              <a:lnSpc>
                <a:spcPct val="90000"/>
              </a:lnSpc>
              <a:spcBef>
                <a:spcPts val="1000"/>
              </a:spcBef>
              <a:spcAft>
                <a:spcPts val="0"/>
              </a:spcAft>
              <a:buClr>
                <a:schemeClr val="dk2"/>
              </a:buClr>
              <a:buSzPts val="2800"/>
              <a:buNone/>
            </a:pPr>
            <a:endParaRPr sz="2800" dirty="0"/>
          </a:p>
        </p:txBody>
      </p:sp>
      <p:pic>
        <p:nvPicPr>
          <p:cNvPr id="243" name="Google Shape;243;p1"/>
          <p:cNvPicPr preferRelativeResize="0"/>
          <p:nvPr/>
        </p:nvPicPr>
        <p:blipFill rotWithShape="1">
          <a:blip r:embed="rId3">
            <a:alphaModFix/>
          </a:blip>
          <a:srcRect/>
          <a:stretch/>
        </p:blipFill>
        <p:spPr>
          <a:xfrm>
            <a:off x="87214" y="82479"/>
            <a:ext cx="1744279" cy="16495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
          <p:cNvSpPr txBox="1">
            <a:spLocks noGrp="1"/>
          </p:cNvSpPr>
          <p:nvPr>
            <p:ph type="title"/>
          </p:nvPr>
        </p:nvSpPr>
        <p:spPr>
          <a:xfrm>
            <a:off x="1107253" y="3738043"/>
            <a:ext cx="8327542" cy="58776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3500"/>
              <a:buFont typeface="Arial"/>
              <a:buNone/>
            </a:pPr>
            <a:r>
              <a:rPr lang="en-US"/>
              <a:t>FinAI – MC Committee</a:t>
            </a:r>
            <a:endParaRPr/>
          </a:p>
        </p:txBody>
      </p:sp>
      <p:sp>
        <p:nvSpPr>
          <p:cNvPr id="249" name="Google Shape;249;p2"/>
          <p:cNvSpPr txBox="1">
            <a:spLocks noGrp="1"/>
          </p:cNvSpPr>
          <p:nvPr>
            <p:ph type="body" idx="1"/>
          </p:nvPr>
        </p:nvSpPr>
        <p:spPr>
          <a:xfrm>
            <a:off x="1106770" y="4325810"/>
            <a:ext cx="8328025" cy="4696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400"/>
              <a:buNone/>
            </a:pPr>
            <a:r>
              <a:rPr lang="en-US"/>
              <a:t>Bernardete Ribeiro, Joana Costa - MC</a:t>
            </a:r>
            <a:endParaRPr/>
          </a:p>
        </p:txBody>
      </p:sp>
      <p:sp>
        <p:nvSpPr>
          <p:cNvPr id="250" name="Google Shape;250;p2"/>
          <p:cNvSpPr txBox="1"/>
          <p:nvPr/>
        </p:nvSpPr>
        <p:spPr>
          <a:xfrm>
            <a:off x="1106770" y="4678740"/>
            <a:ext cx="8328025" cy="4696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2400"/>
              <a:buFont typeface="Arial"/>
              <a:buNone/>
            </a:pPr>
            <a:r>
              <a:rPr lang="en-US" sz="2400" b="0" i="0" u="none" strike="noStrike" cap="none">
                <a:solidFill>
                  <a:schemeClr val="dk2"/>
                </a:solidFill>
                <a:latin typeface="Arial"/>
                <a:ea typeface="Arial"/>
                <a:cs typeface="Arial"/>
                <a:sym typeface="Arial"/>
              </a:rPr>
              <a:t>Catarina Silva, Luisa Morgado - MC Substitutes</a:t>
            </a:r>
            <a:endParaRPr/>
          </a:p>
        </p:txBody>
      </p:sp>
      <p:pic>
        <p:nvPicPr>
          <p:cNvPr id="251" name="Google Shape;251;p2"/>
          <p:cNvPicPr preferRelativeResize="0"/>
          <p:nvPr/>
        </p:nvPicPr>
        <p:blipFill rotWithShape="1">
          <a:blip r:embed="rId3">
            <a:alphaModFix/>
          </a:blip>
          <a:srcRect/>
          <a:stretch/>
        </p:blipFill>
        <p:spPr>
          <a:xfrm>
            <a:off x="0" y="0"/>
            <a:ext cx="1850571" cy="1750112"/>
          </a:xfrm>
          <a:prstGeom prst="rect">
            <a:avLst/>
          </a:prstGeom>
          <a:noFill/>
          <a:ln>
            <a:noFill/>
          </a:ln>
        </p:spPr>
      </p:pic>
      <p:sp>
        <p:nvSpPr>
          <p:cNvPr id="252" name="Google Shape;252;p2"/>
          <p:cNvSpPr txBox="1"/>
          <p:nvPr/>
        </p:nvSpPr>
        <p:spPr>
          <a:xfrm>
            <a:off x="1106770" y="5383251"/>
            <a:ext cx="8328025" cy="4696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2400"/>
              <a:buFont typeface="Arial"/>
              <a:buNone/>
            </a:pPr>
            <a:r>
              <a:rPr lang="en-US" sz="2400" b="1" i="0" u="none" strike="noStrike" cap="none">
                <a:solidFill>
                  <a:schemeClr val="dk2"/>
                </a:solidFill>
                <a:latin typeface="Arial"/>
                <a:ea typeface="Arial"/>
                <a:cs typeface="Arial"/>
                <a:sym typeface="Arial"/>
              </a:rPr>
              <a:t>University of Coimbra,  University UTAD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
          <p:cNvSpPr txBox="1">
            <a:spLocks noGrp="1"/>
          </p:cNvSpPr>
          <p:nvPr>
            <p:ph type="body" idx="1"/>
          </p:nvPr>
        </p:nvSpPr>
        <p:spPr>
          <a:xfrm>
            <a:off x="1106771" y="3665312"/>
            <a:ext cx="3686420" cy="4696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400"/>
              <a:buNone/>
            </a:pPr>
            <a:r>
              <a:rPr lang="en-US"/>
              <a:t>Contribution Topics</a:t>
            </a:r>
            <a:endParaRPr/>
          </a:p>
        </p:txBody>
      </p:sp>
      <p:sp>
        <p:nvSpPr>
          <p:cNvPr id="258" name="Google Shape;258;p3"/>
          <p:cNvSpPr txBox="1">
            <a:spLocks noGrp="1"/>
          </p:cNvSpPr>
          <p:nvPr>
            <p:ph type="body" idx="2"/>
          </p:nvPr>
        </p:nvSpPr>
        <p:spPr>
          <a:xfrm>
            <a:off x="1106769" y="4011477"/>
            <a:ext cx="5324011" cy="154399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1600"/>
              <a:buNone/>
            </a:pPr>
            <a:endParaRPr u="sng"/>
          </a:p>
          <a:p>
            <a:pPr marL="0" lvl="0" indent="0" algn="l" rtl="0">
              <a:lnSpc>
                <a:spcPct val="90000"/>
              </a:lnSpc>
              <a:spcBef>
                <a:spcPts val="1000"/>
              </a:spcBef>
              <a:spcAft>
                <a:spcPts val="0"/>
              </a:spcAft>
              <a:buClr>
                <a:schemeClr val="dk2"/>
              </a:buClr>
              <a:buSzPts val="1600"/>
              <a:buNone/>
            </a:pPr>
            <a:r>
              <a:rPr lang="en-US" u="sng"/>
              <a:t>WG2 – Transparent versus Black Box Decision-Support Models in the Financial Industry</a:t>
            </a:r>
            <a:endParaRPr/>
          </a:p>
          <a:p>
            <a:pPr marL="0" lvl="0" indent="0" algn="l" rtl="0">
              <a:lnSpc>
                <a:spcPct val="90000"/>
              </a:lnSpc>
              <a:spcBef>
                <a:spcPts val="1000"/>
              </a:spcBef>
              <a:spcAft>
                <a:spcPts val="0"/>
              </a:spcAft>
              <a:buClr>
                <a:schemeClr val="dk2"/>
              </a:buClr>
              <a:buSzPts val="1600"/>
              <a:buNone/>
            </a:pPr>
            <a:r>
              <a:rPr lang="en-US" u="sng"/>
              <a:t>WG3 – Transparency into Investment Product Performance for Clients</a:t>
            </a:r>
            <a:endParaRPr/>
          </a:p>
          <a:p>
            <a:pPr marL="0" lvl="0" indent="0" algn="l" rtl="0">
              <a:lnSpc>
                <a:spcPct val="90000"/>
              </a:lnSpc>
              <a:spcBef>
                <a:spcPts val="1000"/>
              </a:spcBef>
              <a:spcAft>
                <a:spcPts val="0"/>
              </a:spcAft>
              <a:buClr>
                <a:schemeClr val="dk2"/>
              </a:buClr>
              <a:buSzPts val="1600"/>
              <a:buNone/>
            </a:pPr>
            <a:endParaRPr u="sng"/>
          </a:p>
          <a:p>
            <a:pPr marL="0" lvl="0" indent="0" algn="l" rtl="0">
              <a:lnSpc>
                <a:spcPct val="90000"/>
              </a:lnSpc>
              <a:spcBef>
                <a:spcPts val="1000"/>
              </a:spcBef>
              <a:spcAft>
                <a:spcPts val="0"/>
              </a:spcAft>
              <a:buClr>
                <a:schemeClr val="dk2"/>
              </a:buClr>
              <a:buSzPts val="1600"/>
              <a:buNone/>
            </a:pPr>
            <a:endParaRPr u="sng"/>
          </a:p>
          <a:p>
            <a:pPr marL="0" lvl="0" indent="0" algn="l" rtl="0">
              <a:lnSpc>
                <a:spcPct val="90000"/>
              </a:lnSpc>
              <a:spcBef>
                <a:spcPts val="1000"/>
              </a:spcBef>
              <a:spcAft>
                <a:spcPts val="0"/>
              </a:spcAft>
              <a:buClr>
                <a:schemeClr val="dk2"/>
              </a:buClr>
              <a:buSzPts val="1600"/>
              <a:buNone/>
            </a:pPr>
            <a:endParaRPr u="sng"/>
          </a:p>
        </p:txBody>
      </p:sp>
      <p:sp>
        <p:nvSpPr>
          <p:cNvPr id="259" name="Google Shape;259;p3"/>
          <p:cNvSpPr txBox="1"/>
          <p:nvPr/>
        </p:nvSpPr>
        <p:spPr>
          <a:xfrm>
            <a:off x="6760565" y="2959326"/>
            <a:ext cx="3686420" cy="4696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2400"/>
              <a:buFont typeface="Arial"/>
              <a:buNone/>
            </a:pPr>
            <a:r>
              <a:rPr lang="en-US" sz="2400" b="0" i="0" u="none" strike="noStrike" cap="none">
                <a:solidFill>
                  <a:schemeClr val="dk2"/>
                </a:solidFill>
                <a:latin typeface="Arial"/>
                <a:ea typeface="Arial"/>
                <a:cs typeface="Arial"/>
                <a:sym typeface="Arial"/>
              </a:rPr>
              <a:t>Main Aims</a:t>
            </a:r>
            <a:endParaRPr/>
          </a:p>
        </p:txBody>
      </p:sp>
      <p:sp>
        <p:nvSpPr>
          <p:cNvPr id="260" name="Google Shape;260;p3"/>
          <p:cNvSpPr txBox="1"/>
          <p:nvPr/>
        </p:nvSpPr>
        <p:spPr>
          <a:xfrm>
            <a:off x="6760565" y="3665312"/>
            <a:ext cx="5168572" cy="18901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1600"/>
              <a:buFont typeface="Arial"/>
              <a:buNone/>
            </a:pPr>
            <a:r>
              <a:rPr lang="en-US" sz="1600" b="0" i="0" u="none" strike="noStrike" cap="none">
                <a:solidFill>
                  <a:schemeClr val="dk2"/>
                </a:solidFill>
                <a:latin typeface="Arial"/>
                <a:ea typeface="Arial"/>
                <a:cs typeface="Arial"/>
                <a:sym typeface="Arial"/>
              </a:rPr>
              <a:t>Building network to conduct multidisciplinary research</a:t>
            </a:r>
            <a:endParaRPr/>
          </a:p>
          <a:p>
            <a:pPr marL="0" marR="0" lvl="0" indent="0" algn="l" rtl="0">
              <a:lnSpc>
                <a:spcPct val="90000"/>
              </a:lnSpc>
              <a:spcBef>
                <a:spcPts val="1000"/>
              </a:spcBef>
              <a:spcAft>
                <a:spcPts val="0"/>
              </a:spcAft>
              <a:buClr>
                <a:schemeClr val="dk2"/>
              </a:buClr>
              <a:buSzPts val="1600"/>
              <a:buFont typeface="Arial"/>
              <a:buNone/>
            </a:pPr>
            <a:r>
              <a:rPr lang="en-US" sz="1600" b="0" i="0" u="none" strike="noStrike" cap="none">
                <a:solidFill>
                  <a:schemeClr val="dk2"/>
                </a:solidFill>
                <a:latin typeface="Arial"/>
                <a:ea typeface="Arial"/>
                <a:cs typeface="Arial"/>
                <a:sym typeface="Arial"/>
              </a:rPr>
              <a:t>Participation in joint data collection efforts</a:t>
            </a:r>
            <a:endParaRPr/>
          </a:p>
          <a:p>
            <a:pPr marL="0" marR="0" lvl="0" indent="0" algn="l" rtl="0">
              <a:lnSpc>
                <a:spcPct val="90000"/>
              </a:lnSpc>
              <a:spcBef>
                <a:spcPts val="1000"/>
              </a:spcBef>
              <a:spcAft>
                <a:spcPts val="0"/>
              </a:spcAft>
              <a:buClr>
                <a:schemeClr val="dk2"/>
              </a:buClr>
              <a:buSzPts val="1600"/>
              <a:buFont typeface="Arial"/>
              <a:buNone/>
            </a:pPr>
            <a:r>
              <a:rPr lang="en-US" sz="1600" b="0" i="0" u="none" strike="noStrike" cap="none">
                <a:solidFill>
                  <a:schemeClr val="dk2"/>
                </a:solidFill>
                <a:latin typeface="Arial"/>
                <a:ea typeface="Arial"/>
                <a:cs typeface="Arial"/>
                <a:sym typeface="Arial"/>
              </a:rPr>
              <a:t>Participation in joint research proposal writing efforts </a:t>
            </a:r>
            <a:endParaRPr/>
          </a:p>
          <a:p>
            <a:pPr marL="0" marR="0" lvl="0" indent="0" algn="l" rtl="0">
              <a:lnSpc>
                <a:spcPct val="90000"/>
              </a:lnSpc>
              <a:spcBef>
                <a:spcPts val="1000"/>
              </a:spcBef>
              <a:spcAft>
                <a:spcPts val="0"/>
              </a:spcAft>
              <a:buClr>
                <a:schemeClr val="dk2"/>
              </a:buClr>
              <a:buSzPts val="1600"/>
              <a:buFont typeface="Arial"/>
              <a:buNone/>
            </a:pPr>
            <a:r>
              <a:rPr lang="en-US" sz="1600" b="0" i="0" u="none" strike="noStrike" cap="none">
                <a:solidFill>
                  <a:schemeClr val="dk2"/>
                </a:solidFill>
                <a:latin typeface="Arial"/>
                <a:ea typeface="Arial"/>
                <a:cs typeface="Arial"/>
                <a:sym typeface="Arial"/>
              </a:rPr>
              <a:t>Providing mobility of doctoral students at other universities</a:t>
            </a:r>
            <a:endParaRPr/>
          </a:p>
        </p:txBody>
      </p:sp>
      <p:pic>
        <p:nvPicPr>
          <p:cNvPr id="261" name="Google Shape;261;p3"/>
          <p:cNvPicPr preferRelativeResize="0"/>
          <p:nvPr/>
        </p:nvPicPr>
        <p:blipFill rotWithShape="1">
          <a:blip r:embed="rId3">
            <a:alphaModFix/>
          </a:blip>
          <a:srcRect/>
          <a:stretch/>
        </p:blipFill>
        <p:spPr>
          <a:xfrm>
            <a:off x="0" y="0"/>
            <a:ext cx="1850571" cy="17501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
          <p:cNvSpPr txBox="1"/>
          <p:nvPr/>
        </p:nvSpPr>
        <p:spPr>
          <a:xfrm>
            <a:off x="7115683" y="2099803"/>
            <a:ext cx="3686420" cy="4696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2400"/>
              <a:buFont typeface="Arial"/>
              <a:buNone/>
            </a:pPr>
            <a:r>
              <a:rPr lang="en-US" sz="2400" b="0" i="0" u="none" strike="noStrike" cap="none">
                <a:solidFill>
                  <a:schemeClr val="dk2"/>
                </a:solidFill>
                <a:latin typeface="Arial"/>
                <a:ea typeface="Arial"/>
                <a:cs typeface="Arial"/>
                <a:sym typeface="Arial"/>
              </a:rPr>
              <a:t>Line of research 1</a:t>
            </a:r>
            <a:endParaRPr/>
          </a:p>
        </p:txBody>
      </p:sp>
      <p:sp>
        <p:nvSpPr>
          <p:cNvPr id="267" name="Google Shape;267;p4"/>
          <p:cNvSpPr txBox="1"/>
          <p:nvPr/>
        </p:nvSpPr>
        <p:spPr>
          <a:xfrm>
            <a:off x="7115683" y="2515497"/>
            <a:ext cx="4923917" cy="204632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extended the LIME (Local Interpretable Model-agnostic Explanations) framework to be used with YOLO models. The main contribution is a public add-on to LIME that can effectively improve YOLO interpretability.  </a:t>
            </a:r>
            <a:endParaRPr/>
          </a:p>
          <a:p>
            <a:pPr marL="0" marR="0" lvl="0" indent="0" algn="l" rtl="0">
              <a:lnSpc>
                <a:spcPct val="90000"/>
              </a:lnSpc>
              <a:spcBef>
                <a:spcPts val="100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 Silva, A. Morais and B. Ribeiro, A Generic Approach to Extend Interpretability of Deep Networks, in Progress in Artificial Intelligence, pp. 488–499-488–499, 2022, DOI:10.1007/978-3-031-16474-3_40</a:t>
            </a:r>
            <a:endParaRPr sz="1600" b="0" i="0" u="none" strike="noStrike" cap="none">
              <a:solidFill>
                <a:schemeClr val="dk2"/>
              </a:solidFill>
              <a:latin typeface="Arial"/>
              <a:ea typeface="Arial"/>
              <a:cs typeface="Arial"/>
              <a:sym typeface="Arial"/>
            </a:endParaRPr>
          </a:p>
        </p:txBody>
      </p:sp>
      <p:sp>
        <p:nvSpPr>
          <p:cNvPr id="268" name="Google Shape;268;p4"/>
          <p:cNvSpPr/>
          <p:nvPr/>
        </p:nvSpPr>
        <p:spPr>
          <a:xfrm>
            <a:off x="5067300" y="29797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9" name="Google Shape;269;p4"/>
          <p:cNvSpPr txBox="1">
            <a:spLocks noGrp="1"/>
          </p:cNvSpPr>
          <p:nvPr>
            <p:ph type="body" idx="2"/>
          </p:nvPr>
        </p:nvSpPr>
        <p:spPr>
          <a:xfrm>
            <a:off x="1310566" y="3733020"/>
            <a:ext cx="4785434" cy="4696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606060"/>
              </a:buClr>
              <a:buSzPts val="1600"/>
              <a:buNone/>
            </a:pPr>
            <a:r>
              <a:rPr lang="en-US" sz="1600" b="1">
                <a:solidFill>
                  <a:srgbClr val="606060"/>
                </a:solidFill>
                <a:latin typeface="Arial"/>
                <a:ea typeface="Arial"/>
                <a:cs typeface="Arial"/>
                <a:sym typeface="Arial"/>
              </a:rPr>
              <a:t>Research Coordination 2:</a:t>
            </a:r>
            <a:r>
              <a:rPr lang="en-US" sz="1800">
                <a:solidFill>
                  <a:srgbClr val="000000"/>
                </a:solidFill>
                <a:latin typeface="Times"/>
                <a:ea typeface="Times"/>
                <a:cs typeface="Times"/>
                <a:sym typeface="Times"/>
              </a:rPr>
              <a:t>	</a:t>
            </a:r>
            <a:endParaRPr/>
          </a:p>
          <a:p>
            <a:pPr marL="0" lvl="0" indent="0" algn="l" rtl="0">
              <a:lnSpc>
                <a:spcPct val="90000"/>
              </a:lnSpc>
              <a:spcBef>
                <a:spcPts val="1000"/>
              </a:spcBef>
              <a:spcAft>
                <a:spcPts val="0"/>
              </a:spcAft>
              <a:buClr>
                <a:srgbClr val="606060"/>
              </a:buClr>
              <a:buSzPts val="1600"/>
              <a:buNone/>
            </a:pPr>
            <a:r>
              <a:rPr lang="en-US" sz="1600" u="sng">
                <a:solidFill>
                  <a:srgbClr val="606060"/>
                </a:solidFill>
                <a:latin typeface="Arial"/>
                <a:ea typeface="Arial"/>
                <a:cs typeface="Arial"/>
                <a:sym typeface="Arial"/>
              </a:rPr>
              <a:t>The development of </a:t>
            </a:r>
            <a:r>
              <a:rPr lang="en-US" sz="1600" b="1" u="sng">
                <a:solidFill>
                  <a:srgbClr val="606060"/>
                </a:solidFill>
                <a:latin typeface="Arial"/>
                <a:ea typeface="Arial"/>
                <a:cs typeface="Arial"/>
                <a:sym typeface="Arial"/>
              </a:rPr>
              <a:t>conceptual and methodological tools </a:t>
            </a:r>
            <a:r>
              <a:rPr lang="en-US" sz="1600" u="sng">
                <a:solidFill>
                  <a:srgbClr val="606060"/>
                </a:solidFill>
                <a:latin typeface="Arial"/>
                <a:ea typeface="Arial"/>
                <a:cs typeface="Arial"/>
                <a:sym typeface="Arial"/>
              </a:rPr>
              <a:t>for establishing when black-box models are admissible and, to the extent possible, making them more transparent and/or replacing them with interpretable and explainable models.</a:t>
            </a:r>
            <a:r>
              <a:rPr lang="en-US" sz="1800" u="sng">
                <a:solidFill>
                  <a:srgbClr val="000000"/>
                </a:solidFill>
                <a:latin typeface="Times"/>
                <a:ea typeface="Times"/>
                <a:cs typeface="Times"/>
                <a:sym typeface="Times"/>
              </a:rPr>
              <a:t>	</a:t>
            </a:r>
            <a:endParaRPr/>
          </a:p>
          <a:p>
            <a:pPr marL="0" lvl="0" indent="0" algn="l" rtl="0">
              <a:lnSpc>
                <a:spcPct val="90000"/>
              </a:lnSpc>
              <a:spcBef>
                <a:spcPts val="1000"/>
              </a:spcBef>
              <a:spcAft>
                <a:spcPts val="0"/>
              </a:spcAft>
              <a:buClr>
                <a:schemeClr val="dk2"/>
              </a:buClr>
              <a:buSzPts val="1600"/>
              <a:buNone/>
            </a:pPr>
            <a:endParaRPr/>
          </a:p>
        </p:txBody>
      </p:sp>
      <p:sp>
        <p:nvSpPr>
          <p:cNvPr id="270" name="Google Shape;270;p4"/>
          <p:cNvSpPr txBox="1"/>
          <p:nvPr/>
        </p:nvSpPr>
        <p:spPr>
          <a:xfrm>
            <a:off x="7115683" y="4972079"/>
            <a:ext cx="4923917" cy="19697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0000"/>
                </a:solidFill>
                <a:latin typeface="Arial"/>
                <a:ea typeface="Arial"/>
                <a:cs typeface="Arial"/>
                <a:sym typeface="Arial"/>
              </a:rPr>
              <a:t>We explored the visualization and meaning of intelligent models including interpretability to explain the models ``thought process’’ via SHapley Addictive exPlanations (SHAP). </a:t>
            </a:r>
            <a:endParaRPr/>
          </a:p>
          <a:p>
            <a:pPr marL="0" marR="0" lvl="0" indent="0" algn="l" rtl="0">
              <a:spcBef>
                <a:spcPts val="0"/>
              </a:spcBef>
              <a:spcAft>
                <a:spcPts val="0"/>
              </a:spcAft>
              <a:buNone/>
            </a:pPr>
            <a:endParaRPr sz="1600">
              <a:solidFill>
                <a:srgbClr val="000000"/>
              </a:solidFill>
              <a:latin typeface="Arial"/>
              <a:ea typeface="Arial"/>
              <a:cs typeface="Arial"/>
              <a:sym typeface="Arial"/>
            </a:endParaRPr>
          </a:p>
          <a:p>
            <a:pPr marL="0" marR="0" lvl="0" indent="0" algn="l" rtl="0">
              <a:spcBef>
                <a:spcPts val="0"/>
              </a:spcBef>
              <a:spcAft>
                <a:spcPts val="0"/>
              </a:spcAft>
              <a:buNone/>
            </a:pPr>
            <a:r>
              <a:rPr lang="en-US" sz="1400" b="1">
                <a:solidFill>
                  <a:srgbClr val="000000"/>
                </a:solidFill>
                <a:latin typeface="Arial"/>
                <a:ea typeface="Arial"/>
                <a:cs typeface="Arial"/>
                <a:sym typeface="Arial"/>
              </a:rPr>
              <a:t>C. Silva, M. Carvalho and B. Ribeiro, Leveraging Information Visualization and Model Interpretability (in preparation)</a:t>
            </a:r>
            <a:endParaRPr sz="1600" b="1">
              <a:solidFill>
                <a:srgbClr val="000000"/>
              </a:solidFill>
              <a:latin typeface="Arial"/>
              <a:ea typeface="Arial"/>
              <a:cs typeface="Arial"/>
              <a:sym typeface="Arial"/>
            </a:endParaRPr>
          </a:p>
        </p:txBody>
      </p:sp>
      <p:sp>
        <p:nvSpPr>
          <p:cNvPr id="271" name="Google Shape;271;p4"/>
          <p:cNvSpPr txBox="1"/>
          <p:nvPr/>
        </p:nvSpPr>
        <p:spPr>
          <a:xfrm>
            <a:off x="7115683" y="4559102"/>
            <a:ext cx="3686420" cy="4696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2400"/>
              <a:buFont typeface="Arial"/>
              <a:buNone/>
            </a:pPr>
            <a:r>
              <a:rPr lang="en-US" sz="2400" b="0" u="none">
                <a:solidFill>
                  <a:schemeClr val="dk2"/>
                </a:solidFill>
                <a:latin typeface="Arial"/>
                <a:ea typeface="Arial"/>
                <a:cs typeface="Arial"/>
                <a:sym typeface="Arial"/>
              </a:rPr>
              <a:t>Line of research 2</a:t>
            </a:r>
            <a:endParaRPr/>
          </a:p>
        </p:txBody>
      </p:sp>
      <p:pic>
        <p:nvPicPr>
          <p:cNvPr id="272" name="Google Shape;272;p4"/>
          <p:cNvPicPr preferRelativeResize="0"/>
          <p:nvPr/>
        </p:nvPicPr>
        <p:blipFill rotWithShape="1">
          <a:blip r:embed="rId3">
            <a:alphaModFix/>
          </a:blip>
          <a:srcRect/>
          <a:stretch/>
        </p:blipFill>
        <p:spPr>
          <a:xfrm>
            <a:off x="0" y="0"/>
            <a:ext cx="1850571" cy="17501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
          <p:cNvSpPr txBox="1"/>
          <p:nvPr/>
        </p:nvSpPr>
        <p:spPr>
          <a:xfrm>
            <a:off x="6193971" y="3248933"/>
            <a:ext cx="5693229" cy="3140418"/>
          </a:xfrm>
          <a:prstGeom prst="rect">
            <a:avLst/>
          </a:prstGeom>
          <a:noFill/>
          <a:ln>
            <a:noFill/>
          </a:ln>
        </p:spPr>
        <p:txBody>
          <a:bodyPr spcFirstLastPara="1" wrap="square" lIns="91425" tIns="45700" rIns="91425" bIns="45700" anchor="t" anchorCtr="0">
            <a:noAutofit/>
          </a:bodyPr>
          <a:lstStyle/>
          <a:p>
            <a:pPr marL="285750" marR="0" lvl="0" indent="-285750" algn="l" rtl="0">
              <a:lnSpc>
                <a:spcPct val="90000"/>
              </a:lnSpc>
              <a:spcBef>
                <a:spcPts val="0"/>
              </a:spcBef>
              <a:spcAft>
                <a:spcPts val="0"/>
              </a:spcAft>
              <a:buClr>
                <a:srgbClr val="000000"/>
              </a:buClr>
              <a:buSzPts val="1600"/>
              <a:buFont typeface="Arial"/>
              <a:buChar char="•"/>
            </a:pPr>
            <a:r>
              <a:rPr lang="en-US" sz="1600" dirty="0">
                <a:solidFill>
                  <a:srgbClr val="000000"/>
                </a:solidFill>
                <a:latin typeface="Arial"/>
                <a:ea typeface="Arial"/>
                <a:cs typeface="Arial"/>
                <a:sym typeface="Arial"/>
              </a:rPr>
              <a:t>Participation on the7th European COST Conference on Artificial Intelligence in Finance with a presentation on “</a:t>
            </a:r>
            <a:r>
              <a:rPr lang="en-US" sz="1600" b="1" dirty="0">
                <a:solidFill>
                  <a:srgbClr val="000000"/>
                </a:solidFill>
                <a:latin typeface="Arial"/>
                <a:ea typeface="Arial"/>
                <a:cs typeface="Arial"/>
                <a:sym typeface="Arial"/>
              </a:rPr>
              <a:t>Algorithmic biases in financial applications</a:t>
            </a:r>
            <a:r>
              <a:rPr lang="en-US" sz="1600" dirty="0">
                <a:solidFill>
                  <a:srgbClr val="000000"/>
                </a:solidFill>
                <a:latin typeface="Arial"/>
                <a:ea typeface="Arial"/>
                <a:cs typeface="Arial"/>
                <a:sym typeface="Arial"/>
              </a:rPr>
              <a:t>”</a:t>
            </a:r>
            <a:endParaRPr dirty="0"/>
          </a:p>
          <a:p>
            <a:pPr marL="0" marR="0" lvl="0" indent="0" algn="l" rtl="0">
              <a:lnSpc>
                <a:spcPct val="90000"/>
              </a:lnSpc>
              <a:spcBef>
                <a:spcPts val="1000"/>
              </a:spcBef>
              <a:spcAft>
                <a:spcPts val="0"/>
              </a:spcAft>
              <a:buClr>
                <a:srgbClr val="000000"/>
              </a:buClr>
              <a:buSzPts val="1600"/>
              <a:buFont typeface="Arial"/>
              <a:buNone/>
            </a:pPr>
            <a:r>
              <a:rPr lang="en-US" sz="1600" dirty="0">
                <a:solidFill>
                  <a:srgbClr val="000000"/>
                </a:solidFill>
                <a:latin typeface="Arial"/>
                <a:ea typeface="Arial"/>
                <a:cs typeface="Arial"/>
                <a:sym typeface="Arial"/>
              </a:rPr>
              <a:t>      </a:t>
            </a:r>
            <a:r>
              <a:rPr lang="en-US" sz="1600" b="0" i="0" u="sng" dirty="0">
                <a:solidFill>
                  <a:srgbClr val="0070C0"/>
                </a:solidFill>
                <a:latin typeface="Times"/>
                <a:ea typeface="Times"/>
                <a:cs typeface="Times"/>
                <a:sym typeface="Times"/>
                <a:hlinkClick r:id="rId3">
                  <a:extLst>
                    <a:ext uri="{A12FA001-AC4F-418D-AE19-62706E023703}">
                      <ahyp:hlinkClr xmlns:ahyp="http://schemas.microsoft.com/office/drawing/2018/hyperlinkcolor" val="tx"/>
                    </a:ext>
                  </a:extLst>
                </a:hlinkClick>
              </a:rPr>
              <a:t>https://conference.fin-ai.eu/AI-Conference-in-Finance/</a:t>
            </a:r>
            <a:endParaRPr sz="1600" dirty="0">
              <a:solidFill>
                <a:srgbClr val="0070C0"/>
              </a:solidFill>
              <a:latin typeface="Arial"/>
              <a:ea typeface="Arial"/>
              <a:cs typeface="Arial"/>
              <a:sym typeface="Arial"/>
            </a:endParaRPr>
          </a:p>
          <a:p>
            <a:pPr marL="285750" marR="0" lvl="0" indent="-285750" algn="l" rtl="0">
              <a:lnSpc>
                <a:spcPct val="90000"/>
              </a:lnSpc>
              <a:spcBef>
                <a:spcPts val="1000"/>
              </a:spcBef>
              <a:spcAft>
                <a:spcPts val="0"/>
              </a:spcAft>
              <a:buClr>
                <a:srgbClr val="000000"/>
              </a:buClr>
              <a:buSzPts val="1600"/>
              <a:buFont typeface="Arial"/>
              <a:buChar char="•"/>
            </a:pPr>
            <a:r>
              <a:rPr lang="en-US" sz="1600" dirty="0">
                <a:solidFill>
                  <a:srgbClr val="000000"/>
                </a:solidFill>
                <a:latin typeface="Arial"/>
                <a:ea typeface="Arial"/>
                <a:cs typeface="Arial"/>
                <a:sym typeface="Arial"/>
              </a:rPr>
              <a:t>Cooperation with Prof. Vassilios </a:t>
            </a:r>
            <a:r>
              <a:rPr lang="en-US" sz="1600" dirty="0" err="1">
                <a:solidFill>
                  <a:srgbClr val="000000"/>
                </a:solidFill>
                <a:latin typeface="Arial"/>
                <a:ea typeface="Arial"/>
                <a:cs typeface="Arial"/>
                <a:sym typeface="Arial"/>
              </a:rPr>
              <a:t>Papavassiliou</a:t>
            </a:r>
            <a:r>
              <a:rPr lang="en-US" sz="1600" dirty="0">
                <a:solidFill>
                  <a:srgbClr val="000000"/>
                </a:solidFill>
                <a:latin typeface="Arial"/>
                <a:ea typeface="Arial"/>
                <a:cs typeface="Arial"/>
                <a:sym typeface="Arial"/>
              </a:rPr>
              <a:t>  from the University College Dublin, UCD Michael Smurfit Graduate Business School, and Prof Alessandra Tanta, University of Pavia to contribute to the study of the </a:t>
            </a:r>
            <a:r>
              <a:rPr lang="en-US" sz="1600" b="1" dirty="0">
                <a:solidFill>
                  <a:srgbClr val="000000"/>
                </a:solidFill>
                <a:latin typeface="Arial"/>
                <a:ea typeface="Arial"/>
                <a:cs typeface="Arial"/>
                <a:sym typeface="Arial"/>
              </a:rPr>
              <a:t>cost/benefit relation of black box and white box models</a:t>
            </a:r>
            <a:r>
              <a:rPr lang="en-US" sz="1600" dirty="0">
                <a:solidFill>
                  <a:srgbClr val="000000"/>
                </a:solidFill>
                <a:latin typeface="Arial"/>
                <a:ea typeface="Arial"/>
                <a:cs typeface="Arial"/>
                <a:sym typeface="Arial"/>
              </a:rPr>
              <a:t>.</a:t>
            </a:r>
            <a:endParaRPr dirty="0"/>
          </a:p>
        </p:txBody>
      </p:sp>
      <p:sp>
        <p:nvSpPr>
          <p:cNvPr id="278" name="Google Shape;278;p5"/>
          <p:cNvSpPr/>
          <p:nvPr/>
        </p:nvSpPr>
        <p:spPr>
          <a:xfrm>
            <a:off x="5067300" y="29797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9" name="Google Shape;279;p5"/>
          <p:cNvSpPr txBox="1">
            <a:spLocks noGrp="1"/>
          </p:cNvSpPr>
          <p:nvPr>
            <p:ph type="body" idx="2"/>
          </p:nvPr>
        </p:nvSpPr>
        <p:spPr>
          <a:xfrm>
            <a:off x="1310566" y="3733020"/>
            <a:ext cx="4785434" cy="4696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606060"/>
              </a:buClr>
              <a:buSzPts val="1600"/>
              <a:buNone/>
            </a:pPr>
            <a:r>
              <a:rPr lang="en-US" sz="1600" b="1">
                <a:solidFill>
                  <a:srgbClr val="606060"/>
                </a:solidFill>
                <a:latin typeface="Arial"/>
                <a:ea typeface="Arial"/>
                <a:cs typeface="Arial"/>
                <a:sym typeface="Arial"/>
              </a:rPr>
              <a:t>Capacity Building 1:</a:t>
            </a:r>
            <a:r>
              <a:rPr lang="en-US" sz="1800">
                <a:solidFill>
                  <a:srgbClr val="000000"/>
                </a:solidFill>
                <a:latin typeface="Times"/>
                <a:ea typeface="Times"/>
                <a:cs typeface="Times"/>
                <a:sym typeface="Times"/>
              </a:rPr>
              <a:t>	</a:t>
            </a:r>
            <a:endParaRPr/>
          </a:p>
          <a:p>
            <a:pPr marL="0" lvl="0" indent="0" algn="l" rtl="0">
              <a:lnSpc>
                <a:spcPct val="90000"/>
              </a:lnSpc>
              <a:spcBef>
                <a:spcPts val="1000"/>
              </a:spcBef>
              <a:spcAft>
                <a:spcPts val="0"/>
              </a:spcAft>
              <a:buClr>
                <a:schemeClr val="dk2"/>
              </a:buClr>
              <a:buSzPts val="1600"/>
              <a:buNone/>
            </a:pPr>
            <a:endParaRPr>
              <a:solidFill>
                <a:srgbClr val="606060"/>
              </a:solidFill>
              <a:latin typeface="Arial"/>
              <a:ea typeface="Arial"/>
              <a:cs typeface="Arial"/>
              <a:sym typeface="Arial"/>
            </a:endParaRPr>
          </a:p>
          <a:p>
            <a:pPr marL="0" lvl="0" indent="0" algn="l" rtl="0">
              <a:lnSpc>
                <a:spcPct val="90000"/>
              </a:lnSpc>
              <a:spcBef>
                <a:spcPts val="1000"/>
              </a:spcBef>
              <a:spcAft>
                <a:spcPts val="0"/>
              </a:spcAft>
              <a:buClr>
                <a:srgbClr val="606060"/>
              </a:buClr>
              <a:buSzPts val="1600"/>
              <a:buNone/>
            </a:pPr>
            <a:r>
              <a:rPr lang="en-US" sz="1600" u="sng">
                <a:solidFill>
                  <a:srgbClr val="606060"/>
                </a:solidFill>
                <a:latin typeface="Arial"/>
                <a:ea typeface="Arial"/>
                <a:cs typeface="Arial"/>
                <a:sym typeface="Arial"/>
              </a:rPr>
              <a:t>Create an excellent network of researchers in Europe with lasting collaboration beyond the lifetime of the Action.</a:t>
            </a:r>
            <a:endParaRPr/>
          </a:p>
          <a:p>
            <a:pPr marL="0" lvl="0" indent="0" algn="l" rtl="0">
              <a:lnSpc>
                <a:spcPct val="90000"/>
              </a:lnSpc>
              <a:spcBef>
                <a:spcPts val="1000"/>
              </a:spcBef>
              <a:spcAft>
                <a:spcPts val="0"/>
              </a:spcAft>
              <a:buClr>
                <a:srgbClr val="000000"/>
              </a:buClr>
              <a:buSzPts val="1800"/>
              <a:buNone/>
            </a:pPr>
            <a:r>
              <a:rPr lang="en-US" sz="1800">
                <a:solidFill>
                  <a:srgbClr val="000000"/>
                </a:solidFill>
                <a:latin typeface="Times"/>
                <a:ea typeface="Times"/>
                <a:cs typeface="Times"/>
                <a:sym typeface="Times"/>
              </a:rPr>
              <a:t>	</a:t>
            </a:r>
            <a:endParaRPr/>
          </a:p>
          <a:p>
            <a:pPr marL="0" lvl="0" indent="0" algn="l" rtl="0">
              <a:lnSpc>
                <a:spcPct val="90000"/>
              </a:lnSpc>
              <a:spcBef>
                <a:spcPts val="1000"/>
              </a:spcBef>
              <a:spcAft>
                <a:spcPts val="0"/>
              </a:spcAft>
              <a:buClr>
                <a:schemeClr val="dk2"/>
              </a:buClr>
              <a:buSzPts val="1600"/>
              <a:buNone/>
            </a:pPr>
            <a:endParaRPr/>
          </a:p>
        </p:txBody>
      </p:sp>
      <p:pic>
        <p:nvPicPr>
          <p:cNvPr id="280" name="Google Shape;280;p5"/>
          <p:cNvPicPr preferRelativeResize="0"/>
          <p:nvPr/>
        </p:nvPicPr>
        <p:blipFill rotWithShape="1">
          <a:blip r:embed="rId4">
            <a:alphaModFix/>
          </a:blip>
          <a:srcRect/>
          <a:stretch/>
        </p:blipFill>
        <p:spPr>
          <a:xfrm>
            <a:off x="0" y="0"/>
            <a:ext cx="1850571" cy="17501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6"/>
          <p:cNvSpPr txBox="1"/>
          <p:nvPr/>
        </p:nvSpPr>
        <p:spPr>
          <a:xfrm>
            <a:off x="6193971" y="3248933"/>
            <a:ext cx="5693229" cy="3140418"/>
          </a:xfrm>
          <a:prstGeom prst="rect">
            <a:avLst/>
          </a:prstGeom>
          <a:noFill/>
          <a:ln>
            <a:noFill/>
          </a:ln>
        </p:spPr>
        <p:txBody>
          <a:bodyPr spcFirstLastPara="1" wrap="square" lIns="91425" tIns="45700" rIns="91425" bIns="45700" anchor="t" anchorCtr="0">
            <a:noAutofit/>
          </a:bodyPr>
          <a:lstStyle/>
          <a:p>
            <a:pPr marL="285750" marR="0" lvl="0" indent="-285750" algn="l" rtl="0">
              <a:lnSpc>
                <a:spcPct val="90000"/>
              </a:lnSpc>
              <a:spcBef>
                <a:spcPts val="0"/>
              </a:spcBef>
              <a:spcAft>
                <a:spcPts val="0"/>
              </a:spcAft>
              <a:buClr>
                <a:srgbClr val="000000"/>
              </a:buClr>
              <a:buSzPts val="1600"/>
              <a:buFont typeface="Arial"/>
              <a:buChar char="•"/>
            </a:pPr>
            <a:r>
              <a:rPr lang="en-US" sz="1600" b="1">
                <a:solidFill>
                  <a:srgbClr val="000000"/>
                </a:solidFill>
                <a:latin typeface="Arial"/>
                <a:ea typeface="Arial"/>
                <a:cs typeface="Arial"/>
                <a:sym typeface="Arial"/>
              </a:rPr>
              <a:t>International Symposium on Intelligence Technologies</a:t>
            </a:r>
            <a:r>
              <a:rPr lang="en-US" sz="1600">
                <a:solidFill>
                  <a:srgbClr val="000000"/>
                </a:solidFill>
                <a:latin typeface="Arial"/>
                <a:ea typeface="Arial"/>
                <a:cs typeface="Arial"/>
                <a:sym typeface="Arial"/>
              </a:rPr>
              <a:t> (June 8,15,22,29 2022): 4 sessions:</a:t>
            </a:r>
            <a:endParaRPr/>
          </a:p>
          <a:p>
            <a:pPr marL="742950" marR="0" lvl="1" indent="-285750" algn="l" rtl="0">
              <a:lnSpc>
                <a:spcPct val="90000"/>
              </a:lnSpc>
              <a:spcBef>
                <a:spcPts val="500"/>
              </a:spcBef>
              <a:spcAft>
                <a:spcPts val="0"/>
              </a:spcAft>
              <a:buClr>
                <a:schemeClr val="accent1"/>
              </a:buClr>
              <a:buSzPts val="1400"/>
              <a:buFont typeface="Arial"/>
              <a:buChar char="•"/>
            </a:pPr>
            <a:r>
              <a:rPr lang="en-US" sz="1400" b="0" i="0" u="none" strike="noStrike" cap="none">
                <a:solidFill>
                  <a:srgbClr val="000000"/>
                </a:solidFill>
                <a:latin typeface="Arial"/>
                <a:ea typeface="Arial"/>
                <a:cs typeface="Arial"/>
                <a:sym typeface="Arial"/>
              </a:rPr>
              <a:t>Session 1 (June 8, 2022): </a:t>
            </a:r>
            <a:r>
              <a:rPr lang="en-US" sz="1400" b="1" i="0" u="none" strike="noStrike" cap="none">
                <a:solidFill>
                  <a:srgbClr val="000000"/>
                </a:solidFill>
                <a:latin typeface="Arial"/>
                <a:ea typeface="Arial"/>
                <a:cs typeface="Arial"/>
                <a:sym typeface="Arial"/>
              </a:rPr>
              <a:t>Ethics and Legislation in the Use of Artificial Intelligence: Perspectives Brazil and Portugal</a:t>
            </a:r>
            <a:endParaRPr/>
          </a:p>
          <a:p>
            <a:pPr marL="742950" marR="0" lvl="1" indent="-285750" algn="l" rtl="0">
              <a:lnSpc>
                <a:spcPct val="90000"/>
              </a:lnSpc>
              <a:spcBef>
                <a:spcPts val="500"/>
              </a:spcBef>
              <a:spcAft>
                <a:spcPts val="0"/>
              </a:spcAft>
              <a:buClr>
                <a:schemeClr val="accent1"/>
              </a:buClr>
              <a:buSzPts val="1400"/>
              <a:buFont typeface="Arial"/>
              <a:buChar char="•"/>
            </a:pPr>
            <a:r>
              <a:rPr lang="en-US" sz="1400" b="0" i="0" u="none" strike="noStrike" cap="none">
                <a:solidFill>
                  <a:srgbClr val="000000"/>
                </a:solidFill>
                <a:latin typeface="Arial"/>
                <a:ea typeface="Arial"/>
                <a:cs typeface="Arial"/>
                <a:sym typeface="Arial"/>
              </a:rPr>
              <a:t>Session 2 (June 15, 2022): </a:t>
            </a:r>
            <a:r>
              <a:rPr lang="en-US" sz="1400" b="1" i="0" u="none" strike="noStrike" cap="none">
                <a:solidFill>
                  <a:srgbClr val="000000"/>
                </a:solidFill>
                <a:latin typeface="Arial"/>
                <a:ea typeface="Arial"/>
                <a:cs typeface="Arial"/>
                <a:sym typeface="Arial"/>
              </a:rPr>
              <a:t>Uncovering the Codes: Transparency and Explainability for AI Algorithms</a:t>
            </a:r>
            <a:endParaRPr/>
          </a:p>
          <a:p>
            <a:pPr marL="742950" marR="0" lvl="1" indent="-285750" algn="l" rtl="0">
              <a:lnSpc>
                <a:spcPct val="90000"/>
              </a:lnSpc>
              <a:spcBef>
                <a:spcPts val="500"/>
              </a:spcBef>
              <a:spcAft>
                <a:spcPts val="0"/>
              </a:spcAft>
              <a:buClr>
                <a:schemeClr val="accent1"/>
              </a:buClr>
              <a:buSzPts val="1400"/>
              <a:buFont typeface="Arial"/>
              <a:buChar char="•"/>
            </a:pPr>
            <a:r>
              <a:rPr lang="en-US" sz="1400" b="0" i="0" u="none" strike="noStrike" cap="none">
                <a:solidFill>
                  <a:srgbClr val="000000"/>
                </a:solidFill>
                <a:latin typeface="Arial"/>
                <a:ea typeface="Arial"/>
                <a:cs typeface="Arial"/>
                <a:sym typeface="Arial"/>
              </a:rPr>
              <a:t>Session 3 (June 22, 2022): </a:t>
            </a:r>
            <a:r>
              <a:rPr lang="en-US" sz="1400" b="1" i="0" u="none" strike="noStrike" cap="none">
                <a:solidFill>
                  <a:srgbClr val="000000"/>
                </a:solidFill>
                <a:latin typeface="Arial"/>
                <a:ea typeface="Arial"/>
                <a:cs typeface="Arial"/>
                <a:sym typeface="Arial"/>
              </a:rPr>
              <a:t>The 4th Technological revolution and the future of jobs</a:t>
            </a:r>
            <a:endParaRPr/>
          </a:p>
          <a:p>
            <a:pPr marL="742950" marR="0" lvl="1" indent="-285750" algn="l" rtl="0">
              <a:lnSpc>
                <a:spcPct val="90000"/>
              </a:lnSpc>
              <a:spcBef>
                <a:spcPts val="500"/>
              </a:spcBef>
              <a:spcAft>
                <a:spcPts val="0"/>
              </a:spcAft>
              <a:buClr>
                <a:schemeClr val="accent1"/>
              </a:buClr>
              <a:buSzPts val="1400"/>
              <a:buFont typeface="Arial"/>
              <a:buChar char="•"/>
            </a:pPr>
            <a:r>
              <a:rPr lang="en-US" sz="1400" b="0" i="0" u="none" strike="noStrike" cap="none">
                <a:solidFill>
                  <a:srgbClr val="000000"/>
                </a:solidFill>
                <a:latin typeface="Arial"/>
                <a:ea typeface="Arial"/>
                <a:cs typeface="Arial"/>
                <a:sym typeface="Arial"/>
              </a:rPr>
              <a:t>Session 4: </a:t>
            </a:r>
            <a:r>
              <a:rPr lang="en-US" sz="1400" b="1" i="0" u="none" strike="noStrike" cap="none">
                <a:solidFill>
                  <a:srgbClr val="000000"/>
                </a:solidFill>
                <a:latin typeface="Arial"/>
                <a:ea typeface="Arial"/>
                <a:cs typeface="Arial"/>
                <a:sym typeface="Arial"/>
              </a:rPr>
              <a:t>Artificial Intelligence in the Financial Sector – Frauds, Risks and Biases</a:t>
            </a:r>
            <a:endParaRPr/>
          </a:p>
          <a:p>
            <a:pPr marL="285750" marR="0" lvl="0" indent="-285750" algn="l" rtl="0">
              <a:lnSpc>
                <a:spcPct val="90000"/>
              </a:lnSpc>
              <a:spcBef>
                <a:spcPts val="1000"/>
              </a:spcBef>
              <a:spcAft>
                <a:spcPts val="0"/>
              </a:spcAft>
              <a:buClr>
                <a:srgbClr val="000000"/>
              </a:buClr>
              <a:buSzPts val="1600"/>
              <a:buFont typeface="Arial"/>
              <a:buChar char="•"/>
            </a:pPr>
            <a:r>
              <a:rPr lang="en-US" sz="1600">
                <a:solidFill>
                  <a:srgbClr val="000000"/>
                </a:solidFill>
                <a:latin typeface="Arial"/>
                <a:ea typeface="Arial"/>
                <a:cs typeface="Arial"/>
                <a:sym typeface="Arial"/>
              </a:rPr>
              <a:t>Detailed information (Portuguese): </a:t>
            </a:r>
            <a:r>
              <a:rPr lang="en-US" sz="1600" b="0" i="0" u="sng">
                <a:solidFill>
                  <a:srgbClr val="0070C0"/>
                </a:solidFill>
                <a:latin typeface="Times"/>
                <a:ea typeface="Times"/>
                <a:cs typeface="Times"/>
                <a:sym typeface="Times"/>
              </a:rPr>
              <a:t>https://www.even3.com.br/technoin/</a:t>
            </a:r>
            <a:endParaRPr sz="1600" u="sng">
              <a:solidFill>
                <a:srgbClr val="0070C0"/>
              </a:solidFill>
              <a:latin typeface="Arial"/>
              <a:ea typeface="Arial"/>
              <a:cs typeface="Arial"/>
              <a:sym typeface="Arial"/>
            </a:endParaRPr>
          </a:p>
        </p:txBody>
      </p:sp>
      <p:sp>
        <p:nvSpPr>
          <p:cNvPr id="286" name="Google Shape;286;p6"/>
          <p:cNvSpPr/>
          <p:nvPr/>
        </p:nvSpPr>
        <p:spPr>
          <a:xfrm>
            <a:off x="5067300" y="29797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7" name="Google Shape;287;p6"/>
          <p:cNvSpPr txBox="1">
            <a:spLocks noGrp="1"/>
          </p:cNvSpPr>
          <p:nvPr>
            <p:ph type="body" idx="2"/>
          </p:nvPr>
        </p:nvSpPr>
        <p:spPr>
          <a:xfrm>
            <a:off x="1310566" y="3602391"/>
            <a:ext cx="4785434" cy="230855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606060"/>
              </a:buClr>
              <a:buSzPts val="1600"/>
              <a:buNone/>
            </a:pPr>
            <a:r>
              <a:rPr lang="en-US" sz="1600" b="1">
                <a:solidFill>
                  <a:srgbClr val="606060"/>
                </a:solidFill>
                <a:latin typeface="Arial"/>
                <a:ea typeface="Arial"/>
                <a:cs typeface="Arial"/>
                <a:sym typeface="Arial"/>
              </a:rPr>
              <a:t>Capacity Building 2:</a:t>
            </a:r>
            <a:endParaRPr/>
          </a:p>
          <a:p>
            <a:pPr marL="0" lvl="0" indent="0" algn="l" rtl="0">
              <a:lnSpc>
                <a:spcPct val="90000"/>
              </a:lnSpc>
              <a:spcBef>
                <a:spcPts val="1000"/>
              </a:spcBef>
              <a:spcAft>
                <a:spcPts val="0"/>
              </a:spcAft>
              <a:buClr>
                <a:srgbClr val="606060"/>
              </a:buClr>
              <a:buSzPts val="1600"/>
              <a:buNone/>
            </a:pPr>
            <a:r>
              <a:rPr lang="en-US" sz="1600" u="sng">
                <a:solidFill>
                  <a:srgbClr val="606060"/>
                </a:solidFill>
                <a:latin typeface="Arial"/>
                <a:ea typeface="Arial"/>
                <a:cs typeface="Arial"/>
                <a:sym typeface="Arial"/>
              </a:rPr>
              <a:t>Bringing technological, quantitative and economic researchers together, to tackle future research that can only be done in an interdisciplinary setting and getting actively involved in the blockchain and FinTech communities across Europe, to constantly monitor developments, get input and disseminate </a:t>
            </a:r>
            <a:r>
              <a:rPr lang="en-US" sz="1600">
                <a:solidFill>
                  <a:srgbClr val="606060"/>
                </a:solidFill>
                <a:latin typeface="Arial"/>
                <a:ea typeface="Arial"/>
                <a:cs typeface="Arial"/>
                <a:sym typeface="Arial"/>
              </a:rPr>
              <a:t>results.</a:t>
            </a:r>
            <a:r>
              <a:rPr lang="en-US" sz="1800">
                <a:solidFill>
                  <a:srgbClr val="000000"/>
                </a:solidFill>
                <a:latin typeface="Times"/>
                <a:ea typeface="Times"/>
                <a:cs typeface="Times"/>
                <a:sym typeface="Times"/>
              </a:rPr>
              <a:t>	</a:t>
            </a:r>
            <a:endParaRPr/>
          </a:p>
          <a:p>
            <a:pPr marL="0" lvl="0" indent="0" algn="l" rtl="0">
              <a:lnSpc>
                <a:spcPct val="90000"/>
              </a:lnSpc>
              <a:spcBef>
                <a:spcPts val="1000"/>
              </a:spcBef>
              <a:spcAft>
                <a:spcPts val="0"/>
              </a:spcAft>
              <a:buClr>
                <a:schemeClr val="dk2"/>
              </a:buClr>
              <a:buSzPts val="1600"/>
              <a:buNone/>
            </a:pPr>
            <a:endParaRPr/>
          </a:p>
        </p:txBody>
      </p:sp>
      <p:pic>
        <p:nvPicPr>
          <p:cNvPr id="288" name="Google Shape;288;p6"/>
          <p:cNvPicPr preferRelativeResize="0"/>
          <p:nvPr/>
        </p:nvPicPr>
        <p:blipFill rotWithShape="1">
          <a:blip r:embed="rId3">
            <a:alphaModFix/>
          </a:blip>
          <a:srcRect/>
          <a:stretch/>
        </p:blipFill>
        <p:spPr>
          <a:xfrm>
            <a:off x="0" y="0"/>
            <a:ext cx="1850571" cy="17501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7"/>
          <p:cNvSpPr txBox="1"/>
          <p:nvPr/>
        </p:nvSpPr>
        <p:spPr>
          <a:xfrm>
            <a:off x="6096000" y="3248933"/>
            <a:ext cx="5932713" cy="3140418"/>
          </a:xfrm>
          <a:prstGeom prst="rect">
            <a:avLst/>
          </a:prstGeom>
          <a:noFill/>
          <a:ln>
            <a:noFill/>
          </a:ln>
        </p:spPr>
        <p:txBody>
          <a:bodyPr spcFirstLastPara="1" wrap="square" lIns="91425" tIns="45700" rIns="91425" bIns="45700" anchor="t" anchorCtr="0">
            <a:noAutofit/>
          </a:bodyPr>
          <a:lstStyle/>
          <a:p>
            <a:pPr marL="285750" marR="0" lvl="0" indent="-285750" algn="l" rtl="0">
              <a:lnSpc>
                <a:spcPct val="90000"/>
              </a:lnSpc>
              <a:spcBef>
                <a:spcPts val="0"/>
              </a:spcBef>
              <a:spcAft>
                <a:spcPts val="0"/>
              </a:spcAft>
              <a:buClr>
                <a:srgbClr val="000000"/>
              </a:buClr>
              <a:buSzPts val="1600"/>
              <a:buFont typeface="Arial"/>
              <a:buChar char="•"/>
            </a:pPr>
            <a:r>
              <a:rPr lang="en-US" sz="1600" b="1">
                <a:solidFill>
                  <a:srgbClr val="000000"/>
                </a:solidFill>
                <a:latin typeface="Arial"/>
                <a:ea typeface="Arial"/>
                <a:cs typeface="Arial"/>
                <a:sym typeface="Arial"/>
              </a:rPr>
              <a:t>Coffee Session with debate </a:t>
            </a:r>
            <a:r>
              <a:rPr lang="en-US" sz="1600">
                <a:solidFill>
                  <a:srgbClr val="000000"/>
                </a:solidFill>
                <a:latin typeface="Arial"/>
                <a:ea typeface="Arial"/>
                <a:cs typeface="Arial"/>
                <a:sym typeface="Arial"/>
              </a:rPr>
              <a:t>(September 21 and September 28, 2022): A </a:t>
            </a:r>
            <a:r>
              <a:rPr lang="en-US" sz="1600" b="1">
                <a:solidFill>
                  <a:srgbClr val="000000"/>
                </a:solidFill>
                <a:latin typeface="Arial"/>
                <a:ea typeface="Arial"/>
                <a:cs typeface="Arial"/>
                <a:sym typeface="Arial"/>
              </a:rPr>
              <a:t>series of 2 workshops </a:t>
            </a:r>
            <a:r>
              <a:rPr lang="en-US" sz="1600">
                <a:solidFill>
                  <a:srgbClr val="000000"/>
                </a:solidFill>
                <a:latin typeface="Arial"/>
                <a:ea typeface="Arial"/>
                <a:cs typeface="Arial"/>
                <a:sym typeface="Arial"/>
              </a:rPr>
              <a:t>in collaboration with juridical researchers of the University of Coimbra, Portugal to discuss “Artificial Intelligence and Accountability: current legal and technical panorama”</a:t>
            </a:r>
            <a:endParaRPr/>
          </a:p>
          <a:p>
            <a:pPr marL="742950" marR="0" lvl="1" indent="-285750" algn="l" rtl="0">
              <a:lnSpc>
                <a:spcPct val="90000"/>
              </a:lnSpc>
              <a:spcBef>
                <a:spcPts val="500"/>
              </a:spcBef>
              <a:spcAft>
                <a:spcPts val="0"/>
              </a:spcAft>
              <a:buClr>
                <a:srgbClr val="0070C0"/>
              </a:buClr>
              <a:buSzPts val="1800"/>
              <a:buFont typeface="Arial"/>
              <a:buChar char="•"/>
            </a:pPr>
            <a:r>
              <a:rPr lang="en-US" sz="1800" b="0" i="0" u="sng" strike="noStrike" cap="none">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Artificial Intelligence and Accountability  (Part I)</a:t>
            </a:r>
            <a:endParaRPr sz="1800" b="0" i="0" u="sng" strike="noStrike" cap="none">
              <a:solidFill>
                <a:srgbClr val="0070C0"/>
              </a:solidFill>
              <a:latin typeface="Arial"/>
              <a:ea typeface="Arial"/>
              <a:cs typeface="Arial"/>
              <a:sym typeface="Arial"/>
            </a:endParaRPr>
          </a:p>
          <a:p>
            <a:pPr marL="742950" marR="0" lvl="1" indent="-285750" algn="l" rtl="0">
              <a:lnSpc>
                <a:spcPct val="90000"/>
              </a:lnSpc>
              <a:spcBef>
                <a:spcPts val="500"/>
              </a:spcBef>
              <a:spcAft>
                <a:spcPts val="0"/>
              </a:spcAft>
              <a:buClr>
                <a:srgbClr val="0070C0"/>
              </a:buClr>
              <a:buSzPts val="1800"/>
              <a:buFont typeface="Arial"/>
              <a:buChar char="•"/>
            </a:pPr>
            <a:r>
              <a:rPr lang="en-US" sz="1800" b="0" i="0" u="sng" strike="noStrike" cap="none">
                <a:solidFill>
                  <a:srgbClr val="0070C0"/>
                </a:solidFill>
                <a:latin typeface="Arial"/>
                <a:ea typeface="Arial"/>
                <a:cs typeface="Arial"/>
                <a:sym typeface="Arial"/>
                <a:hlinkClick r:id="rId4">
                  <a:extLst>
                    <a:ext uri="{A12FA001-AC4F-418D-AE19-62706E023703}">
                      <ahyp:hlinkClr xmlns:ahyp="http://schemas.microsoft.com/office/drawing/2018/hyperlinkcolor" val="tx"/>
                    </a:ext>
                  </a:extLst>
                </a:hlinkClick>
              </a:rPr>
              <a:t>Artificial Intelligence and Accountability (Part II)</a:t>
            </a:r>
            <a:endParaRPr sz="1800" b="0" i="0" u="sng" strike="noStrike" cap="none">
              <a:solidFill>
                <a:srgbClr val="0070C0"/>
              </a:solidFill>
              <a:latin typeface="Arial"/>
              <a:ea typeface="Arial"/>
              <a:cs typeface="Arial"/>
              <a:sym typeface="Arial"/>
            </a:endParaRPr>
          </a:p>
          <a:p>
            <a:pPr marL="285750" marR="0" lvl="0" indent="-285750" algn="l" rtl="0">
              <a:lnSpc>
                <a:spcPct val="90000"/>
              </a:lnSpc>
              <a:spcBef>
                <a:spcPts val="1000"/>
              </a:spcBef>
              <a:spcAft>
                <a:spcPts val="0"/>
              </a:spcAft>
              <a:buClr>
                <a:srgbClr val="000000"/>
              </a:buClr>
              <a:buSzPts val="1600"/>
              <a:buFont typeface="Arial"/>
              <a:buChar char="•"/>
            </a:pPr>
            <a:r>
              <a:rPr lang="en-US" sz="1600">
                <a:solidFill>
                  <a:srgbClr val="000000"/>
                </a:solidFill>
                <a:latin typeface="Arial"/>
                <a:ea typeface="Arial"/>
                <a:cs typeface="Arial"/>
                <a:sym typeface="Arial"/>
              </a:rPr>
              <a:t>The</a:t>
            </a:r>
            <a:r>
              <a:rPr lang="en-US" sz="1800" u="sng">
                <a:solidFill>
                  <a:srgbClr val="0070C0"/>
                </a:solidFill>
                <a:latin typeface="Arial"/>
                <a:ea typeface="Arial"/>
                <a:cs typeface="Arial"/>
                <a:sym typeface="Arial"/>
              </a:rPr>
              <a:t> </a:t>
            </a:r>
            <a:r>
              <a:rPr lang="en-US" sz="1600">
                <a:solidFill>
                  <a:srgbClr val="000000"/>
                </a:solidFill>
                <a:latin typeface="Arial"/>
                <a:ea typeface="Arial"/>
                <a:cs typeface="Arial"/>
                <a:sym typeface="Arial"/>
              </a:rPr>
              <a:t>first workshop is specially </a:t>
            </a:r>
            <a:r>
              <a:rPr lang="en-US" sz="1600" b="1">
                <a:solidFill>
                  <a:srgbClr val="000000"/>
                </a:solidFill>
                <a:latin typeface="Arial"/>
                <a:ea typeface="Arial"/>
                <a:cs typeface="Arial"/>
                <a:sym typeface="Arial"/>
              </a:rPr>
              <a:t>targeted to juridical stakeholders</a:t>
            </a:r>
            <a:r>
              <a:rPr lang="en-US" sz="1600">
                <a:solidFill>
                  <a:srgbClr val="000000"/>
                </a:solidFill>
                <a:latin typeface="Arial"/>
                <a:ea typeface="Arial"/>
                <a:cs typeface="Arial"/>
                <a:sym typeface="Arial"/>
              </a:rPr>
              <a:t>, while the second is </a:t>
            </a:r>
            <a:r>
              <a:rPr lang="en-US" sz="1600" b="1">
                <a:solidFill>
                  <a:srgbClr val="000000"/>
                </a:solidFill>
                <a:latin typeface="Arial"/>
                <a:ea typeface="Arial"/>
                <a:cs typeface="Arial"/>
                <a:sym typeface="Arial"/>
              </a:rPr>
              <a:t>targeted for engineers</a:t>
            </a:r>
            <a:r>
              <a:rPr lang="en-US" sz="1600">
                <a:solidFill>
                  <a:srgbClr val="000000"/>
                </a:solidFill>
                <a:latin typeface="Arial"/>
                <a:ea typeface="Arial"/>
                <a:cs typeface="Arial"/>
                <a:sym typeface="Arial"/>
              </a:rPr>
              <a:t>.</a:t>
            </a:r>
            <a:endParaRPr/>
          </a:p>
          <a:p>
            <a:pPr marL="285750" marR="0" lvl="0" indent="-184150" algn="l" rtl="0">
              <a:lnSpc>
                <a:spcPct val="90000"/>
              </a:lnSpc>
              <a:spcBef>
                <a:spcPts val="1000"/>
              </a:spcBef>
              <a:spcAft>
                <a:spcPts val="0"/>
              </a:spcAft>
              <a:buClr>
                <a:schemeClr val="dk2"/>
              </a:buClr>
              <a:buSzPts val="1600"/>
              <a:buFont typeface="Arial"/>
              <a:buNone/>
            </a:pPr>
            <a:endParaRPr sz="1600">
              <a:solidFill>
                <a:srgbClr val="000000"/>
              </a:solidFill>
              <a:latin typeface="Arial"/>
              <a:ea typeface="Arial"/>
              <a:cs typeface="Arial"/>
              <a:sym typeface="Arial"/>
            </a:endParaRPr>
          </a:p>
        </p:txBody>
      </p:sp>
      <p:sp>
        <p:nvSpPr>
          <p:cNvPr id="294" name="Google Shape;294;p7"/>
          <p:cNvSpPr/>
          <p:nvPr/>
        </p:nvSpPr>
        <p:spPr>
          <a:xfrm>
            <a:off x="5067300" y="29797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5" name="Google Shape;295;p7"/>
          <p:cNvSpPr txBox="1">
            <a:spLocks noGrp="1"/>
          </p:cNvSpPr>
          <p:nvPr>
            <p:ph type="body" idx="2"/>
          </p:nvPr>
        </p:nvSpPr>
        <p:spPr>
          <a:xfrm>
            <a:off x="1310566" y="3635048"/>
            <a:ext cx="4785434" cy="4696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606060"/>
              </a:buClr>
              <a:buSzPts val="1600"/>
              <a:buNone/>
            </a:pPr>
            <a:r>
              <a:rPr lang="en-US" sz="1600" b="1">
                <a:solidFill>
                  <a:srgbClr val="606060"/>
                </a:solidFill>
                <a:latin typeface="Arial"/>
                <a:ea typeface="Arial"/>
                <a:cs typeface="Arial"/>
                <a:sym typeface="Arial"/>
              </a:rPr>
              <a:t>Capacity Building </a:t>
            </a:r>
            <a:r>
              <a:rPr lang="en-US" b="1">
                <a:solidFill>
                  <a:srgbClr val="606060"/>
                </a:solidFill>
                <a:latin typeface="Arial"/>
                <a:ea typeface="Arial"/>
                <a:cs typeface="Arial"/>
                <a:sym typeface="Arial"/>
              </a:rPr>
              <a:t>3</a:t>
            </a:r>
            <a:r>
              <a:rPr lang="en-US" sz="1600" b="1">
                <a:solidFill>
                  <a:srgbClr val="606060"/>
                </a:solidFill>
                <a:latin typeface="Arial"/>
                <a:ea typeface="Arial"/>
                <a:cs typeface="Arial"/>
                <a:sym typeface="Arial"/>
              </a:rPr>
              <a:t>:</a:t>
            </a:r>
            <a:r>
              <a:rPr lang="en-US" sz="1800">
                <a:solidFill>
                  <a:srgbClr val="000000"/>
                </a:solidFill>
                <a:latin typeface="Times"/>
                <a:ea typeface="Times"/>
                <a:cs typeface="Times"/>
                <a:sym typeface="Times"/>
              </a:rPr>
              <a:t>	</a:t>
            </a:r>
            <a:endParaRPr/>
          </a:p>
          <a:p>
            <a:pPr marL="0" lvl="0" indent="0" algn="l" rtl="0">
              <a:lnSpc>
                <a:spcPct val="90000"/>
              </a:lnSpc>
              <a:spcBef>
                <a:spcPts val="1000"/>
              </a:spcBef>
              <a:spcAft>
                <a:spcPts val="0"/>
              </a:spcAft>
              <a:buClr>
                <a:schemeClr val="dk2"/>
              </a:buClr>
              <a:buSzPts val="1600"/>
              <a:buNone/>
            </a:pPr>
            <a:endParaRPr>
              <a:solidFill>
                <a:srgbClr val="606060"/>
              </a:solidFill>
              <a:latin typeface="Arial"/>
              <a:ea typeface="Arial"/>
              <a:cs typeface="Arial"/>
              <a:sym typeface="Arial"/>
            </a:endParaRPr>
          </a:p>
          <a:p>
            <a:pPr marL="0" lvl="0" indent="0" algn="l" rtl="0">
              <a:lnSpc>
                <a:spcPct val="90000"/>
              </a:lnSpc>
              <a:spcBef>
                <a:spcPts val="1000"/>
              </a:spcBef>
              <a:spcAft>
                <a:spcPts val="0"/>
              </a:spcAft>
              <a:buClr>
                <a:srgbClr val="606060"/>
              </a:buClr>
              <a:buSzPts val="1600"/>
              <a:buNone/>
            </a:pPr>
            <a:r>
              <a:rPr lang="en-US" sz="1600" u="sng">
                <a:solidFill>
                  <a:srgbClr val="606060"/>
                </a:solidFill>
                <a:latin typeface="Arial"/>
                <a:ea typeface="Arial"/>
                <a:cs typeface="Arial"/>
                <a:sym typeface="Arial"/>
              </a:rPr>
              <a:t>Bridging the gap between practitioners from the finance industry, academics and regulators by setting up a common knowledge exchange platform.</a:t>
            </a:r>
            <a:endParaRPr/>
          </a:p>
          <a:p>
            <a:pPr marL="0" lvl="0" indent="0" algn="l" rtl="0">
              <a:lnSpc>
                <a:spcPct val="90000"/>
              </a:lnSpc>
              <a:spcBef>
                <a:spcPts val="1000"/>
              </a:spcBef>
              <a:spcAft>
                <a:spcPts val="0"/>
              </a:spcAft>
              <a:buClr>
                <a:srgbClr val="000000"/>
              </a:buClr>
              <a:buSzPts val="1800"/>
              <a:buNone/>
            </a:pPr>
            <a:r>
              <a:rPr lang="en-US" sz="1800">
                <a:solidFill>
                  <a:srgbClr val="000000"/>
                </a:solidFill>
                <a:latin typeface="Times"/>
                <a:ea typeface="Times"/>
                <a:cs typeface="Times"/>
                <a:sym typeface="Times"/>
              </a:rPr>
              <a:t>	</a:t>
            </a:r>
            <a:endParaRPr/>
          </a:p>
          <a:p>
            <a:pPr marL="0" lvl="0" indent="0" algn="l" rtl="0">
              <a:lnSpc>
                <a:spcPct val="90000"/>
              </a:lnSpc>
              <a:spcBef>
                <a:spcPts val="1000"/>
              </a:spcBef>
              <a:spcAft>
                <a:spcPts val="0"/>
              </a:spcAft>
              <a:buClr>
                <a:schemeClr val="dk2"/>
              </a:buClr>
              <a:buSzPts val="1600"/>
              <a:buNone/>
            </a:pPr>
            <a:endParaRPr/>
          </a:p>
        </p:txBody>
      </p:sp>
      <p:pic>
        <p:nvPicPr>
          <p:cNvPr id="296" name="Google Shape;296;p7"/>
          <p:cNvPicPr preferRelativeResize="0"/>
          <p:nvPr/>
        </p:nvPicPr>
        <p:blipFill rotWithShape="1">
          <a:blip r:embed="rId5">
            <a:alphaModFix/>
          </a:blip>
          <a:srcRect/>
          <a:stretch/>
        </p:blipFill>
        <p:spPr>
          <a:xfrm>
            <a:off x="0" y="0"/>
            <a:ext cx="1850571" cy="17501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8"/>
          <p:cNvSpPr txBox="1"/>
          <p:nvPr/>
        </p:nvSpPr>
        <p:spPr>
          <a:xfrm>
            <a:off x="5475889" y="2979738"/>
            <a:ext cx="5932713" cy="3971972"/>
          </a:xfrm>
          <a:prstGeom prst="rect">
            <a:avLst/>
          </a:prstGeom>
          <a:noFill/>
          <a:ln>
            <a:noFill/>
          </a:ln>
        </p:spPr>
        <p:txBody>
          <a:bodyPr spcFirstLastPara="1" wrap="square" lIns="91425" tIns="45700" rIns="91425" bIns="45700" anchor="t" anchorCtr="0">
            <a:noAutofit/>
          </a:bodyPr>
          <a:lstStyle/>
          <a:p>
            <a:pPr marL="285750" marR="0" lvl="0" indent="-285750" algn="l" rtl="0">
              <a:lnSpc>
                <a:spcPct val="90000"/>
              </a:lnSpc>
              <a:spcBef>
                <a:spcPts val="0"/>
              </a:spcBef>
              <a:spcAft>
                <a:spcPts val="0"/>
              </a:spcAft>
              <a:buClr>
                <a:srgbClr val="000000"/>
              </a:buClr>
              <a:buSzPts val="1600"/>
              <a:buFont typeface="Arial"/>
              <a:buChar char="•"/>
            </a:pPr>
            <a:r>
              <a:rPr lang="en-US" sz="1600" dirty="0">
                <a:solidFill>
                  <a:srgbClr val="000000"/>
                </a:solidFill>
                <a:latin typeface="Arial"/>
                <a:ea typeface="Arial"/>
                <a:cs typeface="Arial"/>
                <a:sym typeface="Arial"/>
              </a:rPr>
              <a:t>STSM co-Coordination activities (Catarina Silva)</a:t>
            </a:r>
            <a:endParaRPr dirty="0"/>
          </a:p>
          <a:p>
            <a:pPr marL="285750" marR="0" lvl="0" indent="-285750" algn="l" rtl="0">
              <a:lnSpc>
                <a:spcPct val="90000"/>
              </a:lnSpc>
              <a:spcBef>
                <a:spcPts val="1000"/>
              </a:spcBef>
              <a:spcAft>
                <a:spcPts val="0"/>
              </a:spcAft>
              <a:buClr>
                <a:srgbClr val="000000"/>
              </a:buClr>
              <a:buSzPts val="1600"/>
              <a:buFont typeface="Arial"/>
              <a:buChar char="•"/>
            </a:pPr>
            <a:r>
              <a:rPr lang="en-US" sz="1600" dirty="0">
                <a:solidFill>
                  <a:srgbClr val="000000"/>
                </a:solidFill>
                <a:latin typeface="Arial"/>
                <a:ea typeface="Arial"/>
                <a:cs typeface="Arial"/>
                <a:sym typeface="Arial"/>
              </a:rPr>
              <a:t>Work in progress with Vassilios </a:t>
            </a:r>
            <a:r>
              <a:rPr lang="en-US" sz="1600" dirty="0" err="1">
                <a:solidFill>
                  <a:srgbClr val="000000"/>
                </a:solidFill>
                <a:latin typeface="Arial"/>
                <a:ea typeface="Arial"/>
                <a:cs typeface="Arial"/>
                <a:sym typeface="Arial"/>
              </a:rPr>
              <a:t>Papavassiliou</a:t>
            </a:r>
            <a:r>
              <a:rPr lang="en-US" sz="1600" dirty="0">
                <a:solidFill>
                  <a:srgbClr val="000000"/>
                </a:solidFill>
                <a:latin typeface="Arial"/>
                <a:ea typeface="Arial"/>
                <a:cs typeface="Arial"/>
                <a:sym typeface="Arial"/>
              </a:rPr>
              <a:t>, that visited Coimbra in July 2023, considering the prediction of financial time series -&gt; one paper being prepared</a:t>
            </a:r>
            <a:endParaRPr dirty="0"/>
          </a:p>
          <a:p>
            <a:pPr marL="285750" marR="0" lvl="0" indent="-285750" algn="l" rtl="0">
              <a:lnSpc>
                <a:spcPct val="90000"/>
              </a:lnSpc>
              <a:spcBef>
                <a:spcPts val="1000"/>
              </a:spcBef>
              <a:spcAft>
                <a:spcPts val="0"/>
              </a:spcAft>
              <a:buClr>
                <a:srgbClr val="000000"/>
              </a:buClr>
              <a:buSzPts val="1600"/>
              <a:buFont typeface="Arial"/>
              <a:buChar char="•"/>
            </a:pPr>
            <a:r>
              <a:rPr lang="en-US" sz="1600" dirty="0">
                <a:solidFill>
                  <a:srgbClr val="000000"/>
                </a:solidFill>
                <a:latin typeface="Arial"/>
                <a:ea typeface="Arial"/>
                <a:cs typeface="Arial"/>
                <a:sym typeface="Arial"/>
              </a:rPr>
              <a:t>Organization of “Women in Fintech”  June, 1-2 (Catarina Silva, Joana Dias, </a:t>
            </a:r>
            <a:r>
              <a:rPr lang="en-US" sz="1600" dirty="0" err="1">
                <a:solidFill>
                  <a:srgbClr val="000000"/>
                </a:solidFill>
                <a:latin typeface="Arial"/>
                <a:ea typeface="Arial"/>
                <a:cs typeface="Arial"/>
                <a:sym typeface="Arial"/>
              </a:rPr>
              <a:t>Bernardete</a:t>
            </a:r>
            <a:r>
              <a:rPr lang="en-US" sz="1600" dirty="0">
                <a:solidFill>
                  <a:srgbClr val="000000"/>
                </a:solidFill>
                <a:latin typeface="Arial"/>
                <a:ea typeface="Arial"/>
                <a:cs typeface="Arial"/>
                <a:sym typeface="Arial"/>
              </a:rPr>
              <a:t> Ribeiro)</a:t>
            </a:r>
          </a:p>
          <a:p>
            <a:pPr lvl="1">
              <a:lnSpc>
                <a:spcPct val="90000"/>
              </a:lnSpc>
              <a:spcBef>
                <a:spcPts val="1000"/>
              </a:spcBef>
              <a:buSzPts val="1600"/>
            </a:pPr>
            <a:r>
              <a:rPr lang="pt-PT" dirty="0">
                <a:sym typeface="Wingdings 2" panose="05020102010507070707" pitchFamily="18" charset="2"/>
              </a:rPr>
              <a:t>  </a:t>
            </a:r>
            <a:r>
              <a:rPr lang="en-GB" sz="1600" b="1" dirty="0">
                <a:sym typeface="Wingdings 2" panose="05020102010507070707" pitchFamily="18" charset="2"/>
              </a:rPr>
              <a:t>Workshop on Responsible AI - technical and lawful </a:t>
            </a:r>
            <a:r>
              <a:rPr lang="en-GB" sz="1600" b="1">
                <a:sym typeface="Wingdings 2" panose="05020102010507070707" pitchFamily="18" charset="2"/>
              </a:rPr>
              <a:t>perspectives planned for 2024</a:t>
            </a:r>
            <a:endParaRPr sz="1600" b="1" dirty="0"/>
          </a:p>
          <a:p>
            <a:pPr marL="285750" marR="0" lvl="0" indent="-285750" algn="l" rtl="0">
              <a:lnSpc>
                <a:spcPct val="90000"/>
              </a:lnSpc>
              <a:spcBef>
                <a:spcPts val="1000"/>
              </a:spcBef>
              <a:spcAft>
                <a:spcPts val="0"/>
              </a:spcAft>
              <a:buClr>
                <a:srgbClr val="000000"/>
              </a:buClr>
              <a:buSzPts val="1600"/>
              <a:buFont typeface="Arial"/>
              <a:buChar char="•"/>
            </a:pPr>
            <a:r>
              <a:rPr lang="pt-PT" sz="1600" dirty="0">
                <a:solidFill>
                  <a:srgbClr val="000000"/>
                </a:solidFill>
                <a:latin typeface="Arial"/>
                <a:ea typeface="Arial"/>
                <a:cs typeface="Arial"/>
                <a:sym typeface="Arial"/>
              </a:rPr>
              <a:t>Susana Aires de Sousa, from the Law Faculty of University of Coimbra and specialist in the legal implications of AI implications, has joined the action.</a:t>
            </a:r>
            <a:endParaRPr dirty="0"/>
          </a:p>
          <a:p>
            <a:pPr marL="0" marR="0" lvl="0" indent="0" algn="l" rtl="0">
              <a:lnSpc>
                <a:spcPct val="90000"/>
              </a:lnSpc>
              <a:spcBef>
                <a:spcPts val="1000"/>
              </a:spcBef>
              <a:spcAft>
                <a:spcPts val="0"/>
              </a:spcAft>
              <a:buClr>
                <a:schemeClr val="dk2"/>
              </a:buClr>
              <a:buSzPts val="1600"/>
              <a:buFont typeface="Arial"/>
              <a:buNone/>
            </a:pPr>
            <a:endParaRPr sz="1600" dirty="0">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2"/>
              </a:buClr>
              <a:buSzPts val="1600"/>
              <a:buFont typeface="Arial"/>
              <a:buNone/>
            </a:pPr>
            <a:endParaRPr sz="1600" dirty="0">
              <a:solidFill>
                <a:srgbClr val="000000"/>
              </a:solidFill>
              <a:latin typeface="Arial"/>
              <a:ea typeface="Arial"/>
              <a:cs typeface="Arial"/>
              <a:sym typeface="Arial"/>
            </a:endParaRPr>
          </a:p>
          <a:p>
            <a:pPr marL="285750" marR="0" lvl="0" indent="-184150" algn="l" rtl="0">
              <a:lnSpc>
                <a:spcPct val="90000"/>
              </a:lnSpc>
              <a:spcBef>
                <a:spcPts val="1000"/>
              </a:spcBef>
              <a:spcAft>
                <a:spcPts val="0"/>
              </a:spcAft>
              <a:buClr>
                <a:schemeClr val="dk2"/>
              </a:buClr>
              <a:buSzPts val="1600"/>
              <a:buFont typeface="Arial"/>
              <a:buNone/>
            </a:pPr>
            <a:endParaRPr sz="1600" dirty="0">
              <a:solidFill>
                <a:srgbClr val="000000"/>
              </a:solidFill>
              <a:latin typeface="Arial"/>
              <a:ea typeface="Arial"/>
              <a:cs typeface="Arial"/>
              <a:sym typeface="Arial"/>
            </a:endParaRPr>
          </a:p>
        </p:txBody>
      </p:sp>
      <p:sp>
        <p:nvSpPr>
          <p:cNvPr id="302" name="Google Shape;302;p8"/>
          <p:cNvSpPr/>
          <p:nvPr/>
        </p:nvSpPr>
        <p:spPr>
          <a:xfrm>
            <a:off x="5067300" y="2979738"/>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3" name="Google Shape;303;p8"/>
          <p:cNvSpPr txBox="1">
            <a:spLocks noGrp="1"/>
          </p:cNvSpPr>
          <p:nvPr>
            <p:ph type="body" idx="2"/>
          </p:nvPr>
        </p:nvSpPr>
        <p:spPr>
          <a:xfrm>
            <a:off x="1310566" y="3635048"/>
            <a:ext cx="4785434" cy="4696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606060"/>
              </a:buClr>
              <a:buSzPts val="1600"/>
              <a:buNone/>
            </a:pPr>
            <a:r>
              <a:rPr lang="en-US" sz="1600" b="1" dirty="0">
                <a:solidFill>
                  <a:srgbClr val="606060"/>
                </a:solidFill>
                <a:latin typeface="Arial"/>
                <a:ea typeface="Arial"/>
                <a:cs typeface="Arial"/>
                <a:sym typeface="Arial"/>
              </a:rPr>
              <a:t>Activities in 2023</a:t>
            </a:r>
            <a:r>
              <a:rPr lang="en-US" sz="1800" dirty="0">
                <a:solidFill>
                  <a:srgbClr val="000000"/>
                </a:solidFill>
                <a:latin typeface="Times"/>
                <a:ea typeface="Times"/>
                <a:cs typeface="Times"/>
                <a:sym typeface="Times"/>
              </a:rPr>
              <a:t>	</a:t>
            </a:r>
            <a:endParaRPr dirty="0"/>
          </a:p>
          <a:p>
            <a:pPr marL="0" lvl="0" indent="0" algn="l" rtl="0">
              <a:lnSpc>
                <a:spcPct val="90000"/>
              </a:lnSpc>
              <a:spcBef>
                <a:spcPts val="1000"/>
              </a:spcBef>
              <a:spcAft>
                <a:spcPts val="0"/>
              </a:spcAft>
              <a:buClr>
                <a:schemeClr val="dk2"/>
              </a:buClr>
              <a:buSzPts val="1600"/>
              <a:buNone/>
            </a:pPr>
            <a:endParaRPr dirty="0">
              <a:solidFill>
                <a:srgbClr val="606060"/>
              </a:solidFill>
              <a:latin typeface="Arial"/>
              <a:ea typeface="Arial"/>
              <a:cs typeface="Arial"/>
              <a:sym typeface="Arial"/>
            </a:endParaRPr>
          </a:p>
          <a:p>
            <a:pPr marL="0" lvl="0" indent="0" algn="l" rtl="0">
              <a:lnSpc>
                <a:spcPct val="90000"/>
              </a:lnSpc>
              <a:spcBef>
                <a:spcPts val="1000"/>
              </a:spcBef>
              <a:spcAft>
                <a:spcPts val="0"/>
              </a:spcAft>
              <a:buClr>
                <a:srgbClr val="000000"/>
              </a:buClr>
              <a:buSzPts val="1800"/>
              <a:buNone/>
            </a:pPr>
            <a:r>
              <a:rPr lang="en-US" sz="1800" dirty="0">
                <a:solidFill>
                  <a:srgbClr val="000000"/>
                </a:solidFill>
                <a:latin typeface="Times"/>
                <a:ea typeface="Times"/>
                <a:cs typeface="Times"/>
                <a:sym typeface="Times"/>
              </a:rPr>
              <a:t>	</a:t>
            </a:r>
            <a:endParaRPr dirty="0"/>
          </a:p>
          <a:p>
            <a:pPr marL="0" lvl="0" indent="0" algn="l" rtl="0">
              <a:lnSpc>
                <a:spcPct val="90000"/>
              </a:lnSpc>
              <a:spcBef>
                <a:spcPts val="1000"/>
              </a:spcBef>
              <a:spcAft>
                <a:spcPts val="0"/>
              </a:spcAft>
              <a:buClr>
                <a:schemeClr val="dk2"/>
              </a:buClr>
              <a:buSzPts val="1600"/>
              <a:buNone/>
            </a:pPr>
            <a:endParaRPr dirty="0"/>
          </a:p>
        </p:txBody>
      </p:sp>
      <p:pic>
        <p:nvPicPr>
          <p:cNvPr id="304" name="Google Shape;304;p8"/>
          <p:cNvPicPr preferRelativeResize="0"/>
          <p:nvPr/>
        </p:nvPicPr>
        <p:blipFill rotWithShape="1">
          <a:blip r:embed="rId3">
            <a:alphaModFix/>
          </a:blip>
          <a:srcRect/>
          <a:stretch/>
        </p:blipFill>
        <p:spPr>
          <a:xfrm>
            <a:off x="0" y="0"/>
            <a:ext cx="1850571" cy="1750112"/>
          </a:xfrm>
          <a:prstGeom prst="rect">
            <a:avLst/>
          </a:prstGeom>
          <a:noFill/>
          <a:ln>
            <a:noFill/>
          </a:ln>
        </p:spPr>
      </p:pic>
    </p:spTree>
  </p:cSld>
  <p:clrMapOvr>
    <a:masterClrMapping/>
  </p:clrMapOvr>
</p:sld>
</file>

<file path=ppt/theme/theme1.xml><?xml version="1.0" encoding="utf-8"?>
<a:theme xmlns:a="http://schemas.openxmlformats.org/drawingml/2006/main" name="COST_ppt-16_9-color_1">
  <a:themeElements>
    <a:clrScheme name="COST THEME FUSHIA">
      <a:dk1>
        <a:srgbClr val="000000"/>
      </a:dk1>
      <a:lt1>
        <a:srgbClr val="FFFFFF"/>
      </a:lt1>
      <a:dk2>
        <a:srgbClr val="737373"/>
      </a:dk2>
      <a:lt2>
        <a:srgbClr val="D2D2CD"/>
      </a:lt2>
      <a:accent1>
        <a:srgbClr val="961E64"/>
      </a:accent1>
      <a:accent2>
        <a:srgbClr val="6E82BE"/>
      </a:accent2>
      <a:accent3>
        <a:srgbClr val="692364"/>
      </a:accent3>
      <a:accent4>
        <a:srgbClr val="2D3778"/>
      </a:accent4>
      <a:accent5>
        <a:srgbClr val="E1783C"/>
      </a:accent5>
      <a:accent6>
        <a:srgbClr val="00AB9D"/>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ST_ppt-16_9-color_2">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ST_ppt-16_9-color_3">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Bureau">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718</Words>
  <Application>Microsoft Office PowerPoint</Application>
  <PresentationFormat>Widescreen</PresentationFormat>
  <Paragraphs>57</Paragraphs>
  <Slides>8</Slides>
  <Notes>8</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8</vt:i4>
      </vt:variant>
    </vt:vector>
  </HeadingPairs>
  <TitlesOfParts>
    <vt:vector size="15" baseType="lpstr">
      <vt:lpstr>Arial</vt:lpstr>
      <vt:lpstr>Calibri</vt:lpstr>
      <vt:lpstr>Noto Sans Symbols</vt:lpstr>
      <vt:lpstr>Times</vt:lpstr>
      <vt:lpstr>COST_ppt-16_9-color_1</vt:lpstr>
      <vt:lpstr>COST_ppt-16_9-color_2</vt:lpstr>
      <vt:lpstr>COST_ppt-16_9-color_3</vt:lpstr>
      <vt:lpstr>Portugal</vt:lpstr>
      <vt:lpstr>FinAI – MC Committee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Portugal</dc:title>
  <dc:creator>Bernardete Ribeiro</dc:creator>
  <cp:lastModifiedBy>Joana Dias</cp:lastModifiedBy>
  <cp:revision>3</cp:revision>
  <dcterms:created xsi:type="dcterms:W3CDTF">2020-11-09T16:12:43Z</dcterms:created>
  <dcterms:modified xsi:type="dcterms:W3CDTF">2023-09-25T22:36:18Z</dcterms:modified>
</cp:coreProperties>
</file>