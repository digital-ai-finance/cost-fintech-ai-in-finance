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0" r:id="rId1"/>
    <p:sldMasterId id="2147483691" r:id="rId2"/>
    <p:sldMasterId id="2147483692" r:id="rId3"/>
  </p:sldMasterIdLst>
  <p:notesMasterIdLst>
    <p:notesMasterId r:id="rId8"/>
  </p:notesMasterIdLst>
  <p:sldIdLst>
    <p:sldId id="256" r:id="rId4"/>
    <p:sldId id="257" r:id="rId5"/>
    <p:sldId id="258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BE689-DEE2-4D80-A3B2-164E5070D6D5}" v="9" dt="2023-09-20T07:52:02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7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ban Guerrero Rosero" userId="235efb35-263a-4eb5-8b10-baeb7d7d60fb" providerId="ADAL" clId="{83EBE689-DEE2-4D80-A3B2-164E5070D6D5}"/>
    <pc:docChg chg="undo redo custSel delSld modSld">
      <pc:chgData name="Esteban Guerrero Rosero" userId="235efb35-263a-4eb5-8b10-baeb7d7d60fb" providerId="ADAL" clId="{83EBE689-DEE2-4D80-A3B2-164E5070D6D5}" dt="2023-09-20T08:10:10.907" v="957" actId="6549"/>
      <pc:docMkLst>
        <pc:docMk/>
      </pc:docMkLst>
      <pc:sldChg chg="modSp mod">
        <pc:chgData name="Esteban Guerrero Rosero" userId="235efb35-263a-4eb5-8b10-baeb7d7d60fb" providerId="ADAL" clId="{83EBE689-DEE2-4D80-A3B2-164E5070D6D5}" dt="2023-09-20T07:38:19.166" v="22" actId="20577"/>
        <pc:sldMkLst>
          <pc:docMk/>
          <pc:sldMk cId="0" sldId="256"/>
        </pc:sldMkLst>
        <pc:spChg chg="mod">
          <ac:chgData name="Esteban Guerrero Rosero" userId="235efb35-263a-4eb5-8b10-baeb7d7d60fb" providerId="ADAL" clId="{83EBE689-DEE2-4D80-A3B2-164E5070D6D5}" dt="2023-09-20T07:38:19.166" v="22" actId="20577"/>
          <ac:spMkLst>
            <pc:docMk/>
            <pc:sldMk cId="0" sldId="256"/>
            <ac:spMk id="242" creationId="{00000000-0000-0000-0000-000000000000}"/>
          </ac:spMkLst>
        </pc:spChg>
        <pc:spChg chg="mod">
          <ac:chgData name="Esteban Guerrero Rosero" userId="235efb35-263a-4eb5-8b10-baeb7d7d60fb" providerId="ADAL" clId="{83EBE689-DEE2-4D80-A3B2-164E5070D6D5}" dt="2023-09-20T07:38:15.157" v="15" actId="20577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mod">
        <pc:chgData name="Esteban Guerrero Rosero" userId="235efb35-263a-4eb5-8b10-baeb7d7d60fb" providerId="ADAL" clId="{83EBE689-DEE2-4D80-A3B2-164E5070D6D5}" dt="2023-09-20T08:00:19.040" v="574" actId="20577"/>
        <pc:sldMkLst>
          <pc:docMk/>
          <pc:sldMk cId="0" sldId="257"/>
        </pc:sldMkLst>
        <pc:spChg chg="add del">
          <ac:chgData name="Esteban Guerrero Rosero" userId="235efb35-263a-4eb5-8b10-baeb7d7d60fb" providerId="ADAL" clId="{83EBE689-DEE2-4D80-A3B2-164E5070D6D5}" dt="2023-09-20T07:39:37.339" v="50"/>
          <ac:spMkLst>
            <pc:docMk/>
            <pc:sldMk cId="0" sldId="257"/>
            <ac:spMk id="2" creationId="{9B40F6B5-3EBF-B726-FA60-8573CCD6A77C}"/>
          </ac:spMkLst>
        </pc:spChg>
        <pc:spChg chg="add del">
          <ac:chgData name="Esteban Guerrero Rosero" userId="235efb35-263a-4eb5-8b10-baeb7d7d60fb" providerId="ADAL" clId="{83EBE689-DEE2-4D80-A3B2-164E5070D6D5}" dt="2023-09-20T07:39:39.032" v="52"/>
          <ac:spMkLst>
            <pc:docMk/>
            <pc:sldMk cId="0" sldId="257"/>
            <ac:spMk id="3" creationId="{D581EBC5-202B-4748-BF53-324C5902B743}"/>
          </ac:spMkLst>
        </pc:spChg>
        <pc:spChg chg="mod">
          <ac:chgData name="Esteban Guerrero Rosero" userId="235efb35-263a-4eb5-8b10-baeb7d7d60fb" providerId="ADAL" clId="{83EBE689-DEE2-4D80-A3B2-164E5070D6D5}" dt="2023-09-20T08:00:19.040" v="574" actId="20577"/>
          <ac:spMkLst>
            <pc:docMk/>
            <pc:sldMk cId="0" sldId="257"/>
            <ac:spMk id="249" creationId="{00000000-0000-0000-0000-000000000000}"/>
          </ac:spMkLst>
        </pc:spChg>
        <pc:spChg chg="mod">
          <ac:chgData name="Esteban Guerrero Rosero" userId="235efb35-263a-4eb5-8b10-baeb7d7d60fb" providerId="ADAL" clId="{83EBE689-DEE2-4D80-A3B2-164E5070D6D5}" dt="2023-09-20T07:42:24.918" v="219" actId="790"/>
          <ac:spMkLst>
            <pc:docMk/>
            <pc:sldMk cId="0" sldId="257"/>
            <ac:spMk id="250" creationId="{00000000-0000-0000-0000-000000000000}"/>
          </ac:spMkLst>
        </pc:spChg>
      </pc:sldChg>
      <pc:sldChg chg="modSp mod">
        <pc:chgData name="Esteban Guerrero Rosero" userId="235efb35-263a-4eb5-8b10-baeb7d7d60fb" providerId="ADAL" clId="{83EBE689-DEE2-4D80-A3B2-164E5070D6D5}" dt="2023-09-20T08:05:13.816" v="888" actId="113"/>
        <pc:sldMkLst>
          <pc:docMk/>
          <pc:sldMk cId="3810015268" sldId="258"/>
        </pc:sldMkLst>
        <pc:spChg chg="mod">
          <ac:chgData name="Esteban Guerrero Rosero" userId="235efb35-263a-4eb5-8b10-baeb7d7d60fb" providerId="ADAL" clId="{83EBE689-DEE2-4D80-A3B2-164E5070D6D5}" dt="2023-09-20T08:05:13.816" v="888" actId="113"/>
          <ac:spMkLst>
            <pc:docMk/>
            <pc:sldMk cId="3810015268" sldId="258"/>
            <ac:spMk id="249" creationId="{00000000-0000-0000-0000-000000000000}"/>
          </ac:spMkLst>
        </pc:spChg>
      </pc:sldChg>
      <pc:sldChg chg="del">
        <pc:chgData name="Esteban Guerrero Rosero" userId="235efb35-263a-4eb5-8b10-baeb7d7d60fb" providerId="ADAL" clId="{83EBE689-DEE2-4D80-A3B2-164E5070D6D5}" dt="2023-09-20T07:55:44.909" v="456" actId="47"/>
        <pc:sldMkLst>
          <pc:docMk/>
          <pc:sldMk cId="452837416" sldId="259"/>
        </pc:sldMkLst>
      </pc:sldChg>
      <pc:sldChg chg="modSp mod">
        <pc:chgData name="Esteban Guerrero Rosero" userId="235efb35-263a-4eb5-8b10-baeb7d7d60fb" providerId="ADAL" clId="{83EBE689-DEE2-4D80-A3B2-164E5070D6D5}" dt="2023-09-20T08:10:10.907" v="957" actId="6549"/>
        <pc:sldMkLst>
          <pc:docMk/>
          <pc:sldMk cId="3794861916" sldId="260"/>
        </pc:sldMkLst>
        <pc:spChg chg="mod">
          <ac:chgData name="Esteban Guerrero Rosero" userId="235efb35-263a-4eb5-8b10-baeb7d7d60fb" providerId="ADAL" clId="{83EBE689-DEE2-4D80-A3B2-164E5070D6D5}" dt="2023-09-20T08:10:10.907" v="957" actId="6549"/>
          <ac:spMkLst>
            <pc:docMk/>
            <pc:sldMk cId="3794861916" sldId="260"/>
            <ac:spMk id="249" creationId="{00000000-0000-0000-0000-000000000000}"/>
          </ac:spMkLst>
        </pc:spChg>
        <pc:spChg chg="mod">
          <ac:chgData name="Esteban Guerrero Rosero" userId="235efb35-263a-4eb5-8b10-baeb7d7d60fb" providerId="ADAL" clId="{83EBE689-DEE2-4D80-A3B2-164E5070D6D5}" dt="2023-09-20T08:08:26.921" v="899" actId="20577"/>
          <ac:spMkLst>
            <pc:docMk/>
            <pc:sldMk cId="3794861916" sldId="260"/>
            <ac:spMk id="2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3417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081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025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77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78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1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24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25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26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28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28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148" name="Google Shape;148;p28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149" name="Google Shape;149;p28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8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1" name="Google Shape;151;p28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28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28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4" name="Google Shape;154;p28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title">
  <p:cSld name="3_Presentation -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resentation - title">
  <p:cSld name="4_Presentation - 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resentation - title">
  <p:cSld name="5_Presentation - titl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">
  <p:cSld name="2_Presentation - Conte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7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 2">
  <p:cSld name="2_Presentation - Content 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Empty - Content">
  <p:cSld name="2_Presentation - Empty -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8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3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">
  <p:cSld name="3_Presentation -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3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 2">
  <p:cSld name="3_Presentation - Content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4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Empty - Content">
  <p:cSld name="3_Presentation - Empty - Conte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4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" name="Google Shape;217;p4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">
  <p:cSld name="1_Presentation - Empt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2" name="Google Shape;222;p4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224" name="Google Shape;224;p4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225" name="Google Shape;225;p4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4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7" name="Google Shape;227;p4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4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4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0" name="Google Shape;230;p4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2">
  <p:cSld name="1_Presentation - Empty 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Empty">
  <p:cSld name="1_Presentation - Empty - Empt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fr-FR"/>
              <a:t>COST Fin AI Country Update</a:t>
            </a:r>
            <a:endParaRPr/>
          </a:p>
        </p:txBody>
      </p:sp>
      <p:sp>
        <p:nvSpPr>
          <p:cNvPr id="242" name="Google Shape;242;p46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dirty="0"/>
              <a:t>Finland</a:t>
            </a:r>
            <a:endParaRPr dirty="0"/>
          </a:p>
        </p:txBody>
      </p:sp>
      <p:sp>
        <p:nvSpPr>
          <p:cNvPr id="243" name="Google Shape;243;p46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 dirty="0"/>
              <a:t>Esteban Guerrero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b="1" dirty="0"/>
              <a:t>Mikko Ylikangas, </a:t>
            </a:r>
            <a:r>
              <a:rPr lang="en-US" sz="2000" dirty="0"/>
              <a:t>Senior Science Adviser, </a:t>
            </a:r>
            <a:r>
              <a:rPr lang="en-US" sz="2000" dirty="0" err="1"/>
              <a:t>Programme</a:t>
            </a:r>
            <a:r>
              <a:rPr lang="en-US" sz="2000" dirty="0"/>
              <a:t> Manager, PhD</a:t>
            </a:r>
          </a:p>
          <a:p>
            <a:pPr marL="101600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COST Executive Board Member</a:t>
            </a:r>
          </a:p>
          <a:p>
            <a:pPr marL="101600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COST National Coordinator and Member of the Committee of Senior Officials</a:t>
            </a:r>
          </a:p>
          <a:p>
            <a:pPr marL="101600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Academy of Finland </a:t>
            </a:r>
          </a:p>
          <a:p>
            <a:pPr indent="-355600">
              <a:spcBef>
                <a:spcPts val="0"/>
              </a:spcBef>
              <a:buSzPts val="2000"/>
            </a:pPr>
            <a:endParaRPr lang="pl-PL" sz="2000" b="1" dirty="0"/>
          </a:p>
          <a:p>
            <a:pPr indent="-355600">
              <a:spcBef>
                <a:spcPts val="0"/>
              </a:spcBef>
              <a:buSzPts val="2000"/>
            </a:pPr>
            <a:endParaRPr lang="pl-PL" sz="2000" b="1" dirty="0"/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b="1" dirty="0"/>
              <a:t>Esteban Guerrero</a:t>
            </a:r>
            <a:r>
              <a:rPr lang="fr-FR" sz="2000" dirty="0"/>
              <a:t>, </a:t>
            </a:r>
          </a:p>
          <a:p>
            <a:pPr marL="101600" lvl="1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Ph.D. in computer science. </a:t>
            </a:r>
          </a:p>
          <a:p>
            <a:pPr marL="101600" lvl="1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</a:t>
            </a:r>
            <a:r>
              <a:rPr lang="pl-PL" sz="2000" dirty="0"/>
              <a:t>Assistant </a:t>
            </a:r>
            <a:r>
              <a:rPr lang="en-US" sz="2000" dirty="0"/>
              <a:t>p</a:t>
            </a:r>
            <a:r>
              <a:rPr lang="pl-PL" sz="2000" dirty="0"/>
              <a:t>rofessor</a:t>
            </a:r>
            <a:r>
              <a:rPr lang="en-US" sz="2000" dirty="0"/>
              <a:t>, School of Technology and Innovations, </a:t>
            </a:r>
          </a:p>
          <a:p>
            <a:pPr marL="101600" lvl="1" indent="0">
              <a:spcBef>
                <a:spcPts val="0"/>
              </a:spcBef>
              <a:buSzPts val="2000"/>
              <a:buNone/>
            </a:pPr>
            <a:r>
              <a:rPr lang="en-US" sz="2000" dirty="0"/>
              <a:t>	University of Vaasa (UVA)</a:t>
            </a:r>
            <a:endParaRPr lang="pl-PL"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Members</a:t>
            </a:r>
            <a:r>
              <a:rPr lang="fr-FR" dirty="0"/>
              <a:t> </a:t>
            </a:r>
            <a:r>
              <a:rPr lang="en-US" dirty="0"/>
              <a:t>in Finland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Published:</a:t>
            </a:r>
          </a:p>
          <a:p>
            <a:pPr marL="285750" indent="-285750"/>
            <a:r>
              <a:rPr lang="en-US" sz="1800" dirty="0"/>
              <a:t>E. Guerrero and P. Kalmi.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Gamification Strategies. A characterization using formal argumentation theory</a:t>
            </a:r>
            <a:r>
              <a:rPr lang="en-US" sz="1800" dirty="0"/>
              <a:t>.  (2022) SN Computer Science, 3(4), 1-19.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pl-PL" sz="1800" dirty="0"/>
              <a:t>In progress:</a:t>
            </a:r>
          </a:p>
          <a:p>
            <a:pPr marL="285750" indent="-285750"/>
            <a:r>
              <a:rPr lang="en-US" sz="1800" dirty="0"/>
              <a:t>Esteban Guerrero, </a:t>
            </a:r>
            <a:r>
              <a:rPr lang="fi-FI" sz="1800" dirty="0"/>
              <a:t>Saara Vaahtoniemi, Maria Sivonen, Isabella Aura, Olli-Pekka Ruuskanen, Juho Hamari, </a:t>
            </a:r>
            <a:r>
              <a:rPr lang="en-US" sz="1800" dirty="0"/>
              <a:t>Panu Kalmi.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Persuasive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robo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-advisors: a review of computational methods used to influence financial investment decisions</a:t>
            </a:r>
            <a:r>
              <a:rPr lang="en-US" sz="1800" dirty="0"/>
              <a:t>. </a:t>
            </a:r>
          </a:p>
          <a:p>
            <a:pPr marL="285750" indent="-285750"/>
            <a:r>
              <a:rPr lang="en-US" sz="1800" dirty="0"/>
              <a:t>Esteban Guerrero, </a:t>
            </a:r>
            <a:r>
              <a:rPr lang="fi-FI" sz="1800" dirty="0"/>
              <a:t>Saara Vaahtoniemi, Olli-Pekka Ruuskanen, Juho Hamari, </a:t>
            </a:r>
            <a:r>
              <a:rPr lang="en-US" sz="1800" dirty="0"/>
              <a:t>Panu Kalmi.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Computational persuasion of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robo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-advisors in a financial literacy context. </a:t>
            </a:r>
          </a:p>
          <a:p>
            <a:pPr marL="285750" indent="-285750"/>
            <a:r>
              <a:rPr lang="en-US" sz="1800" dirty="0"/>
              <a:t>Codruta Mare, Petre Lameski, Ioana-Florina Coita, Esteban Guerrero.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Financial sentiment analysis in low resource</a:t>
            </a: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Papers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01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US" sz="2000" dirty="0"/>
              <a:t>[Spring 2023] Strengthen relationship with </a:t>
            </a:r>
            <a:r>
              <a:rPr lang="en-US" sz="2000" dirty="0" err="1"/>
              <a:t>Pellervo</a:t>
            </a:r>
            <a:r>
              <a:rPr lang="en-US" sz="2000" dirty="0"/>
              <a:t> economic research institute (PTT). Research topics: Finnish economy and housing, agricultural and food economy, forestry and environmental economics. </a:t>
            </a:r>
          </a:p>
          <a:p>
            <a:pPr marL="342900" indent="-342900"/>
            <a:r>
              <a:rPr lang="en-US" sz="2000" dirty="0"/>
              <a:t>[10-11 July 2023] Co-organization of the Fin-AI meeting Helsinki (Finland). July 10-11, 2023</a:t>
            </a:r>
          </a:p>
          <a:p>
            <a:pPr marL="342900" indent="-342900"/>
            <a:r>
              <a:rPr lang="en-US" sz="2000" dirty="0"/>
              <a:t>[11 September 2023] Approved project with UVA + PTT + Youth Entrepreneurship and Economy (NYT) organization + Tampere University. Nasdaq Foundation. </a:t>
            </a:r>
          </a:p>
          <a:p>
            <a:pPr marL="342900" indent="-342900"/>
            <a:r>
              <a:rPr lang="en-US" sz="2000" dirty="0"/>
              <a:t>[06 September 2023] Seminar for conducting systematic literature reviews. Topic financial literacy and financial education.</a:t>
            </a: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Past A</a:t>
            </a:r>
            <a:r>
              <a:rPr lang="pl-PL" dirty="0"/>
              <a:t>ctivities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4861916"/>
      </p:ext>
    </p:extLst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ST_ppt-16_9-color_2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T_ppt-16_9-color_3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289</Words>
  <Application>Microsoft Office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Noto Sans Symbols</vt:lpstr>
      <vt:lpstr>COST_ppt-16_9-color_1</vt:lpstr>
      <vt:lpstr>COST_ppt-16_9-color_2</vt:lpstr>
      <vt:lpstr>COST_ppt-16_9-color_3</vt:lpstr>
      <vt:lpstr>COST Fin AI Country Update</vt:lpstr>
      <vt:lpstr>Members in Finland</vt:lpstr>
      <vt:lpstr>Papers</vt:lpstr>
      <vt:lpstr>Past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 AI Country Update</dc:title>
  <dc:creator>Piotr</dc:creator>
  <cp:lastModifiedBy>Esteban Guerrero Rosero</cp:lastModifiedBy>
  <cp:revision>11</cp:revision>
  <dcterms:modified xsi:type="dcterms:W3CDTF">2023-09-20T08:10:21Z</dcterms:modified>
</cp:coreProperties>
</file>