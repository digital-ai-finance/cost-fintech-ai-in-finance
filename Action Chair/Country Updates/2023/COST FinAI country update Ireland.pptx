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72" r:id="rId3"/>
    <p:sldId id="271" r:id="rId4"/>
  </p:sldIdLst>
  <p:sldSz cx="9904413" cy="6859588"/>
  <p:notesSz cx="6724650" cy="9774238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orient="horz" pos="436">
          <p15:clr>
            <a:srgbClr val="A4A3A4"/>
          </p15:clr>
        </p15:guide>
        <p15:guide id="3" orient="horz" pos="1344">
          <p15:clr>
            <a:srgbClr val="A4A3A4"/>
          </p15:clr>
        </p15:guide>
        <p15:guide id="4" orient="horz" pos="1117">
          <p15:clr>
            <a:srgbClr val="A4A3A4"/>
          </p15:clr>
        </p15:guide>
        <p15:guide id="5" orient="horz" pos="1570">
          <p15:clr>
            <a:srgbClr val="A4A3A4"/>
          </p15:clr>
        </p15:guide>
        <p15:guide id="6" pos="3028">
          <p15:clr>
            <a:srgbClr val="A4A3A4"/>
          </p15:clr>
        </p15:guide>
        <p15:guide id="7" pos="443">
          <p15:clr>
            <a:srgbClr val="A4A3A4"/>
          </p15:clr>
        </p15:guide>
        <p15:guide id="8" pos="5795">
          <p15:clr>
            <a:srgbClr val="A4A3A4"/>
          </p15:clr>
        </p15:guide>
        <p15:guide id="9" pos="321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itKGBPl3QYWT+3CYlqTCw56gg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B11F36-F1EF-44B6-92D4-B0A6060AA7BA}">
  <a:tblStyle styleId="{11B11F36-F1EF-44B6-92D4-B0A6060AA7B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F2F7"/>
          </a:solidFill>
        </a:fill>
      </a:tcStyle>
    </a:wholeTbl>
    <a:band1H>
      <a:tcTxStyle b="off" i="off"/>
      <a:tcStyle>
        <a:tcBdr/>
        <a:fill>
          <a:solidFill>
            <a:srgbClr val="D7E4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7E4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692" y="72"/>
      </p:cViewPr>
      <p:guideLst>
        <p:guide orient="horz" pos="3838"/>
        <p:guide orient="horz" pos="436"/>
        <p:guide orient="horz" pos="1344"/>
        <p:guide orient="horz" pos="1117"/>
        <p:guide orient="horz" pos="1570"/>
        <p:guide pos="3028"/>
        <p:guide pos="443"/>
        <p:guide pos="5795"/>
        <p:guide pos="321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28" Type="http://customschemas.google.com/relationships/presentationmetadata" Target="meta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09079" y="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28383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3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38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46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09079" y="928383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33425"/>
            <a:ext cx="5292725" cy="366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3" name="Google Shape;203;p2:notes"/>
          <p:cNvSpPr txBox="1">
            <a:spLocks noGrp="1"/>
          </p:cNvSpPr>
          <p:nvPr>
            <p:ph type="body" idx="1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04" name="Google Shape;204;p2:notes"/>
          <p:cNvSpPr txBox="1">
            <a:spLocks noGrp="1"/>
          </p:cNvSpPr>
          <p:nvPr>
            <p:ph type="sldNum" idx="12"/>
          </p:nvPr>
        </p:nvSpPr>
        <p:spPr>
          <a:xfrm>
            <a:off x="3809079" y="9283830"/>
            <a:ext cx="2914015" cy="4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ctrTitle"/>
          </p:nvPr>
        </p:nvSpPr>
        <p:spPr>
          <a:xfrm>
            <a:off x="1238052" y="1122623"/>
            <a:ext cx="7428310" cy="238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C32"/>
              </a:buClr>
              <a:buSzPts val="4874"/>
              <a:buFont typeface="Century Gothic"/>
              <a:buNone/>
              <a:defRPr sz="4874">
                <a:solidFill>
                  <a:srgbClr val="101C3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subTitle" idx="1"/>
          </p:nvPr>
        </p:nvSpPr>
        <p:spPr>
          <a:xfrm>
            <a:off x="1238052" y="3602872"/>
            <a:ext cx="7428310" cy="16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950"/>
              <a:buNone/>
              <a:defRPr sz="1950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625"/>
              <a:buNone/>
              <a:defRPr sz="1625"/>
            </a:lvl2pPr>
            <a:lvl3pPr lvl="2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None/>
              <a:defRPr sz="1462"/>
            </a:lvl3pPr>
            <a:lvl4pPr lvl="3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680929" y="365210"/>
            <a:ext cx="8542556" cy="132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>
                <a:solidFill>
                  <a:srgbClr val="338DC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680929" y="1826048"/>
            <a:ext cx="8542556" cy="435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31"/>
          <p:cNvCxnSpPr/>
          <p:nvPr/>
        </p:nvCxnSpPr>
        <p:spPr>
          <a:xfrm>
            <a:off x="792095" y="1518707"/>
            <a:ext cx="300135" cy="0"/>
          </a:xfrm>
          <a:prstGeom prst="straightConnector1">
            <a:avLst/>
          </a:prstGeom>
          <a:noFill/>
          <a:ln w="28575" cap="flat" cmpd="sng">
            <a:solidFill>
              <a:srgbClr val="338DC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675770" y="1710134"/>
            <a:ext cx="8542556" cy="285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C32"/>
              </a:buClr>
              <a:buSzPts val="4874"/>
              <a:buFont typeface="Century Gothic"/>
              <a:buNone/>
              <a:defRPr sz="4874">
                <a:solidFill>
                  <a:srgbClr val="101C3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675770" y="4590526"/>
            <a:ext cx="8542556" cy="1500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950"/>
              <a:buNone/>
              <a:defRPr sz="1950">
                <a:solidFill>
                  <a:srgbClr val="101C3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625"/>
              <a:buNone/>
              <a:defRPr sz="1625">
                <a:solidFill>
                  <a:srgbClr val="8A8E9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462"/>
              <a:buNone/>
              <a:defRPr sz="1462">
                <a:solidFill>
                  <a:srgbClr val="8A8E9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300"/>
              <a:buNone/>
              <a:defRPr sz="1300">
                <a:solidFill>
                  <a:srgbClr val="8A8E9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300"/>
              <a:buNone/>
              <a:defRPr sz="1300">
                <a:solidFill>
                  <a:srgbClr val="8A8E9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300"/>
              <a:buNone/>
              <a:defRPr sz="1300">
                <a:solidFill>
                  <a:srgbClr val="8A8E9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300"/>
              <a:buNone/>
              <a:defRPr sz="1300">
                <a:solidFill>
                  <a:srgbClr val="8A8E9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300"/>
              <a:buNone/>
              <a:defRPr sz="1300">
                <a:solidFill>
                  <a:srgbClr val="8A8E9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8A8E9D"/>
              </a:buClr>
              <a:buSzPts val="1300"/>
              <a:buNone/>
              <a:defRPr sz="1300">
                <a:solidFill>
                  <a:srgbClr val="8A8E9D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sldNum" idx="12"/>
          </p:nvPr>
        </p:nvSpPr>
        <p:spPr>
          <a:xfrm>
            <a:off x="6994992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>
            <a:spLocks noGrp="1"/>
          </p:cNvSpPr>
          <p:nvPr>
            <p:ph type="title"/>
          </p:nvPr>
        </p:nvSpPr>
        <p:spPr>
          <a:xfrm>
            <a:off x="680929" y="365210"/>
            <a:ext cx="8542556" cy="132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>
                <a:solidFill>
                  <a:srgbClr val="338DC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1"/>
          </p:nvPr>
        </p:nvSpPr>
        <p:spPr>
          <a:xfrm>
            <a:off x="680928" y="1826048"/>
            <a:ext cx="4209376" cy="435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2"/>
          </p:nvPr>
        </p:nvSpPr>
        <p:spPr>
          <a:xfrm>
            <a:off x="5014109" y="1826048"/>
            <a:ext cx="4209376" cy="435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</a:defRPr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</a:defRPr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6994992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" name="Google Shape;50;p33"/>
          <p:cNvCxnSpPr/>
          <p:nvPr/>
        </p:nvCxnSpPr>
        <p:spPr>
          <a:xfrm>
            <a:off x="792095" y="1518707"/>
            <a:ext cx="300135" cy="0"/>
          </a:xfrm>
          <a:prstGeom prst="straightConnector1">
            <a:avLst/>
          </a:prstGeom>
          <a:noFill/>
          <a:ln w="28575" cap="flat" cmpd="sng">
            <a:solidFill>
              <a:srgbClr val="338DC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>
            <a:spLocks noGrp="1"/>
          </p:cNvSpPr>
          <p:nvPr>
            <p:ph type="title"/>
          </p:nvPr>
        </p:nvSpPr>
        <p:spPr>
          <a:xfrm>
            <a:off x="682219" y="365210"/>
            <a:ext cx="8542556" cy="132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>
                <a:solidFill>
                  <a:srgbClr val="338DC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1"/>
          </p:nvPr>
        </p:nvSpPr>
        <p:spPr>
          <a:xfrm>
            <a:off x="682219" y="1681552"/>
            <a:ext cx="4190031" cy="824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338DCD"/>
              </a:buClr>
              <a:buSzPts val="1625"/>
              <a:buNone/>
              <a:defRPr sz="1625" b="1">
                <a:solidFill>
                  <a:srgbClr val="338DC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625"/>
              <a:buNone/>
              <a:defRPr sz="1625" b="1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None/>
              <a:defRPr sz="1462" b="1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body" idx="2"/>
          </p:nvPr>
        </p:nvSpPr>
        <p:spPr>
          <a:xfrm>
            <a:off x="682219" y="2505655"/>
            <a:ext cx="4190031" cy="368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body" idx="3"/>
          </p:nvPr>
        </p:nvSpPr>
        <p:spPr>
          <a:xfrm>
            <a:off x="5014109" y="1681552"/>
            <a:ext cx="4210666" cy="824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338DCD"/>
              </a:buClr>
              <a:buSzPts val="1625"/>
              <a:buNone/>
              <a:defRPr sz="1625" b="1">
                <a:solidFill>
                  <a:srgbClr val="338DC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625"/>
              <a:buNone/>
              <a:defRPr sz="1625" b="1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None/>
              <a:defRPr sz="1462" b="1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4"/>
          </p:nvPr>
        </p:nvSpPr>
        <p:spPr>
          <a:xfrm>
            <a:off x="5014109" y="2505655"/>
            <a:ext cx="4210666" cy="368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sldNum" idx="12"/>
          </p:nvPr>
        </p:nvSpPr>
        <p:spPr>
          <a:xfrm>
            <a:off x="6994992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34"/>
          <p:cNvCxnSpPr/>
          <p:nvPr/>
        </p:nvCxnSpPr>
        <p:spPr>
          <a:xfrm>
            <a:off x="792095" y="1518707"/>
            <a:ext cx="300135" cy="0"/>
          </a:xfrm>
          <a:prstGeom prst="straightConnector1">
            <a:avLst/>
          </a:prstGeom>
          <a:noFill/>
          <a:ln w="28575" cap="flat" cmpd="sng">
            <a:solidFill>
              <a:srgbClr val="338DC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680929" y="365210"/>
            <a:ext cx="8542556" cy="132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>
                <a:solidFill>
                  <a:srgbClr val="338DC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5" name="Google Shape;65;p35"/>
          <p:cNvCxnSpPr/>
          <p:nvPr/>
        </p:nvCxnSpPr>
        <p:spPr>
          <a:xfrm>
            <a:off x="792095" y="1518707"/>
            <a:ext cx="300135" cy="0"/>
          </a:xfrm>
          <a:prstGeom prst="straightConnector1">
            <a:avLst/>
          </a:prstGeom>
          <a:noFill/>
          <a:ln w="28575" cap="flat" cmpd="sng">
            <a:solidFill>
              <a:srgbClr val="338DC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>
            <a:spLocks noGrp="1"/>
          </p:cNvSpPr>
          <p:nvPr>
            <p:ph type="title"/>
          </p:nvPr>
        </p:nvSpPr>
        <p:spPr>
          <a:xfrm>
            <a:off x="682219" y="457306"/>
            <a:ext cx="3194431" cy="160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C32"/>
              </a:buClr>
              <a:buSzPts val="2600"/>
              <a:buFont typeface="Century Gothic"/>
              <a:buNone/>
              <a:defRPr sz="2600">
                <a:solidFill>
                  <a:srgbClr val="101C3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4210666" y="987654"/>
            <a:ext cx="5014109" cy="487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6pPr>
            <a:lvl7pPr marL="3200400" lvl="6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7pPr>
            <a:lvl8pPr marL="3657600" lvl="7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8pPr>
            <a:lvl9pPr marL="4114800" lvl="8" indent="-33178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Char char="•"/>
              <a:defRPr sz="1625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2"/>
          </p:nvPr>
        </p:nvSpPr>
        <p:spPr>
          <a:xfrm>
            <a:off x="682219" y="2057876"/>
            <a:ext cx="3194431" cy="381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137"/>
              <a:buNone/>
              <a:defRPr sz="1137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975"/>
              <a:buNone/>
              <a:defRPr sz="975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812"/>
              <a:buNone/>
              <a:defRPr sz="812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812"/>
              <a:buNone/>
              <a:defRPr sz="812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2" name="Google Shape;72;p36"/>
          <p:cNvCxnSpPr/>
          <p:nvPr/>
        </p:nvCxnSpPr>
        <p:spPr>
          <a:xfrm>
            <a:off x="778589" y="2057876"/>
            <a:ext cx="300135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 txBox="1">
            <a:spLocks noGrp="1"/>
          </p:cNvSpPr>
          <p:nvPr>
            <p:ph type="title"/>
          </p:nvPr>
        </p:nvSpPr>
        <p:spPr>
          <a:xfrm>
            <a:off x="682219" y="457306"/>
            <a:ext cx="3194431" cy="160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>
            <a:spLocks noGrp="1"/>
          </p:cNvSpPr>
          <p:nvPr>
            <p:ph type="pic" idx="2"/>
          </p:nvPr>
        </p:nvSpPr>
        <p:spPr>
          <a:xfrm>
            <a:off x="4210666" y="987654"/>
            <a:ext cx="5014109" cy="4874754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682219" y="2057876"/>
            <a:ext cx="3194431" cy="3812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137"/>
              <a:buNone/>
              <a:defRPr sz="1137"/>
            </a:lvl2pPr>
            <a:lvl3pPr marL="1371600" lvl="2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975"/>
              <a:buNone/>
              <a:defRPr sz="975"/>
            </a:lvl3pPr>
            <a:lvl4pPr marL="1828800" lvl="3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812"/>
              <a:buNone/>
              <a:defRPr sz="812"/>
            </a:lvl4pPr>
            <a:lvl5pPr marL="2286000" lvl="4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812"/>
              <a:buNone/>
              <a:defRPr sz="812"/>
            </a:lvl5pPr>
            <a:lvl6pPr marL="2743200" lvl="5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6pPr>
            <a:lvl7pPr marL="3200400" lvl="6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7pPr>
            <a:lvl8pPr marL="3657600" lvl="7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8pPr>
            <a:lvl9pPr marL="4114800" lvl="8" indent="-2286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812"/>
              <a:buNone/>
              <a:defRPr sz="812"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" name="Google Shape;79;p37"/>
          <p:cNvCxnSpPr/>
          <p:nvPr/>
        </p:nvCxnSpPr>
        <p:spPr>
          <a:xfrm>
            <a:off x="778589" y="2057876"/>
            <a:ext cx="300135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680929" y="365210"/>
            <a:ext cx="8542556" cy="132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body" idx="1"/>
          </p:nvPr>
        </p:nvSpPr>
        <p:spPr>
          <a:xfrm rot="5400000">
            <a:off x="2776034" y="-269057"/>
            <a:ext cx="4352346" cy="854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38"/>
          <p:cNvCxnSpPr/>
          <p:nvPr/>
        </p:nvCxnSpPr>
        <p:spPr>
          <a:xfrm>
            <a:off x="792095" y="1459221"/>
            <a:ext cx="300135" cy="0"/>
          </a:xfrm>
          <a:prstGeom prst="straightConnector1">
            <a:avLst/>
          </a:prstGeom>
          <a:noFill/>
          <a:ln w="28575" cap="flat" cmpd="sng">
            <a:solidFill>
              <a:srgbClr val="338DC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9"/>
          <p:cNvSpPr txBox="1">
            <a:spLocks noGrp="1"/>
          </p:cNvSpPr>
          <p:nvPr>
            <p:ph type="title"/>
          </p:nvPr>
        </p:nvSpPr>
        <p:spPr>
          <a:xfrm rot="5400000">
            <a:off x="5249074" y="2203982"/>
            <a:ext cx="5813184" cy="213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1"/>
          </p:nvPr>
        </p:nvSpPr>
        <p:spPr>
          <a:xfrm rot="5400000">
            <a:off x="915892" y="130245"/>
            <a:ext cx="5813184" cy="628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1437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1pPr>
            <a:lvl2pPr marL="914400" lvl="1" indent="-321437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2pPr>
            <a:lvl3pPr marL="1371600" lvl="2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3pPr>
            <a:lvl4pPr marL="1828800" lvl="3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4pPr>
            <a:lvl5pPr marL="2286000" lvl="4" indent="-32143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Char char="•"/>
              <a:defRPr sz="1462"/>
            </a:lvl5pPr>
            <a:lvl6pPr marL="2743200" lvl="5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994992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680929" y="365210"/>
            <a:ext cx="8542556" cy="132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8DCD"/>
              </a:buClr>
              <a:buSzPts val="2600"/>
              <a:buFont typeface="Century Gothic"/>
              <a:buNone/>
              <a:defRPr sz="2600" b="0" i="0" u="none" strike="noStrike" cap="none">
                <a:solidFill>
                  <a:srgbClr val="338DC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680929" y="1826048"/>
            <a:ext cx="8542556" cy="435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1437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101C32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143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rgbClr val="101C32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rgbClr val="101C3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680928" y="6357822"/>
            <a:ext cx="222849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75" b="0" i="0" u="none" strike="noStrike" cap="none">
                <a:solidFill>
                  <a:srgbClr val="8A8E9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280837" y="6357822"/>
            <a:ext cx="3342739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75" b="0" i="0" u="none" strike="noStrike" cap="none">
                <a:solidFill>
                  <a:srgbClr val="8A8E9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co.com/-/media/4C983F38515E4D16A0D84E0E248913D7.ashx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2930" t="18331" r="16543" b="10878"/>
          <a:stretch/>
        </p:blipFill>
        <p:spPr>
          <a:xfrm>
            <a:off x="4518734" y="2267592"/>
            <a:ext cx="4599559" cy="440260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"/>
          <p:cNvSpPr txBox="1"/>
          <p:nvPr/>
        </p:nvSpPr>
        <p:spPr>
          <a:xfrm>
            <a:off x="-435005" y="5951647"/>
            <a:ext cx="4953740" cy="90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2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Fintech and Artificial Intelligence in Finance – 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2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Towards a transparent financial industry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1400" b="0" i="0" u="none" strike="noStrike" cap="none">
              <a:solidFill>
                <a:srgbClr val="0064B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BA"/>
              </a:buClr>
              <a:buSzPts val="1800"/>
              <a:buFont typeface="Century Gothic"/>
              <a:buNone/>
            </a:pPr>
            <a:r>
              <a:rPr lang="en-US" sz="1100" b="0" i="0" u="none" strike="noStrike" cap="none">
                <a:solidFill>
                  <a:srgbClr val="0064B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EU COST Action CA19130</a:t>
            </a:r>
            <a:endParaRPr sz="14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676842" y="180514"/>
            <a:ext cx="7683783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338DC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EBEB4E-A51E-B390-3298-0F6364F76556}"/>
              </a:ext>
            </a:extLst>
          </p:cNvPr>
          <p:cNvSpPr txBox="1"/>
          <p:nvPr/>
        </p:nvSpPr>
        <p:spPr>
          <a:xfrm>
            <a:off x="589935" y="934065"/>
            <a:ext cx="43622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Country update</a:t>
            </a:r>
          </a:p>
          <a:p>
            <a:endParaRPr lang="en-US" sz="2800" b="1" dirty="0"/>
          </a:p>
          <a:p>
            <a:r>
              <a:rPr lang="en-US" sz="2800" b="1" dirty="0"/>
              <a:t>Ireland</a:t>
            </a:r>
            <a:endParaRPr lang="en-IE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CF14731-C7AA-3CA9-5706-AB52CF34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I – ML and cryptos</a:t>
            </a:r>
            <a:endParaRPr lang="en-I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80E34A-6A30-08DB-0CCF-52B21B8AE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929" y="1691080"/>
            <a:ext cx="8542556" cy="51685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As the Irish node, we have continued working mainly on the papers linked with the policy-oriented events we held last year in Brussels and in the Azores.  See for example the following:</a:t>
            </a:r>
          </a:p>
          <a:p>
            <a:pPr lvl="1">
              <a:lnSpc>
                <a:spcPct val="110000"/>
              </a:lnSpc>
            </a:pPr>
            <a:r>
              <a:rPr lang="en-IE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“Assessing AI and Data Protection Expertise in Academia and the Financial Sector: Insights and Recommendations for AI Skills Development” (with Maria Moloney, Ekaterina </a:t>
            </a:r>
            <a:r>
              <a:rPr lang="en-IE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Svetlova</a:t>
            </a:r>
            <a:r>
              <a:rPr lang="en-IE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Cal Muckley, Eleftheria G. </a:t>
            </a:r>
            <a:r>
              <a:rPr lang="en-IE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Paschalidou</a:t>
            </a:r>
            <a:r>
              <a:rPr lang="en-IE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Ioana Coita), Journal of Financial Transformation 58, November 2023; </a:t>
            </a:r>
            <a:endParaRPr lang="en-IE" sz="16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592963" lvl="1" indent="0">
              <a:lnSpc>
                <a:spcPct val="110000"/>
              </a:lnSpc>
              <a:buNone/>
            </a:pPr>
            <a:r>
              <a:rPr lang="en-IE" sz="1600" u="sng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2"/>
              </a:rPr>
              <a:t>https://www.capco.com/-/media/4C983F38515E4D16A0D84E0E248913D7.ashx</a:t>
            </a:r>
            <a:endParaRPr lang="en-IE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We are also working on what we call “Narrative Finance”, which is related to the AI/ML aspects of the Action, mainly with the following two working papers:</a:t>
            </a:r>
          </a:p>
          <a:p>
            <a:pPr lvl="1">
              <a:lnSpc>
                <a:spcPct val="110000"/>
              </a:lnSpc>
            </a:pPr>
            <a:r>
              <a:rPr lang="en-IE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“Bubbles Talk: Narrative Augmented Bubble Prediction”, with Y. Chen and D. Bredin, Michael J. Brennan Irish Finance Working Paper Series Research Paper No. 23-5, 2024.</a:t>
            </a:r>
          </a:p>
          <a:p>
            <a:pPr lvl="1">
              <a:lnSpc>
                <a:spcPct val="110000"/>
              </a:lnSpc>
            </a:pPr>
            <a:r>
              <a:rPr lang="en-IE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“Fed Put in the Equity Options Markets”, with Dahiya, S., Kamrad, B., A.R. Siddique,  Michael J. Brennan Irish Finance Working Paper Series Research Paper No. 22-11, 2024.</a:t>
            </a:r>
          </a:p>
          <a:p>
            <a:pPr>
              <a:lnSpc>
                <a:spcPct val="110000"/>
              </a:lnSpc>
            </a:pP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Other work related to the topics of the Action includes papers on cryptos, such as:</a:t>
            </a:r>
          </a:p>
          <a:p>
            <a:pPr lvl="1">
              <a:lnSpc>
                <a:spcPct val="110000"/>
              </a:lnSpc>
            </a:pPr>
            <a:r>
              <a:rPr lang="en-IE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“Crypto-environment network connectivity and Bitcoin returns distribution tail behaviour”, with R. Caferra and A. Morone, Economics Letters 218, 2022.</a:t>
            </a:r>
          </a:p>
        </p:txBody>
      </p:sp>
    </p:spTree>
    <p:extLst>
      <p:ext uri="{BB962C8B-B14F-4D97-AF65-F5344CB8AC3E}">
        <p14:creationId xmlns:p14="http://schemas.microsoft.com/office/powerpoint/2010/main" val="305676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CF14731-C7AA-3CA9-5706-AB52CF34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II - diversity</a:t>
            </a:r>
            <a:endParaRPr lang="en-I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80E34A-6A30-08DB-0CCF-52B21B8AE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929" y="1826048"/>
            <a:ext cx="8542556" cy="50335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We were also active on topics and activities related to diversity, which lead among others to the following working papers:</a:t>
            </a:r>
          </a:p>
          <a:p>
            <a:pPr lvl="1">
              <a:lnSpc>
                <a:spcPct val="100000"/>
              </a:lnSpc>
            </a:pP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Pisoni, G., Paccagnini, A., Tarantola, C., Tanda, A., Shala, A. and </a:t>
            </a:r>
            <a:r>
              <a:rPr lang="en-I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Meriem</a:t>
            </a: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K., 2022. SI women in Fintech and AI. Digital Finance, 4(4), pp.263-264.</a:t>
            </a:r>
          </a:p>
          <a:p>
            <a:pPr lvl="1">
              <a:lnSpc>
                <a:spcPct val="100000"/>
              </a:lnSpc>
            </a:pP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Barbara </a:t>
            </a:r>
            <a:r>
              <a:rPr lang="en-I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Będowska-Sójka</a:t>
            </a: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Claudia Tarantola, Codruta Mare, Alessia Paccagnini, Belma Ozturkkal, Galena Pisoni, </a:t>
            </a:r>
            <a:r>
              <a:rPr lang="en-I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Rezarta</a:t>
            </a: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Perri,</a:t>
            </a:r>
            <a:b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I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Albulena</a:t>
            </a:r>
            <a:r>
              <a:rPr lang="en-I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Shala, and Hanna Kristín Skaftadóttir, 2024. Editorial Boards of Finance Journals: The Gender Gap and Social Network, working paper under revision to a journal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2399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1F3864"/>
      </a:dk1>
      <a:lt1>
        <a:srgbClr val="FFFFFF"/>
      </a:lt1>
      <a:dk2>
        <a:srgbClr val="1F3864"/>
      </a:dk2>
      <a:lt2>
        <a:srgbClr val="E7E6E6"/>
      </a:lt2>
      <a:accent1>
        <a:srgbClr val="1F3864"/>
      </a:accent1>
      <a:accent2>
        <a:srgbClr val="0F1C3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Custom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Century Gothic</vt:lpstr>
      <vt:lpstr>Aptos</vt:lpstr>
      <vt:lpstr>Arial</vt:lpstr>
      <vt:lpstr>Office Theme</vt:lpstr>
      <vt:lpstr>PowerPoint Presentation</vt:lpstr>
      <vt:lpstr>Activities I – ML and cryptos</vt:lpstr>
      <vt:lpstr>Activities II - diversity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Kotlarz Piotr Kamil (kotl)</dc:creator>
  <cp:lastModifiedBy>Valerio Poti</cp:lastModifiedBy>
  <cp:revision>7</cp:revision>
  <dcterms:created xsi:type="dcterms:W3CDTF">2021-02-07T20:47:18Z</dcterms:created>
  <dcterms:modified xsi:type="dcterms:W3CDTF">2024-03-27T13:01:34Z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2021-04-22T06:45:08Z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a2116a3d-a956-4e46-a0c4-799a216d58c9</vt:lpwstr>
  </property>
  <property fmtid="{D5CDD505-2E9C-101B-9397-08002B2CF9AE}" pid="8" name="MSIP_Label_10d9bad3-6dac-4e9a-89a3-89f3b8d247b2_ContentBits">
    <vt:lpwstr>0</vt:lpwstr>
  </property>
  <property fmtid="{D5CDD505-2E9C-101B-9397-08002B2CF9AE}" pid="9" name="ContentTypeId">
    <vt:lpwstr>0x0101006C54B87C28FEFA4AAE092391D0079FE1</vt:lpwstr>
  </property>
  <property fmtid="{D5CDD505-2E9C-101B-9397-08002B2CF9AE}" pid="10" name="MediaServiceImageTags">
    <vt:lpwstr/>
  </property>
</Properties>
</file>