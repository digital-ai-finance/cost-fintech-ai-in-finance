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94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g38paJ/s7l/uh9s10rKnDWo3Up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49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0b3b84e0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280b3b84e0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280b3b84e0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0b3b84e0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280b3b84e0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280b3b84e0b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80b3b84e0b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280b3b84e0b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280b3b84e0b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80b3b84e0b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280b3b84e0b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280b3b84e0b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twitter.com/costprogramme?lang=fr" TargetMode="External"/><Relationship Id="rId4" Type="http://schemas.openxmlformats.org/officeDocument/2006/relationships/image" Target="../media/image3.jpg"/><Relationship Id="rId11" Type="http://schemas.openxmlformats.org/officeDocument/2006/relationships/image" Target="../media/image10.png"/><Relationship Id="rId10" Type="http://schemas.openxmlformats.org/officeDocument/2006/relationships/hyperlink" Target="https://www.linkedin.com/company/cost-office" TargetMode="External"/><Relationship Id="rId9" Type="http://schemas.openxmlformats.org/officeDocument/2006/relationships/image" Target="../media/image6.png"/><Relationship Id="rId5" Type="http://schemas.openxmlformats.org/officeDocument/2006/relationships/hyperlink" Target="http://www.cost.eu/" TargetMode="External"/><Relationship Id="rId6" Type="http://schemas.openxmlformats.org/officeDocument/2006/relationships/hyperlink" Target="https://www.youtube.com/user/COSTOffice" TargetMode="External"/><Relationship Id="rId7" Type="http://schemas.openxmlformats.org/officeDocument/2006/relationships/image" Target="../media/image11.png"/><Relationship Id="rId8" Type="http://schemas.openxmlformats.org/officeDocument/2006/relationships/hyperlink" Target="https://www.facebook.com/COST.Programme/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title">
  <p:cSld name="Presentation - 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"/>
          <p:cNvSpPr txBox="1"/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" type="body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2" type="body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Content">
  <p:cSld name="Presentation -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 txBox="1"/>
          <p:nvPr>
            <p:ph idx="1" type="body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resentation - title">
  <p:cSld name="1_Presentation - 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"/>
          <p:cNvSpPr txBox="1"/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resentation - title">
  <p:cSld name="2_Presentation - 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/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2" type="body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Content 2">
  <p:cSld name="Presentation - Content 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Empty - Content">
  <p:cSld name="Presentation - Empty -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 txBox="1"/>
          <p:nvPr>
            <p:ph idx="1" type="body"/>
          </p:nvPr>
        </p:nvSpPr>
        <p:spPr>
          <a:xfrm>
            <a:off x="874713" y="1093983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Two content shapes">
  <p:cSld name="Presentation - Two content shape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resentation - Content">
  <p:cSld name="1_Presentation - 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1"/>
          <p:cNvSpPr txBox="1"/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1"/>
          <p:cNvSpPr/>
          <p:nvPr>
            <p:ph idx="2" type="tbl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resentation - Content 2">
  <p:cSld name="1_Presentation - Content 2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2"/>
          <p:cNvSpPr/>
          <p:nvPr>
            <p:ph idx="2" type="tbl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resentation - Empty - Content">
  <p:cSld name="1_Presentation - Empty -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3"/>
          <p:cNvSpPr/>
          <p:nvPr>
            <p:ph idx="2" type="tbl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Content - Smartart">
  <p:cSld name="Presentation - Content - Smartar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4"/>
          <p:cNvSpPr/>
          <p:nvPr>
            <p:ph idx="2" type="dgm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Empty">
  <p:cSld name="Presentation - Empt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5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b="0" i="0" lang="en-US" sz="16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72" name="Google Shape;72;p15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descr="Plan de travail 1OFF-Icones.jpg" id="73" name="Google Shape;73;p15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15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b="0" i="0" sz="1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" name="Google Shape;75;p15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5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5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b="1" i="0" sz="1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8" name="Google Shape;78;p15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Empty 2">
  <p:cSld name="Presentation - Empty 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Empty - Empty">
  <p:cSld name="Presentation - Empty - Empt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1107253" y="3961396"/>
            <a:ext cx="10346809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/>
              <a:t>COST Fin AI Country Update- September 2023</a:t>
            </a:r>
            <a:endParaRPr/>
          </a:p>
        </p:txBody>
      </p:sp>
      <p:sp>
        <p:nvSpPr>
          <p:cNvPr id="90" name="Google Shape;90;p1"/>
          <p:cNvSpPr txBox="1"/>
          <p:nvPr>
            <p:ph idx="1" type="body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/>
              <a:t>Türkiye</a:t>
            </a:r>
            <a:endParaRPr/>
          </a:p>
        </p:txBody>
      </p:sp>
      <p:sp>
        <p:nvSpPr>
          <p:cNvPr id="91" name="Google Shape;91;p1"/>
          <p:cNvSpPr txBox="1"/>
          <p:nvPr>
            <p:ph idx="2" type="body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en-US"/>
              <a:t>Belma Öztürkkal, Enis Kayış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0b3b84e0b_0_0"/>
          <p:cNvSpPr txBox="1"/>
          <p:nvPr>
            <p:ph idx="1" type="body"/>
          </p:nvPr>
        </p:nvSpPr>
        <p:spPr>
          <a:xfrm>
            <a:off x="874725" y="2102950"/>
            <a:ext cx="10225200" cy="4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000"/>
              <a:t>Total 31 members (10 Female, 21 Male) for Working Groups (+5 submitted) </a:t>
            </a:r>
            <a:endParaRPr b="1" sz="2000"/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000"/>
              <a:t>WG 1 (13), WG 2 (27), WG 3 (15) </a:t>
            </a:r>
            <a:endParaRPr b="1"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b="1" lang="en-US" sz="1800"/>
              <a:t>Different fields (Finance, Business, Economics, Engineering, Mathematics)</a:t>
            </a:r>
            <a:endParaRPr b="1" sz="16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b="1" lang="en-US" sz="1600"/>
              <a:t>MC Members:</a:t>
            </a:r>
            <a:endParaRPr b="1" sz="1600"/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600"/>
              <a:t>Enis Kayış: </a:t>
            </a:r>
            <a:r>
              <a:rPr lang="en-US" sz="1600"/>
              <a:t>Assistant Professor of Industrial Engineering at Ozyegin University</a:t>
            </a:r>
            <a:endParaRPr sz="1200"/>
          </a:p>
          <a:p>
            <a:pPr indent="-355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1200"/>
              <a:t>ITC CG Coordinator, Core Group Member</a:t>
            </a:r>
            <a:endParaRPr sz="1200"/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600"/>
              <a:t>Belma Öztürkkal: </a:t>
            </a:r>
            <a:r>
              <a:rPr lang="en-US" sz="1600"/>
              <a:t>Professor of Finance at Kadir Has University</a:t>
            </a:r>
            <a:endParaRPr/>
          </a:p>
          <a:p>
            <a:pPr indent="-355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1200"/>
              <a:t>Diversity Team Member</a:t>
            </a:r>
            <a:endParaRPr sz="12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b="1" lang="en-US" sz="1600"/>
              <a:t>Substitute MC Member:</a:t>
            </a:r>
            <a:endParaRPr b="1" sz="16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b="1" lang="en-US" sz="1600"/>
              <a:t>Selçuk Karabatı:</a:t>
            </a:r>
            <a:r>
              <a:rPr lang="en-US" sz="1600"/>
              <a:t> Professor of Operations Management at Koc University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b="1" lang="en-US" sz="1600"/>
              <a:t>Other Responsibilities</a:t>
            </a:r>
            <a:endParaRPr b="1" sz="1600"/>
          </a:p>
          <a:p>
            <a:pPr indent="-330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Diversity Team: Mutlu Akar (Associate Professor of Mathematics Department at Yildiz Technical University, Esra Kabaklarlı (Associate Professor of Economics Dept at Selçuk University)</a:t>
            </a:r>
            <a:endParaRPr sz="1600"/>
          </a:p>
          <a:p>
            <a:pPr indent="-330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Core Group/Team: Gizay Daver (Assistant Professor of Finance and Banking at Zonguldak Bulent Ecevit University)</a:t>
            </a:r>
            <a:endParaRPr sz="1600"/>
          </a:p>
        </p:txBody>
      </p:sp>
      <p:sp>
        <p:nvSpPr>
          <p:cNvPr id="98" name="Google Shape;98;g280b3b84e0b_0_0"/>
          <p:cNvSpPr txBox="1"/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Members</a:t>
            </a:r>
            <a:endParaRPr/>
          </a:p>
        </p:txBody>
      </p:sp>
      <p:sp>
        <p:nvSpPr>
          <p:cNvPr id="99" name="Google Shape;99;g280b3b84e0b_0_0"/>
          <p:cNvSpPr txBox="1"/>
          <p:nvPr>
            <p:ph type="title"/>
          </p:nvPr>
        </p:nvSpPr>
        <p:spPr>
          <a:xfrm>
            <a:off x="115125" y="51200"/>
            <a:ext cx="84678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Türkiye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80b3b84e0b_0_6"/>
          <p:cNvSpPr txBox="1"/>
          <p:nvPr>
            <p:ph idx="1" type="body"/>
          </p:nvPr>
        </p:nvSpPr>
        <p:spPr>
          <a:xfrm>
            <a:off x="874725" y="2102950"/>
            <a:ext cx="10225200" cy="4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b="1" lang="en-US" sz="1400"/>
              <a:t>Cross-country survey transparency, investors’ perception </a:t>
            </a:r>
            <a:r>
              <a:rPr lang="en-US" sz="1400"/>
              <a:t>(second phase </a:t>
            </a:r>
            <a:r>
              <a:rPr b="1" lang="en-US" sz="1400"/>
              <a:t>in 2023 October</a:t>
            </a:r>
            <a:r>
              <a:rPr lang="en-US" sz="1400"/>
              <a:t> B. Öztürkkal with M. Ionnario, C. Tarantola, S. Giordano, B. Bedowska)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b="1" lang="en-US" sz="1400"/>
              <a:t>Venture Capital Bibliometric Analysis and Systematic Review </a:t>
            </a:r>
            <a:r>
              <a:rPr lang="en-US" sz="1400"/>
              <a:t>(submitted to Small Business Economics </a:t>
            </a:r>
            <a:r>
              <a:rPr b="1" lang="en-US" sz="1400"/>
              <a:t>in 2023</a:t>
            </a:r>
            <a:r>
              <a:rPr lang="en-US" sz="1400"/>
              <a:t>, B. Öztürkkal with P. Lameski, E. Zdravevski, A. Tanda, R. Wahlstrom, V. Trajkovik, C. Mare).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▪"/>
            </a:pPr>
            <a:r>
              <a:rPr b="1" lang="en-US" sz="1400"/>
              <a:t>Women Editors</a:t>
            </a:r>
            <a:r>
              <a:rPr lang="en-US" sz="1400"/>
              <a:t> (submitted to Journal of Business Ethics </a:t>
            </a:r>
            <a:r>
              <a:rPr b="1" lang="en-US" sz="1400"/>
              <a:t>in 2023</a:t>
            </a:r>
            <a:r>
              <a:rPr lang="en-US" sz="1400"/>
              <a:t>, B. Öztürkkal, B. Bedowska with other members)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b="1" lang="en-US" sz="1400">
                <a:highlight>
                  <a:schemeClr val="lt1"/>
                </a:highlight>
              </a:rPr>
              <a:t>Explaining mortgage defaults using SHAP and LASSO </a:t>
            </a:r>
            <a:r>
              <a:rPr lang="en-US" sz="1400">
                <a:highlight>
                  <a:schemeClr val="lt1"/>
                </a:highlight>
              </a:rPr>
              <a:t>(submitted to Computational Economics </a:t>
            </a:r>
            <a:r>
              <a:rPr b="1" lang="en-US" sz="1400"/>
              <a:t>in 2023</a:t>
            </a:r>
            <a:r>
              <a:rPr lang="en-US" sz="1400">
                <a:highlight>
                  <a:schemeClr val="lt1"/>
                </a:highlight>
              </a:rPr>
              <a:t>,</a:t>
            </a:r>
            <a:r>
              <a:rPr i="1" lang="en-US" sz="1400">
                <a:highlight>
                  <a:schemeClr val="lt1"/>
                </a:highlight>
              </a:rPr>
              <a:t> </a:t>
            </a:r>
            <a:r>
              <a:rPr lang="en-US" sz="1400">
                <a:highlight>
                  <a:schemeClr val="lt1"/>
                </a:highlight>
              </a:rPr>
              <a:t>B. Öztürkkal with Wahlstrøm)</a:t>
            </a:r>
            <a:endParaRPr sz="1400"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 sz="1400"/>
              <a:t>Literature review paper WG2 - Portfolio management (ongoing </a:t>
            </a:r>
            <a:r>
              <a:rPr b="1" lang="en-US" sz="1400"/>
              <a:t>2021</a:t>
            </a:r>
            <a:r>
              <a:rPr lang="en-US" sz="1400"/>
              <a:t>, B. Öztürkkal with other members)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 sz="1400"/>
              <a:t>Literature review paper WG2 - Sentiment analysis (ongoing </a:t>
            </a:r>
            <a:r>
              <a:rPr b="1" lang="en-US" sz="1400"/>
              <a:t>2021</a:t>
            </a:r>
            <a:r>
              <a:rPr lang="en-US" sz="1400"/>
              <a:t>, B. Öztürkkal with other members)</a:t>
            </a:r>
            <a:endParaRPr sz="1400"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b="1" lang="en-US" sz="1400"/>
              <a:t>Machine Learning Framework to Price Setting Risk Averse Data-Driven Newsvendor Problem: NFT Portfolio Management </a:t>
            </a:r>
            <a:r>
              <a:rPr lang="en-US" sz="1400"/>
              <a:t>(working paper, E. Atsiz, E. Kayış, E. Albey)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b="1" lang="en-US" sz="1400"/>
              <a:t>Rolling Look-Ahead Approaches for Optimal Classification Trees</a:t>
            </a:r>
            <a:r>
              <a:rPr lang="en-US" sz="1400"/>
              <a:t> (under revision for IISE Transactions, B. Organ, E. Kayış and T. Khaniyev)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b="1" lang="en-US" sz="1400"/>
              <a:t>Green FinTech: Sustainability of Bitcoin</a:t>
            </a:r>
            <a:r>
              <a:rPr lang="en-US" sz="1400"/>
              <a:t> (submitted to Digital Finance, E. Kabaklarlı)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b="1" lang="en-US" sz="1400"/>
              <a:t>Integration of machine learning and artificial intelligence into decision support mechanism in banking risk management systems and policies</a:t>
            </a:r>
            <a:r>
              <a:rPr lang="en-US" sz="1400"/>
              <a:t> (submitted project </a:t>
            </a:r>
            <a:r>
              <a:rPr b="1" lang="en-US" sz="1400"/>
              <a:t>2023</a:t>
            </a:r>
            <a:r>
              <a:rPr lang="en-US" sz="1400"/>
              <a:t>, G.Daver with other non-members)</a:t>
            </a:r>
            <a:endParaRPr sz="1400"/>
          </a:p>
        </p:txBody>
      </p:sp>
      <p:sp>
        <p:nvSpPr>
          <p:cNvPr id="106" name="Google Shape;106;g280b3b84e0b_0_6"/>
          <p:cNvSpPr txBox="1"/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Papers / Projects</a:t>
            </a:r>
            <a:endParaRPr/>
          </a:p>
        </p:txBody>
      </p:sp>
      <p:sp>
        <p:nvSpPr>
          <p:cNvPr id="107" name="Google Shape;107;g280b3b84e0b_0_6"/>
          <p:cNvSpPr txBox="1"/>
          <p:nvPr>
            <p:ph type="title"/>
          </p:nvPr>
        </p:nvSpPr>
        <p:spPr>
          <a:xfrm>
            <a:off x="115125" y="51200"/>
            <a:ext cx="84678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Türkiye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80b3b84e0b_0_25"/>
          <p:cNvSpPr txBox="1"/>
          <p:nvPr>
            <p:ph idx="1" type="body"/>
          </p:nvPr>
        </p:nvSpPr>
        <p:spPr>
          <a:xfrm>
            <a:off x="874713" y="2102946"/>
            <a:ext cx="10225200" cy="3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b="1" lang="en-US" sz="1400"/>
              <a:t>Cross-country survey transparency, investors’ perception </a:t>
            </a:r>
            <a:r>
              <a:rPr lang="en-US" sz="1400"/>
              <a:t>(</a:t>
            </a:r>
            <a:r>
              <a:rPr b="1" lang="en-US" sz="1400"/>
              <a:t>completed </a:t>
            </a:r>
            <a:r>
              <a:rPr lang="en-US" sz="1400"/>
              <a:t>VM grant </a:t>
            </a:r>
            <a:r>
              <a:rPr b="1" lang="en-US" sz="1400"/>
              <a:t>2021</a:t>
            </a:r>
            <a:r>
              <a:rPr lang="en-US" sz="1400"/>
              <a:t>- B. Öztürkkal with G. Pisoni, A. Tanda, P. Schwendner).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b="1" lang="en-US" sz="1400"/>
              <a:t>Venture Capital Bibliometric Analysis and Systematic Review </a:t>
            </a:r>
            <a:r>
              <a:rPr lang="en-US" sz="1400"/>
              <a:t>(</a:t>
            </a:r>
            <a:r>
              <a:rPr b="1" lang="en-US" sz="1400"/>
              <a:t>completed 2022 </a:t>
            </a:r>
            <a:r>
              <a:rPr lang="en-US" sz="1400"/>
              <a:t>VM grant- B. Öztürkkal with P. Lameski, E. Zdravevski, A. Tanda, R. Wahlstrom, V. Trajkovik, C. Mare).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 sz="1400"/>
              <a:t>COST Virtual Mobility Grant,CA19130, </a:t>
            </a:r>
            <a:r>
              <a:rPr b="1" lang="en-US" sz="1400"/>
              <a:t>Bitcoin Mining and Its Environmental Effects; Nexus of Green FinTech</a:t>
            </a:r>
            <a:r>
              <a:rPr lang="en-US" sz="1400"/>
              <a:t>, 01 September 2021- 01 October 2021 Esra Kabaklarlı.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 sz="1400"/>
              <a:t>COST Virtual Mobility Grant CA19130 </a:t>
            </a:r>
            <a:r>
              <a:rPr b="1" lang="en-US" sz="1400">
                <a:highlight>
                  <a:srgbClr val="FCFCFC"/>
                </a:highlight>
              </a:rPr>
              <a:t>The Role of FinTech in Cashless Economy and Green Growth</a:t>
            </a:r>
            <a:r>
              <a:rPr lang="en-US" sz="1400">
                <a:highlight>
                  <a:srgbClr val="FCFCFC"/>
                </a:highlight>
              </a:rPr>
              <a:t>, 27/09/2022-06/10/2022 </a:t>
            </a:r>
            <a:r>
              <a:rPr lang="en-US" sz="1400"/>
              <a:t>Esra Kabaklarlı.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 sz="1400"/>
              <a:t>COST FinAI Summer School 2023, Data Science For Sustainable Finance And Economics, </a:t>
            </a:r>
            <a:r>
              <a:rPr b="1" lang="en-US" sz="1400"/>
              <a:t>Role of Green Fintech in Promoting Economic Growth, Evidence From The OECD Countries : Panel Data Analysis</a:t>
            </a:r>
            <a:r>
              <a:rPr lang="en-US" sz="1400"/>
              <a:t>, Esra Kabaklarlı</a:t>
            </a:r>
            <a:endParaRPr sz="14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4" name="Google Shape;114;g280b3b84e0b_0_25"/>
          <p:cNvSpPr txBox="1"/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Networking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80b3b84e0b_0_12"/>
          <p:cNvSpPr txBox="1"/>
          <p:nvPr>
            <p:ph idx="1" type="body"/>
          </p:nvPr>
        </p:nvSpPr>
        <p:spPr>
          <a:xfrm>
            <a:off x="874713" y="2102946"/>
            <a:ext cx="10225200" cy="3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▪"/>
            </a:pPr>
            <a:r>
              <a:rPr b="1" lang="en-US" sz="1400">
                <a:solidFill>
                  <a:srgbClr val="FF0000"/>
                </a:solidFill>
              </a:rPr>
              <a:t>COST FinAI Meets Istanbul </a:t>
            </a:r>
            <a:r>
              <a:rPr lang="en-US" sz="1400"/>
              <a:t>(Core Group Meeting,Working Group Meeting) will be organized by Mutlu Akar in Istanbul, Türkiye, during </a:t>
            </a:r>
            <a:r>
              <a:rPr b="1" lang="en-US" sz="1400"/>
              <a:t>20-21 May 2024</a:t>
            </a:r>
            <a:endParaRPr b="1" sz="14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b="1" lang="en-US" sz="1400">
                <a:solidFill>
                  <a:srgbClr val="FF0000"/>
                </a:solidFill>
              </a:rPr>
              <a:t>Second Phase of Erasmus+ nextGen ESG after application</a:t>
            </a:r>
            <a:r>
              <a:rPr lang="en-US" sz="1400"/>
              <a:t> in </a:t>
            </a:r>
            <a:r>
              <a:rPr b="1" lang="en-US" sz="1400"/>
              <a:t>October 2023 </a:t>
            </a:r>
            <a:r>
              <a:rPr lang="en-US" sz="1400"/>
              <a:t>with leadership of Ö. Yıldırım, with M. Akar and B. Öztürkkal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1400"/>
              <a:t>Help create ties between researchers from Turkey and our existing Action network</a:t>
            </a:r>
            <a:endParaRPr sz="14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1400"/>
              <a:t>Collect data from banking association; involve local CFA chapter; contact regulatory authorities and private banks. </a:t>
            </a:r>
            <a:endParaRPr sz="14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1400"/>
              <a:t>Inclusion of some of Turkey's leading fintech companies (Sigortam.net, HangiKredi)  in the action</a:t>
            </a:r>
            <a:endParaRPr sz="14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▪"/>
            </a:pPr>
            <a:r>
              <a:rPr b="1" lang="en-US" sz="1400">
                <a:solidFill>
                  <a:srgbClr val="FF0000"/>
                </a:solidFill>
              </a:rPr>
              <a:t>COST FinAI Meets Prague </a:t>
            </a:r>
            <a:r>
              <a:rPr lang="en-US" sz="1400"/>
              <a:t>(Core Group Meeting,Working Group Meeting) is planned to be held in Prague, Czech Republic, during </a:t>
            </a:r>
            <a:r>
              <a:rPr b="1" lang="en-US" sz="1400"/>
              <a:t>29-30 August 2024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1" name="Google Shape;121;g280b3b84e0b_0_12"/>
          <p:cNvSpPr txBox="1"/>
          <p:nvPr>
            <p:ph type="title"/>
          </p:nvPr>
        </p:nvSpPr>
        <p:spPr>
          <a:xfrm>
            <a:off x="874713" y="1515254"/>
            <a:ext cx="8327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Future Plans</a:t>
            </a:r>
            <a:endParaRPr/>
          </a:p>
        </p:txBody>
      </p:sp>
      <p:sp>
        <p:nvSpPr>
          <p:cNvPr id="122" name="Google Shape;122;g280b3b84e0b_0_12"/>
          <p:cNvSpPr txBox="1"/>
          <p:nvPr>
            <p:ph type="title"/>
          </p:nvPr>
        </p:nvSpPr>
        <p:spPr>
          <a:xfrm>
            <a:off x="115125" y="51200"/>
            <a:ext cx="84678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Türkiye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8"/>
          <p:cNvSpPr txBox="1"/>
          <p:nvPr>
            <p:ph idx="1" type="body"/>
          </p:nvPr>
        </p:nvSpPr>
        <p:spPr>
          <a:xfrm>
            <a:off x="874725" y="2102950"/>
            <a:ext cx="4978500" cy="3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Prof.Dr.Ahmet ALKAN, WG 2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Prof. Mutlu AKAR, WG 2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Prof Ozgur YILDIRIM, WG 2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Dr. Seda TURK, WG 2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Prof. Belma OZTURKKAL, WG 2, WG 3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Prof. Ismail KIRBAS, WG 1, WG 2, WG 3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Dr. Gamze OZTURK DANISMAN, WG 1, WG 2, WG 3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Mr. Bekir BERKCAN, WG 1, WG 2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Dr. Alper OZCAN, WG 1, WG 2, WG 3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Dr. Sinan HANAY, WG 1, WG 2, WG 3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Prof. Melike BILDIRICI, WG 1, WG 2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Associate Prof. Esra KABAKLARLI, WG 1, WG 3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300"/>
              <a:t>Prof. Enis KAYIS, WG 1, WG 2	</a:t>
            </a:r>
            <a:endParaRPr sz="1300"/>
          </a:p>
          <a:p>
            <a:pPr indent="0" lvl="0" marL="50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/>
          </a:p>
        </p:txBody>
      </p:sp>
      <p:sp>
        <p:nvSpPr>
          <p:cNvPr id="128" name="Google Shape;128;p48"/>
          <p:cNvSpPr txBox="1"/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/>
              <a:t>Members</a:t>
            </a:r>
            <a:endParaRPr/>
          </a:p>
        </p:txBody>
      </p:sp>
      <p:sp>
        <p:nvSpPr>
          <p:cNvPr id="129" name="Google Shape;129;p48"/>
          <p:cNvSpPr txBox="1"/>
          <p:nvPr/>
        </p:nvSpPr>
        <p:spPr>
          <a:xfrm>
            <a:off x="6802650" y="2102950"/>
            <a:ext cx="40230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Dr. Bertaç Şakir ŞAHİN WG1, WG2, WG3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Prof. Sadettin Haluk Çitçi WG3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Dr. Bekir CETINTAV, WG1, WG2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Mr. Ferit BUYUKKECİCİ, WG1, WG2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Prof. Gizay Daver, WG2,WG3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8"/>
          <p:cNvSpPr txBox="1"/>
          <p:nvPr>
            <p:ph type="title"/>
          </p:nvPr>
        </p:nvSpPr>
        <p:spPr>
          <a:xfrm>
            <a:off x="115125" y="51200"/>
            <a:ext cx="84678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Türkiye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ST_ppt-16_9-color_1">
  <a:themeElements>
    <a:clrScheme name="COST THEME FUSHIA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Piotr</dc:creator>
</cp:coreProperties>
</file>