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1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3l4owGN+woN3viJXoi67ftlsc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92" y="20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44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en-US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15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5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5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5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5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5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ites.google.com/net.efzg.hr/tinfinconference/" TargetMode="External"/><Relationship Id="rId5" Type="http://schemas.openxmlformats.org/officeDocument/2006/relationships/hyperlink" Target="https://www.youtube.com/watch?v=foYG70ZYvMY" TargetMode="External"/><Relationship Id="rId4" Type="http://schemas.openxmlformats.org/officeDocument/2006/relationships/hyperlink" Target="10.1007/s42521-022-00062-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003887" y="366837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br>
              <a:rPr lang="en-US"/>
            </a:br>
            <a:r>
              <a:rPr lang="en-US"/>
              <a:t>COST FinAI annual meeting 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1"/>
          </p:nvPr>
        </p:nvSpPr>
        <p:spPr>
          <a:xfrm>
            <a:off x="860280" y="501109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b="1">
                <a:solidFill>
                  <a:srgbClr val="C00000"/>
                </a:solidFill>
              </a:rPr>
              <a:t>Lithuanian Node of FinAI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body" idx="2"/>
          </p:nvPr>
        </p:nvSpPr>
        <p:spPr>
          <a:xfrm>
            <a:off x="4727797" y="4776259"/>
            <a:ext cx="2482900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September 27-28, 2023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45838" y="1506179"/>
            <a:ext cx="7080704" cy="197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400" dirty="0">
                <a:solidFill>
                  <a:schemeClr val="tx1"/>
                </a:solidFill>
              </a:rPr>
              <a:t>MC </a:t>
            </a:r>
            <a:r>
              <a:rPr lang="lt-LT" sz="2400" dirty="0">
                <a:solidFill>
                  <a:schemeClr val="tx1"/>
                </a:solidFill>
              </a:rPr>
              <a:t>M</a:t>
            </a:r>
            <a:r>
              <a:rPr lang="en-US" sz="2400" dirty="0">
                <a:solidFill>
                  <a:schemeClr val="tx1"/>
                </a:solidFill>
              </a:rPr>
              <a:t>embers:</a:t>
            </a: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400" dirty="0">
                <a:solidFill>
                  <a:schemeClr val="tx1"/>
                </a:solidFill>
              </a:rPr>
              <a:t>Kristina </a:t>
            </a:r>
            <a:r>
              <a:rPr lang="lt-LT" sz="2400" dirty="0">
                <a:solidFill>
                  <a:schemeClr val="tx1"/>
                </a:solidFill>
              </a:rPr>
              <a:t>Šutienė</a:t>
            </a:r>
            <a:r>
              <a:rPr lang="en-US" sz="2400" dirty="0">
                <a:solidFill>
                  <a:schemeClr val="tx1"/>
                </a:solidFill>
              </a:rPr>
              <a:t> (KTU)</a:t>
            </a:r>
            <a:r>
              <a:rPr lang="lt-LT" sz="2400" dirty="0">
                <a:solidFill>
                  <a:schemeClr val="tx1"/>
                </a:solidFill>
              </a:rPr>
              <a:t>, WG</a:t>
            </a:r>
            <a:r>
              <a:rPr lang="en-US" sz="2400" dirty="0">
                <a:solidFill>
                  <a:schemeClr val="tx1"/>
                </a:solidFill>
              </a:rPr>
              <a:t>2</a:t>
            </a:r>
            <a:r>
              <a:rPr lang="lt-LT" sz="2400" dirty="0">
                <a:solidFill>
                  <a:schemeClr val="tx1"/>
                </a:solidFill>
              </a:rPr>
              <a:t> </a:t>
            </a:r>
            <a:r>
              <a:rPr lang="lt-LT" sz="2400" dirty="0" err="1">
                <a:solidFill>
                  <a:schemeClr val="tx1"/>
                </a:solidFill>
              </a:rPr>
              <a:t>Co-leader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lt-LT" sz="2400" dirty="0">
                <a:solidFill>
                  <a:schemeClr val="tx1"/>
                </a:solidFill>
              </a:rPr>
              <a:t>Deimantė Teresienė (VU)</a:t>
            </a: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endParaRPr lang="lt-LT" sz="1000" dirty="0">
              <a:solidFill>
                <a:schemeClr val="tx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lt-LT" sz="2400" dirty="0">
                <a:solidFill>
                  <a:schemeClr val="tx1"/>
                </a:solidFill>
              </a:rPr>
              <a:t>MC Substitute </a:t>
            </a:r>
            <a:r>
              <a:rPr lang="lt-LT" sz="2400" dirty="0" err="1">
                <a:solidFill>
                  <a:schemeClr val="tx1"/>
                </a:solidFill>
              </a:rPr>
              <a:t>Members</a:t>
            </a:r>
            <a:r>
              <a:rPr lang="lt-LT" sz="2400" dirty="0">
                <a:solidFill>
                  <a:schemeClr val="tx1"/>
                </a:solidFill>
              </a:rPr>
              <a:t>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Audrius </a:t>
            </a:r>
            <a:r>
              <a:rPr lang="en-US" sz="2400" dirty="0" err="1">
                <a:solidFill>
                  <a:schemeClr val="tx1"/>
                </a:solidFill>
              </a:rPr>
              <a:t>Kaba</a:t>
            </a:r>
            <a:r>
              <a:rPr lang="lt-LT" sz="2400" dirty="0" err="1">
                <a:solidFill>
                  <a:schemeClr val="tx1"/>
                </a:solidFill>
              </a:rPr>
              <a:t>šinskas</a:t>
            </a:r>
            <a:r>
              <a:rPr lang="lt-LT" sz="2400" dirty="0">
                <a:solidFill>
                  <a:schemeClr val="tx1"/>
                </a:solidFill>
              </a:rPr>
              <a:t> (KTU), </a:t>
            </a:r>
            <a:r>
              <a:rPr lang="lt-LT" sz="2400" dirty="0" err="1">
                <a:solidFill>
                  <a:schemeClr val="tx1"/>
                </a:solidFill>
              </a:rPr>
              <a:t>Coordinator</a:t>
            </a:r>
            <a:r>
              <a:rPr lang="lt-LT" sz="2400" dirty="0">
                <a:solidFill>
                  <a:schemeClr val="tx1"/>
                </a:solidFill>
              </a:rPr>
              <a:t> </a:t>
            </a:r>
            <a:r>
              <a:rPr lang="lt-LT" sz="2400" dirty="0" err="1">
                <a:solidFill>
                  <a:schemeClr val="tx1"/>
                </a:solidFill>
              </a:rPr>
              <a:t>of</a:t>
            </a:r>
            <a:r>
              <a:rPr lang="lt-LT" sz="2400" dirty="0">
                <a:solidFill>
                  <a:schemeClr val="tx1"/>
                </a:solidFill>
              </a:rPr>
              <a:t> </a:t>
            </a:r>
            <a:r>
              <a:rPr lang="lt-LT" sz="2400" dirty="0" err="1">
                <a:solidFill>
                  <a:schemeClr val="tx1"/>
                </a:solidFill>
              </a:rPr>
              <a:t>network</a:t>
            </a:r>
            <a:r>
              <a:rPr lang="lt-LT" sz="2400" dirty="0">
                <a:solidFill>
                  <a:schemeClr val="tx1"/>
                </a:solidFill>
              </a:rPr>
              <a:t> </a:t>
            </a:r>
            <a:r>
              <a:rPr lang="lt-LT" sz="2400" dirty="0" err="1">
                <a:solidFill>
                  <a:schemeClr val="tx1"/>
                </a:solidFill>
              </a:rPr>
              <a:t>expansion</a:t>
            </a:r>
            <a:endParaRPr lang="lt-LT" sz="2400" dirty="0">
              <a:solidFill>
                <a:schemeClr val="tx1"/>
              </a:solidFill>
            </a:endParaRPr>
          </a:p>
          <a:p>
            <a:r>
              <a:rPr lang="lt-LT" sz="2400" dirty="0">
                <a:solidFill>
                  <a:schemeClr val="tx1"/>
                </a:solidFill>
              </a:rPr>
              <a:t>Rasa </a:t>
            </a:r>
            <a:r>
              <a:rPr lang="lt-LT" sz="2400" dirty="0" err="1">
                <a:solidFill>
                  <a:schemeClr val="tx1"/>
                </a:solidFill>
              </a:rPr>
              <a:t>Kanapickienė</a:t>
            </a:r>
            <a:r>
              <a:rPr lang="lt-LT" sz="2400" dirty="0">
                <a:solidFill>
                  <a:schemeClr val="tx1"/>
                </a:solidFill>
              </a:rPr>
              <a:t> (VU)</a:t>
            </a:r>
            <a:endParaRPr lang="en-US" sz="2400" dirty="0">
              <a:solidFill>
                <a:schemeClr val="tx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400" dirty="0">
                <a:solidFill>
                  <a:schemeClr val="tx1"/>
                </a:solidFill>
              </a:rPr>
              <a:t>Interdisciplinary background : AI</a:t>
            </a:r>
            <a:r>
              <a:rPr lang="lt-LT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chemeClr val="tx1"/>
                </a:solidFill>
              </a:rPr>
              <a:t>Quantitative Methods</a:t>
            </a:r>
            <a:r>
              <a:rPr lang="lt-LT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chemeClr val="tx1"/>
                </a:solidFill>
              </a:rPr>
              <a:t>Finance and Economics </a:t>
            </a:r>
            <a:endParaRPr sz="2400" dirty="0">
              <a:solidFill>
                <a:schemeClr val="tx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dirty="0">
              <a:solidFill>
                <a:schemeClr val="tx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926573" y="963445"/>
            <a:ext cx="21804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Who we are</a:t>
            </a:r>
            <a:endParaRPr sz="2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45876" t="47021" r="4266" b="34681"/>
          <a:stretch/>
        </p:blipFill>
        <p:spPr>
          <a:xfrm>
            <a:off x="8400817" y="1376035"/>
            <a:ext cx="3705840" cy="120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8;p2">
            <a:extLst>
              <a:ext uri="{FF2B5EF4-FFF2-40B4-BE49-F238E27FC236}">
                <a16:creationId xmlns:a16="http://schemas.microsoft.com/office/drawing/2014/main" id="{8393ECB8-6C9C-FDB6-4377-7F720D26C45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t="45357" r="53255" b="35334"/>
          <a:stretch/>
        </p:blipFill>
        <p:spPr>
          <a:xfrm>
            <a:off x="8568943" y="2476654"/>
            <a:ext cx="3479506" cy="12777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4E2B35-A53F-D16D-F51F-6CCDD4CB1897}"/>
              </a:ext>
            </a:extLst>
          </p:cNvPr>
          <p:cNvSpPr txBox="1"/>
          <p:nvPr/>
        </p:nvSpPr>
        <p:spPr>
          <a:xfrm>
            <a:off x="7598731" y="4146365"/>
            <a:ext cx="381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Vilnius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75DBF-D211-0B8E-D6A4-1904058E3873}"/>
              </a:ext>
            </a:extLst>
          </p:cNvPr>
          <p:cNvSpPr txBox="1"/>
          <p:nvPr/>
        </p:nvSpPr>
        <p:spPr>
          <a:xfrm>
            <a:off x="7467090" y="884363"/>
            <a:ext cx="49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Kaunas University of Technology</a:t>
            </a:r>
            <a:r>
              <a:rPr lang="lt-LT" sz="1800" b="1" dirty="0">
                <a:solidFill>
                  <a:schemeClr val="accent1"/>
                </a:solidFill>
              </a:rPr>
              <a:t> (KTU)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C9A3F5-FB51-3E1C-50F5-0EA8E1D4462C}"/>
              </a:ext>
            </a:extLst>
          </p:cNvPr>
          <p:cNvGrpSpPr/>
          <p:nvPr/>
        </p:nvGrpSpPr>
        <p:grpSpPr>
          <a:xfrm>
            <a:off x="8911649" y="4584629"/>
            <a:ext cx="3195008" cy="2172710"/>
            <a:chOff x="8911649" y="4584629"/>
            <a:chExt cx="3195008" cy="21727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867AC9-4F0B-3693-0CB3-7C407B948DEA}"/>
                </a:ext>
              </a:extLst>
            </p:cNvPr>
            <p:cNvGrpSpPr/>
            <p:nvPr/>
          </p:nvGrpSpPr>
          <p:grpSpPr>
            <a:xfrm>
              <a:off x="8911649" y="4584629"/>
              <a:ext cx="3195008" cy="1039979"/>
              <a:chOff x="8911649" y="4913149"/>
              <a:chExt cx="3195008" cy="1039979"/>
            </a:xfrm>
          </p:grpSpPr>
          <p:pic>
            <p:nvPicPr>
              <p:cNvPr id="99" name="Google Shape;99;p2"/>
              <p:cNvPicPr preferRelativeResize="0"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t="16764" r="33037" b="31804"/>
              <a:stretch/>
            </p:blipFill>
            <p:spPr>
              <a:xfrm>
                <a:off x="8911649" y="5127556"/>
                <a:ext cx="2168239" cy="8255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28A9B2-0407-B124-868D-78797B195774}"/>
                  </a:ext>
                </a:extLst>
              </p:cNvPr>
              <p:cNvSpPr txBox="1"/>
              <p:nvPr/>
            </p:nvSpPr>
            <p:spPr>
              <a:xfrm>
                <a:off x="9491839" y="4913149"/>
                <a:ext cx="261481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lt-LT" sz="900" b="1" dirty="0" err="1"/>
                  <a:t>Associate</a:t>
                </a:r>
                <a:r>
                  <a:rPr lang="lt-LT" sz="900" b="1" dirty="0"/>
                  <a:t> </a:t>
                </a:r>
                <a:r>
                  <a:rPr lang="lt-LT" sz="900" b="1" dirty="0" err="1"/>
                  <a:t>Professor</a:t>
                </a:r>
                <a:r>
                  <a:rPr lang="lt-LT" sz="900" b="1" dirty="0"/>
                  <a:t> Dr. Deimantė Teresienė</a:t>
                </a:r>
                <a:endParaRPr lang="en-US" sz="900" b="1" dirty="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264FED2-E997-364D-F3F6-1B12C2F6D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1649" y="5973637"/>
              <a:ext cx="2403856" cy="78370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D22835-86E4-3EBA-68E0-375F1F3B1EFB}"/>
                </a:ext>
              </a:extLst>
            </p:cNvPr>
            <p:cNvSpPr txBox="1"/>
            <p:nvPr/>
          </p:nvSpPr>
          <p:spPr>
            <a:xfrm>
              <a:off x="9513794" y="5792531"/>
              <a:ext cx="199926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lt-LT" sz="900" b="1" dirty="0" err="1"/>
                <a:t>Professor</a:t>
              </a:r>
              <a:r>
                <a:rPr lang="lt-LT" sz="900" b="1" dirty="0"/>
                <a:t> Dr. Rasa </a:t>
              </a:r>
              <a:r>
                <a:rPr lang="lt-LT" sz="900" b="1" dirty="0" err="1"/>
                <a:t>Kanapickienė</a:t>
              </a:r>
              <a:endParaRPr lang="en-US" sz="900" b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845838" y="1506178"/>
            <a:ext cx="10475344" cy="413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lt-LT" sz="2000" dirty="0">
                <a:solidFill>
                  <a:schemeClr val="dk1"/>
                </a:solidFill>
              </a:rPr>
              <a:t>Papers </a:t>
            </a:r>
            <a:r>
              <a:rPr lang="lt-LT" sz="2000" dirty="0" err="1">
                <a:solidFill>
                  <a:schemeClr val="dk1"/>
                </a:solidFill>
              </a:rPr>
              <a:t>and</a:t>
            </a:r>
            <a:r>
              <a:rPr lang="lt-LT" sz="2000" dirty="0">
                <a:solidFill>
                  <a:schemeClr val="dk1"/>
                </a:solidFill>
              </a:rPr>
              <a:t> </a:t>
            </a:r>
            <a:r>
              <a:rPr lang="lt-LT" sz="2000" dirty="0" err="1">
                <a:solidFill>
                  <a:schemeClr val="dk1"/>
                </a:solidFill>
              </a:rPr>
              <a:t>presentations</a:t>
            </a:r>
            <a:r>
              <a:rPr lang="lt-LT" sz="2000" dirty="0">
                <a:solidFill>
                  <a:schemeClr val="dk1"/>
                </a:solidFill>
              </a:rPr>
              <a:t> </a:t>
            </a:r>
            <a:r>
              <a:rPr lang="lt-LT" sz="2000" dirty="0" err="1">
                <a:solidFill>
                  <a:schemeClr val="dk1"/>
                </a:solidFill>
              </a:rPr>
              <a:t>with</a:t>
            </a:r>
            <a:r>
              <a:rPr lang="lt-LT" sz="2000" dirty="0">
                <a:solidFill>
                  <a:schemeClr val="dk1"/>
                </a:solidFill>
              </a:rPr>
              <a:t> COST </a:t>
            </a:r>
            <a:r>
              <a:rPr lang="lt-LT" sz="2000" dirty="0" err="1">
                <a:solidFill>
                  <a:schemeClr val="dk1"/>
                </a:solidFill>
              </a:rPr>
              <a:t>FinAi</a:t>
            </a:r>
            <a:r>
              <a:rPr lang="lt-LT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</a:rPr>
              <a:t>acknowledgement</a:t>
            </a:r>
            <a:r>
              <a:rPr lang="lt-LT" sz="2000" dirty="0">
                <a:solidFill>
                  <a:schemeClr val="dk1"/>
                </a:solidFill>
              </a:rPr>
              <a:t>:</a:t>
            </a: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 dirty="0" err="1">
                <a:solidFill>
                  <a:schemeClr val="dk1"/>
                </a:solidFill>
              </a:rPr>
              <a:t>Černevičienė</a:t>
            </a:r>
            <a:r>
              <a:rPr lang="en-US" sz="2000" dirty="0">
                <a:solidFill>
                  <a:schemeClr val="dk1"/>
                </a:solidFill>
              </a:rPr>
              <a:t> J and Kabašinskas A (2022) Review of Multi-Criteria Decision-Making Methods in Finance Using Explainable Artificial Intelligence. Front. </a:t>
            </a:r>
            <a:r>
              <a:rPr lang="en-US" sz="2000" dirty="0" err="1">
                <a:solidFill>
                  <a:schemeClr val="dk1"/>
                </a:solidFill>
              </a:rPr>
              <a:t>Artif</a:t>
            </a:r>
            <a:r>
              <a:rPr lang="en-US" sz="2000" dirty="0">
                <a:solidFill>
                  <a:schemeClr val="dk1"/>
                </a:solidFill>
              </a:rPr>
              <a:t>. </a:t>
            </a:r>
            <a:r>
              <a:rPr lang="en-US" sz="2000" dirty="0" err="1">
                <a:solidFill>
                  <a:schemeClr val="dk1"/>
                </a:solidFill>
              </a:rPr>
              <a:t>Intell</a:t>
            </a:r>
            <a:r>
              <a:rPr lang="en-US" sz="2000" dirty="0">
                <a:solidFill>
                  <a:schemeClr val="dk1"/>
                </a:solidFill>
              </a:rPr>
              <a:t>. 5:827584. 10 March 2022. </a:t>
            </a:r>
            <a:r>
              <a:rPr lang="en-US" sz="2000" dirty="0" err="1">
                <a:solidFill>
                  <a:schemeClr val="dk1"/>
                </a:solidFill>
              </a:rPr>
              <a:t>doi</a:t>
            </a:r>
            <a:r>
              <a:rPr lang="en-US" sz="2000" dirty="0">
                <a:solidFill>
                  <a:schemeClr val="dk1"/>
                </a:solidFill>
              </a:rPr>
              <a:t>: </a:t>
            </a:r>
            <a:r>
              <a:rPr lang="en-US" sz="200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10.3389/frai.2022.827584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lang="lt-LT" sz="2000" dirty="0">
              <a:solidFill>
                <a:schemeClr val="dk1"/>
              </a:solidFill>
            </a:endParaRP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</a:rPr>
              <a:t>Kabašinskas, Audrius. Discussion on: “Programmable money: next generation blockchain based conditional payments” by Ingo Weber and Mark Staples : short communication // Digital finance. Lausanne : Springer. ISSN 2524-6984. </a:t>
            </a:r>
            <a:r>
              <a:rPr lang="en-US" sz="2000" dirty="0" err="1">
                <a:solidFill>
                  <a:schemeClr val="dk1"/>
                </a:solidFill>
              </a:rPr>
              <a:t>eISSN</a:t>
            </a:r>
            <a:r>
              <a:rPr lang="en-US" sz="2000" dirty="0">
                <a:solidFill>
                  <a:schemeClr val="dk1"/>
                </a:solidFill>
              </a:rPr>
              <a:t> 2524-6186. 2022, vol. 4, </a:t>
            </a:r>
            <a:r>
              <a:rPr lang="en-US" sz="2000" dirty="0" err="1">
                <a:solidFill>
                  <a:schemeClr val="dk1"/>
                </a:solidFill>
              </a:rPr>
              <a:t>iss</a:t>
            </a:r>
            <a:r>
              <a:rPr lang="en-US" sz="2000" dirty="0">
                <a:solidFill>
                  <a:schemeClr val="dk1"/>
                </a:solidFill>
              </a:rPr>
              <a:t>. 2-3, p. 135. DOI: </a:t>
            </a:r>
            <a:r>
              <a:rPr lang="en-US" sz="2000" u="sng" dirty="0">
                <a:solidFill>
                  <a:schemeClr val="accent2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10.1007/s42521-022-00062-w</a:t>
            </a:r>
            <a:r>
              <a:rPr lang="lt-LT" sz="2000" u="sng" dirty="0">
                <a:solidFill>
                  <a:schemeClr val="accent2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2000" u="sng" dirty="0">
              <a:solidFill>
                <a:schemeClr val="accent2"/>
              </a:solidFill>
            </a:endParaRP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 dirty="0" err="1">
                <a:solidFill>
                  <a:schemeClr val="dk1"/>
                </a:solidFill>
              </a:rPr>
              <a:t>FinAI</a:t>
            </a:r>
            <a:r>
              <a:rPr lang="en-US" sz="2000" dirty="0">
                <a:solidFill>
                  <a:schemeClr val="dk1"/>
                </a:solidFill>
              </a:rPr>
              <a:t> COST Action Podcast #2 - Audrius Kabašinskas, </a:t>
            </a:r>
            <a:r>
              <a:rPr lang="en-US" sz="2000" u="sng" dirty="0">
                <a:solidFill>
                  <a:schemeClr val="accent4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https://www.youtube.com/watch?v=foYG70ZYvMY</a:t>
            </a:r>
            <a:endParaRPr lang="en-US" sz="2000" u="sng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</a:rPr>
              <a:t>ECI: </a:t>
            </a:r>
            <a:r>
              <a:rPr lang="lt-LT" sz="2000" dirty="0">
                <a:solidFill>
                  <a:schemeClr val="dk1"/>
                </a:solidFill>
              </a:rPr>
              <a:t>„</a:t>
            </a:r>
            <a:r>
              <a:rPr lang="en-US" sz="2000" dirty="0">
                <a:solidFill>
                  <a:schemeClr val="dk1"/>
                </a:solidFill>
              </a:rPr>
              <a:t>Explainable Cryptocurrency Steep Price Movement Prediction Using Reddit Messages And Technical Indicators</a:t>
            </a:r>
            <a:r>
              <a:rPr lang="lt-LT" sz="2000" dirty="0">
                <a:solidFill>
                  <a:schemeClr val="dk1"/>
                </a:solidFill>
              </a:rPr>
              <a:t>“</a:t>
            </a:r>
            <a:r>
              <a:rPr lang="en-US" sz="2000" dirty="0">
                <a:solidFill>
                  <a:schemeClr val="dk1"/>
                </a:solidFill>
              </a:rPr>
              <a:t>, presentation by Dominykas </a:t>
            </a:r>
            <a:r>
              <a:rPr lang="en-US" sz="2000" dirty="0" err="1">
                <a:solidFill>
                  <a:schemeClr val="dk1"/>
                </a:solidFill>
              </a:rPr>
              <a:t>Švedas</a:t>
            </a:r>
            <a:r>
              <a:rPr lang="en-US" sz="2000" dirty="0">
                <a:solidFill>
                  <a:schemeClr val="dk1"/>
                </a:solidFill>
              </a:rPr>
              <a:t> and Kristina Šutienė, Croatia, WG2 meeting (in-person)</a:t>
            </a:r>
            <a:r>
              <a:rPr lang="lt-LT" sz="2000" dirty="0">
                <a:solidFill>
                  <a:schemeClr val="dk1"/>
                </a:solidFill>
              </a:rPr>
              <a:t>, </a:t>
            </a:r>
            <a:r>
              <a:rPr lang="lt-LT" sz="2000" u="sng" dirty="0">
                <a:solidFill>
                  <a:schemeClr val="accent4">
                    <a:lumMod val="40000"/>
                    <a:lumOff val="6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https://sites.google.com/net.efzg.hr/tinfinconference/</a:t>
            </a:r>
            <a:r>
              <a:rPr lang="lt-LT" sz="2000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endParaRPr sz="2000" u="sng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05" name="Google Shape;105;p18"/>
          <p:cNvSpPr/>
          <p:nvPr/>
        </p:nvSpPr>
        <p:spPr>
          <a:xfrm>
            <a:off x="3926572" y="963445"/>
            <a:ext cx="41837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we contribute</a:t>
            </a:r>
            <a:endParaRPr sz="28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995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845838" y="1506178"/>
            <a:ext cx="10475344" cy="413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lt-LT" sz="2000" dirty="0" err="1">
                <a:solidFill>
                  <a:schemeClr val="dk1"/>
                </a:solidFill>
              </a:rPr>
              <a:t>Others</a:t>
            </a:r>
            <a:r>
              <a:rPr lang="lt-LT" sz="2000" dirty="0">
                <a:solidFill>
                  <a:schemeClr val="dk1"/>
                </a:solidFill>
              </a:rPr>
              <a:t>:</a:t>
            </a:r>
          </a:p>
          <a:p>
            <a:pPr marL="571500" indent="-342900"/>
            <a:r>
              <a:rPr lang="en-US" sz="2000" dirty="0">
                <a:solidFill>
                  <a:schemeClr val="dk1"/>
                </a:solidFill>
              </a:rPr>
              <a:t>Kristina Šutienė (together with Peter</a:t>
            </a:r>
            <a:r>
              <a:rPr lang="lt-LT" sz="2000" dirty="0">
                <a:solidFill>
                  <a:schemeClr val="dk1"/>
                </a:solidFill>
              </a:rPr>
              <a:t> Schwendner</a:t>
            </a:r>
            <a:r>
              <a:rPr lang="en-US" sz="2000" dirty="0">
                <a:solidFill>
                  <a:schemeClr val="dk1"/>
                </a:solidFill>
              </a:rPr>
              <a:t>) - a guest editor in </a:t>
            </a:r>
            <a:r>
              <a:rPr lang="en-US" sz="2000" i="1" dirty="0">
                <a:solidFill>
                  <a:schemeClr val="accent2"/>
                </a:solidFill>
              </a:rPr>
              <a:t>Mathematics</a:t>
            </a:r>
            <a:r>
              <a:rPr lang="en-US" sz="2000" dirty="0">
                <a:solidFill>
                  <a:schemeClr val="dk1"/>
                </a:solidFill>
              </a:rPr>
              <a:t> journal, SI: </a:t>
            </a:r>
            <a:r>
              <a:rPr lang="en-US" sz="2000" i="1" dirty="0">
                <a:solidFill>
                  <a:schemeClr val="accent2"/>
                </a:solidFill>
              </a:rPr>
              <a:t>Applications and Mathematical Foundations of Machine Learning in Investments</a:t>
            </a:r>
          </a:p>
          <a:p>
            <a:pPr marL="571500" indent="-342900"/>
            <a:r>
              <a:rPr lang="en-US" sz="2000" dirty="0">
                <a:solidFill>
                  <a:schemeClr val="dk1"/>
                </a:solidFill>
              </a:rPr>
              <a:t>Kristina Šutienė</a:t>
            </a:r>
            <a:r>
              <a:rPr lang="en-US" sz="2000" i="1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</a:rPr>
              <a:t>is a </a:t>
            </a:r>
            <a:r>
              <a:rPr lang="en-US" sz="2000" i="1" dirty="0">
                <a:solidFill>
                  <a:schemeClr val="accent2"/>
                </a:solidFill>
              </a:rPr>
              <a:t>coordinator of some (two) </a:t>
            </a:r>
            <a:r>
              <a:rPr lang="lt-LT" sz="2000" i="1" dirty="0" err="1">
                <a:solidFill>
                  <a:schemeClr val="accent2"/>
                </a:solidFill>
              </a:rPr>
              <a:t>policy</a:t>
            </a:r>
            <a:r>
              <a:rPr lang="lt-LT" sz="2000" i="1" dirty="0">
                <a:solidFill>
                  <a:schemeClr val="accent2"/>
                </a:solidFill>
              </a:rPr>
              <a:t>/</a:t>
            </a:r>
            <a:r>
              <a:rPr lang="lt-LT" sz="2000" i="1" dirty="0" err="1">
                <a:solidFill>
                  <a:schemeClr val="accent2"/>
                </a:solidFill>
              </a:rPr>
              <a:t>research</a:t>
            </a:r>
            <a:r>
              <a:rPr lang="en-US" sz="2000" i="1" dirty="0">
                <a:solidFill>
                  <a:schemeClr val="accent2"/>
                </a:solidFill>
              </a:rPr>
              <a:t> papers in progress</a:t>
            </a:r>
            <a:r>
              <a:rPr lang="en-US" sz="2000" dirty="0">
                <a:solidFill>
                  <a:schemeClr val="dk1"/>
                </a:solidFill>
              </a:rPr>
              <a:t>, together with colleagues</a:t>
            </a: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05" name="Google Shape;105;p18"/>
          <p:cNvSpPr/>
          <p:nvPr/>
        </p:nvSpPr>
        <p:spPr>
          <a:xfrm>
            <a:off x="3926572" y="963445"/>
            <a:ext cx="41837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we contribute</a:t>
            </a:r>
            <a:endParaRPr sz="28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319</Words>
  <Application>Microsoft Office PowerPoint</Application>
  <PresentationFormat>Widescreen</PresentationFormat>
  <Paragraphs>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Noto Sans Symbols</vt:lpstr>
      <vt:lpstr>COST_ppt-16_9-color_1</vt:lpstr>
      <vt:lpstr> COST FinAI annual meeting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FinAI annual meeting</dc:title>
  <dc:creator>ctaranto</dc:creator>
  <cp:lastModifiedBy>Kristina Šutienė</cp:lastModifiedBy>
  <cp:revision>14</cp:revision>
  <dcterms:modified xsi:type="dcterms:W3CDTF">2023-09-11T05:40:38Z</dcterms:modified>
</cp:coreProperties>
</file>