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90" r:id="rId1"/>
    <p:sldMasterId id="2147483691" r:id="rId2"/>
    <p:sldMasterId id="2147483692" r:id="rId3"/>
  </p:sldMasterIdLst>
  <p:notesMasterIdLst>
    <p:notesMasterId r:id="rId9"/>
  </p:notesMasterIdLst>
  <p:sldIdLst>
    <p:sldId id="256" r:id="rId4"/>
    <p:sldId id="261" r:id="rId5"/>
    <p:sldId id="257" r:id="rId6"/>
    <p:sldId id="258" r:id="rId7"/>
    <p:sldId id="259" r:id="rId8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5949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 pośredni 2 — Ak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87"/>
  </p:normalViewPr>
  <p:slideViewPr>
    <p:cSldViewPr snapToGrid="0">
      <p:cViewPr varScale="1">
        <p:scale>
          <a:sx n="88" d="100"/>
          <a:sy n="88" d="100"/>
        </p:scale>
        <p:origin x="494" y="62"/>
      </p:cViewPr>
      <p:guideLst>
        <p:guide pos="5949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viewProps" Target="viewProps.xml"/><Relationship Id="rId5" Type="http://schemas.openxmlformats.org/officeDocument/2006/relationships/slide" Target="slides/slide2.xml"/><Relationship Id="rId10" Type="http://schemas.openxmlformats.org/officeDocument/2006/relationships/presProps" Target="presProps.xml"/><Relationship Id="rId4" Type="http://schemas.openxmlformats.org/officeDocument/2006/relationships/slide" Target="slides/slide1.xml"/><Relationship Id="rId9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050" dirty="0" smtClean="0">
                <a:latin typeface="Cambria" panose="02040503050406030204" pitchFamily="18" charset="0"/>
                <a:ea typeface="Cambria" panose="02040503050406030204" pitchFamily="18" charset="0"/>
              </a:rPr>
              <a:t>Kosovo: </a:t>
            </a:r>
            <a:r>
              <a:rPr lang="en-US" sz="1050" dirty="0">
                <a:latin typeface="Cambria" panose="02040503050406030204" pitchFamily="18" charset="0"/>
                <a:ea typeface="Cambria" panose="02040503050406030204" pitchFamily="18" charset="0"/>
              </a:rPr>
              <a:t>Number of COST Actions (111</a:t>
            </a:r>
            <a:r>
              <a:rPr lang="en-US" sz="1050" baseline="0" dirty="0">
                <a:latin typeface="Cambria" panose="02040503050406030204" pitchFamily="18" charset="0"/>
                <a:ea typeface="Cambria" panose="02040503050406030204" pitchFamily="18" charset="0"/>
              </a:rPr>
              <a:t> total)</a:t>
            </a:r>
            <a:endParaRPr lang="en-US" sz="1050" dirty="0">
              <a:latin typeface="Cambria" panose="02040503050406030204" pitchFamily="18" charset="0"/>
              <a:ea typeface="Cambria" panose="02040503050406030204" pitchFamily="18" charset="0"/>
            </a:endParaRPr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Sheet1!$D$2</c:f>
              <c:strCache>
                <c:ptCount val="1"/>
                <c:pt idx="0">
                  <c:v># of COST Actions</c:v>
                </c:pt>
              </c:strCache>
            </c:strRef>
          </c:tx>
          <c:spPr>
            <a:ln w="19050" cap="rnd">
              <a:solidFill>
                <a:srgbClr val="B878A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horzOverflow="clip" vert="horz" wrap="square" lIns="0" tIns="0" rIns="0" bIns="0" anchor="t" anchorCtr="0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xVal>
            <c:numRef>
              <c:f>Sheet1!$C$3:$C$9</c:f>
              <c:numCache>
                <c:formatCode>General</c:formatCode>
                <c:ptCount val="7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  <c:pt idx="4">
                  <c:v>2020</c:v>
                </c:pt>
                <c:pt idx="5">
                  <c:v>2021</c:v>
                </c:pt>
                <c:pt idx="6">
                  <c:v>2022</c:v>
                </c:pt>
              </c:numCache>
            </c:numRef>
          </c:xVal>
          <c:yVal>
            <c:numRef>
              <c:f>Sheet1!$D$3:$D$9</c:f>
              <c:numCache>
                <c:formatCode>General</c:formatCode>
                <c:ptCount val="7"/>
                <c:pt idx="0">
                  <c:v>3</c:v>
                </c:pt>
                <c:pt idx="1">
                  <c:v>2</c:v>
                </c:pt>
                <c:pt idx="2">
                  <c:v>3</c:v>
                </c:pt>
                <c:pt idx="3">
                  <c:v>18</c:v>
                </c:pt>
                <c:pt idx="4">
                  <c:v>19</c:v>
                </c:pt>
                <c:pt idx="5">
                  <c:v>18</c:v>
                </c:pt>
                <c:pt idx="6">
                  <c:v>48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F8CB-44C3-AEA6-D048C33C65D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558106560"/>
        <c:axId val="558102816"/>
      </c:scatterChart>
      <c:valAx>
        <c:axId val="558106560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900"/>
                  <a:t>Years</a:t>
                </a:r>
                <a:endParaRPr lang="en-US"/>
              </a:p>
            </c:rich>
          </c:tx>
          <c:layout/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58102816"/>
        <c:crosses val="autoZero"/>
        <c:crossBetween val="midCat"/>
      </c:valAx>
      <c:valAx>
        <c:axId val="5581028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900"/>
                  <a:t>Number</a:t>
                </a:r>
                <a:r>
                  <a:rPr lang="en-US" sz="900" baseline="0"/>
                  <a:t> of COST Actions</a:t>
                </a:r>
                <a:endParaRPr lang="en-US" sz="900"/>
              </a:p>
            </c:rich>
          </c:tx>
          <c:layout/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58106560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333417355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9" name="Google Shape;23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490810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a6b0f3d1d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a6b0f3d1d4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7" name="Google Shape;247;ga6b0f3d1d4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fr-FR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902535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a6b0f3d1d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a6b0f3d1d4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7" name="Google Shape;247;ga6b0f3d1d4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fr-FR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487777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a6b0f3d1d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a6b0f3d1d4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7" name="Google Shape;247;ga6b0f3d1d4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fr-FR"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178791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facebook.com/COST.Programme/" TargetMode="External"/><Relationship Id="rId3" Type="http://schemas.openxmlformats.org/officeDocument/2006/relationships/hyperlink" Target="https://twitter.com/costprogramme?lang=fr" TargetMode="External"/><Relationship Id="rId7" Type="http://schemas.openxmlformats.org/officeDocument/2006/relationships/image" Target="../media/image8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Relationship Id="rId6" Type="http://schemas.openxmlformats.org/officeDocument/2006/relationships/hyperlink" Target="https://www.youtube.com/user/COSTOffice" TargetMode="External"/><Relationship Id="rId11" Type="http://schemas.openxmlformats.org/officeDocument/2006/relationships/image" Target="../media/image10.png"/><Relationship Id="rId5" Type="http://schemas.openxmlformats.org/officeDocument/2006/relationships/hyperlink" Target="http://www.cost.eu/" TargetMode="External"/><Relationship Id="rId10" Type="http://schemas.openxmlformats.org/officeDocument/2006/relationships/hyperlink" Target="https://www.linkedin.com/company/cost-office" TargetMode="External"/><Relationship Id="rId4" Type="http://schemas.openxmlformats.org/officeDocument/2006/relationships/image" Target="../media/image7.jpg"/><Relationship Id="rId9" Type="http://schemas.openxmlformats.org/officeDocument/2006/relationships/image" Target="../media/image9.png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facebook.com/COST.Programme/" TargetMode="External"/><Relationship Id="rId3" Type="http://schemas.openxmlformats.org/officeDocument/2006/relationships/hyperlink" Target="https://twitter.com/costprogramme?lang=fr" TargetMode="External"/><Relationship Id="rId7" Type="http://schemas.openxmlformats.org/officeDocument/2006/relationships/image" Target="../media/image8.png"/><Relationship Id="rId2" Type="http://schemas.openxmlformats.org/officeDocument/2006/relationships/image" Target="../media/image14.jpg"/><Relationship Id="rId1" Type="http://schemas.openxmlformats.org/officeDocument/2006/relationships/slideMaster" Target="../slideMasters/slideMaster2.xml"/><Relationship Id="rId6" Type="http://schemas.openxmlformats.org/officeDocument/2006/relationships/hyperlink" Target="https://www.youtube.com/user/COSTOffice" TargetMode="External"/><Relationship Id="rId11" Type="http://schemas.openxmlformats.org/officeDocument/2006/relationships/image" Target="../media/image10.png"/><Relationship Id="rId5" Type="http://schemas.openxmlformats.org/officeDocument/2006/relationships/hyperlink" Target="http://www.cost.eu/" TargetMode="External"/><Relationship Id="rId10" Type="http://schemas.openxmlformats.org/officeDocument/2006/relationships/hyperlink" Target="https://www.linkedin.com/company/cost-office" TargetMode="External"/><Relationship Id="rId4" Type="http://schemas.openxmlformats.org/officeDocument/2006/relationships/image" Target="../media/image7.jpg"/><Relationship Id="rId9" Type="http://schemas.openxmlformats.org/officeDocument/2006/relationships/image" Target="../media/image9.png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facebook.com/COST.Programme/" TargetMode="External"/><Relationship Id="rId3" Type="http://schemas.openxmlformats.org/officeDocument/2006/relationships/hyperlink" Target="https://twitter.com/costprogramme?lang=fr" TargetMode="External"/><Relationship Id="rId7" Type="http://schemas.openxmlformats.org/officeDocument/2006/relationships/image" Target="../media/image8.png"/><Relationship Id="rId2" Type="http://schemas.openxmlformats.org/officeDocument/2006/relationships/image" Target="../media/image19.jpg"/><Relationship Id="rId1" Type="http://schemas.openxmlformats.org/officeDocument/2006/relationships/slideMaster" Target="../slideMasters/slideMaster3.xml"/><Relationship Id="rId6" Type="http://schemas.openxmlformats.org/officeDocument/2006/relationships/hyperlink" Target="https://www.youtube.com/user/COSTOffice" TargetMode="External"/><Relationship Id="rId11" Type="http://schemas.openxmlformats.org/officeDocument/2006/relationships/image" Target="../media/image10.png"/><Relationship Id="rId5" Type="http://schemas.openxmlformats.org/officeDocument/2006/relationships/hyperlink" Target="http://www.cost.eu/" TargetMode="External"/><Relationship Id="rId10" Type="http://schemas.openxmlformats.org/officeDocument/2006/relationships/hyperlink" Target="https://www.linkedin.com/company/cost-office" TargetMode="External"/><Relationship Id="rId4" Type="http://schemas.openxmlformats.org/officeDocument/2006/relationships/image" Target="../media/image7.jpg"/><Relationship Id="rId9" Type="http://schemas.openxmlformats.org/officeDocument/2006/relationships/image" Target="../media/image9.png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resentation - title">
  <p:cSld name="Presentation - title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11;p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2"/>
          <p:cNvSpPr txBox="1">
            <a:spLocks noGrp="1"/>
          </p:cNvSpPr>
          <p:nvPr>
            <p:ph type="title"/>
          </p:nvPr>
        </p:nvSpPr>
        <p:spPr>
          <a:xfrm>
            <a:off x="1107254" y="3961396"/>
            <a:ext cx="8327542" cy="587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Arial"/>
              <a:buNone/>
              <a:defRPr sz="35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body" idx="1"/>
          </p:nvPr>
        </p:nvSpPr>
        <p:spPr>
          <a:xfrm>
            <a:off x="1106771" y="4557940"/>
            <a:ext cx="8328025" cy="4696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body" idx="2"/>
          </p:nvPr>
        </p:nvSpPr>
        <p:spPr>
          <a:xfrm>
            <a:off x="1106771" y="5043451"/>
            <a:ext cx="8328025" cy="4696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756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Presentation - title">
  <p:cSld name="1_Presentation - 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3"/>
          <p:cNvSpPr txBox="1">
            <a:spLocks noGrp="1"/>
          </p:cNvSpPr>
          <p:nvPr>
            <p:ph type="title"/>
          </p:nvPr>
        </p:nvSpPr>
        <p:spPr>
          <a:xfrm>
            <a:off x="1107254" y="3961396"/>
            <a:ext cx="8327542" cy="587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Arial"/>
              <a:buNone/>
              <a:defRPr sz="35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body" idx="1"/>
          </p:nvPr>
        </p:nvSpPr>
        <p:spPr>
          <a:xfrm>
            <a:off x="1106771" y="4557940"/>
            <a:ext cx="8328025" cy="4696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body" idx="2"/>
          </p:nvPr>
        </p:nvSpPr>
        <p:spPr>
          <a:xfrm>
            <a:off x="1106771" y="5043451"/>
            <a:ext cx="8328025" cy="4696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756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Presentation - title">
  <p:cSld name="2_Presentation - title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oogle Shape;21;p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1107254" y="1159488"/>
            <a:ext cx="8327542" cy="1842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Arial"/>
              <a:buNone/>
              <a:defRPr sz="35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1106771" y="3010626"/>
            <a:ext cx="8328025" cy="4696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body" idx="2"/>
          </p:nvPr>
        </p:nvSpPr>
        <p:spPr>
          <a:xfrm>
            <a:off x="1106771" y="3496137"/>
            <a:ext cx="8328025" cy="4696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756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resentation - Content">
  <p:cSld name="Presentation - Conten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27;p5"/>
          <p:cNvSpPr txBox="1">
            <a:spLocks noGrp="1"/>
          </p:cNvSpPr>
          <p:nvPr>
            <p:ph type="body" idx="1"/>
          </p:nvPr>
        </p:nvSpPr>
        <p:spPr>
          <a:xfrm>
            <a:off x="874713" y="2102946"/>
            <a:ext cx="10225087" cy="36660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800"/>
              <a:buFont typeface="Noto Sans Symbols"/>
              <a:buChar char="▪"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Noto Sans Symbols"/>
              <a:buChar char="▪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874713" y="1515179"/>
            <a:ext cx="8327542" cy="587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9" name="Google Shape;29;p5"/>
          <p:cNvSpPr txBox="1"/>
          <p:nvPr/>
        </p:nvSpPr>
        <p:spPr>
          <a:xfrm>
            <a:off x="9413934" y="6216896"/>
            <a:ext cx="2249714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6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51">
          <p15:clr>
            <a:srgbClr val="FBAE40"/>
          </p15:clr>
        </p15:guide>
        <p15:guide id="2" orient="horz" pos="1253">
          <p15:clr>
            <a:srgbClr val="FBAE40"/>
          </p15:clr>
        </p15:guide>
        <p15:guide id="3" orient="horz" pos="3634">
          <p15:clr>
            <a:srgbClr val="FBAE40"/>
          </p15:clr>
        </p15:guide>
        <p15:guide id="4" pos="6992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resentation - Content 2">
  <p:cSld name="Presentation - Content 2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Google Shape;31;p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6"/>
          <p:cNvSpPr txBox="1">
            <a:spLocks noGrp="1"/>
          </p:cNvSpPr>
          <p:nvPr>
            <p:ph type="body" idx="1"/>
          </p:nvPr>
        </p:nvSpPr>
        <p:spPr>
          <a:xfrm>
            <a:off x="874713" y="1093982"/>
            <a:ext cx="10225087" cy="3847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800"/>
              <a:buFont typeface="Noto Sans Symbols"/>
              <a:buChar char="▪"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Noto Sans Symbols"/>
              <a:buChar char="▪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3" name="Google Shape;33;p6"/>
          <p:cNvSpPr txBox="1">
            <a:spLocks noGrp="1"/>
          </p:cNvSpPr>
          <p:nvPr>
            <p:ph type="title"/>
          </p:nvPr>
        </p:nvSpPr>
        <p:spPr>
          <a:xfrm>
            <a:off x="874713" y="506216"/>
            <a:ext cx="8327542" cy="587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34" name="Google Shape;34;p6"/>
          <p:cNvSpPr txBox="1"/>
          <p:nvPr/>
        </p:nvSpPr>
        <p:spPr>
          <a:xfrm>
            <a:off x="9413934" y="6216896"/>
            <a:ext cx="2249714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6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51">
          <p15:clr>
            <a:srgbClr val="FBAE40"/>
          </p15:clr>
        </p15:guide>
        <p15:guide id="2" orient="horz" pos="504">
          <p15:clr>
            <a:srgbClr val="FBAE40"/>
          </p15:clr>
        </p15:guide>
        <p15:guide id="3" orient="horz" pos="3113">
          <p15:clr>
            <a:srgbClr val="FBAE40"/>
          </p15:clr>
        </p15:guide>
        <p15:guide id="4" pos="6992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resentation - Empty - Content">
  <p:cSld name="Presentation - Empty - Content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Google Shape;36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7"/>
          <p:cNvSpPr txBox="1">
            <a:spLocks noGrp="1"/>
          </p:cNvSpPr>
          <p:nvPr>
            <p:ph type="body" idx="1"/>
          </p:nvPr>
        </p:nvSpPr>
        <p:spPr>
          <a:xfrm>
            <a:off x="874713" y="1093983"/>
            <a:ext cx="10225087" cy="46749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800"/>
              <a:buFont typeface="Noto Sans Symbols"/>
              <a:buChar char="▪"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Noto Sans Symbols"/>
              <a:buChar char="▪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title"/>
          </p:nvPr>
        </p:nvSpPr>
        <p:spPr>
          <a:xfrm>
            <a:off x="874713" y="506216"/>
            <a:ext cx="8327542" cy="587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39" name="Google Shape;39;p7"/>
          <p:cNvSpPr txBox="1"/>
          <p:nvPr/>
        </p:nvSpPr>
        <p:spPr>
          <a:xfrm>
            <a:off x="9413934" y="6216896"/>
            <a:ext cx="2249714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6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51">
          <p15:clr>
            <a:srgbClr val="FBAE40"/>
          </p15:clr>
        </p15:guide>
        <p15:guide id="2" orient="horz" pos="1253">
          <p15:clr>
            <a:srgbClr val="FBAE40"/>
          </p15:clr>
        </p15:guide>
        <p15:guide id="3" orient="horz" pos="3634">
          <p15:clr>
            <a:srgbClr val="FBAE40"/>
          </p15:clr>
        </p15:guide>
        <p15:guide id="4" pos="6992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resentation - Two content shapes">
  <p:cSld name="Presentation - Two content shapes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Google Shape;41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8"/>
          <p:cNvSpPr txBox="1">
            <a:spLocks noGrp="1"/>
          </p:cNvSpPr>
          <p:nvPr>
            <p:ph type="body" idx="1"/>
          </p:nvPr>
        </p:nvSpPr>
        <p:spPr>
          <a:xfrm>
            <a:off x="874713" y="1093983"/>
            <a:ext cx="5078720" cy="46749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800"/>
              <a:buFont typeface="Noto Sans Symbols"/>
              <a:buChar char="▪"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Noto Sans Symbols"/>
              <a:buChar char="▪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3" name="Google Shape;43;p8"/>
          <p:cNvSpPr txBox="1">
            <a:spLocks noGrp="1"/>
          </p:cNvSpPr>
          <p:nvPr>
            <p:ph type="title"/>
          </p:nvPr>
        </p:nvSpPr>
        <p:spPr>
          <a:xfrm>
            <a:off x="874713" y="506216"/>
            <a:ext cx="8327542" cy="587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44" name="Google Shape;44;p8"/>
          <p:cNvSpPr txBox="1"/>
          <p:nvPr/>
        </p:nvSpPr>
        <p:spPr>
          <a:xfrm>
            <a:off x="9413934" y="6216896"/>
            <a:ext cx="2249714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6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8"/>
          <p:cNvSpPr txBox="1">
            <a:spLocks noGrp="1"/>
          </p:cNvSpPr>
          <p:nvPr>
            <p:ph type="body" idx="2"/>
          </p:nvPr>
        </p:nvSpPr>
        <p:spPr>
          <a:xfrm>
            <a:off x="6365967" y="1093983"/>
            <a:ext cx="5039386" cy="46749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800"/>
              <a:buFont typeface="Noto Sans Symbols"/>
              <a:buChar char="▪"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Noto Sans Symbols"/>
              <a:buChar char="▪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51">
          <p15:clr>
            <a:srgbClr val="FBAE40"/>
          </p15:clr>
        </p15:guide>
        <p15:guide id="2" orient="horz" pos="1253">
          <p15:clr>
            <a:srgbClr val="FBAE40"/>
          </p15:clr>
        </p15:guide>
        <p15:guide id="3" orient="horz" pos="3634">
          <p15:clr>
            <a:srgbClr val="FBAE40"/>
          </p15:clr>
        </p15:guide>
        <p15:guide id="4" pos="6992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Presentation - Content">
  <p:cSld name="1_Presentation - Conten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Google Shape;47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9"/>
          <p:cNvSpPr txBox="1"/>
          <p:nvPr/>
        </p:nvSpPr>
        <p:spPr>
          <a:xfrm>
            <a:off x="9413934" y="6216896"/>
            <a:ext cx="2249714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6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9"/>
          <p:cNvSpPr txBox="1">
            <a:spLocks noGrp="1"/>
          </p:cNvSpPr>
          <p:nvPr>
            <p:ph type="title"/>
          </p:nvPr>
        </p:nvSpPr>
        <p:spPr>
          <a:xfrm>
            <a:off x="874713" y="1515179"/>
            <a:ext cx="8327542" cy="587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50" name="Google Shape;50;p9"/>
          <p:cNvSpPr>
            <a:spLocks noGrp="1"/>
          </p:cNvSpPr>
          <p:nvPr>
            <p:ph type="tbl" idx="2"/>
          </p:nvPr>
        </p:nvSpPr>
        <p:spPr>
          <a:xfrm>
            <a:off x="874713" y="2103438"/>
            <a:ext cx="10225087" cy="3673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51">
          <p15:clr>
            <a:srgbClr val="FBAE40"/>
          </p15:clr>
        </p15:guide>
        <p15:guide id="2" orient="horz" pos="1253">
          <p15:clr>
            <a:srgbClr val="FBAE40"/>
          </p15:clr>
        </p15:guide>
        <p15:guide id="3" orient="horz" pos="3634">
          <p15:clr>
            <a:srgbClr val="FBAE40"/>
          </p15:clr>
        </p15:guide>
        <p15:guide id="4" pos="6992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Presentation - Content 2">
  <p:cSld name="1_Presentation - Content 2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Google Shape;52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10"/>
          <p:cNvSpPr txBox="1"/>
          <p:nvPr/>
        </p:nvSpPr>
        <p:spPr>
          <a:xfrm>
            <a:off x="9413934" y="6216896"/>
            <a:ext cx="2249714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6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0"/>
          <p:cNvSpPr txBox="1">
            <a:spLocks noGrp="1"/>
          </p:cNvSpPr>
          <p:nvPr>
            <p:ph type="title"/>
          </p:nvPr>
        </p:nvSpPr>
        <p:spPr>
          <a:xfrm>
            <a:off x="874713" y="506216"/>
            <a:ext cx="8327542" cy="587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55" name="Google Shape;55;p10"/>
          <p:cNvSpPr>
            <a:spLocks noGrp="1"/>
          </p:cNvSpPr>
          <p:nvPr>
            <p:ph type="tbl" idx="2"/>
          </p:nvPr>
        </p:nvSpPr>
        <p:spPr>
          <a:xfrm>
            <a:off x="874713" y="1093984"/>
            <a:ext cx="10225087" cy="38479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51">
          <p15:clr>
            <a:srgbClr val="FBAE40"/>
          </p15:clr>
        </p15:guide>
        <p15:guide id="2" orient="horz" pos="504">
          <p15:clr>
            <a:srgbClr val="FBAE40"/>
          </p15:clr>
        </p15:guide>
        <p15:guide id="3" orient="horz" pos="3113">
          <p15:clr>
            <a:srgbClr val="FBAE40"/>
          </p15:clr>
        </p15:guide>
        <p15:guide id="4" pos="6992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Presentation - Empty - Content">
  <p:cSld name="1_Presentation - Empty - Content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Google Shape;57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11"/>
          <p:cNvSpPr txBox="1"/>
          <p:nvPr/>
        </p:nvSpPr>
        <p:spPr>
          <a:xfrm>
            <a:off x="9413934" y="6216896"/>
            <a:ext cx="2249714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6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11"/>
          <p:cNvSpPr txBox="1">
            <a:spLocks noGrp="1"/>
          </p:cNvSpPr>
          <p:nvPr>
            <p:ph type="title"/>
          </p:nvPr>
        </p:nvSpPr>
        <p:spPr>
          <a:xfrm>
            <a:off x="874713" y="506216"/>
            <a:ext cx="8327542" cy="587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60" name="Google Shape;60;p11"/>
          <p:cNvSpPr>
            <a:spLocks noGrp="1"/>
          </p:cNvSpPr>
          <p:nvPr>
            <p:ph type="tbl" idx="2"/>
          </p:nvPr>
        </p:nvSpPr>
        <p:spPr>
          <a:xfrm>
            <a:off x="874713" y="1093984"/>
            <a:ext cx="10225087" cy="46822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51">
          <p15:clr>
            <a:srgbClr val="FBAE40"/>
          </p15:clr>
        </p15:guide>
        <p15:guide id="2" orient="horz" pos="1253">
          <p15:clr>
            <a:srgbClr val="FBAE40"/>
          </p15:clr>
        </p15:guide>
        <p15:guide id="3" orient="horz" pos="3634">
          <p15:clr>
            <a:srgbClr val="FBAE40"/>
          </p15:clr>
        </p15:guide>
        <p15:guide id="4" pos="6992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resentation - Content - Smartart">
  <p:cSld name="Presentation - Content - Smartar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Google Shape;62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2"/>
          <p:cNvSpPr txBox="1"/>
          <p:nvPr/>
        </p:nvSpPr>
        <p:spPr>
          <a:xfrm>
            <a:off x="9413934" y="6216896"/>
            <a:ext cx="2249714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6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12"/>
          <p:cNvSpPr txBox="1">
            <a:spLocks noGrp="1"/>
          </p:cNvSpPr>
          <p:nvPr>
            <p:ph type="title"/>
          </p:nvPr>
        </p:nvSpPr>
        <p:spPr>
          <a:xfrm>
            <a:off x="874713" y="506216"/>
            <a:ext cx="8327542" cy="587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65" name="Google Shape;65;p12"/>
          <p:cNvSpPr txBox="1">
            <a:spLocks noGrp="1"/>
          </p:cNvSpPr>
          <p:nvPr>
            <p:ph type="body" idx="1"/>
          </p:nvPr>
        </p:nvSpPr>
        <p:spPr>
          <a:xfrm>
            <a:off x="874713" y="1093983"/>
            <a:ext cx="2546893" cy="46749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800"/>
              <a:buFont typeface="Noto Sans Symbols"/>
              <a:buChar char="▪"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Noto Sans Symbols"/>
              <a:buChar char="▪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6" name="Google Shape;66;p12"/>
          <p:cNvSpPr>
            <a:spLocks noGrp="1"/>
          </p:cNvSpPr>
          <p:nvPr>
            <p:ph type="dgm" idx="2"/>
          </p:nvPr>
        </p:nvSpPr>
        <p:spPr>
          <a:xfrm>
            <a:off x="3598863" y="1093788"/>
            <a:ext cx="8064500" cy="4675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51">
          <p15:clr>
            <a:srgbClr val="FBAE40"/>
          </p15:clr>
        </p15:guide>
        <p15:guide id="2" orient="horz" pos="1253">
          <p15:clr>
            <a:srgbClr val="FBAE40"/>
          </p15:clr>
        </p15:guide>
        <p15:guide id="3" orient="horz" pos="3634">
          <p15:clr>
            <a:srgbClr val="FBAE40"/>
          </p15:clr>
        </p15:guide>
        <p15:guide id="4" pos="6992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resentation - Empty">
  <p:cSld name="Presentation - Empty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3"/>
          <p:cNvSpPr txBox="1">
            <a:spLocks noGrp="1"/>
          </p:cNvSpPr>
          <p:nvPr>
            <p:ph type="title"/>
          </p:nvPr>
        </p:nvSpPr>
        <p:spPr>
          <a:xfrm>
            <a:off x="1107254" y="3390841"/>
            <a:ext cx="8327542" cy="587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Arial"/>
              <a:buNone/>
              <a:defRPr sz="35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0" name="Google Shape;70;p13"/>
          <p:cNvSpPr txBox="1"/>
          <p:nvPr/>
        </p:nvSpPr>
        <p:spPr>
          <a:xfrm>
            <a:off x="1107254" y="4313604"/>
            <a:ext cx="702742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Subscribe to our news: </a:t>
            </a:r>
            <a:r>
              <a:rPr lang="fr-FR" sz="1600" b="0" i="0" u="sng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www.cost.eu/subscribe</a:t>
            </a:r>
            <a:endParaRPr sz="16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1" name="Google Shape;71;p13"/>
          <p:cNvGrpSpPr/>
          <p:nvPr/>
        </p:nvGrpSpPr>
        <p:grpSpPr>
          <a:xfrm>
            <a:off x="9026219" y="5182889"/>
            <a:ext cx="2200682" cy="1172172"/>
            <a:chOff x="6636485" y="5354057"/>
            <a:chExt cx="2200682" cy="1172172"/>
          </a:xfrm>
        </p:grpSpPr>
        <p:grpSp>
          <p:nvGrpSpPr>
            <p:cNvPr id="72" name="Google Shape;72;p13"/>
            <p:cNvGrpSpPr/>
            <p:nvPr/>
          </p:nvGrpSpPr>
          <p:grpSpPr>
            <a:xfrm>
              <a:off x="6883674" y="5354057"/>
              <a:ext cx="1953493" cy="1172172"/>
              <a:chOff x="6883674" y="5354057"/>
              <a:chExt cx="1953493" cy="1172172"/>
            </a:xfrm>
          </p:grpSpPr>
          <p:pic>
            <p:nvPicPr>
              <p:cNvPr id="73" name="Google Shape;73;p13" descr="Plan de travail 1OFF-Icones.jpg">
                <a:hlinkClick r:id="rId3"/>
              </p:cNvPr>
              <p:cNvPicPr preferRelativeResize="0"/>
              <p:nvPr/>
            </p:nvPicPr>
            <p:blipFill rotWithShape="1">
              <a:blip r:embed="rId4">
                <a:alphaModFix/>
              </a:blip>
              <a:srcRect/>
              <a:stretch/>
            </p:blipFill>
            <p:spPr>
              <a:xfrm>
                <a:off x="8382903" y="5776143"/>
                <a:ext cx="360000" cy="330628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74" name="Google Shape;74;p13">
                <a:hlinkClick r:id="rId5"/>
              </p:cNvPr>
              <p:cNvSpPr txBox="1"/>
              <p:nvPr/>
            </p:nvSpPr>
            <p:spPr>
              <a:xfrm>
                <a:off x="6935575" y="6218452"/>
                <a:ext cx="1901592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fr-FR" sz="1400">
                    <a:solidFill>
                      <a:schemeClr val="dk2"/>
                    </a:solidFill>
                    <a:latin typeface="Arial"/>
                    <a:ea typeface="Arial"/>
                    <a:cs typeface="Arial"/>
                    <a:sym typeface="Arial"/>
                  </a:rPr>
                  <a:t>www.cost.eu</a:t>
                </a:r>
                <a:endParaRPr sz="1400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75" name="Google Shape;75;p13">
                <a:hlinkClick r:id="rId6"/>
              </p:cNvPr>
              <p:cNvPicPr preferRelativeResize="0"/>
              <p:nvPr/>
            </p:nvPicPr>
            <p:blipFill rotWithShape="1">
              <a:blip r:embed="rId7">
                <a:alphaModFix/>
              </a:blip>
              <a:srcRect/>
              <a:stretch/>
            </p:blipFill>
            <p:spPr>
              <a:xfrm>
                <a:off x="7500289" y="5780684"/>
                <a:ext cx="779907" cy="331038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76" name="Google Shape;76;p13">
                <a:hlinkClick r:id="rId8"/>
              </p:cNvPr>
              <p:cNvPicPr preferRelativeResize="0"/>
              <p:nvPr/>
            </p:nvPicPr>
            <p:blipFill rotWithShape="1">
              <a:blip r:embed="rId9">
                <a:alphaModFix/>
              </a:blip>
              <a:srcRect/>
              <a:stretch/>
            </p:blipFill>
            <p:spPr>
              <a:xfrm>
                <a:off x="7069413" y="5781094"/>
                <a:ext cx="330628" cy="330628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77" name="Google Shape;77;p13"/>
              <p:cNvSpPr txBox="1"/>
              <p:nvPr/>
            </p:nvSpPr>
            <p:spPr>
              <a:xfrm>
                <a:off x="6883674" y="5354057"/>
                <a:ext cx="1901592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fr-FR" sz="1400" b="1">
                    <a:solidFill>
                      <a:schemeClr val="dk2"/>
                    </a:solidFill>
                    <a:latin typeface="Arial"/>
                    <a:ea typeface="Arial"/>
                    <a:cs typeface="Arial"/>
                    <a:sym typeface="Arial"/>
                  </a:rPr>
                  <a:t>Subscribe</a:t>
                </a:r>
                <a:endParaRPr sz="1400" b="1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78" name="Google Shape;78;p13">
              <a:hlinkClick r:id="rId10"/>
            </p:cNvPr>
            <p:cNvPicPr preferRelativeResize="0"/>
            <p:nvPr/>
          </p:nvPicPr>
          <p:blipFill rotWithShape="1">
            <a:blip r:embed="rId11">
              <a:alphaModFix/>
            </a:blip>
            <a:srcRect/>
            <a:stretch/>
          </p:blipFill>
          <p:spPr>
            <a:xfrm>
              <a:off x="6636485" y="5778159"/>
              <a:ext cx="328612" cy="32861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51">
          <p15:clr>
            <a:srgbClr val="FBAE40"/>
          </p15:clr>
        </p15:guide>
        <p15:guide id="2" orient="horz" pos="1253">
          <p15:clr>
            <a:srgbClr val="FBAE40"/>
          </p15:clr>
        </p15:guide>
        <p15:guide id="3" orient="horz" pos="3634">
          <p15:clr>
            <a:srgbClr val="FBAE40"/>
          </p15:clr>
        </p15:guide>
        <p15:guide id="4" pos="6992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resentation - Empty 2">
  <p:cSld name="Presentation - Empty 2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80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4"/>
          <p:cNvSpPr txBox="1"/>
          <p:nvPr/>
        </p:nvSpPr>
        <p:spPr>
          <a:xfrm>
            <a:off x="9413934" y="6216896"/>
            <a:ext cx="2249714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z="16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6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resentation - Empty - Empty">
  <p:cSld name="Presentation - Empty - Empty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5"/>
          <p:cNvSpPr txBox="1"/>
          <p:nvPr/>
        </p:nvSpPr>
        <p:spPr>
          <a:xfrm>
            <a:off x="9413934" y="6216896"/>
            <a:ext cx="2249714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z="16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6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51">
          <p15:clr>
            <a:srgbClr val="FBAE40"/>
          </p15:clr>
        </p15:guide>
        <p15:guide id="2" orient="horz" pos="1253">
          <p15:clr>
            <a:srgbClr val="FBAE40"/>
          </p15:clr>
        </p15:guide>
        <p15:guide id="3" orient="horz" pos="3634">
          <p15:clr>
            <a:srgbClr val="FBAE40"/>
          </p15:clr>
        </p15:guide>
        <p15:guide id="4" pos="6992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resentation - title">
  <p:cSld name="Presentation - title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1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7"/>
          <p:cNvSpPr txBox="1">
            <a:spLocks noGrp="1"/>
          </p:cNvSpPr>
          <p:nvPr>
            <p:ph type="title"/>
          </p:nvPr>
        </p:nvSpPr>
        <p:spPr>
          <a:xfrm>
            <a:off x="1107254" y="3961396"/>
            <a:ext cx="8327542" cy="587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Arial"/>
              <a:buNone/>
              <a:defRPr sz="35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9" name="Google Shape;89;p17"/>
          <p:cNvSpPr txBox="1">
            <a:spLocks noGrp="1"/>
          </p:cNvSpPr>
          <p:nvPr>
            <p:ph type="body" idx="1"/>
          </p:nvPr>
        </p:nvSpPr>
        <p:spPr>
          <a:xfrm>
            <a:off x="1106771" y="4557940"/>
            <a:ext cx="8328025" cy="4696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0" name="Google Shape;90;p17"/>
          <p:cNvSpPr txBox="1">
            <a:spLocks noGrp="1"/>
          </p:cNvSpPr>
          <p:nvPr>
            <p:ph type="body" idx="2"/>
          </p:nvPr>
        </p:nvSpPr>
        <p:spPr>
          <a:xfrm>
            <a:off x="1106771" y="5043451"/>
            <a:ext cx="8328025" cy="4696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756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Presentation - title">
  <p:cSld name="1_Presentation - title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8"/>
          <p:cNvSpPr txBox="1">
            <a:spLocks noGrp="1"/>
          </p:cNvSpPr>
          <p:nvPr>
            <p:ph type="title"/>
          </p:nvPr>
        </p:nvSpPr>
        <p:spPr>
          <a:xfrm>
            <a:off x="1107254" y="3961396"/>
            <a:ext cx="8327542" cy="587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Arial"/>
              <a:buNone/>
              <a:defRPr sz="35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94" name="Google Shape;94;p18"/>
          <p:cNvSpPr txBox="1">
            <a:spLocks noGrp="1"/>
          </p:cNvSpPr>
          <p:nvPr>
            <p:ph type="body" idx="1"/>
          </p:nvPr>
        </p:nvSpPr>
        <p:spPr>
          <a:xfrm>
            <a:off x="1106771" y="4557940"/>
            <a:ext cx="8328025" cy="4696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5" name="Google Shape;95;p18"/>
          <p:cNvSpPr txBox="1">
            <a:spLocks noGrp="1"/>
          </p:cNvSpPr>
          <p:nvPr>
            <p:ph type="body" idx="2"/>
          </p:nvPr>
        </p:nvSpPr>
        <p:spPr>
          <a:xfrm>
            <a:off x="1106771" y="5043451"/>
            <a:ext cx="8328025" cy="4696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756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Presentation - title">
  <p:cSld name="2_Presentation - title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p1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9"/>
          <p:cNvSpPr txBox="1">
            <a:spLocks noGrp="1"/>
          </p:cNvSpPr>
          <p:nvPr>
            <p:ph type="title"/>
          </p:nvPr>
        </p:nvSpPr>
        <p:spPr>
          <a:xfrm>
            <a:off x="1107254" y="1159488"/>
            <a:ext cx="8327542" cy="1842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Arial"/>
              <a:buNone/>
              <a:defRPr sz="35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99" name="Google Shape;99;p19"/>
          <p:cNvSpPr txBox="1">
            <a:spLocks noGrp="1"/>
          </p:cNvSpPr>
          <p:nvPr>
            <p:ph type="body" idx="1"/>
          </p:nvPr>
        </p:nvSpPr>
        <p:spPr>
          <a:xfrm>
            <a:off x="1106771" y="3010626"/>
            <a:ext cx="8328025" cy="4696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0" name="Google Shape;100;p19"/>
          <p:cNvSpPr txBox="1">
            <a:spLocks noGrp="1"/>
          </p:cNvSpPr>
          <p:nvPr>
            <p:ph type="body" idx="2"/>
          </p:nvPr>
        </p:nvSpPr>
        <p:spPr>
          <a:xfrm>
            <a:off x="1106771" y="3496137"/>
            <a:ext cx="8328025" cy="4696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756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resentation - Content">
  <p:cSld name="Presentation - Content"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2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20"/>
          <p:cNvSpPr txBox="1">
            <a:spLocks noGrp="1"/>
          </p:cNvSpPr>
          <p:nvPr>
            <p:ph type="body" idx="1"/>
          </p:nvPr>
        </p:nvSpPr>
        <p:spPr>
          <a:xfrm>
            <a:off x="874713" y="2102946"/>
            <a:ext cx="10225087" cy="36660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▪"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4" name="Google Shape;104;p20"/>
          <p:cNvSpPr txBox="1">
            <a:spLocks noGrp="1"/>
          </p:cNvSpPr>
          <p:nvPr>
            <p:ph type="title"/>
          </p:nvPr>
        </p:nvSpPr>
        <p:spPr>
          <a:xfrm>
            <a:off x="874713" y="1515179"/>
            <a:ext cx="8327542" cy="587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05" name="Google Shape;105;p20"/>
          <p:cNvSpPr txBox="1"/>
          <p:nvPr/>
        </p:nvSpPr>
        <p:spPr>
          <a:xfrm>
            <a:off x="9413934" y="6216896"/>
            <a:ext cx="2249714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z="16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6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51">
          <p15:clr>
            <a:srgbClr val="FBAE40"/>
          </p15:clr>
        </p15:guide>
        <p15:guide id="2" orient="horz" pos="1253">
          <p15:clr>
            <a:srgbClr val="FBAE40"/>
          </p15:clr>
        </p15:guide>
        <p15:guide id="3" orient="horz" pos="3634">
          <p15:clr>
            <a:srgbClr val="FBAE40"/>
          </p15:clr>
        </p15:guide>
        <p15:guide id="4" pos="6992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resentation - Content 2">
  <p:cSld name="Presentation - Content 2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2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21"/>
          <p:cNvSpPr txBox="1">
            <a:spLocks noGrp="1"/>
          </p:cNvSpPr>
          <p:nvPr>
            <p:ph type="body" idx="1"/>
          </p:nvPr>
        </p:nvSpPr>
        <p:spPr>
          <a:xfrm>
            <a:off x="874713" y="1093982"/>
            <a:ext cx="10225087" cy="3847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▪"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9" name="Google Shape;109;p21"/>
          <p:cNvSpPr txBox="1">
            <a:spLocks noGrp="1"/>
          </p:cNvSpPr>
          <p:nvPr>
            <p:ph type="title"/>
          </p:nvPr>
        </p:nvSpPr>
        <p:spPr>
          <a:xfrm>
            <a:off x="874713" y="506216"/>
            <a:ext cx="8327542" cy="587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0" name="Google Shape;110;p21"/>
          <p:cNvSpPr txBox="1"/>
          <p:nvPr/>
        </p:nvSpPr>
        <p:spPr>
          <a:xfrm>
            <a:off x="9413934" y="6216896"/>
            <a:ext cx="2249714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z="16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6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51">
          <p15:clr>
            <a:srgbClr val="FBAE40"/>
          </p15:clr>
        </p15:guide>
        <p15:guide id="2" orient="horz" pos="504">
          <p15:clr>
            <a:srgbClr val="FBAE40"/>
          </p15:clr>
        </p15:guide>
        <p15:guide id="3" orient="horz" pos="3113">
          <p15:clr>
            <a:srgbClr val="FBAE40"/>
          </p15:clr>
        </p15:guide>
        <p15:guide id="4" pos="6992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resentation - Empty - Content">
  <p:cSld name="Presentation - Empty - Content"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oogle Shape;112;p2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22"/>
          <p:cNvSpPr txBox="1">
            <a:spLocks noGrp="1"/>
          </p:cNvSpPr>
          <p:nvPr>
            <p:ph type="body" idx="1"/>
          </p:nvPr>
        </p:nvSpPr>
        <p:spPr>
          <a:xfrm>
            <a:off x="874713" y="1093982"/>
            <a:ext cx="10225087" cy="46749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▪"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4" name="Google Shape;114;p22"/>
          <p:cNvSpPr txBox="1">
            <a:spLocks noGrp="1"/>
          </p:cNvSpPr>
          <p:nvPr>
            <p:ph type="title"/>
          </p:nvPr>
        </p:nvSpPr>
        <p:spPr>
          <a:xfrm>
            <a:off x="874713" y="506216"/>
            <a:ext cx="8327542" cy="587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5" name="Google Shape;115;p22"/>
          <p:cNvSpPr txBox="1"/>
          <p:nvPr/>
        </p:nvSpPr>
        <p:spPr>
          <a:xfrm>
            <a:off x="9413934" y="6216896"/>
            <a:ext cx="2249714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z="16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6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51">
          <p15:clr>
            <a:srgbClr val="FBAE40"/>
          </p15:clr>
        </p15:guide>
        <p15:guide id="2" orient="horz" pos="1253">
          <p15:clr>
            <a:srgbClr val="FBAE40"/>
          </p15:clr>
        </p15:guide>
        <p15:guide id="3" orient="horz" pos="3634">
          <p15:clr>
            <a:srgbClr val="FBAE40"/>
          </p15:clr>
        </p15:guide>
        <p15:guide id="4" pos="6992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resentation - Two content shapes">
  <p:cSld name="Presentation - Two content shapes"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117;p2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23"/>
          <p:cNvSpPr txBox="1">
            <a:spLocks noGrp="1"/>
          </p:cNvSpPr>
          <p:nvPr>
            <p:ph type="body" idx="1"/>
          </p:nvPr>
        </p:nvSpPr>
        <p:spPr>
          <a:xfrm>
            <a:off x="874713" y="1093983"/>
            <a:ext cx="5078720" cy="46749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▪"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9" name="Google Shape;119;p23"/>
          <p:cNvSpPr txBox="1">
            <a:spLocks noGrp="1"/>
          </p:cNvSpPr>
          <p:nvPr>
            <p:ph type="title"/>
          </p:nvPr>
        </p:nvSpPr>
        <p:spPr>
          <a:xfrm>
            <a:off x="874713" y="506216"/>
            <a:ext cx="8327542" cy="587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20" name="Google Shape;120;p23"/>
          <p:cNvSpPr txBox="1"/>
          <p:nvPr/>
        </p:nvSpPr>
        <p:spPr>
          <a:xfrm>
            <a:off x="9413934" y="6216896"/>
            <a:ext cx="2249714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z="16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6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23"/>
          <p:cNvSpPr txBox="1">
            <a:spLocks noGrp="1"/>
          </p:cNvSpPr>
          <p:nvPr>
            <p:ph type="body" idx="2"/>
          </p:nvPr>
        </p:nvSpPr>
        <p:spPr>
          <a:xfrm>
            <a:off x="6365967" y="1093983"/>
            <a:ext cx="5039386" cy="46749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▪"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51">
          <p15:clr>
            <a:srgbClr val="FBAE40"/>
          </p15:clr>
        </p15:guide>
        <p15:guide id="2" orient="horz" pos="1253">
          <p15:clr>
            <a:srgbClr val="FBAE40"/>
          </p15:clr>
        </p15:guide>
        <p15:guide id="3" orient="horz" pos="3634">
          <p15:clr>
            <a:srgbClr val="FBAE40"/>
          </p15:clr>
        </p15:guide>
        <p15:guide id="4" pos="6992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Presentation - Content">
  <p:cSld name="1_Presentation - Content"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Google Shape;123;p2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24"/>
          <p:cNvSpPr txBox="1"/>
          <p:nvPr/>
        </p:nvSpPr>
        <p:spPr>
          <a:xfrm>
            <a:off x="9413934" y="6216896"/>
            <a:ext cx="2249714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z="16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6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24"/>
          <p:cNvSpPr txBox="1">
            <a:spLocks noGrp="1"/>
          </p:cNvSpPr>
          <p:nvPr>
            <p:ph type="title"/>
          </p:nvPr>
        </p:nvSpPr>
        <p:spPr>
          <a:xfrm>
            <a:off x="874713" y="1515179"/>
            <a:ext cx="8327542" cy="587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26" name="Google Shape;126;p24"/>
          <p:cNvSpPr>
            <a:spLocks noGrp="1"/>
          </p:cNvSpPr>
          <p:nvPr>
            <p:ph type="tbl" idx="2"/>
          </p:nvPr>
        </p:nvSpPr>
        <p:spPr>
          <a:xfrm>
            <a:off x="874713" y="2103438"/>
            <a:ext cx="10225087" cy="3673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51">
          <p15:clr>
            <a:srgbClr val="FBAE40"/>
          </p15:clr>
        </p15:guide>
        <p15:guide id="2" orient="horz" pos="1253">
          <p15:clr>
            <a:srgbClr val="FBAE40"/>
          </p15:clr>
        </p15:guide>
        <p15:guide id="3" orient="horz" pos="3634">
          <p15:clr>
            <a:srgbClr val="FBAE40"/>
          </p15:clr>
        </p15:guide>
        <p15:guide id="4" pos="6992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Presentation - Content 2">
  <p:cSld name="1_Presentation - Content 2"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2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25"/>
          <p:cNvSpPr txBox="1"/>
          <p:nvPr/>
        </p:nvSpPr>
        <p:spPr>
          <a:xfrm>
            <a:off x="9413934" y="6216896"/>
            <a:ext cx="2249714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z="16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6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25"/>
          <p:cNvSpPr txBox="1">
            <a:spLocks noGrp="1"/>
          </p:cNvSpPr>
          <p:nvPr>
            <p:ph type="title"/>
          </p:nvPr>
        </p:nvSpPr>
        <p:spPr>
          <a:xfrm>
            <a:off x="874713" y="506216"/>
            <a:ext cx="8327542" cy="587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31" name="Google Shape;131;p25"/>
          <p:cNvSpPr>
            <a:spLocks noGrp="1"/>
          </p:cNvSpPr>
          <p:nvPr>
            <p:ph type="tbl" idx="2"/>
          </p:nvPr>
        </p:nvSpPr>
        <p:spPr>
          <a:xfrm>
            <a:off x="874713" y="1093984"/>
            <a:ext cx="10225087" cy="38479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51">
          <p15:clr>
            <a:srgbClr val="FBAE40"/>
          </p15:clr>
        </p15:guide>
        <p15:guide id="2" orient="horz" pos="504">
          <p15:clr>
            <a:srgbClr val="FBAE40"/>
          </p15:clr>
        </p15:guide>
        <p15:guide id="3" orient="horz" pos="3113">
          <p15:clr>
            <a:srgbClr val="FBAE40"/>
          </p15:clr>
        </p15:guide>
        <p15:guide id="4" pos="6992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Presentation - Empty - Content">
  <p:cSld name="1_Presentation - Empty - Content"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Google Shape;133;p2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26"/>
          <p:cNvSpPr txBox="1"/>
          <p:nvPr/>
        </p:nvSpPr>
        <p:spPr>
          <a:xfrm>
            <a:off x="9413934" y="6216896"/>
            <a:ext cx="2249714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z="16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6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26"/>
          <p:cNvSpPr txBox="1">
            <a:spLocks noGrp="1"/>
          </p:cNvSpPr>
          <p:nvPr>
            <p:ph type="title"/>
          </p:nvPr>
        </p:nvSpPr>
        <p:spPr>
          <a:xfrm>
            <a:off x="874713" y="506216"/>
            <a:ext cx="8327542" cy="587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36" name="Google Shape;136;p26"/>
          <p:cNvSpPr>
            <a:spLocks noGrp="1"/>
          </p:cNvSpPr>
          <p:nvPr>
            <p:ph type="tbl" idx="2"/>
          </p:nvPr>
        </p:nvSpPr>
        <p:spPr>
          <a:xfrm>
            <a:off x="874713" y="1093984"/>
            <a:ext cx="10225087" cy="46822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51">
          <p15:clr>
            <a:srgbClr val="FBAE40"/>
          </p15:clr>
        </p15:guide>
        <p15:guide id="2" orient="horz" pos="1253">
          <p15:clr>
            <a:srgbClr val="FBAE40"/>
          </p15:clr>
        </p15:guide>
        <p15:guide id="3" orient="horz" pos="3634">
          <p15:clr>
            <a:srgbClr val="FBAE40"/>
          </p15:clr>
        </p15:guide>
        <p15:guide id="4" pos="6992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resentation - Content - Smartart">
  <p:cSld name="Presentation - Content - Smartart"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" name="Google Shape;138;p2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27"/>
          <p:cNvSpPr txBox="1"/>
          <p:nvPr/>
        </p:nvSpPr>
        <p:spPr>
          <a:xfrm>
            <a:off x="9413934" y="6216896"/>
            <a:ext cx="2249714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z="16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6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27"/>
          <p:cNvSpPr txBox="1">
            <a:spLocks noGrp="1"/>
          </p:cNvSpPr>
          <p:nvPr>
            <p:ph type="title"/>
          </p:nvPr>
        </p:nvSpPr>
        <p:spPr>
          <a:xfrm>
            <a:off x="874713" y="506216"/>
            <a:ext cx="8327542" cy="587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41" name="Google Shape;141;p27"/>
          <p:cNvSpPr txBox="1">
            <a:spLocks noGrp="1"/>
          </p:cNvSpPr>
          <p:nvPr>
            <p:ph type="body" idx="1"/>
          </p:nvPr>
        </p:nvSpPr>
        <p:spPr>
          <a:xfrm>
            <a:off x="874713" y="1093983"/>
            <a:ext cx="2546893" cy="46749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▪"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2" name="Google Shape;142;p27"/>
          <p:cNvSpPr>
            <a:spLocks noGrp="1"/>
          </p:cNvSpPr>
          <p:nvPr>
            <p:ph type="dgm" idx="2"/>
          </p:nvPr>
        </p:nvSpPr>
        <p:spPr>
          <a:xfrm>
            <a:off x="3598863" y="1093788"/>
            <a:ext cx="8064500" cy="4675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51">
          <p15:clr>
            <a:srgbClr val="FBAE40"/>
          </p15:clr>
        </p15:guide>
        <p15:guide id="2" orient="horz" pos="1253">
          <p15:clr>
            <a:srgbClr val="FBAE40"/>
          </p15:clr>
        </p15:guide>
        <p15:guide id="3" orient="horz" pos="3634">
          <p15:clr>
            <a:srgbClr val="FBAE40"/>
          </p15:clr>
        </p15:guide>
        <p15:guide id="4" pos="6992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resentation - Empty">
  <p:cSld name="Presentation - Empty"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2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28"/>
          <p:cNvSpPr txBox="1">
            <a:spLocks noGrp="1"/>
          </p:cNvSpPr>
          <p:nvPr>
            <p:ph type="title"/>
          </p:nvPr>
        </p:nvSpPr>
        <p:spPr>
          <a:xfrm>
            <a:off x="1107254" y="3390841"/>
            <a:ext cx="8327542" cy="587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Arial"/>
              <a:buNone/>
              <a:defRPr sz="35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46" name="Google Shape;146;p28"/>
          <p:cNvSpPr txBox="1"/>
          <p:nvPr/>
        </p:nvSpPr>
        <p:spPr>
          <a:xfrm>
            <a:off x="1107254" y="4313604"/>
            <a:ext cx="702742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6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Subscribe to our news: </a:t>
            </a:r>
            <a:r>
              <a:rPr lang="fr-FR" sz="1600" u="sng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www.cost.eu/subscribe</a:t>
            </a:r>
            <a:endParaRPr sz="16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7" name="Google Shape;147;p28"/>
          <p:cNvGrpSpPr/>
          <p:nvPr/>
        </p:nvGrpSpPr>
        <p:grpSpPr>
          <a:xfrm>
            <a:off x="9026219" y="5182889"/>
            <a:ext cx="2200682" cy="1172172"/>
            <a:chOff x="6636485" y="5354057"/>
            <a:chExt cx="2200682" cy="1172172"/>
          </a:xfrm>
        </p:grpSpPr>
        <p:grpSp>
          <p:nvGrpSpPr>
            <p:cNvPr id="148" name="Google Shape;148;p28"/>
            <p:cNvGrpSpPr/>
            <p:nvPr/>
          </p:nvGrpSpPr>
          <p:grpSpPr>
            <a:xfrm>
              <a:off x="6883674" y="5354057"/>
              <a:ext cx="1953493" cy="1172172"/>
              <a:chOff x="6883674" y="5354057"/>
              <a:chExt cx="1953493" cy="1172172"/>
            </a:xfrm>
          </p:grpSpPr>
          <p:pic>
            <p:nvPicPr>
              <p:cNvPr id="149" name="Google Shape;149;p28" descr="Plan de travail 1OFF-Icones.jpg">
                <a:hlinkClick r:id="rId3"/>
              </p:cNvPr>
              <p:cNvPicPr preferRelativeResize="0"/>
              <p:nvPr/>
            </p:nvPicPr>
            <p:blipFill rotWithShape="1">
              <a:blip r:embed="rId4">
                <a:alphaModFix/>
              </a:blip>
              <a:srcRect/>
              <a:stretch/>
            </p:blipFill>
            <p:spPr>
              <a:xfrm>
                <a:off x="8382903" y="5776143"/>
                <a:ext cx="360000" cy="330628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50" name="Google Shape;150;p28">
                <a:hlinkClick r:id="rId5"/>
              </p:cNvPr>
              <p:cNvSpPr txBox="1"/>
              <p:nvPr/>
            </p:nvSpPr>
            <p:spPr>
              <a:xfrm>
                <a:off x="6935575" y="6218452"/>
                <a:ext cx="1901592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fr-FR" sz="1400">
                    <a:solidFill>
                      <a:schemeClr val="dk2"/>
                    </a:solidFill>
                    <a:latin typeface="Arial"/>
                    <a:ea typeface="Arial"/>
                    <a:cs typeface="Arial"/>
                    <a:sym typeface="Arial"/>
                  </a:rPr>
                  <a:t>www.cost.eu</a:t>
                </a:r>
                <a:endParaRPr sz="1400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151" name="Google Shape;151;p28">
                <a:hlinkClick r:id="rId6"/>
              </p:cNvPr>
              <p:cNvPicPr preferRelativeResize="0"/>
              <p:nvPr/>
            </p:nvPicPr>
            <p:blipFill rotWithShape="1">
              <a:blip r:embed="rId7">
                <a:alphaModFix/>
              </a:blip>
              <a:srcRect/>
              <a:stretch/>
            </p:blipFill>
            <p:spPr>
              <a:xfrm>
                <a:off x="7500289" y="5780684"/>
                <a:ext cx="779907" cy="331038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52" name="Google Shape;152;p28">
                <a:hlinkClick r:id="rId8"/>
              </p:cNvPr>
              <p:cNvPicPr preferRelativeResize="0"/>
              <p:nvPr/>
            </p:nvPicPr>
            <p:blipFill rotWithShape="1">
              <a:blip r:embed="rId9">
                <a:alphaModFix/>
              </a:blip>
              <a:srcRect/>
              <a:stretch/>
            </p:blipFill>
            <p:spPr>
              <a:xfrm>
                <a:off x="7069413" y="5781094"/>
                <a:ext cx="330628" cy="330628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53" name="Google Shape;153;p28"/>
              <p:cNvSpPr txBox="1"/>
              <p:nvPr/>
            </p:nvSpPr>
            <p:spPr>
              <a:xfrm>
                <a:off x="6883674" y="5354057"/>
                <a:ext cx="1901592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fr-FR" sz="1400" b="1">
                    <a:solidFill>
                      <a:schemeClr val="dk2"/>
                    </a:solidFill>
                    <a:latin typeface="Arial"/>
                    <a:ea typeface="Arial"/>
                    <a:cs typeface="Arial"/>
                    <a:sym typeface="Arial"/>
                  </a:rPr>
                  <a:t>Subscribe</a:t>
                </a:r>
                <a:endParaRPr sz="1400" b="1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154" name="Google Shape;154;p28">
              <a:hlinkClick r:id="rId10"/>
            </p:cNvPr>
            <p:cNvPicPr preferRelativeResize="0"/>
            <p:nvPr/>
          </p:nvPicPr>
          <p:blipFill rotWithShape="1">
            <a:blip r:embed="rId11">
              <a:alphaModFix/>
            </a:blip>
            <a:srcRect/>
            <a:stretch/>
          </p:blipFill>
          <p:spPr>
            <a:xfrm>
              <a:off x="6636485" y="5778159"/>
              <a:ext cx="328612" cy="32861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51">
          <p15:clr>
            <a:srgbClr val="FBAE40"/>
          </p15:clr>
        </p15:guide>
        <p15:guide id="2" orient="horz" pos="1253">
          <p15:clr>
            <a:srgbClr val="FBAE40"/>
          </p15:clr>
        </p15:guide>
        <p15:guide id="3" orient="horz" pos="3634">
          <p15:clr>
            <a:srgbClr val="FBAE40"/>
          </p15:clr>
        </p15:guide>
        <p15:guide id="4" pos="6992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resentation - Empty 2">
  <p:cSld name="Presentation - Empty 2"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2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29"/>
          <p:cNvSpPr txBox="1"/>
          <p:nvPr/>
        </p:nvSpPr>
        <p:spPr>
          <a:xfrm>
            <a:off x="9413934" y="6216896"/>
            <a:ext cx="2249714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z="16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6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resentation - Empty - Empty">
  <p:cSld name="Presentation - Empty - Empty"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Google Shape;159;p3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30"/>
          <p:cNvSpPr txBox="1"/>
          <p:nvPr/>
        </p:nvSpPr>
        <p:spPr>
          <a:xfrm>
            <a:off x="9413934" y="6216896"/>
            <a:ext cx="2249714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z="16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6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51">
          <p15:clr>
            <a:srgbClr val="FBAE40"/>
          </p15:clr>
        </p15:guide>
        <p15:guide id="2" orient="horz" pos="1253">
          <p15:clr>
            <a:srgbClr val="FBAE40"/>
          </p15:clr>
        </p15:guide>
        <p15:guide id="3" orient="horz" pos="3634">
          <p15:clr>
            <a:srgbClr val="FBAE40"/>
          </p15:clr>
        </p15:guide>
        <p15:guide id="4" pos="6992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Presentation - title">
  <p:cSld name="3_Presentation - title"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Google Shape;163;p3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32"/>
          <p:cNvSpPr txBox="1">
            <a:spLocks noGrp="1"/>
          </p:cNvSpPr>
          <p:nvPr>
            <p:ph type="title"/>
          </p:nvPr>
        </p:nvSpPr>
        <p:spPr>
          <a:xfrm>
            <a:off x="1107254" y="3961396"/>
            <a:ext cx="8327542" cy="587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Arial"/>
              <a:buNone/>
              <a:defRPr sz="35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65" name="Google Shape;165;p32"/>
          <p:cNvSpPr txBox="1">
            <a:spLocks noGrp="1"/>
          </p:cNvSpPr>
          <p:nvPr>
            <p:ph type="body" idx="1"/>
          </p:nvPr>
        </p:nvSpPr>
        <p:spPr>
          <a:xfrm>
            <a:off x="1106771" y="4557940"/>
            <a:ext cx="8328025" cy="4696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6" name="Google Shape;166;p32"/>
          <p:cNvSpPr txBox="1">
            <a:spLocks noGrp="1"/>
          </p:cNvSpPr>
          <p:nvPr>
            <p:ph type="body" idx="2"/>
          </p:nvPr>
        </p:nvSpPr>
        <p:spPr>
          <a:xfrm>
            <a:off x="1106771" y="5043451"/>
            <a:ext cx="8328025" cy="4696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756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Presentation - title">
  <p:cSld name="4_Presentation - title"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" name="Google Shape;168;p3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33"/>
          <p:cNvSpPr txBox="1">
            <a:spLocks noGrp="1"/>
          </p:cNvSpPr>
          <p:nvPr>
            <p:ph type="title"/>
          </p:nvPr>
        </p:nvSpPr>
        <p:spPr>
          <a:xfrm>
            <a:off x="1107254" y="3961396"/>
            <a:ext cx="8327542" cy="587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Arial"/>
              <a:buNone/>
              <a:defRPr sz="35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70" name="Google Shape;170;p33"/>
          <p:cNvSpPr txBox="1">
            <a:spLocks noGrp="1"/>
          </p:cNvSpPr>
          <p:nvPr>
            <p:ph type="body" idx="1"/>
          </p:nvPr>
        </p:nvSpPr>
        <p:spPr>
          <a:xfrm>
            <a:off x="1106771" y="4557940"/>
            <a:ext cx="8328025" cy="4696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1" name="Google Shape;171;p33"/>
          <p:cNvSpPr txBox="1">
            <a:spLocks noGrp="1"/>
          </p:cNvSpPr>
          <p:nvPr>
            <p:ph type="body" idx="2"/>
          </p:nvPr>
        </p:nvSpPr>
        <p:spPr>
          <a:xfrm>
            <a:off x="1106771" y="5043451"/>
            <a:ext cx="8328025" cy="4696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756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Presentation - title">
  <p:cSld name="5_Presentation - title"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" name="Google Shape;173;p3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34"/>
          <p:cNvSpPr txBox="1">
            <a:spLocks noGrp="1"/>
          </p:cNvSpPr>
          <p:nvPr>
            <p:ph type="title"/>
          </p:nvPr>
        </p:nvSpPr>
        <p:spPr>
          <a:xfrm>
            <a:off x="1107254" y="1159488"/>
            <a:ext cx="8327542" cy="1842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Arial"/>
              <a:buNone/>
              <a:defRPr sz="35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75" name="Google Shape;175;p34"/>
          <p:cNvSpPr txBox="1">
            <a:spLocks noGrp="1"/>
          </p:cNvSpPr>
          <p:nvPr>
            <p:ph type="body" idx="1"/>
          </p:nvPr>
        </p:nvSpPr>
        <p:spPr>
          <a:xfrm>
            <a:off x="1106771" y="3010626"/>
            <a:ext cx="8328025" cy="4696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6" name="Google Shape;176;p34"/>
          <p:cNvSpPr txBox="1">
            <a:spLocks noGrp="1"/>
          </p:cNvSpPr>
          <p:nvPr>
            <p:ph type="body" idx="2"/>
          </p:nvPr>
        </p:nvSpPr>
        <p:spPr>
          <a:xfrm>
            <a:off x="1106771" y="3496137"/>
            <a:ext cx="8328025" cy="4696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756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Presentation - Content">
  <p:cSld name="2_Presentation - Content"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p3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35"/>
          <p:cNvSpPr txBox="1">
            <a:spLocks noGrp="1"/>
          </p:cNvSpPr>
          <p:nvPr>
            <p:ph type="body" idx="1"/>
          </p:nvPr>
        </p:nvSpPr>
        <p:spPr>
          <a:xfrm>
            <a:off x="874713" y="2102946"/>
            <a:ext cx="10225087" cy="3673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1783C"/>
              </a:buClr>
              <a:buSzPts val="2800"/>
              <a:buFont typeface="Noto Sans Symbols"/>
              <a:buChar char="▪"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1783C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1783C"/>
              </a:buClr>
              <a:buSzPts val="2000"/>
              <a:buFont typeface="Noto Sans Symbols"/>
              <a:buChar char="▪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1783C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0" name="Google Shape;180;p35"/>
          <p:cNvSpPr txBox="1">
            <a:spLocks noGrp="1"/>
          </p:cNvSpPr>
          <p:nvPr>
            <p:ph type="title"/>
          </p:nvPr>
        </p:nvSpPr>
        <p:spPr>
          <a:xfrm>
            <a:off x="874713" y="1515179"/>
            <a:ext cx="8327542" cy="587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81" name="Google Shape;181;p35"/>
          <p:cNvSpPr txBox="1"/>
          <p:nvPr/>
        </p:nvSpPr>
        <p:spPr>
          <a:xfrm>
            <a:off x="9413934" y="6216896"/>
            <a:ext cx="2249714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z="16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6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51">
          <p15:clr>
            <a:srgbClr val="FBAE40"/>
          </p15:clr>
        </p15:guide>
        <p15:guide id="2" orient="horz" pos="1253">
          <p15:clr>
            <a:srgbClr val="FBAE40"/>
          </p15:clr>
        </p15:guide>
        <p15:guide id="3" orient="horz" pos="3634">
          <p15:clr>
            <a:srgbClr val="FBAE40"/>
          </p15:clr>
        </p15:guide>
        <p15:guide id="4" pos="6992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Presentation - Content 2">
  <p:cSld name="2_Presentation - Content 2"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" name="Google Shape;183;p3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36"/>
          <p:cNvSpPr txBox="1">
            <a:spLocks noGrp="1"/>
          </p:cNvSpPr>
          <p:nvPr>
            <p:ph type="body" idx="1"/>
          </p:nvPr>
        </p:nvSpPr>
        <p:spPr>
          <a:xfrm>
            <a:off x="874713" y="1093984"/>
            <a:ext cx="10225087" cy="38479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1783C"/>
              </a:buClr>
              <a:buSzPts val="2800"/>
              <a:buFont typeface="Noto Sans Symbols"/>
              <a:buChar char="▪"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1783C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1783C"/>
              </a:buClr>
              <a:buSzPts val="2000"/>
              <a:buFont typeface="Noto Sans Symbols"/>
              <a:buChar char="▪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1783C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5" name="Google Shape;185;p36"/>
          <p:cNvSpPr txBox="1">
            <a:spLocks noGrp="1"/>
          </p:cNvSpPr>
          <p:nvPr>
            <p:ph type="title"/>
          </p:nvPr>
        </p:nvSpPr>
        <p:spPr>
          <a:xfrm>
            <a:off x="874713" y="506216"/>
            <a:ext cx="8327542" cy="587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86" name="Google Shape;186;p36"/>
          <p:cNvSpPr txBox="1"/>
          <p:nvPr/>
        </p:nvSpPr>
        <p:spPr>
          <a:xfrm>
            <a:off x="9413934" y="6216896"/>
            <a:ext cx="2249714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z="16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6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51">
          <p15:clr>
            <a:srgbClr val="FBAE40"/>
          </p15:clr>
        </p15:guide>
        <p15:guide id="2" orient="horz" pos="504">
          <p15:clr>
            <a:srgbClr val="FBAE40"/>
          </p15:clr>
        </p15:guide>
        <p15:guide id="3" orient="horz" pos="3113">
          <p15:clr>
            <a:srgbClr val="FBAE40"/>
          </p15:clr>
        </p15:guide>
        <p15:guide id="4" pos="6992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Presentation - Empty - Content">
  <p:cSld name="2_Presentation - Empty - Content"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8" name="Google Shape;188;p3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37"/>
          <p:cNvSpPr txBox="1">
            <a:spLocks noGrp="1"/>
          </p:cNvSpPr>
          <p:nvPr>
            <p:ph type="body" idx="1"/>
          </p:nvPr>
        </p:nvSpPr>
        <p:spPr>
          <a:xfrm>
            <a:off x="874713" y="1093983"/>
            <a:ext cx="10225087" cy="46822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1783C"/>
              </a:buClr>
              <a:buSzPts val="2800"/>
              <a:buFont typeface="Noto Sans Symbols"/>
              <a:buChar char="▪"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1783C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1783C"/>
              </a:buClr>
              <a:buSzPts val="2000"/>
              <a:buFont typeface="Noto Sans Symbols"/>
              <a:buChar char="▪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1783C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0" name="Google Shape;190;p37"/>
          <p:cNvSpPr txBox="1">
            <a:spLocks noGrp="1"/>
          </p:cNvSpPr>
          <p:nvPr>
            <p:ph type="title"/>
          </p:nvPr>
        </p:nvSpPr>
        <p:spPr>
          <a:xfrm>
            <a:off x="874713" y="506216"/>
            <a:ext cx="8327542" cy="587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91" name="Google Shape;191;p37"/>
          <p:cNvSpPr txBox="1"/>
          <p:nvPr/>
        </p:nvSpPr>
        <p:spPr>
          <a:xfrm>
            <a:off x="9413934" y="6216896"/>
            <a:ext cx="2249714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z="16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6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51">
          <p15:clr>
            <a:srgbClr val="FBAE40"/>
          </p15:clr>
        </p15:guide>
        <p15:guide id="2" orient="horz" pos="1253">
          <p15:clr>
            <a:srgbClr val="FBAE40"/>
          </p15:clr>
        </p15:guide>
        <p15:guide id="3" orient="horz" pos="3634">
          <p15:clr>
            <a:srgbClr val="FBAE40"/>
          </p15:clr>
        </p15:guide>
        <p15:guide id="4" pos="6992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resentation - Two content shapes">
  <p:cSld name="Presentation - Two content shapes"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3" name="Google Shape;193;p3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38"/>
          <p:cNvSpPr txBox="1">
            <a:spLocks noGrp="1"/>
          </p:cNvSpPr>
          <p:nvPr>
            <p:ph type="body" idx="1"/>
          </p:nvPr>
        </p:nvSpPr>
        <p:spPr>
          <a:xfrm>
            <a:off x="874713" y="1093983"/>
            <a:ext cx="5078720" cy="46749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Noto Sans Symbols"/>
              <a:buChar char="▪"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Noto Sans Symbols"/>
              <a:buChar char="▪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5" name="Google Shape;195;p38"/>
          <p:cNvSpPr txBox="1">
            <a:spLocks noGrp="1"/>
          </p:cNvSpPr>
          <p:nvPr>
            <p:ph type="title"/>
          </p:nvPr>
        </p:nvSpPr>
        <p:spPr>
          <a:xfrm>
            <a:off x="874713" y="506216"/>
            <a:ext cx="8327542" cy="587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96" name="Google Shape;196;p38"/>
          <p:cNvSpPr txBox="1"/>
          <p:nvPr/>
        </p:nvSpPr>
        <p:spPr>
          <a:xfrm>
            <a:off x="9413934" y="6216896"/>
            <a:ext cx="2249714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z="16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6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38"/>
          <p:cNvSpPr txBox="1">
            <a:spLocks noGrp="1"/>
          </p:cNvSpPr>
          <p:nvPr>
            <p:ph type="body" idx="2"/>
          </p:nvPr>
        </p:nvSpPr>
        <p:spPr>
          <a:xfrm>
            <a:off x="6365967" y="1093983"/>
            <a:ext cx="5039386" cy="46749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Noto Sans Symbols"/>
              <a:buChar char="▪"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Noto Sans Symbols"/>
              <a:buChar char="▪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51">
          <p15:clr>
            <a:srgbClr val="FBAE40"/>
          </p15:clr>
        </p15:guide>
        <p15:guide id="2" orient="horz" pos="1253">
          <p15:clr>
            <a:srgbClr val="FBAE40"/>
          </p15:clr>
        </p15:guide>
        <p15:guide id="3" orient="horz" pos="3634">
          <p15:clr>
            <a:srgbClr val="FBAE40"/>
          </p15:clr>
        </p15:guide>
        <p15:guide id="4" pos="6992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Presentation - Content">
  <p:cSld name="3_Presentation - Content"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9" name="Google Shape;199;p3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39"/>
          <p:cNvSpPr txBox="1"/>
          <p:nvPr/>
        </p:nvSpPr>
        <p:spPr>
          <a:xfrm>
            <a:off x="9413934" y="6216896"/>
            <a:ext cx="2249714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z="16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6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39"/>
          <p:cNvSpPr txBox="1">
            <a:spLocks noGrp="1"/>
          </p:cNvSpPr>
          <p:nvPr>
            <p:ph type="title"/>
          </p:nvPr>
        </p:nvSpPr>
        <p:spPr>
          <a:xfrm>
            <a:off x="874713" y="1515179"/>
            <a:ext cx="8327542" cy="587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02" name="Google Shape;202;p39"/>
          <p:cNvSpPr>
            <a:spLocks noGrp="1"/>
          </p:cNvSpPr>
          <p:nvPr>
            <p:ph type="tbl" idx="2"/>
          </p:nvPr>
        </p:nvSpPr>
        <p:spPr>
          <a:xfrm>
            <a:off x="874713" y="2103438"/>
            <a:ext cx="10225087" cy="3673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51">
          <p15:clr>
            <a:srgbClr val="FBAE40"/>
          </p15:clr>
        </p15:guide>
        <p15:guide id="2" orient="horz" pos="1253">
          <p15:clr>
            <a:srgbClr val="FBAE40"/>
          </p15:clr>
        </p15:guide>
        <p15:guide id="3" orient="horz" pos="3634">
          <p15:clr>
            <a:srgbClr val="FBAE40"/>
          </p15:clr>
        </p15:guide>
        <p15:guide id="4" pos="6992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Presentation - Content 2">
  <p:cSld name="3_Presentation - Content 2"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" name="Google Shape;204;p4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40"/>
          <p:cNvSpPr txBox="1"/>
          <p:nvPr/>
        </p:nvSpPr>
        <p:spPr>
          <a:xfrm>
            <a:off x="9413934" y="6216896"/>
            <a:ext cx="2249714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z="16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6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40"/>
          <p:cNvSpPr txBox="1">
            <a:spLocks noGrp="1"/>
          </p:cNvSpPr>
          <p:nvPr>
            <p:ph type="title"/>
          </p:nvPr>
        </p:nvSpPr>
        <p:spPr>
          <a:xfrm>
            <a:off x="874713" y="506216"/>
            <a:ext cx="8327542" cy="587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07" name="Google Shape;207;p40"/>
          <p:cNvSpPr>
            <a:spLocks noGrp="1"/>
          </p:cNvSpPr>
          <p:nvPr>
            <p:ph type="tbl" idx="2"/>
          </p:nvPr>
        </p:nvSpPr>
        <p:spPr>
          <a:xfrm>
            <a:off x="874713" y="1093984"/>
            <a:ext cx="10225087" cy="38479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51">
          <p15:clr>
            <a:srgbClr val="FBAE40"/>
          </p15:clr>
        </p15:guide>
        <p15:guide id="2" orient="horz" pos="504">
          <p15:clr>
            <a:srgbClr val="FBAE40"/>
          </p15:clr>
        </p15:guide>
        <p15:guide id="3" orient="horz" pos="3113">
          <p15:clr>
            <a:srgbClr val="FBAE40"/>
          </p15:clr>
        </p15:guide>
        <p15:guide id="4" pos="6992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Presentation - Empty - Content">
  <p:cSld name="3_Presentation - Empty - Content"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Google Shape;209;p4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41"/>
          <p:cNvSpPr txBox="1"/>
          <p:nvPr/>
        </p:nvSpPr>
        <p:spPr>
          <a:xfrm>
            <a:off x="9413934" y="6216896"/>
            <a:ext cx="2249714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z="16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6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41"/>
          <p:cNvSpPr txBox="1">
            <a:spLocks noGrp="1"/>
          </p:cNvSpPr>
          <p:nvPr>
            <p:ph type="title"/>
          </p:nvPr>
        </p:nvSpPr>
        <p:spPr>
          <a:xfrm>
            <a:off x="874713" y="506216"/>
            <a:ext cx="8327542" cy="587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12" name="Google Shape;212;p41"/>
          <p:cNvSpPr>
            <a:spLocks noGrp="1"/>
          </p:cNvSpPr>
          <p:nvPr>
            <p:ph type="tbl" idx="2"/>
          </p:nvPr>
        </p:nvSpPr>
        <p:spPr>
          <a:xfrm>
            <a:off x="874713" y="1093984"/>
            <a:ext cx="10225087" cy="46822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51">
          <p15:clr>
            <a:srgbClr val="FBAE40"/>
          </p15:clr>
        </p15:guide>
        <p15:guide id="2" orient="horz" pos="1253">
          <p15:clr>
            <a:srgbClr val="FBAE40"/>
          </p15:clr>
        </p15:guide>
        <p15:guide id="3" orient="horz" pos="3634">
          <p15:clr>
            <a:srgbClr val="FBAE40"/>
          </p15:clr>
        </p15:guide>
        <p15:guide id="4" pos="6992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resentation - Content - Smartart">
  <p:cSld name="Presentation - Content - Smartart"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4" name="Google Shape;214;p4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42"/>
          <p:cNvSpPr txBox="1"/>
          <p:nvPr/>
        </p:nvSpPr>
        <p:spPr>
          <a:xfrm>
            <a:off x="9413934" y="6216896"/>
            <a:ext cx="2249714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z="16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6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42"/>
          <p:cNvSpPr txBox="1">
            <a:spLocks noGrp="1"/>
          </p:cNvSpPr>
          <p:nvPr>
            <p:ph type="title"/>
          </p:nvPr>
        </p:nvSpPr>
        <p:spPr>
          <a:xfrm>
            <a:off x="874713" y="506216"/>
            <a:ext cx="8327542" cy="587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17" name="Google Shape;217;p42"/>
          <p:cNvSpPr txBox="1">
            <a:spLocks noGrp="1"/>
          </p:cNvSpPr>
          <p:nvPr>
            <p:ph type="body" idx="1"/>
          </p:nvPr>
        </p:nvSpPr>
        <p:spPr>
          <a:xfrm>
            <a:off x="874713" y="1093983"/>
            <a:ext cx="2546893" cy="46749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Noto Sans Symbols"/>
              <a:buChar char="▪"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Noto Sans Symbols"/>
              <a:buChar char="▪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8" name="Google Shape;218;p42"/>
          <p:cNvSpPr>
            <a:spLocks noGrp="1"/>
          </p:cNvSpPr>
          <p:nvPr>
            <p:ph type="dgm" idx="2"/>
          </p:nvPr>
        </p:nvSpPr>
        <p:spPr>
          <a:xfrm>
            <a:off x="3598863" y="1093788"/>
            <a:ext cx="8064500" cy="4675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51">
          <p15:clr>
            <a:srgbClr val="FBAE40"/>
          </p15:clr>
        </p15:guide>
        <p15:guide id="2" orient="horz" pos="1253">
          <p15:clr>
            <a:srgbClr val="FBAE40"/>
          </p15:clr>
        </p15:guide>
        <p15:guide id="3" orient="horz" pos="3634">
          <p15:clr>
            <a:srgbClr val="FBAE40"/>
          </p15:clr>
        </p15:guide>
        <p15:guide id="4" pos="6992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Presentation - Empty">
  <p:cSld name="1_Presentation - Empty"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" name="Google Shape;220;p4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43"/>
          <p:cNvSpPr txBox="1">
            <a:spLocks noGrp="1"/>
          </p:cNvSpPr>
          <p:nvPr>
            <p:ph type="title"/>
          </p:nvPr>
        </p:nvSpPr>
        <p:spPr>
          <a:xfrm>
            <a:off x="1107254" y="3390841"/>
            <a:ext cx="8327542" cy="587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Arial"/>
              <a:buNone/>
              <a:defRPr sz="35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22" name="Google Shape;222;p43"/>
          <p:cNvSpPr txBox="1"/>
          <p:nvPr/>
        </p:nvSpPr>
        <p:spPr>
          <a:xfrm>
            <a:off x="1107254" y="4313604"/>
            <a:ext cx="702742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6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Subscribe to our news: </a:t>
            </a:r>
            <a:r>
              <a:rPr lang="fr-FR" sz="1600" u="sng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www.cost.eu/subscribe</a:t>
            </a:r>
            <a:endParaRPr sz="16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23" name="Google Shape;223;p43"/>
          <p:cNvGrpSpPr/>
          <p:nvPr/>
        </p:nvGrpSpPr>
        <p:grpSpPr>
          <a:xfrm>
            <a:off x="9026219" y="5182889"/>
            <a:ext cx="2200682" cy="1172172"/>
            <a:chOff x="6636485" y="5354057"/>
            <a:chExt cx="2200682" cy="1172172"/>
          </a:xfrm>
        </p:grpSpPr>
        <p:grpSp>
          <p:nvGrpSpPr>
            <p:cNvPr id="224" name="Google Shape;224;p43"/>
            <p:cNvGrpSpPr/>
            <p:nvPr/>
          </p:nvGrpSpPr>
          <p:grpSpPr>
            <a:xfrm>
              <a:off x="6883674" y="5354057"/>
              <a:ext cx="1953493" cy="1172172"/>
              <a:chOff x="6883674" y="5354057"/>
              <a:chExt cx="1953493" cy="1172172"/>
            </a:xfrm>
          </p:grpSpPr>
          <p:pic>
            <p:nvPicPr>
              <p:cNvPr id="225" name="Google Shape;225;p43" descr="Plan de travail 1OFF-Icones.jpg">
                <a:hlinkClick r:id="rId3"/>
              </p:cNvPr>
              <p:cNvPicPr preferRelativeResize="0"/>
              <p:nvPr/>
            </p:nvPicPr>
            <p:blipFill rotWithShape="1">
              <a:blip r:embed="rId4">
                <a:alphaModFix/>
              </a:blip>
              <a:srcRect/>
              <a:stretch/>
            </p:blipFill>
            <p:spPr>
              <a:xfrm>
                <a:off x="8382903" y="5776143"/>
                <a:ext cx="360000" cy="330628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26" name="Google Shape;226;p43">
                <a:hlinkClick r:id="rId5"/>
              </p:cNvPr>
              <p:cNvSpPr txBox="1"/>
              <p:nvPr/>
            </p:nvSpPr>
            <p:spPr>
              <a:xfrm>
                <a:off x="6935575" y="6218452"/>
                <a:ext cx="1901592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fr-FR" sz="1400">
                    <a:solidFill>
                      <a:schemeClr val="dk2"/>
                    </a:solidFill>
                    <a:latin typeface="Arial"/>
                    <a:ea typeface="Arial"/>
                    <a:cs typeface="Arial"/>
                    <a:sym typeface="Arial"/>
                  </a:rPr>
                  <a:t>www.cost.eu</a:t>
                </a:r>
                <a:endParaRPr sz="1400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227" name="Google Shape;227;p43">
                <a:hlinkClick r:id="rId6"/>
              </p:cNvPr>
              <p:cNvPicPr preferRelativeResize="0"/>
              <p:nvPr/>
            </p:nvPicPr>
            <p:blipFill rotWithShape="1">
              <a:blip r:embed="rId7">
                <a:alphaModFix/>
              </a:blip>
              <a:srcRect/>
              <a:stretch/>
            </p:blipFill>
            <p:spPr>
              <a:xfrm>
                <a:off x="7500289" y="5780684"/>
                <a:ext cx="779907" cy="331038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28" name="Google Shape;228;p43">
                <a:hlinkClick r:id="rId8"/>
              </p:cNvPr>
              <p:cNvPicPr preferRelativeResize="0"/>
              <p:nvPr/>
            </p:nvPicPr>
            <p:blipFill rotWithShape="1">
              <a:blip r:embed="rId9">
                <a:alphaModFix/>
              </a:blip>
              <a:srcRect/>
              <a:stretch/>
            </p:blipFill>
            <p:spPr>
              <a:xfrm>
                <a:off x="7069413" y="5781094"/>
                <a:ext cx="330628" cy="330628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29" name="Google Shape;229;p43"/>
              <p:cNvSpPr txBox="1"/>
              <p:nvPr/>
            </p:nvSpPr>
            <p:spPr>
              <a:xfrm>
                <a:off x="6883674" y="5354057"/>
                <a:ext cx="1901592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fr-FR" sz="1400" b="1">
                    <a:solidFill>
                      <a:schemeClr val="dk2"/>
                    </a:solidFill>
                    <a:latin typeface="Arial"/>
                    <a:ea typeface="Arial"/>
                    <a:cs typeface="Arial"/>
                    <a:sym typeface="Arial"/>
                  </a:rPr>
                  <a:t>Subscribe</a:t>
                </a:r>
                <a:endParaRPr sz="1400" b="1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230" name="Google Shape;230;p43">
              <a:hlinkClick r:id="rId10"/>
            </p:cNvPr>
            <p:cNvPicPr preferRelativeResize="0"/>
            <p:nvPr/>
          </p:nvPicPr>
          <p:blipFill rotWithShape="1">
            <a:blip r:embed="rId11">
              <a:alphaModFix/>
            </a:blip>
            <a:srcRect/>
            <a:stretch/>
          </p:blipFill>
          <p:spPr>
            <a:xfrm>
              <a:off x="6636485" y="5778159"/>
              <a:ext cx="328612" cy="32861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51">
          <p15:clr>
            <a:srgbClr val="FBAE40"/>
          </p15:clr>
        </p15:guide>
        <p15:guide id="2" orient="horz" pos="1253">
          <p15:clr>
            <a:srgbClr val="FBAE40"/>
          </p15:clr>
        </p15:guide>
        <p15:guide id="3" orient="horz" pos="3634">
          <p15:clr>
            <a:srgbClr val="FBAE40"/>
          </p15:clr>
        </p15:guide>
        <p15:guide id="4" pos="6992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Presentation - Empty 2">
  <p:cSld name="1_Presentation - Empty 2"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2" name="Google Shape;232;p4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44"/>
          <p:cNvSpPr txBox="1"/>
          <p:nvPr/>
        </p:nvSpPr>
        <p:spPr>
          <a:xfrm>
            <a:off x="9413934" y="6216896"/>
            <a:ext cx="2249714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z="16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6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Presentation - Empty - Empty">
  <p:cSld name="1_Presentation - Empty - Empty"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" name="Google Shape;235;p4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45"/>
          <p:cNvSpPr txBox="1"/>
          <p:nvPr/>
        </p:nvSpPr>
        <p:spPr>
          <a:xfrm>
            <a:off x="9413934" y="6216896"/>
            <a:ext cx="2249714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z="16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6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51">
          <p15:clr>
            <a:srgbClr val="FBAE40"/>
          </p15:clr>
        </p15:guide>
        <p15:guide id="2" orient="horz" pos="1253">
          <p15:clr>
            <a:srgbClr val="FBAE40"/>
          </p15:clr>
        </p15:guide>
        <p15:guide id="3" orient="horz" pos="3634">
          <p15:clr>
            <a:srgbClr val="FBAE40"/>
          </p15:clr>
        </p15:guide>
        <p15:guide id="4" pos="6992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7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6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Relationship Id="rId14" Type="http://schemas.openxmlformats.org/officeDocument/2006/relationships/slideLayout" Target="../slideLayouts/slideLayout28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6.xml"/><Relationship Id="rId13" Type="http://schemas.openxmlformats.org/officeDocument/2006/relationships/slideLayout" Target="../slideLayouts/slideLayout41.xml"/><Relationship Id="rId3" Type="http://schemas.openxmlformats.org/officeDocument/2006/relationships/slideLayout" Target="../slideLayouts/slideLayout31.xml"/><Relationship Id="rId7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40.xml"/><Relationship Id="rId2" Type="http://schemas.openxmlformats.org/officeDocument/2006/relationships/slideLayout" Target="../slideLayouts/slideLayout30.xml"/><Relationship Id="rId1" Type="http://schemas.openxmlformats.org/officeDocument/2006/relationships/slideLayout" Target="../slideLayouts/slideLayout29.xml"/><Relationship Id="rId6" Type="http://schemas.openxmlformats.org/officeDocument/2006/relationships/slideLayout" Target="../slideLayouts/slideLayout34.xml"/><Relationship Id="rId11" Type="http://schemas.openxmlformats.org/officeDocument/2006/relationships/slideLayout" Target="../slideLayouts/slideLayout39.xml"/><Relationship Id="rId5" Type="http://schemas.openxmlformats.org/officeDocument/2006/relationships/slideLayout" Target="../slideLayouts/slideLayout33.xml"/><Relationship Id="rId15" Type="http://schemas.openxmlformats.org/officeDocument/2006/relationships/theme" Target="../theme/theme3.xml"/><Relationship Id="rId10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2.xml"/><Relationship Id="rId9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4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  <p:sldLayoutId id="2147483675" r:id="rId14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84" r:id="rId9"/>
    <p:sldLayoutId id="2147483685" r:id="rId10"/>
    <p:sldLayoutId id="2147483686" r:id="rId11"/>
    <p:sldLayoutId id="2147483687" r:id="rId12"/>
    <p:sldLayoutId id="2147483688" r:id="rId13"/>
    <p:sldLayoutId id="2147483689" r:id="rId14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46"/>
          <p:cNvSpPr txBox="1">
            <a:spLocks noGrp="1"/>
          </p:cNvSpPr>
          <p:nvPr>
            <p:ph type="title"/>
          </p:nvPr>
        </p:nvSpPr>
        <p:spPr>
          <a:xfrm>
            <a:off x="1107254" y="3961396"/>
            <a:ext cx="8327542" cy="587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Arial"/>
              <a:buNone/>
            </a:pPr>
            <a:r>
              <a:rPr lang="fr-FR" sz="3200" dirty="0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COST Fin AI Country Update</a:t>
            </a:r>
            <a:endParaRPr sz="3200" dirty="0">
              <a:solidFill>
                <a:schemeClr val="accent1">
                  <a:lumMod val="7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42" name="Google Shape;242;p46"/>
          <p:cNvSpPr txBox="1">
            <a:spLocks noGrp="1"/>
          </p:cNvSpPr>
          <p:nvPr>
            <p:ph type="body" idx="1"/>
          </p:nvPr>
        </p:nvSpPr>
        <p:spPr>
          <a:xfrm>
            <a:off x="1106771" y="4557940"/>
            <a:ext cx="8328025" cy="4696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0"/>
              </a:spcBef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Kosovo</a:t>
            </a:r>
          </a:p>
        </p:txBody>
      </p:sp>
      <p:sp>
        <p:nvSpPr>
          <p:cNvPr id="243" name="Google Shape;243;p46"/>
          <p:cNvSpPr txBox="1">
            <a:spLocks noGrp="1"/>
          </p:cNvSpPr>
          <p:nvPr>
            <p:ph type="body" idx="2"/>
          </p:nvPr>
        </p:nvSpPr>
        <p:spPr>
          <a:xfrm>
            <a:off x="1106771" y="5043451"/>
            <a:ext cx="8328025" cy="4696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</a:pPr>
            <a: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  <a:t>Prof. Ass. Dr. Albulena SHALA</a:t>
            </a:r>
            <a:endParaRPr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  <a:t>Kosovo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4" name="Rectangle 1"/>
          <p:cNvSpPr>
            <a:spLocks noGrp="1" noChangeArrowheads="1"/>
          </p:cNvSpPr>
          <p:nvPr>
            <p:ph type="body" idx="1"/>
          </p:nvPr>
        </p:nvSpPr>
        <p:spPr bwMode="auto">
          <a:xfrm>
            <a:off x="563418" y="2038988"/>
            <a:ext cx="6825673" cy="150810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171450" indent="-1714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</a:pP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Population: 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1.8 mil.</a:t>
            </a:r>
          </a:p>
          <a:p>
            <a:pPr marL="171450" indent="-1714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</a:pPr>
            <a:r>
              <a:rPr lang="en-US" altLang="en-US" sz="1400" dirty="0" smtClean="0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The youngest population in Europe</a:t>
            </a:r>
            <a:endParaRPr kumimoji="0" lang="en-US" altLang="en-US" sz="1400" b="0" i="0" u="none" strike="noStrike" cap="none" normalizeH="0" baseline="0" dirty="0" smtClean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171450" indent="-1714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</a:pPr>
            <a:r>
              <a:rPr lang="en-US" sz="1400" dirty="0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About </a:t>
            </a:r>
            <a:r>
              <a:rPr lang="en-US" sz="1400" dirty="0" smtClean="0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96.6% </a:t>
            </a:r>
            <a:r>
              <a:rPr lang="en-US" sz="1400" dirty="0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of households have access to the </a:t>
            </a:r>
            <a:r>
              <a:rPr lang="en-US" sz="1400" dirty="0" smtClean="0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internet</a:t>
            </a:r>
            <a:endParaRPr lang="en-US" sz="1400" dirty="0">
              <a:solidFill>
                <a:schemeClr val="accent1">
                  <a:lumMod val="7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171450" indent="-1714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</a:pPr>
            <a:r>
              <a:rPr lang="en-US" sz="1400" dirty="0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The IT industry is one of the fastest-growing sectors in Kosovo's </a:t>
            </a:r>
            <a:r>
              <a:rPr lang="en-US" sz="1400" dirty="0" smtClean="0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economy</a:t>
            </a:r>
          </a:p>
          <a:p>
            <a:pPr marL="171450" indent="-1714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</a:pPr>
            <a:r>
              <a:rPr lang="en-US" sz="1400" dirty="0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The most widely adopted technologies include web-based development (81%), followed by artificial intelligence (36%), big data (33%), and data science (29%). </a:t>
            </a:r>
            <a:endParaRPr lang="en-US" sz="1400" dirty="0">
              <a:solidFill>
                <a:schemeClr val="accent1">
                  <a:lumMod val="7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171450" indent="-1714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</a:pPr>
            <a:endParaRPr kumimoji="0" lang="en-US" altLang="en-US" sz="1400" b="0" i="0" u="none" strike="noStrike" cap="none" normalizeH="0" baseline="0" dirty="0" smtClean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AutoShape 3" descr="Flag of Kosovo"/>
          <p:cNvSpPr>
            <a:spLocks noChangeAspect="1" noChangeArrowheads="1"/>
          </p:cNvSpPr>
          <p:nvPr/>
        </p:nvSpPr>
        <p:spPr bwMode="auto">
          <a:xfrm>
            <a:off x="155574" y="-144463"/>
            <a:ext cx="335079" cy="3350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0391055"/>
              </p:ext>
            </p:extLst>
          </p:nvPr>
        </p:nvGraphicFramePr>
        <p:xfrm>
          <a:off x="588500" y="3776180"/>
          <a:ext cx="6800591" cy="21605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7555">
                  <a:extLst>
                    <a:ext uri="{9D8B030D-6E8A-4147-A177-3AD203B41FA5}">
                      <a16:colId xmlns:a16="http://schemas.microsoft.com/office/drawing/2014/main" val="1287993910"/>
                    </a:ext>
                  </a:extLst>
                </a:gridCol>
                <a:gridCol w="967555">
                  <a:extLst>
                    <a:ext uri="{9D8B030D-6E8A-4147-A177-3AD203B41FA5}">
                      <a16:colId xmlns:a16="http://schemas.microsoft.com/office/drawing/2014/main" val="78554599"/>
                    </a:ext>
                  </a:extLst>
                </a:gridCol>
                <a:gridCol w="967555">
                  <a:extLst>
                    <a:ext uri="{9D8B030D-6E8A-4147-A177-3AD203B41FA5}">
                      <a16:colId xmlns:a16="http://schemas.microsoft.com/office/drawing/2014/main" val="226874322"/>
                    </a:ext>
                  </a:extLst>
                </a:gridCol>
                <a:gridCol w="967555">
                  <a:extLst>
                    <a:ext uri="{9D8B030D-6E8A-4147-A177-3AD203B41FA5}">
                      <a16:colId xmlns:a16="http://schemas.microsoft.com/office/drawing/2014/main" val="2679538297"/>
                    </a:ext>
                  </a:extLst>
                </a:gridCol>
                <a:gridCol w="967555">
                  <a:extLst>
                    <a:ext uri="{9D8B030D-6E8A-4147-A177-3AD203B41FA5}">
                      <a16:colId xmlns:a16="http://schemas.microsoft.com/office/drawing/2014/main" val="1871749288"/>
                    </a:ext>
                  </a:extLst>
                </a:gridCol>
                <a:gridCol w="967555">
                  <a:extLst>
                    <a:ext uri="{9D8B030D-6E8A-4147-A177-3AD203B41FA5}">
                      <a16:colId xmlns:a16="http://schemas.microsoft.com/office/drawing/2014/main" val="2526475881"/>
                    </a:ext>
                  </a:extLst>
                </a:gridCol>
                <a:gridCol w="995261">
                  <a:extLst>
                    <a:ext uri="{9D8B030D-6E8A-4147-A177-3AD203B41FA5}">
                      <a16:colId xmlns:a16="http://schemas.microsoft.com/office/drawing/2014/main" val="4621759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u="none" strike="noStrike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Rank</a:t>
                      </a:r>
                      <a:endParaRPr lang="en-US" sz="1000" b="1" i="0" u="none" strike="noStrike" dirty="0">
                        <a:solidFill>
                          <a:srgbClr val="FFFFFF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u="none" strike="noStrike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Country</a:t>
                      </a:r>
                      <a:endParaRPr lang="en-US" sz="1000" b="1" i="0" u="none" strike="noStrike" dirty="0">
                        <a:solidFill>
                          <a:srgbClr val="FFFFFF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u="none" strike="noStrike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Total</a:t>
                      </a:r>
                      <a:endParaRPr lang="en-US" sz="1000" b="1" i="0" u="none" strike="noStrike" dirty="0">
                        <a:solidFill>
                          <a:srgbClr val="FFFFFF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u="none" strike="noStrike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Talent</a:t>
                      </a:r>
                      <a:endParaRPr lang="en-US" sz="1000" b="1" i="0" u="none" strike="noStrike" dirty="0">
                        <a:solidFill>
                          <a:srgbClr val="FFFFFF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u="none" strike="noStrike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IT </a:t>
                      </a:r>
                      <a:r>
                        <a:rPr lang="en-US" sz="1000" u="none" strike="noStrike" dirty="0" smtClean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infrastructure</a:t>
                      </a:r>
                      <a:endParaRPr lang="en-US" sz="1000" b="1" i="0" u="none" strike="noStrike" dirty="0">
                        <a:solidFill>
                          <a:srgbClr val="FFFFFF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u="none" strike="noStrike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Economic impact</a:t>
                      </a:r>
                      <a:endParaRPr lang="en-US" sz="1000" b="1" i="0" u="none" strike="noStrike" dirty="0">
                        <a:solidFill>
                          <a:srgbClr val="FFFFFF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u="none" strike="noStrike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Business Environment</a:t>
                      </a:r>
                      <a:endParaRPr lang="en-US" sz="1000" b="1" i="0" u="none" strike="noStrike" dirty="0">
                        <a:solidFill>
                          <a:srgbClr val="FFFFFF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790762048"/>
                  </a:ext>
                </a:extLst>
              </a:tr>
              <a:tr h="179283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u="none" strike="noStrike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1</a:t>
                      </a:r>
                      <a:endParaRPr lang="en-US" sz="1000" b="0" i="0" u="none" strike="noStrike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u="none" strike="noStrike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Estonia</a:t>
                      </a:r>
                      <a:endParaRPr lang="en-US" sz="1000" b="0" i="0" u="none" strike="noStrike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u="none" strike="noStrike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64.43</a:t>
                      </a:r>
                      <a:endParaRPr lang="en-US" sz="1000" b="0" i="0" u="none" strike="noStrike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u="none" strike="noStrike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25.14</a:t>
                      </a:r>
                      <a:endParaRPr lang="en-US" sz="1000" b="0" i="0" u="none" strike="noStrike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u="none" strike="noStrike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12.54</a:t>
                      </a:r>
                      <a:endParaRPr lang="en-US" sz="1000" b="0" i="0" u="none" strike="noStrike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u="none" strike="noStrike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9.45</a:t>
                      </a:r>
                      <a:endParaRPr lang="en-US" sz="1000" b="0" i="0" u="none" strike="noStrike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u="none" strike="noStrike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17.3</a:t>
                      </a:r>
                      <a:endParaRPr lang="en-US" sz="1000" b="0" i="0" u="none" strike="noStrike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672385479"/>
                  </a:ext>
                </a:extLst>
              </a:tr>
              <a:tr h="179283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u="none" strike="noStrike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2</a:t>
                      </a:r>
                      <a:endParaRPr lang="en-US" sz="1000" b="0" i="0" u="none" strike="noStrike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u="none" strike="noStrike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Poland</a:t>
                      </a:r>
                      <a:endParaRPr lang="en-US" sz="1000" b="0" i="0" u="none" strike="noStrike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u="none" strike="noStrike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60.88</a:t>
                      </a:r>
                      <a:endParaRPr lang="en-US" sz="1000" b="0" i="0" u="none" strike="noStrike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u="none" strike="noStrike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26.06</a:t>
                      </a:r>
                      <a:endParaRPr lang="en-US" sz="1000" b="0" i="0" u="none" strike="noStrike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u="none" strike="noStrike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12.61</a:t>
                      </a:r>
                      <a:endParaRPr lang="en-US" sz="1000" b="0" i="0" u="none" strike="noStrike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u="none" strike="noStrike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8.2</a:t>
                      </a:r>
                      <a:endParaRPr lang="en-US" sz="1000" b="0" i="0" u="none" strike="noStrike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u="none" strike="noStrike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14.01</a:t>
                      </a:r>
                      <a:endParaRPr lang="en-US" sz="1000" b="0" i="0" u="none" strike="noStrike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810784975"/>
                  </a:ext>
                </a:extLst>
              </a:tr>
              <a:tr h="179283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u="none" strike="noStrike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3</a:t>
                      </a:r>
                      <a:endParaRPr lang="en-US" sz="1000" b="0" i="0" u="none" strike="noStrike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u="none" strike="noStrike" dirty="0" err="1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Czechia</a:t>
                      </a:r>
                      <a:endParaRPr lang="en-US" sz="1000" b="0" i="0" u="none" strike="noStrike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u="none" strike="noStrike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59.25</a:t>
                      </a:r>
                      <a:endParaRPr lang="en-US" sz="1000" b="0" i="0" u="none" strike="noStrike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u="none" strike="noStrike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23.67</a:t>
                      </a:r>
                      <a:endParaRPr lang="en-US" sz="1000" b="0" i="0" u="none" strike="noStrike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u="none" strike="noStrike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9.63</a:t>
                      </a:r>
                      <a:endParaRPr lang="en-US" sz="1000" b="0" i="0" u="none" strike="noStrike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u="none" strike="noStrike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9.22</a:t>
                      </a:r>
                      <a:endParaRPr lang="en-US" sz="1000" b="0" i="0" u="none" strike="noStrike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u="none" strike="noStrike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16.73</a:t>
                      </a:r>
                      <a:endParaRPr lang="en-US" sz="1000" b="0" i="0" u="none" strike="noStrike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7154155"/>
                  </a:ext>
                </a:extLst>
              </a:tr>
              <a:tr h="19290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u="none" strike="noStrike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4</a:t>
                      </a:r>
                      <a:endParaRPr lang="en-US" sz="1000" b="0" i="0" u="none" strike="noStrike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u="none" strike="noStrike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Lithuania</a:t>
                      </a:r>
                      <a:endParaRPr lang="en-US" sz="1000" b="0" i="0" u="none" strike="noStrike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u="none" strike="noStrike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57.75</a:t>
                      </a:r>
                      <a:endParaRPr lang="en-US" sz="1000" b="0" i="0" u="none" strike="noStrike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u="none" strike="noStrike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21.02</a:t>
                      </a:r>
                      <a:endParaRPr lang="en-US" sz="1000" b="0" i="0" u="none" strike="noStrike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u="none" strike="noStrike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12.29</a:t>
                      </a:r>
                      <a:endParaRPr lang="en-US" sz="1000" b="0" i="0" u="none" strike="noStrike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u="none" strike="noStrike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7.69</a:t>
                      </a:r>
                      <a:endParaRPr lang="en-US" sz="1000" b="0" i="0" u="none" strike="noStrike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u="none" strike="noStrike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15.76</a:t>
                      </a:r>
                      <a:endParaRPr lang="en-US" sz="1000" b="0" i="0" u="none" strike="noStrike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601419706"/>
                  </a:ext>
                </a:extLst>
              </a:tr>
              <a:tr h="179283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u="none" strike="noStrike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5</a:t>
                      </a:r>
                      <a:endParaRPr lang="en-US" sz="1000" b="0" i="0" u="none" strike="noStrike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u="none" strike="noStrike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Slovenia</a:t>
                      </a:r>
                      <a:endParaRPr lang="en-US" sz="1000" b="0" i="0" u="none" strike="noStrike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u="none" strike="noStrike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57.32</a:t>
                      </a:r>
                      <a:endParaRPr lang="en-US" sz="1000" b="0" i="0" u="none" strike="noStrike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u="none" strike="noStrike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22.59</a:t>
                      </a:r>
                      <a:endParaRPr lang="en-US" sz="1000" b="0" i="0" u="none" strike="noStrike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u="none" strike="noStrike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9.92</a:t>
                      </a:r>
                      <a:endParaRPr lang="en-US" sz="1000" b="0" i="0" u="none" strike="noStrike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u="none" strike="noStrike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8.15</a:t>
                      </a:r>
                      <a:endParaRPr lang="en-US" sz="1000" b="0" i="0" u="none" strike="noStrike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u="none" strike="noStrike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16.65</a:t>
                      </a:r>
                      <a:endParaRPr lang="en-US" sz="1000" b="0" i="0" u="none" strike="noStrike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416071227"/>
                  </a:ext>
                </a:extLst>
              </a:tr>
              <a:tr h="179283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u="none" strike="noStrike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6</a:t>
                      </a:r>
                      <a:endParaRPr lang="en-US" sz="1000" b="0" i="0" u="none" strike="noStrike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u="none" strike="noStrike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Romania</a:t>
                      </a:r>
                      <a:endParaRPr lang="en-US" sz="1000" b="0" i="0" u="none" strike="noStrike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u="none" strike="noStrike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57.1</a:t>
                      </a:r>
                      <a:endParaRPr lang="en-US" sz="1000" b="0" i="0" u="none" strike="noStrike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u="none" strike="noStrike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23.06</a:t>
                      </a:r>
                      <a:endParaRPr lang="en-US" sz="1000" b="0" i="0" u="none" strike="noStrike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u="none" strike="noStrike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12.51</a:t>
                      </a:r>
                      <a:endParaRPr lang="en-US" sz="1000" b="0" i="0" u="none" strike="noStrike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u="none" strike="noStrike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9.65</a:t>
                      </a:r>
                      <a:endParaRPr lang="en-US" sz="1000" b="0" i="0" u="none" strike="noStrike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u="none" strike="noStrike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11.88</a:t>
                      </a:r>
                      <a:endParaRPr lang="en-US" sz="1000" b="0" i="0" u="none" strike="noStrike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570347098"/>
                  </a:ext>
                </a:extLst>
              </a:tr>
              <a:tr h="179283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u="none" strike="noStrike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7</a:t>
                      </a:r>
                      <a:endParaRPr lang="en-US" sz="1000" b="0" i="0" u="none" strike="noStrike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u="none" strike="noStrike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Slovakia</a:t>
                      </a:r>
                      <a:endParaRPr lang="en-US" sz="1000" b="0" i="0" u="none" strike="noStrike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u="none" strike="noStrike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55.85</a:t>
                      </a:r>
                      <a:endParaRPr lang="en-US" sz="1000" b="0" i="0" u="none" strike="noStrike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u="none" strike="noStrike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23.06</a:t>
                      </a:r>
                      <a:endParaRPr lang="en-US" sz="1000" b="0" i="0" u="none" strike="noStrike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u="none" strike="noStrike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9.67</a:t>
                      </a:r>
                      <a:endParaRPr lang="en-US" sz="1000" b="0" i="0" u="none" strike="noStrike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u="none" strike="noStrike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7.99</a:t>
                      </a:r>
                      <a:endParaRPr lang="en-US" sz="1000" b="0" i="0" u="none" strike="noStrike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u="none" strike="noStrike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14.59</a:t>
                      </a:r>
                      <a:endParaRPr lang="en-US" sz="1000" b="0" i="0" u="none" strike="noStrike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547150989"/>
                  </a:ext>
                </a:extLst>
              </a:tr>
              <a:tr h="179283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u="none" strike="noStrike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8</a:t>
                      </a:r>
                      <a:endParaRPr lang="en-US" sz="1000" b="0" i="0" u="none" strike="noStrike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u="none" strike="noStrike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Latvia</a:t>
                      </a:r>
                      <a:endParaRPr lang="en-US" sz="1000" b="0" i="0" u="none" strike="noStrike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u="none" strike="noStrike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55.8</a:t>
                      </a:r>
                      <a:endParaRPr lang="en-US" sz="1000" b="0" i="0" u="none" strike="noStrike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u="none" strike="noStrike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22.35</a:t>
                      </a:r>
                      <a:endParaRPr lang="en-US" sz="1000" b="0" i="0" u="none" strike="noStrike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u="none" strike="noStrike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9.04</a:t>
                      </a:r>
                      <a:endParaRPr lang="en-US" sz="1000" b="0" i="0" u="none" strike="noStrike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u="none" strike="noStrike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8.01</a:t>
                      </a:r>
                      <a:endParaRPr lang="en-US" sz="1000" b="0" i="0" u="none" strike="noStrike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u="none" strike="noStrike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16.4</a:t>
                      </a:r>
                      <a:endParaRPr lang="en-US" sz="1000" b="0" i="0" u="none" strike="noStrike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911399457"/>
                  </a:ext>
                </a:extLst>
              </a:tr>
              <a:tr h="179283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u="none" strike="noStrike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9</a:t>
                      </a:r>
                      <a:endParaRPr lang="en-US" sz="1000" b="0" i="0" u="none" strike="noStrike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u="none" strike="noStrike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Hungary</a:t>
                      </a:r>
                      <a:endParaRPr lang="en-US" sz="1000" b="0" i="0" u="none" strike="noStrike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u="none" strike="noStrike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55.21</a:t>
                      </a:r>
                      <a:endParaRPr lang="en-US" sz="1000" b="0" i="0" u="none" strike="noStrike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22.73</a:t>
                      </a:r>
                      <a:endParaRPr lang="en-US" sz="1000" b="0" i="0" u="none" strike="noStrike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11.75</a:t>
                      </a:r>
                      <a:endParaRPr lang="en-US" sz="1000" b="0" i="0" u="none" strike="noStrike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u="none" strike="noStrike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7.9</a:t>
                      </a:r>
                      <a:endParaRPr lang="en-US" sz="1000" b="0" i="0" u="none" strike="noStrike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12.83</a:t>
                      </a:r>
                      <a:endParaRPr lang="en-US" sz="1000" b="0" i="0" u="none" strike="noStrike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161832653"/>
                  </a:ext>
                </a:extLst>
              </a:tr>
              <a:tr h="179283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u="none" strike="noStrike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10</a:t>
                      </a:r>
                      <a:endParaRPr lang="en-US" sz="1200" b="1" i="0" u="none" strike="noStrike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u="none" strike="noStrike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Kosovo</a:t>
                      </a:r>
                      <a:endParaRPr lang="en-US" sz="1400" b="1" i="0" u="none" strike="noStrike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54.96</a:t>
                      </a:r>
                      <a:endParaRPr lang="en-US" sz="1400" b="1" i="0" u="none" strike="noStrike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27.6</a:t>
                      </a:r>
                      <a:endParaRPr lang="en-US" sz="1400" b="1" i="0" u="none" strike="noStrike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10.28</a:t>
                      </a:r>
                      <a:endParaRPr lang="en-US" sz="1400" b="1" i="0" u="none" strike="noStrike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9.69</a:t>
                      </a:r>
                      <a:endParaRPr lang="en-US" sz="1400" b="1" i="0" u="none" strike="noStrike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7.49</a:t>
                      </a:r>
                      <a:endParaRPr lang="en-US" sz="1400" b="1" i="0" u="none" strike="noStrike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098912860"/>
                  </a:ext>
                </a:extLst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588500" y="3515306"/>
            <a:ext cx="619760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 smtClean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Table 1. The </a:t>
            </a:r>
            <a:r>
              <a:rPr lang="en-US" sz="12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IT Competitiveness </a:t>
            </a:r>
            <a:r>
              <a:rPr lang="en-US" sz="1200" dirty="0" smtClean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Index (</a:t>
            </a:r>
            <a:r>
              <a:rPr lang="en-US" sz="1200" dirty="0">
                <a:latin typeface="Cambria" panose="02040503050406030204" pitchFamily="18" charset="0"/>
                <a:ea typeface="Cambria" panose="02040503050406030204" pitchFamily="18" charset="0"/>
              </a:rPr>
              <a:t>Emerging Europe, </a:t>
            </a:r>
            <a:r>
              <a:rPr lang="en-US" sz="1200" dirty="0" smtClean="0">
                <a:latin typeface="Cambria" panose="02040503050406030204" pitchFamily="18" charset="0"/>
                <a:ea typeface="Cambria" panose="02040503050406030204" pitchFamily="18" charset="0"/>
              </a:rPr>
              <a:t>2022)</a:t>
            </a:r>
            <a:endParaRPr lang="en-US" sz="1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7237424"/>
              </p:ext>
            </p:extLst>
          </p:nvPr>
        </p:nvGraphicFramePr>
        <p:xfrm>
          <a:off x="8164943" y="3745847"/>
          <a:ext cx="3121892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6148">
                  <a:extLst>
                    <a:ext uri="{9D8B030D-6E8A-4147-A177-3AD203B41FA5}">
                      <a16:colId xmlns:a16="http://schemas.microsoft.com/office/drawing/2014/main" val="1549770641"/>
                    </a:ext>
                  </a:extLst>
                </a:gridCol>
                <a:gridCol w="1865744">
                  <a:extLst>
                    <a:ext uri="{9D8B030D-6E8A-4147-A177-3AD203B41FA5}">
                      <a16:colId xmlns:a16="http://schemas.microsoft.com/office/drawing/2014/main" val="29000525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900" dirty="0" smtClean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Country</a:t>
                      </a:r>
                      <a:endParaRPr lang="en-US" sz="9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 smtClean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Number of ICT students per 100,000 of population</a:t>
                      </a:r>
                      <a:endParaRPr lang="en-US" sz="9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40157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200" b="1" dirty="0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Kosovo</a:t>
                      </a:r>
                      <a:endParaRPr lang="en-US" sz="1200" b="1" dirty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668</a:t>
                      </a:r>
                      <a:endParaRPr lang="en-US" sz="1200" b="1" dirty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583165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Estonia</a:t>
                      </a:r>
                      <a:endParaRPr lang="en-US" sz="1000" dirty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366</a:t>
                      </a:r>
                      <a:endParaRPr lang="en-US" sz="1000" dirty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257251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North Macedonia</a:t>
                      </a:r>
                      <a:endParaRPr lang="en-US" sz="1000" dirty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341</a:t>
                      </a:r>
                      <a:endParaRPr lang="en-US" sz="1000" dirty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932678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Serbia</a:t>
                      </a:r>
                      <a:endParaRPr lang="en-US" sz="1000" dirty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336</a:t>
                      </a:r>
                      <a:endParaRPr lang="en-US" sz="1000" dirty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673371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Albania</a:t>
                      </a:r>
                      <a:endParaRPr lang="en-US" sz="1000" dirty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295</a:t>
                      </a:r>
                      <a:endParaRPr lang="en-US" sz="1000" dirty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625356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Latvia</a:t>
                      </a:r>
                      <a:endParaRPr lang="en-US" sz="1000" dirty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287</a:t>
                      </a:r>
                      <a:endParaRPr lang="en-US" sz="1000" dirty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93523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000" dirty="0" err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Ukraina</a:t>
                      </a:r>
                      <a:endParaRPr lang="en-US" sz="1000" dirty="0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264</a:t>
                      </a:r>
                      <a:endParaRPr lang="en-US" sz="1000" dirty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7454221"/>
                  </a:ext>
                </a:extLst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8164943" y="3474612"/>
            <a:ext cx="27247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latin typeface="Cambria" panose="02040503050406030204" pitchFamily="18" charset="0"/>
                <a:ea typeface="Cambria" panose="02040503050406030204" pitchFamily="18" charset="0"/>
              </a:rPr>
              <a:t>Table 2. ICT students/100,000</a:t>
            </a:r>
            <a:endParaRPr lang="en-US" sz="1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47073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47"/>
          <p:cNvSpPr txBox="1">
            <a:spLocks noGrp="1"/>
          </p:cNvSpPr>
          <p:nvPr>
            <p:ph type="body" idx="1"/>
          </p:nvPr>
        </p:nvSpPr>
        <p:spPr>
          <a:xfrm>
            <a:off x="874712" y="2102946"/>
            <a:ext cx="10502689" cy="3666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indent="-285750">
              <a:lnSpc>
                <a:spcPct val="100000"/>
              </a:lnSpc>
              <a:spcBef>
                <a:spcPts val="0"/>
              </a:spcBef>
              <a:buClr>
                <a:schemeClr val="accent1">
                  <a:lumMod val="75000"/>
                </a:schemeClr>
              </a:buClr>
              <a:buSzPct val="100000"/>
              <a:buFont typeface="Wingdings" panose="05000000000000000000" pitchFamily="2" charset="2"/>
              <a:buChar char="v"/>
            </a:pPr>
            <a:r>
              <a:rPr lang="en-US" sz="1400" dirty="0" smtClean="0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2016-Our participation in COST </a:t>
            </a:r>
            <a:r>
              <a:rPr lang="en-US" sz="1400" dirty="0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ACITON as an International Country</a:t>
            </a:r>
            <a:endParaRPr lang="en-US" sz="1400" dirty="0" smtClean="0">
              <a:solidFill>
                <a:schemeClr val="accent1">
                  <a:lumMod val="7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Clr>
                <a:schemeClr val="accent1">
                  <a:lumMod val="75000"/>
                </a:schemeClr>
              </a:buClr>
              <a:buSzPct val="100000"/>
              <a:buFont typeface="Wingdings" panose="05000000000000000000" pitchFamily="2" charset="2"/>
              <a:buChar char="v"/>
            </a:pPr>
            <a:r>
              <a:rPr lang="en-US" sz="1400" dirty="0" smtClean="0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2018-We </a:t>
            </a:r>
            <a:r>
              <a:rPr lang="en-US" sz="1400" dirty="0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advanced the status to a Neighboring Country of </a:t>
            </a:r>
            <a:r>
              <a:rPr lang="en-US" sz="1400" dirty="0" smtClean="0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Cooperation</a:t>
            </a: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Clr>
                <a:schemeClr val="accent1">
                  <a:lumMod val="75000"/>
                </a:schemeClr>
              </a:buClr>
              <a:buSzPct val="100000"/>
              <a:buFont typeface="Wingdings" panose="05000000000000000000" pitchFamily="2" charset="2"/>
              <a:buChar char="v"/>
            </a:pPr>
            <a:r>
              <a:rPr lang="en-US" sz="1400" dirty="0" smtClean="0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2022-Until the end of 2022 we participate in </a:t>
            </a:r>
            <a:r>
              <a:rPr lang="en-US" sz="1400" dirty="0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111 Actions (</a:t>
            </a:r>
            <a:r>
              <a:rPr lang="en-US" sz="1400" dirty="0" smtClean="0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103 researchers)</a:t>
            </a:r>
            <a:endParaRPr sz="1400" dirty="0">
              <a:solidFill>
                <a:schemeClr val="accent1">
                  <a:lumMod val="7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50" name="Google Shape;250;p47"/>
          <p:cNvSpPr txBox="1">
            <a:spLocks noGrp="1"/>
          </p:cNvSpPr>
          <p:nvPr>
            <p:ph type="title"/>
          </p:nvPr>
        </p:nvSpPr>
        <p:spPr>
          <a:xfrm>
            <a:off x="874713" y="1515179"/>
            <a:ext cx="8327400" cy="587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  <a:t>Kosovo and COST Actions</a:t>
            </a:r>
            <a:endParaRPr dirty="0">
              <a:solidFill>
                <a:schemeClr val="accent1">
                  <a:lumMod val="75000"/>
                </a:schemeClr>
              </a:solidFill>
            </a:endParaRPr>
          </a:p>
        </p:txBody>
      </p:sp>
      <p:graphicFrame>
        <p:nvGraphicFramePr>
          <p:cNvPr id="6" name="Chart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70617930"/>
              </p:ext>
            </p:extLst>
          </p:nvPr>
        </p:nvGraphicFramePr>
        <p:xfrm>
          <a:off x="6429103" y="3407011"/>
          <a:ext cx="4572000" cy="21831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609896"/>
              </p:ext>
            </p:extLst>
          </p:nvPr>
        </p:nvGraphicFramePr>
        <p:xfrm>
          <a:off x="993774" y="3675616"/>
          <a:ext cx="4473575" cy="1645920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962922">
                  <a:extLst>
                    <a:ext uri="{9D8B030D-6E8A-4147-A177-3AD203B41FA5}">
                      <a16:colId xmlns:a16="http://schemas.microsoft.com/office/drawing/2014/main" val="21085438"/>
                    </a:ext>
                  </a:extLst>
                </a:gridCol>
                <a:gridCol w="1685113">
                  <a:extLst>
                    <a:ext uri="{9D8B030D-6E8A-4147-A177-3AD203B41FA5}">
                      <a16:colId xmlns:a16="http://schemas.microsoft.com/office/drawing/2014/main" val="2481729260"/>
                    </a:ext>
                  </a:extLst>
                </a:gridCol>
                <a:gridCol w="1825540">
                  <a:extLst>
                    <a:ext uri="{9D8B030D-6E8A-4147-A177-3AD203B41FA5}">
                      <a16:colId xmlns:a16="http://schemas.microsoft.com/office/drawing/2014/main" val="2068797943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Year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# of COST Actions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% of COST Actions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31128400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2016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3%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62184655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2017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2%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029201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2018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3%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45126810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2019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16%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67649438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2020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19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17%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73117468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2021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16%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69742800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2022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48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43%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67052727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Total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111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100%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417182068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993773" y="3398550"/>
            <a:ext cx="37496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latin typeface="Cambria" panose="02040503050406030204" pitchFamily="18" charset="0"/>
                <a:ea typeface="Cambria" panose="02040503050406030204" pitchFamily="18" charset="0"/>
              </a:rPr>
              <a:t>Table 3. Participation of Kosovo in COST Actions</a:t>
            </a:r>
            <a:endParaRPr lang="en-US" sz="1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47"/>
          <p:cNvSpPr txBox="1">
            <a:spLocks noGrp="1"/>
          </p:cNvSpPr>
          <p:nvPr>
            <p:ph type="body" idx="1"/>
          </p:nvPr>
        </p:nvSpPr>
        <p:spPr>
          <a:xfrm>
            <a:off x="874712" y="2102945"/>
            <a:ext cx="10502689" cy="3926379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1" dirty="0" smtClean="0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We participate in many conferences with papers, such as:</a:t>
            </a: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Clr>
                <a:schemeClr val="accent1">
                  <a:lumMod val="75000"/>
                </a:schemeClr>
              </a:buClr>
              <a:buSzPct val="100000"/>
              <a:buFont typeface="Wingdings" panose="05000000000000000000" pitchFamily="2" charset="2"/>
              <a:buChar char="v"/>
            </a:pPr>
            <a:r>
              <a:rPr lang="en-US" sz="1400" dirty="0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Fintech: A New Way for Women's Financial </a:t>
            </a:r>
            <a:r>
              <a:rPr lang="en-US" sz="1400" dirty="0" smtClean="0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Inclusion (Coimbra, Portugal)</a:t>
            </a: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Clr>
                <a:schemeClr val="accent1">
                  <a:lumMod val="75000"/>
                </a:schemeClr>
              </a:buClr>
              <a:buSzPct val="100000"/>
              <a:buFont typeface="Wingdings" panose="05000000000000000000" pitchFamily="2" charset="2"/>
              <a:buChar char="v"/>
            </a:pPr>
            <a:r>
              <a:rPr lang="en-US" sz="1400" dirty="0" smtClean="0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 </a:t>
            </a:r>
            <a:r>
              <a:rPr lang="en-US" sz="1400" dirty="0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Perspective on Central Bank Digital Currency in Western Balkan </a:t>
            </a:r>
            <a:r>
              <a:rPr lang="en-US" sz="1400" dirty="0" smtClean="0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Countries (Brussel,  Belgium)</a:t>
            </a:r>
            <a:endParaRPr lang="en-US" sz="1400" dirty="0">
              <a:solidFill>
                <a:schemeClr val="accent1">
                  <a:lumMod val="7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Clr>
                <a:schemeClr val="accent1">
                  <a:lumMod val="75000"/>
                </a:schemeClr>
              </a:buClr>
              <a:buSzPct val="100000"/>
              <a:buFont typeface="Wingdings" panose="05000000000000000000" pitchFamily="2" charset="2"/>
              <a:buChar char="v"/>
            </a:pPr>
            <a:r>
              <a:rPr lang="en-US" sz="1400" dirty="0" smtClean="0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Risks </a:t>
            </a:r>
            <a:r>
              <a:rPr lang="en-US" sz="1400" dirty="0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of Fintech Companies to financial stability: Regulatory </a:t>
            </a:r>
            <a:r>
              <a:rPr lang="en-US" sz="1400" dirty="0" smtClean="0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and supervision </a:t>
            </a:r>
            <a:r>
              <a:rPr lang="en-US" sz="1400" dirty="0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practices in CEE (</a:t>
            </a:r>
            <a:r>
              <a:rPr lang="en-US" sz="1400" dirty="0" smtClean="0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Zagreb, Croatia)</a:t>
            </a:r>
            <a:endParaRPr lang="en-US" sz="1400" dirty="0">
              <a:solidFill>
                <a:schemeClr val="accent1">
                  <a:lumMod val="7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Clr>
                <a:schemeClr val="accent1">
                  <a:lumMod val="75000"/>
                </a:schemeClr>
              </a:buClr>
              <a:buSzPct val="100000"/>
              <a:buFont typeface="Wingdings" panose="05000000000000000000" pitchFamily="2" charset="2"/>
              <a:buChar char="v"/>
            </a:pPr>
            <a:r>
              <a:rPr lang="en-US" sz="1400" dirty="0" smtClean="0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Assessing </a:t>
            </a:r>
            <a:r>
              <a:rPr lang="en-US" sz="1400" dirty="0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digital and financial inclusion in CEE </a:t>
            </a:r>
            <a:r>
              <a:rPr lang="en-US" sz="1400" dirty="0" smtClean="0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countries (Utrecht, Netherlands)</a:t>
            </a:r>
            <a:endParaRPr lang="en-US" sz="1400" dirty="0">
              <a:solidFill>
                <a:schemeClr val="accent1">
                  <a:lumMod val="7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Clr>
                <a:schemeClr val="accent1">
                  <a:lumMod val="75000"/>
                </a:schemeClr>
              </a:buClr>
              <a:buSzPct val="100000"/>
              <a:buFont typeface="Wingdings" panose="05000000000000000000" pitchFamily="2" charset="2"/>
              <a:buChar char="v"/>
            </a:pPr>
            <a:r>
              <a:rPr lang="en-US" sz="1400" dirty="0" smtClean="0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The </a:t>
            </a:r>
            <a:r>
              <a:rPr lang="en-US" sz="1400" dirty="0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Challenges of </a:t>
            </a:r>
            <a:r>
              <a:rPr lang="en-US" sz="1400" dirty="0" err="1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FinTech</a:t>
            </a:r>
            <a:r>
              <a:rPr lang="en-US" sz="1400" dirty="0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in the Western </a:t>
            </a:r>
            <a:r>
              <a:rPr lang="en-US" sz="1400" dirty="0" smtClean="0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Balkans  (Tirana, Albania)</a:t>
            </a:r>
            <a:endParaRPr lang="pl-PL" sz="1400" dirty="0">
              <a:solidFill>
                <a:schemeClr val="accent1">
                  <a:lumMod val="7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400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1" dirty="0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We participated in </a:t>
            </a:r>
            <a:r>
              <a:rPr lang="en-US" sz="1400" b="1" dirty="0" smtClean="0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organizing</a:t>
            </a:r>
          </a:p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 smtClean="0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Women in </a:t>
            </a:r>
            <a:r>
              <a:rPr lang="en-US" sz="1400" dirty="0" err="1" smtClean="0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FinTech</a:t>
            </a:r>
            <a:r>
              <a:rPr lang="en-US" sz="1400" dirty="0" smtClean="0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(I-IV) as part of organizing and scientific committees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1">
                  <a:lumMod val="75000"/>
                </a:schemeClr>
              </a:buClr>
              <a:buSzPct val="100000"/>
              <a:buNone/>
            </a:pPr>
            <a:endParaRPr lang="en-US" sz="1400" dirty="0" smtClean="0">
              <a:solidFill>
                <a:schemeClr val="accent1">
                  <a:lumMod val="7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1">
                  <a:lumMod val="75000"/>
                </a:schemeClr>
              </a:buClr>
              <a:buSzPct val="100000"/>
              <a:buNone/>
            </a:pPr>
            <a:r>
              <a:rPr lang="en-US" sz="1400" b="1" dirty="0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We participated in two WMGs, and through them, we organized two international competitions between students</a:t>
            </a:r>
            <a:r>
              <a:rPr lang="en-US" sz="1400" b="1" dirty="0" smtClean="0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:</a:t>
            </a: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Clr>
                <a:schemeClr val="accent1">
                  <a:lumMod val="75000"/>
                </a:schemeClr>
              </a:buClr>
              <a:buSzPct val="100000"/>
              <a:buFont typeface="Wingdings" panose="05000000000000000000" pitchFamily="2" charset="2"/>
              <a:buChar char="v"/>
            </a:pPr>
            <a:r>
              <a:rPr lang="en-US" sz="1400" b="1" dirty="0" smtClean="0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“</a:t>
            </a:r>
            <a:r>
              <a:rPr lang="en-US" sz="1400" dirty="0" smtClean="0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Best </a:t>
            </a:r>
            <a:r>
              <a:rPr lang="en-US" sz="1400" dirty="0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WI-FI 2023 Young Researcher Paper—</a:t>
            </a:r>
            <a:r>
              <a:rPr lang="en-US" sz="1400" dirty="0" err="1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FinTech</a:t>
            </a:r>
            <a:r>
              <a:rPr lang="en-US" sz="1400" dirty="0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dirty="0" smtClean="0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Contest”, </a:t>
            </a:r>
            <a:r>
              <a:rPr lang="en-US" sz="1400" dirty="0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2023 (Coimbra, Portugal</a:t>
            </a:r>
            <a:r>
              <a:rPr lang="en-US" sz="1400" dirty="0" smtClean="0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)</a:t>
            </a: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Clr>
                <a:schemeClr val="accent1">
                  <a:lumMod val="75000"/>
                </a:schemeClr>
              </a:buClr>
              <a:buSzPct val="100000"/>
              <a:buFont typeface="Wingdings" panose="05000000000000000000" pitchFamily="2" charset="2"/>
              <a:buChar char="v"/>
            </a:pPr>
            <a:r>
              <a:rPr lang="en-US" sz="1400" dirty="0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dirty="0" smtClean="0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“Woman </a:t>
            </a:r>
            <a:r>
              <a:rPr lang="en-US" sz="1400" dirty="0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in Fintech </a:t>
            </a:r>
            <a:r>
              <a:rPr lang="en-US" sz="1400" dirty="0" err="1" smtClean="0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Datathon</a:t>
            </a:r>
            <a:r>
              <a:rPr lang="en-US" sz="1400" dirty="0" smtClean="0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”, </a:t>
            </a:r>
            <a:r>
              <a:rPr lang="en-US" sz="1400" dirty="0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2022 (</a:t>
            </a:r>
            <a:r>
              <a:rPr lang="en-US" sz="1400" dirty="0" err="1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Tirane</a:t>
            </a:r>
            <a:r>
              <a:rPr lang="en-US" sz="1400" dirty="0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, Albania</a:t>
            </a:r>
            <a:r>
              <a:rPr lang="en-US" sz="1400" dirty="0" smtClean="0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1">
                  <a:lumMod val="75000"/>
                </a:schemeClr>
              </a:buClr>
              <a:buSzPct val="100000"/>
              <a:buNone/>
            </a:pPr>
            <a:endParaRPr lang="en-US" sz="1400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1">
                  <a:lumMod val="75000"/>
                </a:schemeClr>
              </a:buClr>
              <a:buSzPct val="100000"/>
              <a:buNone/>
            </a:pPr>
            <a:endParaRPr lang="en-US" sz="1400" b="1" dirty="0" smtClean="0">
              <a:solidFill>
                <a:schemeClr val="accent1">
                  <a:lumMod val="7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1">
                  <a:lumMod val="75000"/>
                </a:schemeClr>
              </a:buClr>
              <a:buSzPct val="100000"/>
              <a:buNone/>
            </a:pPr>
            <a:r>
              <a:rPr lang="en-US" sz="1400" b="1" dirty="0" smtClean="0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Thanks </a:t>
            </a:r>
            <a:r>
              <a:rPr lang="en-US" sz="1400" b="1" dirty="0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to Cost Action 19130, for the first time at our university, we have </a:t>
            </a:r>
            <a:r>
              <a:rPr lang="en-US" sz="1400" b="1" dirty="0" smtClean="0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included </a:t>
            </a:r>
            <a:r>
              <a:rPr lang="en-US" sz="1400" b="1" dirty="0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courses about </a:t>
            </a:r>
            <a:r>
              <a:rPr lang="en-US" sz="1400" b="1" dirty="0" err="1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FinTech</a:t>
            </a:r>
            <a:r>
              <a:rPr lang="en-US" sz="1400" b="1" dirty="0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  <a:endParaRPr lang="en-US" sz="1400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400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400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50" name="Google Shape;250;p47"/>
          <p:cNvSpPr txBox="1">
            <a:spLocks noGrp="1"/>
          </p:cNvSpPr>
          <p:nvPr>
            <p:ph type="title"/>
          </p:nvPr>
        </p:nvSpPr>
        <p:spPr>
          <a:xfrm>
            <a:off x="874713" y="1515179"/>
            <a:ext cx="8327400" cy="587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  <a:t>Kosovo and COST Action 19130 </a:t>
            </a:r>
            <a:endParaRPr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100152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47"/>
          <p:cNvSpPr txBox="1">
            <a:spLocks noGrp="1"/>
          </p:cNvSpPr>
          <p:nvPr>
            <p:ph type="body" idx="1"/>
          </p:nvPr>
        </p:nvSpPr>
        <p:spPr>
          <a:xfrm>
            <a:off x="874712" y="2102946"/>
            <a:ext cx="10502689" cy="3666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/>
            <a:endParaRPr lang="en-US" sz="1600" b="1" dirty="0" smtClean="0">
              <a:solidFill>
                <a:schemeClr val="accent1">
                  <a:lumMod val="7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0">
              <a:lnSpc>
                <a:spcPct val="100000"/>
              </a:lnSpc>
              <a:spcBef>
                <a:spcPts val="0"/>
              </a:spcBef>
              <a:buClr>
                <a:schemeClr val="accent1">
                  <a:lumMod val="75000"/>
                </a:schemeClr>
              </a:buClr>
              <a:buSzPct val="100000"/>
              <a:buFont typeface="Wingdings" panose="05000000000000000000" pitchFamily="2" charset="2"/>
              <a:buChar char="v"/>
            </a:pPr>
            <a:r>
              <a:rPr lang="en-US" sz="1600" b="1" dirty="0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Informing a wide audience about our COST Action 19130 and activities</a:t>
            </a:r>
          </a:p>
          <a:p>
            <a:pPr lvl="0">
              <a:lnSpc>
                <a:spcPct val="100000"/>
              </a:lnSpc>
              <a:spcBef>
                <a:spcPts val="0"/>
              </a:spcBef>
              <a:buClr>
                <a:schemeClr val="accent1">
                  <a:lumMod val="75000"/>
                </a:schemeClr>
              </a:buClr>
              <a:buSzPct val="100000"/>
              <a:buFont typeface="Wingdings" panose="05000000000000000000" pitchFamily="2" charset="2"/>
              <a:buChar char="v"/>
            </a:pPr>
            <a:r>
              <a:rPr lang="en-US" sz="1600" b="1" dirty="0" smtClean="0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We </a:t>
            </a:r>
            <a:r>
              <a:rPr lang="en-US" sz="1600" b="1" dirty="0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have raised many important issues related to Kosovo and other Balkan countries related to various topics in </a:t>
            </a:r>
            <a:r>
              <a:rPr lang="en-US" sz="1600" b="1" dirty="0" err="1" smtClean="0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fintech</a:t>
            </a:r>
            <a:endParaRPr lang="en-US" sz="1600" b="1" dirty="0" smtClean="0">
              <a:solidFill>
                <a:schemeClr val="accent1">
                  <a:lumMod val="7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0">
              <a:lnSpc>
                <a:spcPct val="100000"/>
              </a:lnSpc>
              <a:spcBef>
                <a:spcPts val="0"/>
              </a:spcBef>
              <a:buClr>
                <a:schemeClr val="accent1">
                  <a:lumMod val="75000"/>
                </a:schemeClr>
              </a:buClr>
              <a:buSzPct val="100000"/>
              <a:buFont typeface="Wingdings" panose="05000000000000000000" pitchFamily="2" charset="2"/>
              <a:buChar char="v"/>
            </a:pPr>
            <a:r>
              <a:rPr lang="en-US" sz="1600" b="1" dirty="0" smtClean="0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We </a:t>
            </a:r>
            <a:r>
              <a:rPr lang="en-US" sz="1600" b="1" dirty="0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have contributed to the participation of many young people in various </a:t>
            </a:r>
            <a:r>
              <a:rPr lang="en-US" sz="1600" b="1" dirty="0" smtClean="0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competitions.</a:t>
            </a:r>
          </a:p>
          <a:p>
            <a:pPr lvl="0">
              <a:lnSpc>
                <a:spcPct val="100000"/>
              </a:lnSpc>
              <a:spcBef>
                <a:spcPts val="0"/>
              </a:spcBef>
              <a:buClr>
                <a:schemeClr val="accent1">
                  <a:lumMod val="75000"/>
                </a:schemeClr>
              </a:buClr>
              <a:buSzPct val="100000"/>
              <a:buFont typeface="Wingdings" panose="05000000000000000000" pitchFamily="2" charset="2"/>
              <a:buChar char="v"/>
            </a:pPr>
            <a:r>
              <a:rPr lang="en-US" sz="1600" b="1" dirty="0" smtClean="0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For </a:t>
            </a:r>
            <a:r>
              <a:rPr lang="en-US" sz="1600" b="1" dirty="0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the first time, we have included in the Faculty of Economics of the University of </a:t>
            </a:r>
            <a:r>
              <a:rPr lang="en-US" sz="1600" b="1" dirty="0" err="1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Prishtina</a:t>
            </a:r>
            <a:r>
              <a:rPr lang="en-US" sz="1600" b="1" dirty="0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b="1" dirty="0" smtClean="0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“Hasan </a:t>
            </a:r>
            <a:r>
              <a:rPr lang="en-US" sz="1600" b="1" dirty="0" err="1" smtClean="0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Prishtina</a:t>
            </a:r>
            <a:r>
              <a:rPr lang="en-US" sz="1600" b="1" dirty="0" smtClean="0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” courses such as Financial </a:t>
            </a:r>
            <a:r>
              <a:rPr lang="en-US" sz="1600" b="1" dirty="0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technology, </a:t>
            </a:r>
            <a:r>
              <a:rPr lang="en-US" sz="1600" b="1" dirty="0" smtClean="0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Advanced </a:t>
            </a:r>
            <a:r>
              <a:rPr lang="en-US" sz="1600" b="1" dirty="0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financial technology, and </a:t>
            </a:r>
            <a:r>
              <a:rPr lang="en-US" sz="1600" b="1" dirty="0" err="1" smtClean="0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Figital</a:t>
            </a:r>
            <a:r>
              <a:rPr lang="en-US" sz="1600" b="1" dirty="0" smtClean="0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b="1" dirty="0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finance</a:t>
            </a:r>
            <a:r>
              <a:rPr lang="en-US" sz="1600" b="1" dirty="0" smtClean="0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</p:txBody>
      </p:sp>
      <p:sp>
        <p:nvSpPr>
          <p:cNvPr id="250" name="Google Shape;250;p47"/>
          <p:cNvSpPr txBox="1">
            <a:spLocks noGrp="1"/>
          </p:cNvSpPr>
          <p:nvPr>
            <p:ph type="title"/>
          </p:nvPr>
        </p:nvSpPr>
        <p:spPr>
          <a:xfrm>
            <a:off x="874713" y="1515179"/>
            <a:ext cx="8327400" cy="587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 dirty="0" err="1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Impact</a:t>
            </a:r>
            <a:endParaRPr dirty="0">
              <a:solidFill>
                <a:schemeClr val="accent1">
                  <a:lumMod val="7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2837416"/>
      </p:ext>
    </p:extLst>
  </p:cSld>
  <p:clrMapOvr>
    <a:masterClrMapping/>
  </p:clrMapOvr>
</p:sld>
</file>

<file path=ppt/theme/theme1.xml><?xml version="1.0" encoding="utf-8"?>
<a:theme xmlns:a="http://schemas.openxmlformats.org/drawingml/2006/main" name="COST_ppt-16_9-color_1">
  <a:themeElements>
    <a:clrScheme name="COST THEME FUSHIA">
      <a:dk1>
        <a:srgbClr val="000000"/>
      </a:dk1>
      <a:lt1>
        <a:srgbClr val="FFFFFF"/>
      </a:lt1>
      <a:dk2>
        <a:srgbClr val="737373"/>
      </a:dk2>
      <a:lt2>
        <a:srgbClr val="D2D2CD"/>
      </a:lt2>
      <a:accent1>
        <a:srgbClr val="961E64"/>
      </a:accent1>
      <a:accent2>
        <a:srgbClr val="6E82BE"/>
      </a:accent2>
      <a:accent3>
        <a:srgbClr val="692364"/>
      </a:accent3>
      <a:accent4>
        <a:srgbClr val="2D3778"/>
      </a:accent4>
      <a:accent5>
        <a:srgbClr val="E1783C"/>
      </a:accent5>
      <a:accent6>
        <a:srgbClr val="00AB9D"/>
      </a:accent6>
      <a:hlink>
        <a:srgbClr val="D7D2C3"/>
      </a:hlink>
      <a:folHlink>
        <a:srgbClr val="9B9B9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OST_ppt-16_9-color_2">
  <a:themeElements>
    <a:clrScheme name="COST THEME GREEN">
      <a:dk1>
        <a:srgbClr val="000000"/>
      </a:dk1>
      <a:lt1>
        <a:srgbClr val="FFFFFF"/>
      </a:lt1>
      <a:dk2>
        <a:srgbClr val="737373"/>
      </a:dk2>
      <a:lt2>
        <a:srgbClr val="D2D2CD"/>
      </a:lt2>
      <a:accent1>
        <a:srgbClr val="00AB9D"/>
      </a:accent1>
      <a:accent2>
        <a:srgbClr val="6E82BE"/>
      </a:accent2>
      <a:accent3>
        <a:srgbClr val="2D3778"/>
      </a:accent3>
      <a:accent4>
        <a:srgbClr val="961E64"/>
      </a:accent4>
      <a:accent5>
        <a:srgbClr val="692364"/>
      </a:accent5>
      <a:accent6>
        <a:srgbClr val="E1783C"/>
      </a:accent6>
      <a:hlink>
        <a:srgbClr val="D7D2C3"/>
      </a:hlink>
      <a:folHlink>
        <a:srgbClr val="9B9B9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COST_ppt-16_9-color_3">
  <a:themeElements>
    <a:clrScheme name="COST THEME GREEN">
      <a:dk1>
        <a:srgbClr val="000000"/>
      </a:dk1>
      <a:lt1>
        <a:srgbClr val="FFFFFF"/>
      </a:lt1>
      <a:dk2>
        <a:srgbClr val="737373"/>
      </a:dk2>
      <a:lt2>
        <a:srgbClr val="D2D2CD"/>
      </a:lt2>
      <a:accent1>
        <a:srgbClr val="00AB9D"/>
      </a:accent1>
      <a:accent2>
        <a:srgbClr val="6E82BE"/>
      </a:accent2>
      <a:accent3>
        <a:srgbClr val="2D3778"/>
      </a:accent3>
      <a:accent4>
        <a:srgbClr val="961E64"/>
      </a:accent4>
      <a:accent5>
        <a:srgbClr val="692364"/>
      </a:accent5>
      <a:accent6>
        <a:srgbClr val="E1783C"/>
      </a:accent6>
      <a:hlink>
        <a:srgbClr val="D7D2C3"/>
      </a:hlink>
      <a:folHlink>
        <a:srgbClr val="9B9B9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Thème Office">
  <a:themeElements>
    <a:clrScheme name="Bureau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230</TotalTime>
  <Words>559</Words>
  <Application>Microsoft Office PowerPoint</Application>
  <PresentationFormat>Widescreen</PresentationFormat>
  <Paragraphs>165</Paragraphs>
  <Slides>5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5</vt:i4>
      </vt:variant>
    </vt:vector>
  </HeadingPairs>
  <TitlesOfParts>
    <vt:vector size="14" baseType="lpstr">
      <vt:lpstr>Arial</vt:lpstr>
      <vt:lpstr>Calibri</vt:lpstr>
      <vt:lpstr>Cambria</vt:lpstr>
      <vt:lpstr>Noto Sans Symbols</vt:lpstr>
      <vt:lpstr>Times New Roman</vt:lpstr>
      <vt:lpstr>Wingdings</vt:lpstr>
      <vt:lpstr>COST_ppt-16_9-color_1</vt:lpstr>
      <vt:lpstr>COST_ppt-16_9-color_2</vt:lpstr>
      <vt:lpstr>COST_ppt-16_9-color_3</vt:lpstr>
      <vt:lpstr>COST Fin AI Country Update</vt:lpstr>
      <vt:lpstr>Kosovo</vt:lpstr>
      <vt:lpstr>Kosovo and COST Actions</vt:lpstr>
      <vt:lpstr>Kosovo and COST Action 19130 </vt:lpstr>
      <vt:lpstr>Impact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COST Fin AI Country Update</dc:title>
  <dc:creator>Piotr</dc:creator>
  <cp:lastModifiedBy>NB</cp:lastModifiedBy>
  <cp:revision>30</cp:revision>
  <dcterms:modified xsi:type="dcterms:W3CDTF">2023-09-24T18:31:04Z</dcterms:modified>
</cp:coreProperties>
</file>