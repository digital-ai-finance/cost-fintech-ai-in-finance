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3"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949">
          <p15:clr>
            <a:srgbClr val="A4A3A4"/>
          </p15:clr>
        </p15:guide>
        <p15:guide id="2" orient="horz" pos="2160">
          <p15:clr>
            <a:srgbClr val="A4A3A4"/>
          </p15:clr>
        </p15:guide>
      </p15:sldGuideLst>
    </p:ext>
    <p:ext uri="GoogleSlidesCustomDataVersion2">
      <go:slidesCustomData xmlns:go="http://customooxmlschemas.google.com/" r:id="rId16" roundtripDataSignature="AMtx7mgDN2n2kqQVyIVBm8vviqEvg/k5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49"/>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6"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hyperlink" Target="https://twitter.com/costprogramme?lang=fr" TargetMode="External"/><Relationship Id="rId4" Type="http://schemas.openxmlformats.org/officeDocument/2006/relationships/image" Target="../media/image22.jpg"/><Relationship Id="rId11" Type="http://schemas.openxmlformats.org/officeDocument/2006/relationships/image" Target="../media/image7.png"/><Relationship Id="rId10" Type="http://schemas.openxmlformats.org/officeDocument/2006/relationships/hyperlink" Target="https://www.linkedin.com/company/cost-office" TargetMode="External"/><Relationship Id="rId9" Type="http://schemas.openxmlformats.org/officeDocument/2006/relationships/image" Target="../media/image4.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8.png"/><Relationship Id="rId8" Type="http://schemas.openxmlformats.org/officeDocument/2006/relationships/hyperlink" Target="https://www.facebook.com/COST.Programme/"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hyperlink" Target="https://twitter.com/costprogramme?lang=fr" TargetMode="External"/><Relationship Id="rId4" Type="http://schemas.openxmlformats.org/officeDocument/2006/relationships/image" Target="../media/image22.jpg"/><Relationship Id="rId11" Type="http://schemas.openxmlformats.org/officeDocument/2006/relationships/image" Target="../media/image7.png"/><Relationship Id="rId10" Type="http://schemas.openxmlformats.org/officeDocument/2006/relationships/hyperlink" Target="https://www.linkedin.com/company/cost-office" TargetMode="External"/><Relationship Id="rId9" Type="http://schemas.openxmlformats.org/officeDocument/2006/relationships/image" Target="../media/image4.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8.png"/><Relationship Id="rId8" Type="http://schemas.openxmlformats.org/officeDocument/2006/relationships/hyperlink" Target="https://www.facebook.com/COST.Programme/"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hyperlink" Target="https://twitter.com/costprogramme?lang=fr" TargetMode="External"/><Relationship Id="rId4" Type="http://schemas.openxmlformats.org/officeDocument/2006/relationships/image" Target="../media/image22.jpg"/><Relationship Id="rId11" Type="http://schemas.openxmlformats.org/officeDocument/2006/relationships/image" Target="../media/image7.png"/><Relationship Id="rId10" Type="http://schemas.openxmlformats.org/officeDocument/2006/relationships/hyperlink" Target="https://www.linkedin.com/company/cost-office" TargetMode="External"/><Relationship Id="rId9" Type="http://schemas.openxmlformats.org/officeDocument/2006/relationships/image" Target="../media/image4.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8.png"/><Relationship Id="rId8" Type="http://schemas.openxmlformats.org/officeDocument/2006/relationships/hyperlink" Target="https://www.facebook.com/COST.Programme/"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10" name="Shape 10"/>
        <p:cNvGrpSpPr/>
        <p:nvPr/>
      </p:nvGrpSpPr>
      <p:grpSpPr>
        <a:xfrm>
          <a:off x="0" y="0"/>
          <a:ext cx="0" cy="0"/>
          <a:chOff x="0" y="0"/>
          <a:chExt cx="0" cy="0"/>
        </a:xfrm>
      </p:grpSpPr>
      <p:pic>
        <p:nvPicPr>
          <p:cNvPr id="11" name="Google Shape;11;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 name="Google Shape;12;p10"/>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0"/>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10"/>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5" name="Shape 15"/>
        <p:cNvGrpSpPr/>
        <p:nvPr/>
      </p:nvGrpSpPr>
      <p:grpSpPr>
        <a:xfrm>
          <a:off x="0" y="0"/>
          <a:ext cx="0" cy="0"/>
          <a:chOff x="0" y="0"/>
          <a:chExt cx="0" cy="0"/>
        </a:xfrm>
      </p:grpSpPr>
      <p:pic>
        <p:nvPicPr>
          <p:cNvPr id="16" name="Google Shape;16;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11"/>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 name="Google Shape;18;p11"/>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1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20" name="Shape 20"/>
        <p:cNvGrpSpPr/>
        <p:nvPr/>
      </p:nvGrpSpPr>
      <p:grpSpPr>
        <a:xfrm>
          <a:off x="0" y="0"/>
          <a:ext cx="0" cy="0"/>
          <a:chOff x="0" y="0"/>
          <a:chExt cx="0" cy="0"/>
        </a:xfrm>
      </p:grpSpPr>
      <p:pic>
        <p:nvPicPr>
          <p:cNvPr id="21" name="Google Shape;21;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p12"/>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12"/>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12"/>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25" name="Shape 25"/>
        <p:cNvGrpSpPr/>
        <p:nvPr/>
      </p:nvGrpSpPr>
      <p:grpSpPr>
        <a:xfrm>
          <a:off x="0" y="0"/>
          <a:ext cx="0" cy="0"/>
          <a:chOff x="0" y="0"/>
          <a:chExt cx="0" cy="0"/>
        </a:xfrm>
      </p:grpSpPr>
      <p:pic>
        <p:nvPicPr>
          <p:cNvPr id="26" name="Google Shape;26;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7" name="Google Shape;27;p13"/>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13"/>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9" name="Google Shape;29;p13"/>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30" name="Shape 30"/>
        <p:cNvGrpSpPr/>
        <p:nvPr/>
      </p:nvGrpSpPr>
      <p:grpSpPr>
        <a:xfrm>
          <a:off x="0" y="0"/>
          <a:ext cx="0" cy="0"/>
          <a:chOff x="0" y="0"/>
          <a:chExt cx="0" cy="0"/>
        </a:xfrm>
      </p:grpSpPr>
      <p:pic>
        <p:nvPicPr>
          <p:cNvPr id="31" name="Google Shape;31;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2" name="Google Shape;32;p14"/>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3" name="Google Shape;33;p1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4" name="Google Shape;34;p1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35" name="Shape 35"/>
        <p:cNvGrpSpPr/>
        <p:nvPr/>
      </p:nvGrpSpPr>
      <p:grpSpPr>
        <a:xfrm>
          <a:off x="0" y="0"/>
          <a:ext cx="0" cy="0"/>
          <a:chOff x="0" y="0"/>
          <a:chExt cx="0" cy="0"/>
        </a:xfrm>
      </p:grpSpPr>
      <p:pic>
        <p:nvPicPr>
          <p:cNvPr id="36" name="Google Shape;36;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7" name="Google Shape;37;p15"/>
          <p:cNvSpPr txBox="1"/>
          <p:nvPr>
            <p:ph idx="1" type="body"/>
          </p:nvPr>
        </p:nvSpPr>
        <p:spPr>
          <a:xfrm>
            <a:off x="874713" y="1093983"/>
            <a:ext cx="10225087"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1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15"/>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40" name="Shape 40"/>
        <p:cNvGrpSpPr/>
        <p:nvPr/>
      </p:nvGrpSpPr>
      <p:grpSpPr>
        <a:xfrm>
          <a:off x="0" y="0"/>
          <a:ext cx="0" cy="0"/>
          <a:chOff x="0" y="0"/>
          <a:chExt cx="0" cy="0"/>
        </a:xfrm>
      </p:grpSpPr>
      <p:pic>
        <p:nvPicPr>
          <p:cNvPr id="41" name="Google Shape;41;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2" name="Google Shape;42;p16"/>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16"/>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1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5" name="Google Shape;45;p16"/>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46" name="Shape 46"/>
        <p:cNvGrpSpPr/>
        <p:nvPr/>
      </p:nvGrpSpPr>
      <p:grpSpPr>
        <a:xfrm>
          <a:off x="0" y="0"/>
          <a:ext cx="0" cy="0"/>
          <a:chOff x="0" y="0"/>
          <a:chExt cx="0" cy="0"/>
        </a:xfrm>
      </p:grpSpPr>
      <p:pic>
        <p:nvPicPr>
          <p:cNvPr id="47" name="Google Shape;47;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1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9" name="Google Shape;49;p17"/>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17"/>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51" name="Shape 51"/>
        <p:cNvGrpSpPr/>
        <p:nvPr/>
      </p:nvGrpSpPr>
      <p:grpSpPr>
        <a:xfrm>
          <a:off x="0" y="0"/>
          <a:ext cx="0" cy="0"/>
          <a:chOff x="0" y="0"/>
          <a:chExt cx="0" cy="0"/>
        </a:xfrm>
      </p:grpSpPr>
      <p:pic>
        <p:nvPicPr>
          <p:cNvPr id="52" name="Google Shape;52;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3" name="Google Shape;53;p1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4" name="Google Shape;54;p1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18"/>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56" name="Shape 56"/>
        <p:cNvGrpSpPr/>
        <p:nvPr/>
      </p:nvGrpSpPr>
      <p:grpSpPr>
        <a:xfrm>
          <a:off x="0" y="0"/>
          <a:ext cx="0" cy="0"/>
          <a:chOff x="0" y="0"/>
          <a:chExt cx="0" cy="0"/>
        </a:xfrm>
      </p:grpSpPr>
      <p:pic>
        <p:nvPicPr>
          <p:cNvPr id="57" name="Google Shape;57;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8" name="Google Shape;58;p1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9" name="Google Shape;59;p1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19"/>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61" name="Shape 61"/>
        <p:cNvGrpSpPr/>
        <p:nvPr/>
      </p:nvGrpSpPr>
      <p:grpSpPr>
        <a:xfrm>
          <a:off x="0" y="0"/>
          <a:ext cx="0" cy="0"/>
          <a:chOff x="0" y="0"/>
          <a:chExt cx="0" cy="0"/>
        </a:xfrm>
      </p:grpSpPr>
      <p:pic>
        <p:nvPicPr>
          <p:cNvPr id="62" name="Google Shape;62;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3" name="Google Shape;63;p20"/>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64" name="Google Shape;64;p2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20"/>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6" name="Google Shape;66;p20"/>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67" name="Shape 67"/>
        <p:cNvGrpSpPr/>
        <p:nvPr/>
      </p:nvGrpSpPr>
      <p:grpSpPr>
        <a:xfrm>
          <a:off x="0" y="0"/>
          <a:ext cx="0" cy="0"/>
          <a:chOff x="0" y="0"/>
          <a:chExt cx="0" cy="0"/>
        </a:xfrm>
      </p:grpSpPr>
      <p:pic>
        <p:nvPicPr>
          <p:cNvPr id="68" name="Google Shape;68;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9" name="Google Shape;69;p21"/>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 name="Google Shape;70;p21"/>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Arial"/>
                <a:ea typeface="Arial"/>
                <a:cs typeface="Arial"/>
                <a:sym typeface="Arial"/>
              </a:rPr>
              <a:t>Subscribe to our news: </a:t>
            </a:r>
            <a:r>
              <a:rPr b="0" i="0" lang="en-GB"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71" name="Google Shape;71;p21"/>
          <p:cNvGrpSpPr/>
          <p:nvPr/>
        </p:nvGrpSpPr>
        <p:grpSpPr>
          <a:xfrm>
            <a:off x="9026219" y="5182889"/>
            <a:ext cx="2200682" cy="1172172"/>
            <a:chOff x="6636485" y="5354057"/>
            <a:chExt cx="2200682" cy="1172172"/>
          </a:xfrm>
        </p:grpSpPr>
        <p:grpSp>
          <p:nvGrpSpPr>
            <p:cNvPr id="72" name="Google Shape;72;p21"/>
            <p:cNvGrpSpPr/>
            <p:nvPr/>
          </p:nvGrpSpPr>
          <p:grpSpPr>
            <a:xfrm>
              <a:off x="6883674" y="5354057"/>
              <a:ext cx="1953493" cy="1172172"/>
              <a:chOff x="6883674" y="5354057"/>
              <a:chExt cx="1953493" cy="1172172"/>
            </a:xfrm>
          </p:grpSpPr>
          <p:pic>
            <p:nvPicPr>
              <p:cNvPr descr="Plan de travail 1OFF-Icones.jpg" id="73" name="Google Shape;73;p21">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74" name="Google Shape;74;p21">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75" name="Google Shape;75;p21">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76" name="Google Shape;76;p21">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77" name="Google Shape;77;p21"/>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GB"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78" name="Google Shape;78;p21">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79" name="Shape 79"/>
        <p:cNvGrpSpPr/>
        <p:nvPr/>
      </p:nvGrpSpPr>
      <p:grpSpPr>
        <a:xfrm>
          <a:off x="0" y="0"/>
          <a:ext cx="0" cy="0"/>
          <a:chOff x="0" y="0"/>
          <a:chExt cx="0" cy="0"/>
        </a:xfrm>
      </p:grpSpPr>
      <p:pic>
        <p:nvPicPr>
          <p:cNvPr id="80" name="Google Shape;80;p2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1" name="Google Shape;81;p2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82" name="Shape 82"/>
        <p:cNvGrpSpPr/>
        <p:nvPr/>
      </p:nvGrpSpPr>
      <p:grpSpPr>
        <a:xfrm>
          <a:off x="0" y="0"/>
          <a:ext cx="0" cy="0"/>
          <a:chOff x="0" y="0"/>
          <a:chExt cx="0" cy="0"/>
        </a:xfrm>
      </p:grpSpPr>
      <p:pic>
        <p:nvPicPr>
          <p:cNvPr id="83" name="Google Shape;83;p2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4" name="Google Shape;84;p2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86" name="Shape 86"/>
        <p:cNvGrpSpPr/>
        <p:nvPr/>
      </p:nvGrpSpPr>
      <p:grpSpPr>
        <a:xfrm>
          <a:off x="0" y="0"/>
          <a:ext cx="0" cy="0"/>
          <a:chOff x="0" y="0"/>
          <a:chExt cx="0" cy="0"/>
        </a:xfrm>
      </p:grpSpPr>
      <p:pic>
        <p:nvPicPr>
          <p:cNvPr id="87" name="Google Shape;87;p2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8" name="Google Shape;88;p25"/>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 name="Google Shape;89;p25"/>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0" name="Google Shape;90;p25"/>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91" name="Shape 91"/>
        <p:cNvGrpSpPr/>
        <p:nvPr/>
      </p:nvGrpSpPr>
      <p:grpSpPr>
        <a:xfrm>
          <a:off x="0" y="0"/>
          <a:ext cx="0" cy="0"/>
          <a:chOff x="0" y="0"/>
          <a:chExt cx="0" cy="0"/>
        </a:xfrm>
      </p:grpSpPr>
      <p:pic>
        <p:nvPicPr>
          <p:cNvPr id="92" name="Google Shape;92;p2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3" name="Google Shape;93;p26"/>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4" name="Google Shape;94;p26"/>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26"/>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96" name="Shape 96"/>
        <p:cNvGrpSpPr/>
        <p:nvPr/>
      </p:nvGrpSpPr>
      <p:grpSpPr>
        <a:xfrm>
          <a:off x="0" y="0"/>
          <a:ext cx="0" cy="0"/>
          <a:chOff x="0" y="0"/>
          <a:chExt cx="0" cy="0"/>
        </a:xfrm>
      </p:grpSpPr>
      <p:pic>
        <p:nvPicPr>
          <p:cNvPr id="97" name="Google Shape;97;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8" name="Google Shape;98;p27"/>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 name="Google Shape;99;p27"/>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0" name="Google Shape;100;p27"/>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01" name="Shape 101"/>
        <p:cNvGrpSpPr/>
        <p:nvPr/>
      </p:nvGrpSpPr>
      <p:grpSpPr>
        <a:xfrm>
          <a:off x="0" y="0"/>
          <a:ext cx="0" cy="0"/>
          <a:chOff x="0" y="0"/>
          <a:chExt cx="0" cy="0"/>
        </a:xfrm>
      </p:grpSpPr>
      <p:pic>
        <p:nvPicPr>
          <p:cNvPr id="102" name="Google Shape;102;p2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3" name="Google Shape;103;p28"/>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4" name="Google Shape;104;p28"/>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5" name="Google Shape;105;p2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106" name="Shape 106"/>
        <p:cNvGrpSpPr/>
        <p:nvPr/>
      </p:nvGrpSpPr>
      <p:grpSpPr>
        <a:xfrm>
          <a:off x="0" y="0"/>
          <a:ext cx="0" cy="0"/>
          <a:chOff x="0" y="0"/>
          <a:chExt cx="0" cy="0"/>
        </a:xfrm>
      </p:grpSpPr>
      <p:pic>
        <p:nvPicPr>
          <p:cNvPr id="107" name="Google Shape;107;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8" name="Google Shape;108;p29"/>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9" name="Google Shape;109;p2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2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111" name="Shape 111"/>
        <p:cNvGrpSpPr/>
        <p:nvPr/>
      </p:nvGrpSpPr>
      <p:grpSpPr>
        <a:xfrm>
          <a:off x="0" y="0"/>
          <a:ext cx="0" cy="0"/>
          <a:chOff x="0" y="0"/>
          <a:chExt cx="0" cy="0"/>
        </a:xfrm>
      </p:grpSpPr>
      <p:pic>
        <p:nvPicPr>
          <p:cNvPr id="112" name="Google Shape;112;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3" name="Google Shape;113;p30"/>
          <p:cNvSpPr txBox="1"/>
          <p:nvPr>
            <p:ph idx="1" type="body"/>
          </p:nvPr>
        </p:nvSpPr>
        <p:spPr>
          <a:xfrm>
            <a:off x="874713" y="1093982"/>
            <a:ext cx="10225087"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4" name="Google Shape;114;p3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30"/>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16" name="Shape 116"/>
        <p:cNvGrpSpPr/>
        <p:nvPr/>
      </p:nvGrpSpPr>
      <p:grpSpPr>
        <a:xfrm>
          <a:off x="0" y="0"/>
          <a:ext cx="0" cy="0"/>
          <a:chOff x="0" y="0"/>
          <a:chExt cx="0" cy="0"/>
        </a:xfrm>
      </p:grpSpPr>
      <p:pic>
        <p:nvPicPr>
          <p:cNvPr id="117" name="Google Shape;117;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8" name="Google Shape;118;p31"/>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9" name="Google Shape;119;p31"/>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p3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21" name="Google Shape;121;p31"/>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122" name="Shape 122"/>
        <p:cNvGrpSpPr/>
        <p:nvPr/>
      </p:nvGrpSpPr>
      <p:grpSpPr>
        <a:xfrm>
          <a:off x="0" y="0"/>
          <a:ext cx="0" cy="0"/>
          <a:chOff x="0" y="0"/>
          <a:chExt cx="0" cy="0"/>
        </a:xfrm>
      </p:grpSpPr>
      <p:pic>
        <p:nvPicPr>
          <p:cNvPr id="123" name="Google Shape;123;p3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3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25" name="Google Shape;125;p32"/>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6" name="Google Shape;126;p32"/>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127" name="Shape 127"/>
        <p:cNvGrpSpPr/>
        <p:nvPr/>
      </p:nvGrpSpPr>
      <p:grpSpPr>
        <a:xfrm>
          <a:off x="0" y="0"/>
          <a:ext cx="0" cy="0"/>
          <a:chOff x="0" y="0"/>
          <a:chExt cx="0" cy="0"/>
        </a:xfrm>
      </p:grpSpPr>
      <p:pic>
        <p:nvPicPr>
          <p:cNvPr id="128" name="Google Shape;128;p3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9" name="Google Shape;129;p3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30" name="Google Shape;130;p3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33"/>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132" name="Shape 132"/>
        <p:cNvGrpSpPr/>
        <p:nvPr/>
      </p:nvGrpSpPr>
      <p:grpSpPr>
        <a:xfrm>
          <a:off x="0" y="0"/>
          <a:ext cx="0" cy="0"/>
          <a:chOff x="0" y="0"/>
          <a:chExt cx="0" cy="0"/>
        </a:xfrm>
      </p:grpSpPr>
      <p:pic>
        <p:nvPicPr>
          <p:cNvPr id="133" name="Google Shape;133;p3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4" name="Google Shape;134;p3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35" name="Google Shape;135;p3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34"/>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137" name="Shape 137"/>
        <p:cNvGrpSpPr/>
        <p:nvPr/>
      </p:nvGrpSpPr>
      <p:grpSpPr>
        <a:xfrm>
          <a:off x="0" y="0"/>
          <a:ext cx="0" cy="0"/>
          <a:chOff x="0" y="0"/>
          <a:chExt cx="0" cy="0"/>
        </a:xfrm>
      </p:grpSpPr>
      <p:pic>
        <p:nvPicPr>
          <p:cNvPr id="138" name="Google Shape;138;p3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9" name="Google Shape;139;p35"/>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40" name="Google Shape;140;p3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1" name="Google Shape;141;p35"/>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2" name="Google Shape;142;p35"/>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143" name="Shape 143"/>
        <p:cNvGrpSpPr/>
        <p:nvPr/>
      </p:nvGrpSpPr>
      <p:grpSpPr>
        <a:xfrm>
          <a:off x="0" y="0"/>
          <a:ext cx="0" cy="0"/>
          <a:chOff x="0" y="0"/>
          <a:chExt cx="0" cy="0"/>
        </a:xfrm>
      </p:grpSpPr>
      <p:pic>
        <p:nvPicPr>
          <p:cNvPr id="144" name="Google Shape;144;p3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5" name="Google Shape;145;p36"/>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6" name="Google Shape;146;p36"/>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Arial"/>
                <a:ea typeface="Arial"/>
                <a:cs typeface="Arial"/>
                <a:sym typeface="Arial"/>
              </a:rPr>
              <a:t>Subscribe to our news: </a:t>
            </a:r>
            <a:r>
              <a:rPr b="0" i="0" lang="en-GB"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147" name="Google Shape;147;p36"/>
          <p:cNvGrpSpPr/>
          <p:nvPr/>
        </p:nvGrpSpPr>
        <p:grpSpPr>
          <a:xfrm>
            <a:off x="9026219" y="5182889"/>
            <a:ext cx="2200682" cy="1172172"/>
            <a:chOff x="6636485" y="5354057"/>
            <a:chExt cx="2200682" cy="1172172"/>
          </a:xfrm>
        </p:grpSpPr>
        <p:grpSp>
          <p:nvGrpSpPr>
            <p:cNvPr id="148" name="Google Shape;148;p36"/>
            <p:cNvGrpSpPr/>
            <p:nvPr/>
          </p:nvGrpSpPr>
          <p:grpSpPr>
            <a:xfrm>
              <a:off x="6883674" y="5354057"/>
              <a:ext cx="1953493" cy="1172172"/>
              <a:chOff x="6883674" y="5354057"/>
              <a:chExt cx="1953493" cy="1172172"/>
            </a:xfrm>
          </p:grpSpPr>
          <p:pic>
            <p:nvPicPr>
              <p:cNvPr descr="Plan de travail 1OFF-Icones.jpg" id="149" name="Google Shape;149;p36">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150" name="Google Shape;150;p36">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151" name="Google Shape;151;p36">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152" name="Google Shape;152;p36">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153" name="Google Shape;153;p36"/>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GB"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154" name="Google Shape;154;p36">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155" name="Shape 155"/>
        <p:cNvGrpSpPr/>
        <p:nvPr/>
      </p:nvGrpSpPr>
      <p:grpSpPr>
        <a:xfrm>
          <a:off x="0" y="0"/>
          <a:ext cx="0" cy="0"/>
          <a:chOff x="0" y="0"/>
          <a:chExt cx="0" cy="0"/>
        </a:xfrm>
      </p:grpSpPr>
      <p:pic>
        <p:nvPicPr>
          <p:cNvPr id="156" name="Google Shape;156;p3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7" name="Google Shape;157;p3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158" name="Shape 158"/>
        <p:cNvGrpSpPr/>
        <p:nvPr/>
      </p:nvGrpSpPr>
      <p:grpSpPr>
        <a:xfrm>
          <a:off x="0" y="0"/>
          <a:ext cx="0" cy="0"/>
          <a:chOff x="0" y="0"/>
          <a:chExt cx="0" cy="0"/>
        </a:xfrm>
      </p:grpSpPr>
      <p:pic>
        <p:nvPicPr>
          <p:cNvPr id="159" name="Google Shape;159;p3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0" name="Google Shape;160;p3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title">
  <p:cSld name="3_Presentation - title">
    <p:spTree>
      <p:nvGrpSpPr>
        <p:cNvPr id="162" name="Shape 162"/>
        <p:cNvGrpSpPr/>
        <p:nvPr/>
      </p:nvGrpSpPr>
      <p:grpSpPr>
        <a:xfrm>
          <a:off x="0" y="0"/>
          <a:ext cx="0" cy="0"/>
          <a:chOff x="0" y="0"/>
          <a:chExt cx="0" cy="0"/>
        </a:xfrm>
      </p:grpSpPr>
      <p:pic>
        <p:nvPicPr>
          <p:cNvPr id="163" name="Google Shape;163;p4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4" name="Google Shape;164;p40"/>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5" name="Google Shape;165;p40"/>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6" name="Google Shape;166;p40"/>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resentation - title">
  <p:cSld name="4_Presentation - title">
    <p:spTree>
      <p:nvGrpSpPr>
        <p:cNvPr id="167" name="Shape 167"/>
        <p:cNvGrpSpPr/>
        <p:nvPr/>
      </p:nvGrpSpPr>
      <p:grpSpPr>
        <a:xfrm>
          <a:off x="0" y="0"/>
          <a:ext cx="0" cy="0"/>
          <a:chOff x="0" y="0"/>
          <a:chExt cx="0" cy="0"/>
        </a:xfrm>
      </p:grpSpPr>
      <p:pic>
        <p:nvPicPr>
          <p:cNvPr id="168" name="Google Shape;168;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9" name="Google Shape;169;p41"/>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0" name="Google Shape;170;p4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1" name="Google Shape;171;p4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Presentation - title">
  <p:cSld name="5_Presentation - title">
    <p:spTree>
      <p:nvGrpSpPr>
        <p:cNvPr id="172" name="Shape 172"/>
        <p:cNvGrpSpPr/>
        <p:nvPr/>
      </p:nvGrpSpPr>
      <p:grpSpPr>
        <a:xfrm>
          <a:off x="0" y="0"/>
          <a:ext cx="0" cy="0"/>
          <a:chOff x="0" y="0"/>
          <a:chExt cx="0" cy="0"/>
        </a:xfrm>
      </p:grpSpPr>
      <p:pic>
        <p:nvPicPr>
          <p:cNvPr id="173" name="Google Shape;173;p4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4" name="Google Shape;174;p42"/>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5" name="Google Shape;175;p42"/>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6" name="Google Shape;176;p42"/>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p:cSld name="2_Presentation - Content">
    <p:spTree>
      <p:nvGrpSpPr>
        <p:cNvPr id="177" name="Shape 177"/>
        <p:cNvGrpSpPr/>
        <p:nvPr/>
      </p:nvGrpSpPr>
      <p:grpSpPr>
        <a:xfrm>
          <a:off x="0" y="0"/>
          <a:ext cx="0" cy="0"/>
          <a:chOff x="0" y="0"/>
          <a:chExt cx="0" cy="0"/>
        </a:xfrm>
      </p:grpSpPr>
      <p:pic>
        <p:nvPicPr>
          <p:cNvPr id="178" name="Google Shape;178;p4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9" name="Google Shape;179;p43"/>
          <p:cNvSpPr txBox="1"/>
          <p:nvPr>
            <p:ph idx="1" type="body"/>
          </p:nvPr>
        </p:nvSpPr>
        <p:spPr>
          <a:xfrm>
            <a:off x="874713" y="2102946"/>
            <a:ext cx="10225087" cy="367328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0" name="Google Shape;180;p43"/>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1" name="Google Shape;181;p4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2">
  <p:cSld name="2_Presentation - Content 2">
    <p:spTree>
      <p:nvGrpSpPr>
        <p:cNvPr id="182" name="Shape 182"/>
        <p:cNvGrpSpPr/>
        <p:nvPr/>
      </p:nvGrpSpPr>
      <p:grpSpPr>
        <a:xfrm>
          <a:off x="0" y="0"/>
          <a:ext cx="0" cy="0"/>
          <a:chOff x="0" y="0"/>
          <a:chExt cx="0" cy="0"/>
        </a:xfrm>
      </p:grpSpPr>
      <p:pic>
        <p:nvPicPr>
          <p:cNvPr id="183" name="Google Shape;183;p4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4" name="Google Shape;184;p44"/>
          <p:cNvSpPr txBox="1"/>
          <p:nvPr>
            <p:ph idx="1" type="body"/>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5" name="Google Shape;185;p4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6" name="Google Shape;186;p4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Empty - Content">
  <p:cSld name="2_Presentation - Empty - Content">
    <p:spTree>
      <p:nvGrpSpPr>
        <p:cNvPr id="187" name="Shape 187"/>
        <p:cNvGrpSpPr/>
        <p:nvPr/>
      </p:nvGrpSpPr>
      <p:grpSpPr>
        <a:xfrm>
          <a:off x="0" y="0"/>
          <a:ext cx="0" cy="0"/>
          <a:chOff x="0" y="0"/>
          <a:chExt cx="0" cy="0"/>
        </a:xfrm>
      </p:grpSpPr>
      <p:pic>
        <p:nvPicPr>
          <p:cNvPr id="188" name="Google Shape;188;p4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9" name="Google Shape;189;p45"/>
          <p:cNvSpPr txBox="1"/>
          <p:nvPr>
            <p:ph idx="1" type="body"/>
          </p:nvPr>
        </p:nvSpPr>
        <p:spPr>
          <a:xfrm>
            <a:off x="874713" y="1093983"/>
            <a:ext cx="10225087" cy="468224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0" name="Google Shape;190;p4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1" name="Google Shape;191;p45"/>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4" name="Google Shape;194;p46"/>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5" name="Google Shape;195;p46"/>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4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97" name="Google Shape;197;p46"/>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p:cSld name="3_Presentation - Content">
    <p:spTree>
      <p:nvGrpSpPr>
        <p:cNvPr id="198" name="Shape 198"/>
        <p:cNvGrpSpPr/>
        <p:nvPr/>
      </p:nvGrpSpPr>
      <p:grpSpPr>
        <a:xfrm>
          <a:off x="0" y="0"/>
          <a:ext cx="0" cy="0"/>
          <a:chOff x="0" y="0"/>
          <a:chExt cx="0" cy="0"/>
        </a:xfrm>
      </p:grpSpPr>
      <p:pic>
        <p:nvPicPr>
          <p:cNvPr id="199" name="Google Shape;199;p4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0" name="Google Shape;200;p4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01" name="Google Shape;201;p47"/>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2" name="Google Shape;202;p47"/>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2">
  <p:cSld name="3_Presentation - Content 2">
    <p:spTree>
      <p:nvGrpSpPr>
        <p:cNvPr id="203" name="Shape 203"/>
        <p:cNvGrpSpPr/>
        <p:nvPr/>
      </p:nvGrpSpPr>
      <p:grpSpPr>
        <a:xfrm>
          <a:off x="0" y="0"/>
          <a:ext cx="0" cy="0"/>
          <a:chOff x="0" y="0"/>
          <a:chExt cx="0" cy="0"/>
        </a:xfrm>
      </p:grpSpPr>
      <p:pic>
        <p:nvPicPr>
          <p:cNvPr id="204" name="Google Shape;204;p4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5" name="Google Shape;205;p4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06" name="Google Shape;206;p4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7" name="Google Shape;207;p48"/>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Empty - Content">
  <p:cSld name="3_Presentation - Empty - Content">
    <p:spTree>
      <p:nvGrpSpPr>
        <p:cNvPr id="208" name="Shape 208"/>
        <p:cNvGrpSpPr/>
        <p:nvPr/>
      </p:nvGrpSpPr>
      <p:grpSpPr>
        <a:xfrm>
          <a:off x="0" y="0"/>
          <a:ext cx="0" cy="0"/>
          <a:chOff x="0" y="0"/>
          <a:chExt cx="0" cy="0"/>
        </a:xfrm>
      </p:grpSpPr>
      <p:pic>
        <p:nvPicPr>
          <p:cNvPr id="209" name="Google Shape;209;p4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0" name="Google Shape;210;p4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11" name="Google Shape;211;p4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49"/>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213" name="Shape 213"/>
        <p:cNvGrpSpPr/>
        <p:nvPr/>
      </p:nvGrpSpPr>
      <p:grpSpPr>
        <a:xfrm>
          <a:off x="0" y="0"/>
          <a:ext cx="0" cy="0"/>
          <a:chOff x="0" y="0"/>
          <a:chExt cx="0" cy="0"/>
        </a:xfrm>
      </p:grpSpPr>
      <p:pic>
        <p:nvPicPr>
          <p:cNvPr id="214" name="Google Shape;214;p5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5" name="Google Shape;215;p50"/>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16" name="Google Shape;216;p5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7" name="Google Shape;217;p50"/>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8" name="Google Shape;218;p50"/>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p:cSld name="1_Presentation - Empty">
    <p:spTree>
      <p:nvGrpSpPr>
        <p:cNvPr id="219" name="Shape 219"/>
        <p:cNvGrpSpPr/>
        <p:nvPr/>
      </p:nvGrpSpPr>
      <p:grpSpPr>
        <a:xfrm>
          <a:off x="0" y="0"/>
          <a:ext cx="0" cy="0"/>
          <a:chOff x="0" y="0"/>
          <a:chExt cx="0" cy="0"/>
        </a:xfrm>
      </p:grpSpPr>
      <p:pic>
        <p:nvPicPr>
          <p:cNvPr id="220" name="Google Shape;220;p5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1" name="Google Shape;221;p51"/>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2" name="Google Shape;222;p51"/>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Arial"/>
                <a:ea typeface="Arial"/>
                <a:cs typeface="Arial"/>
                <a:sym typeface="Arial"/>
              </a:rPr>
              <a:t>Subscribe to our news: </a:t>
            </a:r>
            <a:r>
              <a:rPr b="0" i="0" lang="en-GB"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223" name="Google Shape;223;p51"/>
          <p:cNvGrpSpPr/>
          <p:nvPr/>
        </p:nvGrpSpPr>
        <p:grpSpPr>
          <a:xfrm>
            <a:off x="9026219" y="5182889"/>
            <a:ext cx="2200682" cy="1172172"/>
            <a:chOff x="6636485" y="5354057"/>
            <a:chExt cx="2200682" cy="1172172"/>
          </a:xfrm>
        </p:grpSpPr>
        <p:grpSp>
          <p:nvGrpSpPr>
            <p:cNvPr id="224" name="Google Shape;224;p51"/>
            <p:cNvGrpSpPr/>
            <p:nvPr/>
          </p:nvGrpSpPr>
          <p:grpSpPr>
            <a:xfrm>
              <a:off x="6883674" y="5354057"/>
              <a:ext cx="1953493" cy="1172172"/>
              <a:chOff x="6883674" y="5354057"/>
              <a:chExt cx="1953493" cy="1172172"/>
            </a:xfrm>
          </p:grpSpPr>
          <p:pic>
            <p:nvPicPr>
              <p:cNvPr descr="Plan de travail 1OFF-Icones.jpg" id="225" name="Google Shape;225;p51">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226" name="Google Shape;226;p51">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227" name="Google Shape;227;p51">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228" name="Google Shape;228;p51">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229" name="Google Shape;229;p51"/>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GB"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230" name="Google Shape;230;p51">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2">
  <p:cSld name="1_Presentation - Empty 2">
    <p:spTree>
      <p:nvGrpSpPr>
        <p:cNvPr id="231" name="Shape 231"/>
        <p:cNvGrpSpPr/>
        <p:nvPr/>
      </p:nvGrpSpPr>
      <p:grpSpPr>
        <a:xfrm>
          <a:off x="0" y="0"/>
          <a:ext cx="0" cy="0"/>
          <a:chOff x="0" y="0"/>
          <a:chExt cx="0" cy="0"/>
        </a:xfrm>
      </p:grpSpPr>
      <p:pic>
        <p:nvPicPr>
          <p:cNvPr id="232" name="Google Shape;232;p5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3" name="Google Shape;233;p5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Empty">
  <p:cSld name="1_Presentation - Empty - Empty">
    <p:spTree>
      <p:nvGrpSpPr>
        <p:cNvPr id="234" name="Shape 234"/>
        <p:cNvGrpSpPr/>
        <p:nvPr/>
      </p:nvGrpSpPr>
      <p:grpSpPr>
        <a:xfrm>
          <a:off x="0" y="0"/>
          <a:ext cx="0" cy="0"/>
          <a:chOff x="0" y="0"/>
          <a:chExt cx="0" cy="0"/>
        </a:xfrm>
      </p:grpSpPr>
      <p:pic>
        <p:nvPicPr>
          <p:cNvPr id="235" name="Google Shape;235;p5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6" name="Google Shape;236;p5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GB"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4.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1.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theme" Target="../theme/theme2.xml"/><Relationship Id="rId14" Type="http://schemas.openxmlformats.org/officeDocument/2006/relationships/slideLayout" Target="../slideLayouts/slideLayout4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eur02.safelinks.protection.outlook.com/?url=http%3A%2F%2Fwww.riseneeds.eu%2F&amp;data=05%7C01%7Cdrm.eco%40cbs.dk%7C659272d77c9642a7352808daf26d5aac%7C875c414e5d004cdbb77adeae5d6ab201%7C0%7C0%7C638088849000968556%7CUnknown%7CTWFpbGZsb3d8eyJWIjoiMC4wLjAwMDAiLCJQIjoiV2luMzIiLCJBTiI6Ik1haWwiLCJXVCI6Mn0%3D%7C3000%7C%7C%7C&amp;sdata=hRCMvjOuqv5o8Mbro269HaOEyl%2FlFMJX0bWwbRZQ9WM%3D&amp;reserved=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500"/>
              <a:buFont typeface="Arial"/>
              <a:buNone/>
            </a:pPr>
            <a:r>
              <a:rPr lang="en-GB"/>
              <a:t>COST Fin AI Country Update</a:t>
            </a:r>
            <a:endParaRPr/>
          </a:p>
        </p:txBody>
      </p:sp>
      <p:sp>
        <p:nvSpPr>
          <p:cNvPr id="242" name="Google Shape;242;p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400"/>
              <a:buNone/>
            </a:pPr>
            <a:r>
              <a:rPr lang="en-GB"/>
              <a:t>Denmark</a:t>
            </a:r>
            <a:endParaRPr/>
          </a:p>
        </p:txBody>
      </p:sp>
      <p:sp>
        <p:nvSpPr>
          <p:cNvPr id="243" name="Google Shape;243;p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600"/>
              <a:buNone/>
            </a:pPr>
            <a:r>
              <a:rPr lang="en-GB"/>
              <a:t>Created by Dolores Romero Morales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
          <p:cNvSpPr txBox="1"/>
          <p:nvPr>
            <p:ph idx="1" type="body"/>
          </p:nvPr>
        </p:nvSpPr>
        <p:spPr>
          <a:xfrm>
            <a:off x="874712" y="2102946"/>
            <a:ext cx="10502689" cy="36660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90000"/>
              </a:lnSpc>
              <a:spcBef>
                <a:spcPts val="1000"/>
              </a:spcBef>
              <a:spcAft>
                <a:spcPts val="0"/>
              </a:spcAft>
              <a:buClr>
                <a:schemeClr val="accent4"/>
              </a:buClr>
              <a:buSzPts val="1800"/>
              <a:buFont typeface="Arial"/>
              <a:buChar char="▪"/>
            </a:pPr>
            <a:r>
              <a:rPr lang="en-GB" sz="1800">
                <a:solidFill>
                  <a:schemeClr val="dk1"/>
                </a:solidFill>
              </a:rPr>
              <a:t>Dolores Romero Morales, Professor in Operations Research, Coordinator and scientific leader of H2020 RISE NeEDS project, </a:t>
            </a:r>
            <a:r>
              <a:rPr lang="en-GB" sz="1800" u="sng" strike="noStrike">
                <a:solidFill>
                  <a:schemeClr val="dk1"/>
                </a:solidFill>
                <a:hlinkClick r:id="rId3">
                  <a:extLst>
                    <a:ext uri="{A12FA001-AC4F-418D-AE19-62706E023703}">
                      <ahyp:hlinkClr val="tx"/>
                    </a:ext>
                  </a:extLst>
                </a:hlinkClick>
              </a:rPr>
              <a:t>www.riseneeds.eu</a:t>
            </a:r>
            <a:r>
              <a:rPr lang="en-GB" sz="1800" u="none" strike="noStrike">
                <a:solidFill>
                  <a:schemeClr val="dk1"/>
                </a:solidFill>
              </a:rPr>
              <a:t>, </a:t>
            </a:r>
            <a:r>
              <a:rPr lang="en-GB" sz="1800">
                <a:solidFill>
                  <a:schemeClr val="dk1"/>
                </a:solidFill>
              </a:rPr>
              <a:t>Department of Economics, Copenhagen Business School, Denmark</a:t>
            </a:r>
            <a:endParaRPr sz="1800">
              <a:solidFill>
                <a:schemeClr val="dk1"/>
              </a:solidFill>
            </a:endParaRPr>
          </a:p>
          <a:p>
            <a:pPr indent="-228600" lvl="0" marL="457200" rtl="0" algn="l">
              <a:lnSpc>
                <a:spcPct val="90000"/>
              </a:lnSpc>
              <a:spcBef>
                <a:spcPts val="1000"/>
              </a:spcBef>
              <a:spcAft>
                <a:spcPts val="0"/>
              </a:spcAft>
              <a:buSzPts val="2000"/>
              <a:buNone/>
            </a:pPr>
            <a:r>
              <a:t/>
            </a:r>
            <a:endParaRPr sz="1800">
              <a:solidFill>
                <a:schemeClr val="dk1"/>
              </a:solidFill>
            </a:endParaRPr>
          </a:p>
          <a:p>
            <a:pPr indent="-342900" lvl="0" marL="457200" rtl="0" algn="l">
              <a:spcBef>
                <a:spcPts val="1000"/>
              </a:spcBef>
              <a:spcAft>
                <a:spcPts val="0"/>
              </a:spcAft>
              <a:buSzPts val="1800"/>
              <a:buFont typeface="Arial"/>
              <a:buChar char="▪"/>
            </a:pPr>
            <a:r>
              <a:rPr lang="en-GB" sz="1800">
                <a:solidFill>
                  <a:schemeClr val="dk1"/>
                </a:solidFill>
              </a:rPr>
              <a:t>Alexandros Iosifidis, Head of the Machine Learning and Computational Intelligence research group and eader of the Machine Intelligence research area in AU Centre for Digitalisation, Big Data, and Data Analytics, Aarhus University, </a:t>
            </a:r>
            <a:r>
              <a:rPr lang="en-GB" sz="1800">
                <a:solidFill>
                  <a:schemeClr val="dk1"/>
                </a:solidFill>
              </a:rPr>
              <a:t>Denmark</a:t>
            </a:r>
            <a:endParaRPr sz="1800">
              <a:solidFill>
                <a:schemeClr val="dk1"/>
              </a:solidFill>
            </a:endParaRPr>
          </a:p>
          <a:p>
            <a:pPr indent="-228600" lvl="0" marL="457200" rtl="0" algn="l">
              <a:lnSpc>
                <a:spcPct val="90000"/>
              </a:lnSpc>
              <a:spcBef>
                <a:spcPts val="1000"/>
              </a:spcBef>
              <a:spcAft>
                <a:spcPts val="0"/>
              </a:spcAft>
              <a:buSzPts val="2000"/>
              <a:buNone/>
            </a:pPr>
            <a:r>
              <a:t/>
            </a:r>
            <a:endParaRPr sz="1800">
              <a:solidFill>
                <a:schemeClr val="dk1"/>
              </a:solidFill>
            </a:endParaRPr>
          </a:p>
          <a:p>
            <a:pPr indent="-342900" lvl="0" marL="457200" rtl="0" algn="l">
              <a:lnSpc>
                <a:spcPct val="90000"/>
              </a:lnSpc>
              <a:spcBef>
                <a:spcPts val="0"/>
              </a:spcBef>
              <a:spcAft>
                <a:spcPts val="0"/>
              </a:spcAft>
              <a:buSzPts val="1800"/>
              <a:buFont typeface="Arial"/>
              <a:buChar char="▪"/>
            </a:pPr>
            <a:r>
              <a:rPr lang="en-GB" sz="1800">
                <a:solidFill>
                  <a:schemeClr val="dk1"/>
                </a:solidFill>
              </a:rPr>
              <a:t>Jimmy Martinez-Correa, Associate Professor, Department of Economics, Copenhagen Business School, Denmark (MC Substitute)</a:t>
            </a:r>
            <a:endParaRPr sz="1800">
              <a:solidFill>
                <a:schemeClr val="dk1"/>
              </a:solidFill>
            </a:endParaRPr>
          </a:p>
          <a:p>
            <a:pPr indent="0" lvl="0" marL="0" rtl="0" algn="l">
              <a:lnSpc>
                <a:spcPct val="90000"/>
              </a:lnSpc>
              <a:spcBef>
                <a:spcPts val="1000"/>
              </a:spcBef>
              <a:spcAft>
                <a:spcPts val="0"/>
              </a:spcAft>
              <a:buSzPts val="2800"/>
              <a:buNone/>
            </a:pPr>
            <a:r>
              <a:t/>
            </a:r>
            <a:endParaRPr sz="2000"/>
          </a:p>
        </p:txBody>
      </p:sp>
      <p:sp>
        <p:nvSpPr>
          <p:cNvPr id="250" name="Google Shape;250;p2"/>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GB"/>
              <a:t>MC Members Denmark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
          <p:cNvSpPr txBox="1"/>
          <p:nvPr>
            <p:ph idx="1" type="body"/>
          </p:nvPr>
        </p:nvSpPr>
        <p:spPr>
          <a:xfrm>
            <a:off x="874712" y="2102946"/>
            <a:ext cx="10502689" cy="3666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2800"/>
              <a:buNone/>
            </a:pPr>
            <a:r>
              <a:t/>
            </a:r>
            <a:endParaRPr sz="1400"/>
          </a:p>
          <a:p>
            <a:pPr indent="0" lvl="0" marL="0" rtl="0" algn="l">
              <a:lnSpc>
                <a:spcPct val="90000"/>
              </a:lnSpc>
              <a:spcBef>
                <a:spcPts val="1000"/>
              </a:spcBef>
              <a:spcAft>
                <a:spcPts val="0"/>
              </a:spcAft>
              <a:buSzPts val="2800"/>
              <a:buNone/>
            </a:pPr>
            <a:r>
              <a:t/>
            </a:r>
            <a:endParaRPr sz="1400"/>
          </a:p>
          <a:p>
            <a:pPr indent="0" lvl="0" marL="0" rtl="0" algn="l">
              <a:lnSpc>
                <a:spcPct val="90000"/>
              </a:lnSpc>
              <a:spcBef>
                <a:spcPts val="1000"/>
              </a:spcBef>
              <a:spcAft>
                <a:spcPts val="0"/>
              </a:spcAft>
              <a:buSzPts val="2800"/>
              <a:buNone/>
            </a:pPr>
            <a:r>
              <a:t/>
            </a:r>
            <a:endParaRPr sz="1400"/>
          </a:p>
        </p:txBody>
      </p:sp>
      <p:sp>
        <p:nvSpPr>
          <p:cNvPr id="257" name="Google Shape;257;p3"/>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GB"/>
              <a:t>Papers</a:t>
            </a:r>
            <a:endParaRPr/>
          </a:p>
        </p:txBody>
      </p:sp>
      <p:sp>
        <p:nvSpPr>
          <p:cNvPr id="258" name="Google Shape;258;p3"/>
          <p:cNvSpPr txBox="1"/>
          <p:nvPr/>
        </p:nvSpPr>
        <p:spPr>
          <a:xfrm>
            <a:off x="1978429" y="2310938"/>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Google Shape;259;p3"/>
          <p:cNvSpPr txBox="1"/>
          <p:nvPr/>
        </p:nvSpPr>
        <p:spPr>
          <a:xfrm>
            <a:off x="814599" y="2202050"/>
            <a:ext cx="10873096" cy="341632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On Clustering and Interpreting with Rules by Means of Mathematical Optimization, E. Carrizosa, K. Kurishchenko, A. Marín, D. Romero Morales. Computers and Operations Research, 154:106180, 2023. doi.org/10.1016/j.cor.2023.106180</a:t>
            </a:r>
            <a:endParaRPr/>
          </a:p>
          <a:p>
            <a:pPr indent="-285750" lvl="0" marL="28575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On optimal regression trees to detect critical intervals for multivariate functional data, R. Blanquero, E. Carrizosa, C. Molero-Río, D. Romero Morales. Computers and Operations Research, 152:06152, 2023. doi.org/10.1016/j.cor.2023.106152</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On mathematical optimization for clustering categories in contingency tables, E. Carrizosa, V. Guerrero, D. Romero Morales. Advances in Data Analysis and Classification, 17:407--429, 2023. doi.org/10.1007/s11634-022-00508-4</a:t>
            </a:r>
            <a:endParaRPr/>
          </a:p>
          <a:p>
            <a:pPr indent="-285750" lvl="0" marL="28575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The tree based linear regression model for hierarchical categorical variables, E. Carrizosa, L. Mortensen, D. Romero Morales, M.R. Sillero-Denamiel. Expert Systems With Applications, 203(7): 117423, 2022. doi.org/10.1016/j.eswa.2022.117423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
          <p:cNvSpPr txBox="1"/>
          <p:nvPr>
            <p:ph idx="1" type="body"/>
          </p:nvPr>
        </p:nvSpPr>
        <p:spPr>
          <a:xfrm>
            <a:off x="874712" y="2102946"/>
            <a:ext cx="10502689" cy="3666000"/>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1000"/>
              </a:spcBef>
              <a:spcAft>
                <a:spcPts val="0"/>
              </a:spcAft>
              <a:buSzPts val="2800"/>
              <a:buFont typeface="Arial"/>
              <a:buChar char="•"/>
            </a:pPr>
            <a:r>
              <a:rPr lang="en-GB" sz="1800">
                <a:solidFill>
                  <a:srgbClr val="000000"/>
                </a:solidFill>
              </a:rPr>
              <a:t>On Sparse Optimal Regression Trees, R. Blanquero, E. Carrizosa, C. Molero-Río, D. Romero Morales. European Journal of Operational Research, 299(3):1045--1054, 2022. doi.org/10.1016/j.ejor.2021.12.022</a:t>
            </a:r>
            <a:endParaRPr/>
          </a:p>
          <a:p>
            <a:pPr indent="-285750" lvl="0" marL="285750" rtl="0" algn="l">
              <a:lnSpc>
                <a:spcPct val="90000"/>
              </a:lnSpc>
              <a:spcBef>
                <a:spcPts val="1000"/>
              </a:spcBef>
              <a:spcAft>
                <a:spcPts val="0"/>
              </a:spcAft>
              <a:buSzPts val="2800"/>
              <a:buFont typeface="Arial"/>
              <a:buChar char="•"/>
            </a:pPr>
            <a:r>
              <a:rPr lang="en-GB" sz="1800">
                <a:solidFill>
                  <a:srgbClr val="000000"/>
                </a:solidFill>
              </a:rPr>
              <a:t>Interpreting Clusters via Prototype Optimization, E. Carrizosa, K.  Kurishchenko, A. Marín, D. Romero Morales. Omega, 107:102543, 2022. doi.org/10.1016/j.omega.2021.102543</a:t>
            </a:r>
            <a:endParaRPr/>
          </a:p>
          <a:p>
            <a:pPr indent="-285750" lvl="0" marL="285750" rtl="0" algn="l">
              <a:lnSpc>
                <a:spcPct val="90000"/>
              </a:lnSpc>
              <a:spcBef>
                <a:spcPts val="1000"/>
              </a:spcBef>
              <a:spcAft>
                <a:spcPts val="0"/>
              </a:spcAft>
              <a:buSzPts val="2800"/>
              <a:buFont typeface="Arial"/>
              <a:buChar char="•"/>
            </a:pPr>
            <a:r>
              <a:rPr lang="en-GB" sz="1800">
                <a:solidFill>
                  <a:srgbClr val="000000"/>
                </a:solidFill>
              </a:rPr>
              <a:t>On Clustering Categories of Categorical Predictors in Generalized Linear Models, E. Carrizosa, M. Galvis Restrepo, D. Romero Morales. Expert Systems With Applications, 182:115245, 2021. doi.org/10.1016/j.eswa.2021.115245</a:t>
            </a:r>
            <a:endParaRPr/>
          </a:p>
          <a:p>
            <a:pPr indent="-285750" lvl="0" marL="285750" rtl="0" algn="l">
              <a:lnSpc>
                <a:spcPct val="90000"/>
              </a:lnSpc>
              <a:spcBef>
                <a:spcPts val="1000"/>
              </a:spcBef>
              <a:spcAft>
                <a:spcPts val="0"/>
              </a:spcAft>
              <a:buSzPts val="2800"/>
              <a:buFont typeface="Arial"/>
              <a:buChar char="•"/>
            </a:pPr>
            <a:r>
              <a:rPr lang="en-GB" sz="1800">
                <a:solidFill>
                  <a:srgbClr val="000000"/>
                </a:solidFill>
              </a:rPr>
              <a:t>On Sparse Ensemble Methods: An Application to Short-Term Predictions of the Evolution of COVID-19, S. Benítez Peña, E. Carrizosa, V. Guerrero, M.D. Jiménez-Gamero, B. Martín-Barragán, C. Molero-Río, P.  Ramírez-Cobo, D. Romero Morales, M.R. Sillero-Denamiel. European Journal of Operational Research, 295(2):648--663, 2021. doi.org/10.1016/j.ejor.2021.04.016</a:t>
            </a:r>
            <a:endParaRPr/>
          </a:p>
          <a:p>
            <a:pPr indent="0" lvl="0" marL="50800" rtl="0" algn="l">
              <a:lnSpc>
                <a:spcPct val="90000"/>
              </a:lnSpc>
              <a:spcBef>
                <a:spcPts val="1000"/>
              </a:spcBef>
              <a:spcAft>
                <a:spcPts val="0"/>
              </a:spcAft>
              <a:buSzPts val="2800"/>
              <a:buNone/>
            </a:pPr>
            <a:r>
              <a:t/>
            </a:r>
            <a:endParaRPr sz="2000"/>
          </a:p>
        </p:txBody>
      </p:sp>
      <p:sp>
        <p:nvSpPr>
          <p:cNvPr id="266" name="Google Shape;266;p4"/>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GB"/>
              <a:t>Papers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
          <p:cNvSpPr txBox="1"/>
          <p:nvPr>
            <p:ph idx="1" type="body"/>
          </p:nvPr>
        </p:nvSpPr>
        <p:spPr>
          <a:xfrm>
            <a:off x="874712" y="2102946"/>
            <a:ext cx="10502689" cy="3666000"/>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1000"/>
              </a:spcBef>
              <a:spcAft>
                <a:spcPts val="0"/>
              </a:spcAft>
              <a:buSzPts val="2800"/>
              <a:buFont typeface="Arial"/>
              <a:buChar char="•"/>
            </a:pPr>
            <a:r>
              <a:rPr lang="en-GB" sz="1800">
                <a:solidFill>
                  <a:srgbClr val="000000"/>
                </a:solidFill>
              </a:rPr>
              <a:t>Optimal Randomized Classification Trees, R. Blanquero, E. Carrizosa, C. Molero-Río, D. Romero Morales. Computers and Operations Research, 132:105281, 2021. doi.org/10.1016/j.cor.2021.105281</a:t>
            </a:r>
            <a:endParaRPr/>
          </a:p>
          <a:p>
            <a:pPr indent="-285750" lvl="0" marL="285750" rtl="0" algn="l">
              <a:lnSpc>
                <a:spcPct val="90000"/>
              </a:lnSpc>
              <a:spcBef>
                <a:spcPts val="1000"/>
              </a:spcBef>
              <a:spcAft>
                <a:spcPts val="0"/>
              </a:spcAft>
              <a:buSzPts val="2800"/>
              <a:buFont typeface="Arial"/>
              <a:buChar char="•"/>
            </a:pPr>
            <a:r>
              <a:rPr lang="en-GB" sz="1800">
                <a:solidFill>
                  <a:srgbClr val="000000"/>
                </a:solidFill>
              </a:rPr>
              <a:t>Mathematical optimization in classification and regression trees, E. Carrizosa, C. Molero-Río, D. Romero Morales. TOP, 29(1):5--33, 2021. doi.org/10.1007/s11750-021-00594-1</a:t>
            </a:r>
            <a:endParaRPr/>
          </a:p>
          <a:p>
            <a:pPr indent="-285750" lvl="0" marL="285750" rtl="0" algn="l">
              <a:lnSpc>
                <a:spcPct val="90000"/>
              </a:lnSpc>
              <a:spcBef>
                <a:spcPts val="1000"/>
              </a:spcBef>
              <a:spcAft>
                <a:spcPts val="0"/>
              </a:spcAft>
              <a:buSzPts val="2800"/>
              <a:buFont typeface="Arial"/>
              <a:buChar char="•"/>
            </a:pPr>
            <a:r>
              <a:rPr lang="en-GB" sz="1800">
                <a:solidFill>
                  <a:srgbClr val="000000"/>
                </a:solidFill>
              </a:rPr>
              <a:t>Enhancing the Interpretability in Factor Analysis by means of Mathematical Optimization, E. Carrizosa, V. Guerrero, D. Romero Morales, A. Satorra. Multivariate Behavioral Research, 55(5):748--762, 2020. doi.org/10.1080/00273171.2019.1677208</a:t>
            </a:r>
            <a:endParaRPr/>
          </a:p>
          <a:p>
            <a:pPr indent="-285750" lvl="0" marL="285750" rtl="0" algn="l">
              <a:lnSpc>
                <a:spcPct val="90000"/>
              </a:lnSpc>
              <a:spcBef>
                <a:spcPts val="1000"/>
              </a:spcBef>
              <a:spcAft>
                <a:spcPts val="0"/>
              </a:spcAft>
              <a:buSzPts val="2800"/>
              <a:buFont typeface="Arial"/>
              <a:buChar char="•"/>
            </a:pPr>
            <a:r>
              <a:rPr lang="en-GB" sz="1800">
                <a:solidFill>
                  <a:srgbClr val="000000"/>
                </a:solidFill>
              </a:rPr>
              <a:t>On a Mathematical Optimization approach for Feature Selection in Data Envelopment Analysis, S. Benítez Peña, P. Bogetoft, D. Romero Morales. Omega, 96:102068, 2020. doi.org/10.1016/j.omega.2019.05.004</a:t>
            </a:r>
            <a:endParaRPr/>
          </a:p>
          <a:p>
            <a:pPr indent="-285750" lvl="0" marL="285750" rtl="0" algn="l">
              <a:lnSpc>
                <a:spcPct val="90000"/>
              </a:lnSpc>
              <a:spcBef>
                <a:spcPts val="1000"/>
              </a:spcBef>
              <a:spcAft>
                <a:spcPts val="0"/>
              </a:spcAft>
              <a:buSzPts val="2800"/>
              <a:buFont typeface="Arial"/>
              <a:buChar char="•"/>
            </a:pPr>
            <a:r>
              <a:rPr lang="en-GB" sz="1800">
                <a:solidFill>
                  <a:srgbClr val="000000"/>
                </a:solidFill>
              </a:rPr>
              <a:t>Sparsity in Optimal Randomized Classification Trees, R. Blanquero, E. Carrizosa, C. Molero-Río, D. Romero Morales. European Journal of Operational Research, 284(1):255--272, 2020. doi.org/10.1016/j.ejor.2019.12.002</a:t>
            </a:r>
            <a:endParaRPr/>
          </a:p>
          <a:p>
            <a:pPr indent="0" lvl="0" marL="0" rtl="0" algn="l">
              <a:lnSpc>
                <a:spcPct val="90000"/>
              </a:lnSpc>
              <a:spcBef>
                <a:spcPts val="1000"/>
              </a:spcBef>
              <a:spcAft>
                <a:spcPts val="0"/>
              </a:spcAft>
              <a:buSzPts val="2800"/>
              <a:buNone/>
            </a:pPr>
            <a:r>
              <a:t/>
            </a:r>
            <a:endParaRPr sz="2000"/>
          </a:p>
        </p:txBody>
      </p:sp>
      <p:sp>
        <p:nvSpPr>
          <p:cNvPr id="273" name="Google Shape;273;p5"/>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GB"/>
              <a:t>Papers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6"/>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1000"/>
              </a:spcBef>
              <a:spcAft>
                <a:spcPts val="0"/>
              </a:spcAft>
              <a:buSzPts val="2800"/>
              <a:buFont typeface="Arial"/>
              <a:buChar char="•"/>
            </a:pPr>
            <a:r>
              <a:rPr lang="en-GB" sz="1800">
                <a:solidFill>
                  <a:srgbClr val="000000"/>
                </a:solidFill>
              </a:rPr>
              <a:t>Jasone Ramírez Ayerbe, PhD student at Universidad de Sevilla, 2021.</a:t>
            </a:r>
            <a:endParaRPr/>
          </a:p>
        </p:txBody>
      </p:sp>
      <p:sp>
        <p:nvSpPr>
          <p:cNvPr id="279" name="Google Shape;279;p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rPr lang="en-GB"/>
              <a:t>STSM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7"/>
          <p:cNvSpPr txBox="1"/>
          <p:nvPr>
            <p:ph idx="1" type="body"/>
          </p:nvPr>
        </p:nvSpPr>
        <p:spPr>
          <a:xfrm>
            <a:off x="874712" y="2102946"/>
            <a:ext cx="10502689" cy="3666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2800"/>
              <a:buNone/>
            </a:pPr>
            <a:r>
              <a:t/>
            </a:r>
            <a:endParaRPr sz="2000"/>
          </a:p>
        </p:txBody>
      </p:sp>
      <p:sp>
        <p:nvSpPr>
          <p:cNvPr id="286" name="Google Shape;286;p7"/>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GB"/>
              <a:t>Events</a:t>
            </a:r>
            <a:endParaRPr/>
          </a:p>
        </p:txBody>
      </p:sp>
      <p:pic>
        <p:nvPicPr>
          <p:cNvPr id="287" name="Google Shape;287;p7"/>
          <p:cNvPicPr preferRelativeResize="0"/>
          <p:nvPr/>
        </p:nvPicPr>
        <p:blipFill rotWithShape="1">
          <a:blip r:embed="rId3">
            <a:alphaModFix/>
          </a:blip>
          <a:srcRect b="0" l="0" r="0" t="0"/>
          <a:stretch/>
        </p:blipFill>
        <p:spPr>
          <a:xfrm>
            <a:off x="2957040" y="1770372"/>
            <a:ext cx="6338031" cy="44843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8"/>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accent4"/>
              </a:buClr>
              <a:buSzPts val="2800"/>
              <a:buFont typeface="Noto Sans Symbols"/>
              <a:buNone/>
            </a:pPr>
            <a:r>
              <a:t/>
            </a:r>
            <a:endParaRPr/>
          </a:p>
        </p:txBody>
      </p:sp>
      <p:sp>
        <p:nvSpPr>
          <p:cNvPr id="293" name="Google Shape;293;p8"/>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rPr lang="en-GB"/>
              <a:t>Events</a:t>
            </a:r>
            <a:endParaRPr/>
          </a:p>
        </p:txBody>
      </p:sp>
      <p:pic>
        <p:nvPicPr>
          <p:cNvPr id="294" name="Google Shape;294;p8"/>
          <p:cNvPicPr preferRelativeResize="0"/>
          <p:nvPr/>
        </p:nvPicPr>
        <p:blipFill rotWithShape="1">
          <a:blip r:embed="rId3">
            <a:alphaModFix/>
          </a:blip>
          <a:srcRect b="0" l="0" r="0" t="0"/>
          <a:stretch/>
        </p:blipFill>
        <p:spPr>
          <a:xfrm>
            <a:off x="1030769" y="1880226"/>
            <a:ext cx="3517548" cy="4977774"/>
          </a:xfrm>
          <a:prstGeom prst="rect">
            <a:avLst/>
          </a:prstGeom>
          <a:noFill/>
          <a:ln>
            <a:noFill/>
          </a:ln>
        </p:spPr>
      </p:pic>
      <p:pic>
        <p:nvPicPr>
          <p:cNvPr id="295" name="Google Shape;295;p8"/>
          <p:cNvPicPr preferRelativeResize="0"/>
          <p:nvPr/>
        </p:nvPicPr>
        <p:blipFill rotWithShape="1">
          <a:blip r:embed="rId4">
            <a:alphaModFix/>
          </a:blip>
          <a:srcRect b="0" l="0" r="0" t="0"/>
          <a:stretch/>
        </p:blipFill>
        <p:spPr>
          <a:xfrm>
            <a:off x="4851918" y="1880226"/>
            <a:ext cx="3517548" cy="4977774"/>
          </a:xfrm>
          <a:prstGeom prst="rect">
            <a:avLst/>
          </a:prstGeom>
          <a:noFill/>
          <a:ln>
            <a:noFill/>
          </a:ln>
        </p:spPr>
      </p:pic>
      <p:pic>
        <p:nvPicPr>
          <p:cNvPr id="296" name="Google Shape;296;p8"/>
          <p:cNvPicPr preferRelativeResize="0"/>
          <p:nvPr/>
        </p:nvPicPr>
        <p:blipFill rotWithShape="1">
          <a:blip r:embed="rId5">
            <a:alphaModFix/>
          </a:blip>
          <a:srcRect b="0" l="0" r="0" t="0"/>
          <a:stretch/>
        </p:blipFill>
        <p:spPr>
          <a:xfrm>
            <a:off x="8673067" y="1923663"/>
            <a:ext cx="3517548" cy="49777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ST_ppt-16_9-color_2">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ST_ppt-16_9-color_3">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Bureau">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OST_ppt-16_9-color_1">
  <a:themeElements>
    <a:clrScheme name="COST THEME FUSHIA">
      <a:dk1>
        <a:srgbClr val="000000"/>
      </a:dk1>
      <a:lt1>
        <a:srgbClr val="FFFFFF"/>
      </a:lt1>
      <a:dk2>
        <a:srgbClr val="737373"/>
      </a:dk2>
      <a:lt2>
        <a:srgbClr val="D2D2CD"/>
      </a:lt2>
      <a:accent1>
        <a:srgbClr val="961E64"/>
      </a:accent1>
      <a:accent2>
        <a:srgbClr val="6E82BE"/>
      </a:accent2>
      <a:accent3>
        <a:srgbClr val="692364"/>
      </a:accent3>
      <a:accent4>
        <a:srgbClr val="2D3778"/>
      </a:accent4>
      <a:accent5>
        <a:srgbClr val="E1783C"/>
      </a:accent5>
      <a:accent6>
        <a:srgbClr val="00AB9D"/>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Piotr</dc:creator>
</cp:coreProperties>
</file>