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  <p:sldMasterId id="2147483668" r:id="rId3"/>
    <p:sldMasterId id="2147483676" r:id="rId4"/>
    <p:sldMasterId id="2147483691" r:id="rId5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3" r:id="rId12"/>
    <p:sldId id="264" r:id="rId13"/>
    <p:sldId id="265" r:id="rId14"/>
  </p:sldIdLst>
  <p:sldSz cx="12192000" cy="6858000"/>
  <p:notesSz cx="6858000" cy="9144000"/>
  <p:embeddedFontLs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jK5KLdFU4JqE+Md36SldFT+/Aa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6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customschemas.google.com/relationships/presentationmetadata" Target="metadata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COST.Programme/" TargetMode="External"/><Relationship Id="rId3" Type="http://schemas.openxmlformats.org/officeDocument/2006/relationships/hyperlink" Target="https://twitter.com/costprogramme?lang=fr" TargetMode="External"/><Relationship Id="rId7" Type="http://schemas.openxmlformats.org/officeDocument/2006/relationships/image" Target="../media/image1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Relationship Id="rId6" Type="http://schemas.openxmlformats.org/officeDocument/2006/relationships/hyperlink" Target="https://www.youtube.com/user/COSTOffice" TargetMode="External"/><Relationship Id="rId11" Type="http://schemas.openxmlformats.org/officeDocument/2006/relationships/image" Target="../media/image14.png"/><Relationship Id="rId5" Type="http://schemas.openxmlformats.org/officeDocument/2006/relationships/hyperlink" Target="http://www.cost.eu/" TargetMode="External"/><Relationship Id="rId10" Type="http://schemas.openxmlformats.org/officeDocument/2006/relationships/hyperlink" Target="https://www.linkedin.com/company/cost-office" TargetMode="External"/><Relationship Id="rId4" Type="http://schemas.openxmlformats.org/officeDocument/2006/relationships/image" Target="../media/image11.jpg"/><Relationship Id="rId9" Type="http://schemas.openxmlformats.org/officeDocument/2006/relationships/image" Target="../media/image13.png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’єкти" type="twoObj">
  <p:cSld name="TWO_OBJECT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>
            <a:spLocks noGrp="1"/>
          </p:cNvSpPr>
          <p:nvPr>
            <p:ph type="title"/>
          </p:nvPr>
        </p:nvSpPr>
        <p:spPr>
          <a:xfrm>
            <a:off x="865693" y="691990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sldNum" idx="12"/>
          </p:nvPr>
        </p:nvSpPr>
        <p:spPr>
          <a:xfrm>
            <a:off x="10494243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">
  <p:cSld name="Presentation -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3"/>
          <p:cNvSpPr txBox="1">
            <a:spLocks noGrp="1"/>
          </p:cNvSpPr>
          <p:nvPr>
            <p:ph type="body" idx="1"/>
          </p:nvPr>
        </p:nvSpPr>
        <p:spPr>
          <a:xfrm>
            <a:off x="874713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27" name="Google Shape;27;p13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fld id="{00000000-1234-1234-1234-123412341234}" type="slidenum">
              <a:rPr lang="it-IT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folie" type="title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ctrTitle"/>
          </p:nvPr>
        </p:nvSpPr>
        <p:spPr>
          <a:xfrm>
            <a:off x="865694" y="691989"/>
            <a:ext cx="8488263" cy="1080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ubTitle" idx="1"/>
          </p:nvPr>
        </p:nvSpPr>
        <p:spPr>
          <a:xfrm>
            <a:off x="865694" y="2133106"/>
            <a:ext cx="10458659" cy="3958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sz="2400" cap="none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/>
          <p:nvPr/>
        </p:nvSpPr>
        <p:spPr>
          <a:xfrm>
            <a:off x="3436816" y="6353098"/>
            <a:ext cx="5318366" cy="463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FinAI: Fintech and Artificial Intelligence in Finance - Towards a transparent financial industry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2" name="Google Shape;3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74936" y="5804480"/>
            <a:ext cx="1317064" cy="101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1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, Untertitel und Inhalt">
  <p:cSld name="Titel, Untertitel und Inhal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865693" y="691990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10494243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65693" y="2493086"/>
            <a:ext cx="10458660" cy="35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2"/>
          </p:nvPr>
        </p:nvSpPr>
        <p:spPr>
          <a:xfrm>
            <a:off x="865693" y="1772828"/>
            <a:ext cx="10458660" cy="432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cap="none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6317402"/>
            <a:ext cx="1664027" cy="540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, Untertitel und Inhalt (2 Spalten)">
  <p:cSld name="Titel, Untertitel und Inhalt (2 Spalten)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6"/>
          <p:cNvSpPr txBox="1">
            <a:spLocks noGrp="1"/>
          </p:cNvSpPr>
          <p:nvPr>
            <p:ph type="title"/>
          </p:nvPr>
        </p:nvSpPr>
        <p:spPr>
          <a:xfrm>
            <a:off x="865693" y="691990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sldNum" idx="12"/>
          </p:nvPr>
        </p:nvSpPr>
        <p:spPr>
          <a:xfrm>
            <a:off x="10494243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865694" y="2493086"/>
            <a:ext cx="5051501" cy="35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865694" y="1772828"/>
            <a:ext cx="5051501" cy="432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cap="none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6272853" y="1772827"/>
            <a:ext cx="5051501" cy="432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cap="none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6272853" y="2493087"/>
            <a:ext cx="5051501" cy="35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>
  <p:cSld name="Titel und Inhal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 txBox="1">
            <a:spLocks noGrp="1"/>
          </p:cNvSpPr>
          <p:nvPr>
            <p:ph type="title"/>
          </p:nvPr>
        </p:nvSpPr>
        <p:spPr>
          <a:xfrm>
            <a:off x="865693" y="691990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10494243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body" idx="1"/>
          </p:nvPr>
        </p:nvSpPr>
        <p:spPr>
          <a:xfrm>
            <a:off x="865693" y="1772827"/>
            <a:ext cx="10458660" cy="431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 (2 Spalten)">
  <p:cSld name="Titel und Inhalt (2 Spalten)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title"/>
          </p:nvPr>
        </p:nvSpPr>
        <p:spPr>
          <a:xfrm>
            <a:off x="865693" y="691990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sldNum" idx="12"/>
          </p:nvPr>
        </p:nvSpPr>
        <p:spPr>
          <a:xfrm>
            <a:off x="10494243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body" idx="1"/>
          </p:nvPr>
        </p:nvSpPr>
        <p:spPr>
          <a:xfrm>
            <a:off x="865694" y="1772827"/>
            <a:ext cx="5051501" cy="431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body" idx="2"/>
          </p:nvPr>
        </p:nvSpPr>
        <p:spPr>
          <a:xfrm>
            <a:off x="6272853" y="1772827"/>
            <a:ext cx="5051501" cy="431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>
  <p:cSld name="nur Titel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>
            <a:spLocks noGrp="1"/>
          </p:cNvSpPr>
          <p:nvPr>
            <p:ph type="title"/>
          </p:nvPr>
        </p:nvSpPr>
        <p:spPr>
          <a:xfrm>
            <a:off x="865693" y="691990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10494243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>
  <p:cSld name="le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sldNum" idx="12"/>
          </p:nvPr>
        </p:nvSpPr>
        <p:spPr>
          <a:xfrm>
            <a:off x="10494243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 txBox="1">
            <a:spLocks noGrp="1"/>
          </p:cNvSpPr>
          <p:nvPr>
            <p:ph type="sldNum" idx="12"/>
          </p:nvPr>
        </p:nvSpPr>
        <p:spPr>
          <a:xfrm>
            <a:off x="10494243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folie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>
            <a:spLocks noGrp="1"/>
          </p:cNvSpPr>
          <p:nvPr>
            <p:ph type="ctrTitle"/>
          </p:nvPr>
        </p:nvSpPr>
        <p:spPr>
          <a:xfrm>
            <a:off x="865694" y="691989"/>
            <a:ext cx="8488263" cy="1080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subTitle" idx="1"/>
          </p:nvPr>
        </p:nvSpPr>
        <p:spPr>
          <a:xfrm>
            <a:off x="865694" y="2133106"/>
            <a:ext cx="10458659" cy="3958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sz="2400" cap="none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pic>
        <p:nvPicPr>
          <p:cNvPr id="72" name="Google Shape;72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8922" y="6332117"/>
            <a:ext cx="423077" cy="461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317402"/>
            <a:ext cx="1664027" cy="540597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3"/>
          <p:cNvSpPr txBox="1"/>
          <p:nvPr/>
        </p:nvSpPr>
        <p:spPr>
          <a:xfrm>
            <a:off x="3436816" y="6353098"/>
            <a:ext cx="5318366" cy="463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FinAI: Fintech and Artificial Intelligence in Finance - Towards a transparent financial industry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1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, Untertitel und Inhalt">
  <p:cSld name="Titel, Untertitel und Inhal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4"/>
          <p:cNvSpPr txBox="1">
            <a:spLocks noGrp="1"/>
          </p:cNvSpPr>
          <p:nvPr>
            <p:ph type="title"/>
          </p:nvPr>
        </p:nvSpPr>
        <p:spPr>
          <a:xfrm>
            <a:off x="865693" y="691990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10494243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body" idx="1"/>
          </p:nvPr>
        </p:nvSpPr>
        <p:spPr>
          <a:xfrm>
            <a:off x="865693" y="2493086"/>
            <a:ext cx="10458660" cy="35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body" idx="2"/>
          </p:nvPr>
        </p:nvSpPr>
        <p:spPr>
          <a:xfrm>
            <a:off x="865693" y="1772828"/>
            <a:ext cx="10458660" cy="432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cap="none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pic>
        <p:nvPicPr>
          <p:cNvPr id="80" name="Google Shape;80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8922" y="6332117"/>
            <a:ext cx="423077" cy="461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317402"/>
            <a:ext cx="1664027" cy="540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, Untertitel und Inhalt (2 Spalten)">
  <p:cSld name="Titel, Untertitel und Inhalt (2 Spalten)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5"/>
          <p:cNvSpPr txBox="1">
            <a:spLocks noGrp="1"/>
          </p:cNvSpPr>
          <p:nvPr>
            <p:ph type="title"/>
          </p:nvPr>
        </p:nvSpPr>
        <p:spPr>
          <a:xfrm>
            <a:off x="865693" y="691990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10494243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85" name="Google Shape;85;p25"/>
          <p:cNvSpPr txBox="1">
            <a:spLocks noGrp="1"/>
          </p:cNvSpPr>
          <p:nvPr>
            <p:ph type="body" idx="1"/>
          </p:nvPr>
        </p:nvSpPr>
        <p:spPr>
          <a:xfrm>
            <a:off x="865694" y="2493086"/>
            <a:ext cx="5051501" cy="35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86" name="Google Shape;86;p25"/>
          <p:cNvSpPr txBox="1">
            <a:spLocks noGrp="1"/>
          </p:cNvSpPr>
          <p:nvPr>
            <p:ph type="body" idx="2"/>
          </p:nvPr>
        </p:nvSpPr>
        <p:spPr>
          <a:xfrm>
            <a:off x="865694" y="1772828"/>
            <a:ext cx="5051501" cy="432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cap="none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87" name="Google Shape;87;p25"/>
          <p:cNvSpPr txBox="1">
            <a:spLocks noGrp="1"/>
          </p:cNvSpPr>
          <p:nvPr>
            <p:ph type="body" idx="3"/>
          </p:nvPr>
        </p:nvSpPr>
        <p:spPr>
          <a:xfrm>
            <a:off x="6272853" y="1772827"/>
            <a:ext cx="5051501" cy="432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cap="none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88" name="Google Shape;88;p25"/>
          <p:cNvSpPr txBox="1">
            <a:spLocks noGrp="1"/>
          </p:cNvSpPr>
          <p:nvPr>
            <p:ph type="body" idx="4"/>
          </p:nvPr>
        </p:nvSpPr>
        <p:spPr>
          <a:xfrm>
            <a:off x="6272853" y="2493087"/>
            <a:ext cx="5051501" cy="35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>
  <p:cSld name="Titel und Inhal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6"/>
          <p:cNvSpPr txBox="1">
            <a:spLocks noGrp="1"/>
          </p:cNvSpPr>
          <p:nvPr>
            <p:ph type="title"/>
          </p:nvPr>
        </p:nvSpPr>
        <p:spPr>
          <a:xfrm>
            <a:off x="865693" y="691990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6"/>
          <p:cNvSpPr txBox="1">
            <a:spLocks noGrp="1"/>
          </p:cNvSpPr>
          <p:nvPr>
            <p:ph type="sldNum" idx="12"/>
          </p:nvPr>
        </p:nvSpPr>
        <p:spPr>
          <a:xfrm>
            <a:off x="10494243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92" name="Google Shape;92;p26"/>
          <p:cNvSpPr txBox="1">
            <a:spLocks noGrp="1"/>
          </p:cNvSpPr>
          <p:nvPr>
            <p:ph type="body" idx="1"/>
          </p:nvPr>
        </p:nvSpPr>
        <p:spPr>
          <a:xfrm>
            <a:off x="865693" y="1772827"/>
            <a:ext cx="10458660" cy="431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 (2 Spalten)">
  <p:cSld name="Titel und Inhalt (2 Spalten)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7"/>
          <p:cNvSpPr txBox="1">
            <a:spLocks noGrp="1"/>
          </p:cNvSpPr>
          <p:nvPr>
            <p:ph type="title"/>
          </p:nvPr>
        </p:nvSpPr>
        <p:spPr>
          <a:xfrm>
            <a:off x="865693" y="691990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7"/>
          <p:cNvSpPr txBox="1">
            <a:spLocks noGrp="1"/>
          </p:cNvSpPr>
          <p:nvPr>
            <p:ph type="sldNum" idx="12"/>
          </p:nvPr>
        </p:nvSpPr>
        <p:spPr>
          <a:xfrm>
            <a:off x="10494243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96" name="Google Shape;96;p27"/>
          <p:cNvSpPr txBox="1">
            <a:spLocks noGrp="1"/>
          </p:cNvSpPr>
          <p:nvPr>
            <p:ph type="body" idx="1"/>
          </p:nvPr>
        </p:nvSpPr>
        <p:spPr>
          <a:xfrm>
            <a:off x="865694" y="1772827"/>
            <a:ext cx="5051501" cy="431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97" name="Google Shape;97;p27"/>
          <p:cNvSpPr txBox="1">
            <a:spLocks noGrp="1"/>
          </p:cNvSpPr>
          <p:nvPr>
            <p:ph type="body" idx="2"/>
          </p:nvPr>
        </p:nvSpPr>
        <p:spPr>
          <a:xfrm>
            <a:off x="6272853" y="1772827"/>
            <a:ext cx="5051501" cy="431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>
  <p:cSld name="nur Titel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8"/>
          <p:cNvSpPr txBox="1">
            <a:spLocks noGrp="1"/>
          </p:cNvSpPr>
          <p:nvPr>
            <p:ph type="title"/>
          </p:nvPr>
        </p:nvSpPr>
        <p:spPr>
          <a:xfrm>
            <a:off x="865693" y="691990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sldNum" idx="12"/>
          </p:nvPr>
        </p:nvSpPr>
        <p:spPr>
          <a:xfrm>
            <a:off x="10494243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>
  <p:cSld name="leer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 txBox="1">
            <a:spLocks noGrp="1"/>
          </p:cNvSpPr>
          <p:nvPr>
            <p:ph type="sldNum" idx="12"/>
          </p:nvPr>
        </p:nvSpPr>
        <p:spPr>
          <a:xfrm>
            <a:off x="10494243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’єкти" type="twoObj">
  <p:cSld name="TWO_OBJECT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0"/>
          <p:cNvSpPr txBox="1">
            <a:spLocks noGrp="1"/>
          </p:cNvSpPr>
          <p:nvPr>
            <p:ph type="title"/>
          </p:nvPr>
        </p:nvSpPr>
        <p:spPr>
          <a:xfrm>
            <a:off x="865693" y="691990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30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518160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106" name="Google Shape;106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107" name="Google Shape;107;p3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p3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30"/>
          <p:cNvSpPr txBox="1">
            <a:spLocks noGrp="1"/>
          </p:cNvSpPr>
          <p:nvPr>
            <p:ph type="sldNum" idx="12"/>
          </p:nvPr>
        </p:nvSpPr>
        <p:spPr>
          <a:xfrm>
            <a:off x="10494244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folie" type="title">
  <p:cSld name="TITL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2"/>
          <p:cNvSpPr txBox="1">
            <a:spLocks noGrp="1"/>
          </p:cNvSpPr>
          <p:nvPr>
            <p:ph type="ctrTitle"/>
          </p:nvPr>
        </p:nvSpPr>
        <p:spPr>
          <a:xfrm>
            <a:off x="865695" y="691990"/>
            <a:ext cx="8488263" cy="1080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subTitle" idx="1"/>
          </p:nvPr>
        </p:nvSpPr>
        <p:spPr>
          <a:xfrm>
            <a:off x="865695" y="2133107"/>
            <a:ext cx="10458659" cy="3958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sz="2400" cap="none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pic>
        <p:nvPicPr>
          <p:cNvPr id="121" name="Google Shape;121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" y="6317402"/>
            <a:ext cx="1664027" cy="540597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2"/>
          <p:cNvSpPr txBox="1"/>
          <p:nvPr/>
        </p:nvSpPr>
        <p:spPr>
          <a:xfrm>
            <a:off x="3436816" y="6353099"/>
            <a:ext cx="5318366" cy="475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FinAI: Fintech and Artificial Intelligence in Finance - Towards a transparent financial industry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3" name="Google Shape;12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4997" y="5886450"/>
            <a:ext cx="1387002" cy="97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1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, Untertitel und Inhalt">
  <p:cSld name="Titel, Untertitel und Inhal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 txBox="1">
            <a:spLocks noGrp="1"/>
          </p:cNvSpPr>
          <p:nvPr>
            <p:ph type="title"/>
          </p:nvPr>
        </p:nvSpPr>
        <p:spPr>
          <a:xfrm>
            <a:off x="865693" y="691991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3"/>
          <p:cNvSpPr txBox="1">
            <a:spLocks noGrp="1"/>
          </p:cNvSpPr>
          <p:nvPr>
            <p:ph type="sldNum" idx="12"/>
          </p:nvPr>
        </p:nvSpPr>
        <p:spPr>
          <a:xfrm>
            <a:off x="10494244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body" idx="1"/>
          </p:nvPr>
        </p:nvSpPr>
        <p:spPr>
          <a:xfrm>
            <a:off x="865693" y="2493086"/>
            <a:ext cx="10458660" cy="35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body" idx="2"/>
          </p:nvPr>
        </p:nvSpPr>
        <p:spPr>
          <a:xfrm>
            <a:off x="865693" y="1772828"/>
            <a:ext cx="10458660" cy="432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cap="none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pic>
        <p:nvPicPr>
          <p:cNvPr id="129" name="Google Shape;129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" y="6317402"/>
            <a:ext cx="1664027" cy="540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, Untertitel und Inhalt (2 Spalten)">
  <p:cSld name="Titel, Untertitel und Inhalt (2 Spalten)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4"/>
          <p:cNvSpPr txBox="1">
            <a:spLocks noGrp="1"/>
          </p:cNvSpPr>
          <p:nvPr>
            <p:ph type="title"/>
          </p:nvPr>
        </p:nvSpPr>
        <p:spPr>
          <a:xfrm>
            <a:off x="865693" y="691991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sldNum" idx="12"/>
          </p:nvPr>
        </p:nvSpPr>
        <p:spPr>
          <a:xfrm>
            <a:off x="10494244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133" name="Google Shape;133;p34"/>
          <p:cNvSpPr txBox="1">
            <a:spLocks noGrp="1"/>
          </p:cNvSpPr>
          <p:nvPr>
            <p:ph type="body" idx="1"/>
          </p:nvPr>
        </p:nvSpPr>
        <p:spPr>
          <a:xfrm>
            <a:off x="865695" y="2493086"/>
            <a:ext cx="5051501" cy="35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134" name="Google Shape;134;p34"/>
          <p:cNvSpPr txBox="1">
            <a:spLocks noGrp="1"/>
          </p:cNvSpPr>
          <p:nvPr>
            <p:ph type="body" idx="2"/>
          </p:nvPr>
        </p:nvSpPr>
        <p:spPr>
          <a:xfrm>
            <a:off x="865695" y="1772828"/>
            <a:ext cx="5051501" cy="432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cap="none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135" name="Google Shape;135;p34"/>
          <p:cNvSpPr txBox="1">
            <a:spLocks noGrp="1"/>
          </p:cNvSpPr>
          <p:nvPr>
            <p:ph type="body" idx="3"/>
          </p:nvPr>
        </p:nvSpPr>
        <p:spPr>
          <a:xfrm>
            <a:off x="6272854" y="1772827"/>
            <a:ext cx="5051501" cy="432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cap="none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136" name="Google Shape;136;p34"/>
          <p:cNvSpPr txBox="1">
            <a:spLocks noGrp="1"/>
          </p:cNvSpPr>
          <p:nvPr>
            <p:ph type="body" idx="4"/>
          </p:nvPr>
        </p:nvSpPr>
        <p:spPr>
          <a:xfrm>
            <a:off x="6272854" y="2493087"/>
            <a:ext cx="5051501" cy="35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>
  <p:cSld name="Titel und Inhal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5"/>
          <p:cNvSpPr txBox="1">
            <a:spLocks noGrp="1"/>
          </p:cNvSpPr>
          <p:nvPr>
            <p:ph type="title"/>
          </p:nvPr>
        </p:nvSpPr>
        <p:spPr>
          <a:xfrm>
            <a:off x="865693" y="691991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5"/>
          <p:cNvSpPr txBox="1">
            <a:spLocks noGrp="1"/>
          </p:cNvSpPr>
          <p:nvPr>
            <p:ph type="sldNum" idx="12"/>
          </p:nvPr>
        </p:nvSpPr>
        <p:spPr>
          <a:xfrm>
            <a:off x="10494244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body" idx="1"/>
          </p:nvPr>
        </p:nvSpPr>
        <p:spPr>
          <a:xfrm>
            <a:off x="865693" y="1772827"/>
            <a:ext cx="10458660" cy="431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 (2 Spalten)">
  <p:cSld name="Titel und Inhalt (2 Spalten)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6"/>
          <p:cNvSpPr txBox="1">
            <a:spLocks noGrp="1"/>
          </p:cNvSpPr>
          <p:nvPr>
            <p:ph type="title"/>
          </p:nvPr>
        </p:nvSpPr>
        <p:spPr>
          <a:xfrm>
            <a:off x="865693" y="691991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6"/>
          <p:cNvSpPr txBox="1">
            <a:spLocks noGrp="1"/>
          </p:cNvSpPr>
          <p:nvPr>
            <p:ph type="sldNum" idx="12"/>
          </p:nvPr>
        </p:nvSpPr>
        <p:spPr>
          <a:xfrm>
            <a:off x="10494244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body" idx="1"/>
          </p:nvPr>
        </p:nvSpPr>
        <p:spPr>
          <a:xfrm>
            <a:off x="865695" y="1772827"/>
            <a:ext cx="5051501" cy="431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body" idx="2"/>
          </p:nvPr>
        </p:nvSpPr>
        <p:spPr>
          <a:xfrm>
            <a:off x="6272854" y="1772827"/>
            <a:ext cx="5051501" cy="431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>
  <p:cSld name="nur Titel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7"/>
          <p:cNvSpPr txBox="1">
            <a:spLocks noGrp="1"/>
          </p:cNvSpPr>
          <p:nvPr>
            <p:ph type="title"/>
          </p:nvPr>
        </p:nvSpPr>
        <p:spPr>
          <a:xfrm>
            <a:off x="865693" y="691991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7"/>
          <p:cNvSpPr txBox="1">
            <a:spLocks noGrp="1"/>
          </p:cNvSpPr>
          <p:nvPr>
            <p:ph type="sldNum" idx="12"/>
          </p:nvPr>
        </p:nvSpPr>
        <p:spPr>
          <a:xfrm>
            <a:off x="10494244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>
  <p:cSld name="leer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8"/>
          <p:cNvSpPr txBox="1">
            <a:spLocks noGrp="1"/>
          </p:cNvSpPr>
          <p:nvPr>
            <p:ph type="sldNum" idx="12"/>
          </p:nvPr>
        </p:nvSpPr>
        <p:spPr>
          <a:xfrm>
            <a:off x="10494244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itle">
  <p:cSld name="Presentation - title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40"/>
          <p:cNvSpPr txBox="1">
            <a:spLocks noGrp="1"/>
          </p:cNvSpPr>
          <p:nvPr>
            <p:ph type="title"/>
          </p:nvPr>
        </p:nvSpPr>
        <p:spPr>
          <a:xfrm>
            <a:off x="1107254" y="3961398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42"/>
              <a:buFont typeface="Arial"/>
              <a:buNone/>
              <a:defRPr sz="2842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5" name="Google Shape;155;p40"/>
          <p:cNvSpPr txBox="1">
            <a:spLocks noGrp="1"/>
          </p:cNvSpPr>
          <p:nvPr>
            <p:ph type="body" idx="1"/>
          </p:nvPr>
        </p:nvSpPr>
        <p:spPr>
          <a:xfrm>
            <a:off x="1106773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chemeClr val="dk2"/>
              </a:buClr>
              <a:buSzPts val="1950"/>
              <a:buFont typeface="Arial"/>
              <a:buNone/>
              <a:defRPr sz="19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None/>
              <a:defRPr sz="1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Font typeface="Arial"/>
              <a:buNone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6" name="Google Shape;156;p40"/>
          <p:cNvSpPr txBox="1">
            <a:spLocks noGrp="1"/>
          </p:cNvSpPr>
          <p:nvPr>
            <p:ph type="body" idx="2"/>
          </p:nvPr>
        </p:nvSpPr>
        <p:spPr>
          <a:xfrm>
            <a:off x="1106773" y="5043453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None/>
              <a:defRPr sz="1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Font typeface="Arial"/>
              <a:buNone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title">
  <p:cSld name="1_Presentation - title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41"/>
          <p:cNvSpPr txBox="1">
            <a:spLocks noGrp="1"/>
          </p:cNvSpPr>
          <p:nvPr>
            <p:ph type="title"/>
          </p:nvPr>
        </p:nvSpPr>
        <p:spPr>
          <a:xfrm>
            <a:off x="1107254" y="3961398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42"/>
              <a:buFont typeface="Arial"/>
              <a:buNone/>
              <a:defRPr sz="2842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0" name="Google Shape;160;p41"/>
          <p:cNvSpPr txBox="1">
            <a:spLocks noGrp="1"/>
          </p:cNvSpPr>
          <p:nvPr>
            <p:ph type="body" idx="1"/>
          </p:nvPr>
        </p:nvSpPr>
        <p:spPr>
          <a:xfrm>
            <a:off x="1106773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chemeClr val="dk2"/>
              </a:buClr>
              <a:buSzPts val="1950"/>
              <a:buFont typeface="Arial"/>
              <a:buNone/>
              <a:defRPr sz="19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None/>
              <a:defRPr sz="1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Font typeface="Arial"/>
              <a:buNone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41"/>
          <p:cNvSpPr txBox="1">
            <a:spLocks noGrp="1"/>
          </p:cNvSpPr>
          <p:nvPr>
            <p:ph type="body" idx="2"/>
          </p:nvPr>
        </p:nvSpPr>
        <p:spPr>
          <a:xfrm>
            <a:off x="1106773" y="5043453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None/>
              <a:defRPr sz="1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Font typeface="Arial"/>
              <a:buNone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title">
  <p:cSld name="2_Presentation - title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42"/>
          <p:cNvSpPr txBox="1">
            <a:spLocks noGrp="1"/>
          </p:cNvSpPr>
          <p:nvPr>
            <p:ph type="title"/>
          </p:nvPr>
        </p:nvSpPr>
        <p:spPr>
          <a:xfrm>
            <a:off x="1107254" y="1159488"/>
            <a:ext cx="8327542" cy="184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42"/>
              <a:buFont typeface="Arial"/>
              <a:buNone/>
              <a:defRPr sz="2842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5" name="Google Shape;165;p42"/>
          <p:cNvSpPr txBox="1">
            <a:spLocks noGrp="1"/>
          </p:cNvSpPr>
          <p:nvPr>
            <p:ph type="body" idx="1"/>
          </p:nvPr>
        </p:nvSpPr>
        <p:spPr>
          <a:xfrm>
            <a:off x="1106773" y="3010626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chemeClr val="lt1"/>
              </a:buClr>
              <a:buSzPts val="1950"/>
              <a:buFont typeface="Arial"/>
              <a:buNone/>
              <a:defRPr sz="19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None/>
              <a:defRPr sz="1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Font typeface="Arial"/>
              <a:buNone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42"/>
          <p:cNvSpPr txBox="1">
            <a:spLocks noGrp="1"/>
          </p:cNvSpPr>
          <p:nvPr>
            <p:ph type="body" idx="2"/>
          </p:nvPr>
        </p:nvSpPr>
        <p:spPr>
          <a:xfrm>
            <a:off x="1106773" y="3496137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None/>
              <a:defRPr sz="1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Font typeface="Arial"/>
              <a:buNone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">
  <p:cSld name="Presentation - Conten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3"/>
          <p:cNvSpPr txBox="1">
            <a:spLocks noGrp="1"/>
          </p:cNvSpPr>
          <p:nvPr>
            <p:ph type="body" idx="1"/>
          </p:nvPr>
        </p:nvSpPr>
        <p:spPr>
          <a:xfrm>
            <a:off x="874715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3062" algn="l" rtl="0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chemeClr val="accent4"/>
              </a:buClr>
              <a:buSzPts val="2275"/>
              <a:buFont typeface="Noto Sans Symbols"/>
              <a:buChar char="▪"/>
              <a:defRPr sz="227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2425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accent4"/>
              </a:buClr>
              <a:buSzPts val="1950"/>
              <a:buFont typeface="Noto Sans Symbols"/>
              <a:buChar char="▪"/>
              <a:defRPr sz="19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1787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accent4"/>
              </a:buClr>
              <a:buSzPts val="1625"/>
              <a:buFont typeface="Noto Sans Symbols"/>
              <a:buChar char="▪"/>
              <a:defRPr sz="162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accent4"/>
              </a:buClr>
              <a:buSzPts val="1462"/>
              <a:buFont typeface="Noto Sans Symbols"/>
              <a:buChar char="▪"/>
              <a:defRPr sz="146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0" name="Google Shape;170;p43"/>
          <p:cNvSpPr txBox="1">
            <a:spLocks noGrp="1"/>
          </p:cNvSpPr>
          <p:nvPr>
            <p:ph type="title"/>
          </p:nvPr>
        </p:nvSpPr>
        <p:spPr>
          <a:xfrm>
            <a:off x="874713" y="1515181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75"/>
              <a:buFont typeface="Arial"/>
              <a:buNone/>
              <a:defRPr sz="227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2">
  <p:cSld name="Presentation - Content 2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44"/>
          <p:cNvSpPr txBox="1">
            <a:spLocks noGrp="1"/>
          </p:cNvSpPr>
          <p:nvPr>
            <p:ph type="body" idx="1"/>
          </p:nvPr>
        </p:nvSpPr>
        <p:spPr>
          <a:xfrm>
            <a:off x="874715" y="1093984"/>
            <a:ext cx="10225087" cy="384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3062" algn="l" rtl="0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chemeClr val="accent4"/>
              </a:buClr>
              <a:buSzPts val="2275"/>
              <a:buFont typeface="Noto Sans Symbols"/>
              <a:buChar char="▪"/>
              <a:defRPr sz="227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2425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accent4"/>
              </a:buClr>
              <a:buSzPts val="1950"/>
              <a:buFont typeface="Noto Sans Symbols"/>
              <a:buChar char="▪"/>
              <a:defRPr sz="19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1787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accent4"/>
              </a:buClr>
              <a:buSzPts val="1625"/>
              <a:buFont typeface="Noto Sans Symbols"/>
              <a:buChar char="▪"/>
              <a:defRPr sz="162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accent4"/>
              </a:buClr>
              <a:buSzPts val="1462"/>
              <a:buFont typeface="Noto Sans Symbols"/>
              <a:buChar char="▪"/>
              <a:defRPr sz="146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4" name="Google Shape;174;p44"/>
          <p:cNvSpPr txBox="1">
            <a:spLocks noGrp="1"/>
          </p:cNvSpPr>
          <p:nvPr>
            <p:ph type="title"/>
          </p:nvPr>
        </p:nvSpPr>
        <p:spPr>
          <a:xfrm>
            <a:off x="874713" y="506218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75"/>
              <a:buFont typeface="Arial"/>
              <a:buNone/>
              <a:defRPr sz="227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5" name="Google Shape;175;p44"/>
          <p:cNvSpPr txBox="1"/>
          <p:nvPr/>
        </p:nvSpPr>
        <p:spPr>
          <a:xfrm>
            <a:off x="9413934" y="6216898"/>
            <a:ext cx="2249714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- Content">
  <p:cSld name="Presentation - Empty - Conten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5"/>
          <p:cNvSpPr txBox="1">
            <a:spLocks noGrp="1"/>
          </p:cNvSpPr>
          <p:nvPr>
            <p:ph type="body" idx="1"/>
          </p:nvPr>
        </p:nvSpPr>
        <p:spPr>
          <a:xfrm>
            <a:off x="874715" y="1093985"/>
            <a:ext cx="10225087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3062" algn="l" rtl="0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chemeClr val="accent4"/>
              </a:buClr>
              <a:buSzPts val="2275"/>
              <a:buFont typeface="Noto Sans Symbols"/>
              <a:buChar char="▪"/>
              <a:defRPr sz="227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2425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accent4"/>
              </a:buClr>
              <a:buSzPts val="1950"/>
              <a:buFont typeface="Noto Sans Symbols"/>
              <a:buChar char="▪"/>
              <a:defRPr sz="19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1787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accent4"/>
              </a:buClr>
              <a:buSzPts val="1625"/>
              <a:buFont typeface="Noto Sans Symbols"/>
              <a:buChar char="▪"/>
              <a:defRPr sz="162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accent4"/>
              </a:buClr>
              <a:buSzPts val="1462"/>
              <a:buFont typeface="Noto Sans Symbols"/>
              <a:buChar char="▪"/>
              <a:defRPr sz="146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45"/>
          <p:cNvSpPr txBox="1">
            <a:spLocks noGrp="1"/>
          </p:cNvSpPr>
          <p:nvPr>
            <p:ph type="title"/>
          </p:nvPr>
        </p:nvSpPr>
        <p:spPr>
          <a:xfrm>
            <a:off x="874713" y="506218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75"/>
              <a:buFont typeface="Arial"/>
              <a:buNone/>
              <a:defRPr sz="227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0" name="Google Shape;180;p45"/>
          <p:cNvSpPr txBox="1"/>
          <p:nvPr/>
        </p:nvSpPr>
        <p:spPr>
          <a:xfrm>
            <a:off x="9413934" y="6216898"/>
            <a:ext cx="2249714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wo content shapes">
  <p:cSld name="Presentation - Two content shapes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46"/>
          <p:cNvSpPr txBox="1">
            <a:spLocks noGrp="1"/>
          </p:cNvSpPr>
          <p:nvPr>
            <p:ph type="body" idx="1"/>
          </p:nvPr>
        </p:nvSpPr>
        <p:spPr>
          <a:xfrm>
            <a:off x="874713" y="1093985"/>
            <a:ext cx="5078720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3062" algn="l" rtl="0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chemeClr val="accent4"/>
              </a:buClr>
              <a:buSzPts val="2275"/>
              <a:buFont typeface="Noto Sans Symbols"/>
              <a:buChar char="▪"/>
              <a:defRPr sz="227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2425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accent4"/>
              </a:buClr>
              <a:buSzPts val="1950"/>
              <a:buFont typeface="Noto Sans Symbols"/>
              <a:buChar char="▪"/>
              <a:defRPr sz="19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1787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accent4"/>
              </a:buClr>
              <a:buSzPts val="1625"/>
              <a:buFont typeface="Noto Sans Symbols"/>
              <a:buChar char="▪"/>
              <a:defRPr sz="162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accent4"/>
              </a:buClr>
              <a:buSzPts val="1462"/>
              <a:buFont typeface="Noto Sans Symbols"/>
              <a:buChar char="▪"/>
              <a:defRPr sz="146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46"/>
          <p:cNvSpPr txBox="1">
            <a:spLocks noGrp="1"/>
          </p:cNvSpPr>
          <p:nvPr>
            <p:ph type="title"/>
          </p:nvPr>
        </p:nvSpPr>
        <p:spPr>
          <a:xfrm>
            <a:off x="874713" y="506218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75"/>
              <a:buFont typeface="Arial"/>
              <a:buNone/>
              <a:defRPr sz="227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5" name="Google Shape;185;p46"/>
          <p:cNvSpPr txBox="1"/>
          <p:nvPr/>
        </p:nvSpPr>
        <p:spPr>
          <a:xfrm>
            <a:off x="9413934" y="6216898"/>
            <a:ext cx="2249714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6"/>
          <p:cNvSpPr txBox="1">
            <a:spLocks noGrp="1"/>
          </p:cNvSpPr>
          <p:nvPr>
            <p:ph type="body" idx="2"/>
          </p:nvPr>
        </p:nvSpPr>
        <p:spPr>
          <a:xfrm>
            <a:off x="6365968" y="1093985"/>
            <a:ext cx="5039386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3062" algn="l" rtl="0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chemeClr val="accent4"/>
              </a:buClr>
              <a:buSzPts val="2275"/>
              <a:buFont typeface="Noto Sans Symbols"/>
              <a:buChar char="▪"/>
              <a:defRPr sz="227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2425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accent4"/>
              </a:buClr>
              <a:buSzPts val="1950"/>
              <a:buFont typeface="Noto Sans Symbols"/>
              <a:buChar char="▪"/>
              <a:defRPr sz="19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1787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accent4"/>
              </a:buClr>
              <a:buSzPts val="1625"/>
              <a:buFont typeface="Noto Sans Symbols"/>
              <a:buChar char="▪"/>
              <a:defRPr sz="162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accent4"/>
              </a:buClr>
              <a:buSzPts val="1462"/>
              <a:buFont typeface="Noto Sans Symbols"/>
              <a:buChar char="▪"/>
              <a:defRPr sz="146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Content">
  <p:cSld name="1_Presentation - Content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47"/>
          <p:cNvSpPr txBox="1"/>
          <p:nvPr/>
        </p:nvSpPr>
        <p:spPr>
          <a:xfrm>
            <a:off x="9413934" y="6216898"/>
            <a:ext cx="2249714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7"/>
          <p:cNvSpPr txBox="1">
            <a:spLocks noGrp="1"/>
          </p:cNvSpPr>
          <p:nvPr>
            <p:ph type="title"/>
          </p:nvPr>
        </p:nvSpPr>
        <p:spPr>
          <a:xfrm>
            <a:off x="874713" y="1515181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75"/>
              <a:buFont typeface="Arial"/>
              <a:buNone/>
              <a:defRPr sz="227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1" name="Google Shape;191;p47"/>
          <p:cNvSpPr>
            <a:spLocks noGrp="1"/>
          </p:cNvSpPr>
          <p:nvPr>
            <p:ph type="tbl" idx="2"/>
          </p:nvPr>
        </p:nvSpPr>
        <p:spPr>
          <a:xfrm>
            <a:off x="874715" y="2103438"/>
            <a:ext cx="10225087" cy="36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Content 2">
  <p:cSld name="1_Presentation - Content 2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48"/>
          <p:cNvSpPr txBox="1"/>
          <p:nvPr/>
        </p:nvSpPr>
        <p:spPr>
          <a:xfrm>
            <a:off x="9413934" y="6216898"/>
            <a:ext cx="2249714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8"/>
          <p:cNvSpPr txBox="1">
            <a:spLocks noGrp="1"/>
          </p:cNvSpPr>
          <p:nvPr>
            <p:ph type="title"/>
          </p:nvPr>
        </p:nvSpPr>
        <p:spPr>
          <a:xfrm>
            <a:off x="874713" y="506218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75"/>
              <a:buFont typeface="Arial"/>
              <a:buNone/>
              <a:defRPr sz="227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6" name="Google Shape;196;p48"/>
          <p:cNvSpPr>
            <a:spLocks noGrp="1"/>
          </p:cNvSpPr>
          <p:nvPr>
            <p:ph type="tbl" idx="2"/>
          </p:nvPr>
        </p:nvSpPr>
        <p:spPr>
          <a:xfrm>
            <a:off x="874715" y="1093984"/>
            <a:ext cx="10225087" cy="3847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Empty - Content">
  <p:cSld name="1_Presentation - Empty - Content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9"/>
          <p:cNvSpPr txBox="1"/>
          <p:nvPr/>
        </p:nvSpPr>
        <p:spPr>
          <a:xfrm>
            <a:off x="9413934" y="6216898"/>
            <a:ext cx="2249714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9"/>
          <p:cNvSpPr txBox="1">
            <a:spLocks noGrp="1"/>
          </p:cNvSpPr>
          <p:nvPr>
            <p:ph type="title"/>
          </p:nvPr>
        </p:nvSpPr>
        <p:spPr>
          <a:xfrm>
            <a:off x="874713" y="506218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75"/>
              <a:buFont typeface="Arial"/>
              <a:buNone/>
              <a:defRPr sz="227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1" name="Google Shape;201;p49"/>
          <p:cNvSpPr>
            <a:spLocks noGrp="1"/>
          </p:cNvSpPr>
          <p:nvPr>
            <p:ph type="tbl" idx="2"/>
          </p:nvPr>
        </p:nvSpPr>
        <p:spPr>
          <a:xfrm>
            <a:off x="874715" y="1093984"/>
            <a:ext cx="10225087" cy="468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- Smartart">
  <p:cSld name="Presentation - Content - Smartart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50"/>
          <p:cNvSpPr txBox="1"/>
          <p:nvPr/>
        </p:nvSpPr>
        <p:spPr>
          <a:xfrm>
            <a:off x="9413934" y="6216898"/>
            <a:ext cx="2249714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0"/>
          <p:cNvSpPr txBox="1">
            <a:spLocks noGrp="1"/>
          </p:cNvSpPr>
          <p:nvPr>
            <p:ph type="title"/>
          </p:nvPr>
        </p:nvSpPr>
        <p:spPr>
          <a:xfrm>
            <a:off x="874713" y="506218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75"/>
              <a:buFont typeface="Arial"/>
              <a:buNone/>
              <a:defRPr sz="227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6" name="Google Shape;206;p50"/>
          <p:cNvSpPr txBox="1">
            <a:spLocks noGrp="1"/>
          </p:cNvSpPr>
          <p:nvPr>
            <p:ph type="body" idx="1"/>
          </p:nvPr>
        </p:nvSpPr>
        <p:spPr>
          <a:xfrm>
            <a:off x="874715" y="1093985"/>
            <a:ext cx="2546893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3062" algn="l" rtl="0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chemeClr val="accent4"/>
              </a:buClr>
              <a:buSzPts val="2275"/>
              <a:buFont typeface="Noto Sans Symbols"/>
              <a:buChar char="▪"/>
              <a:defRPr sz="227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2425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accent4"/>
              </a:buClr>
              <a:buSzPts val="1950"/>
              <a:buFont typeface="Noto Sans Symbols"/>
              <a:buChar char="▪"/>
              <a:defRPr sz="19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1787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accent4"/>
              </a:buClr>
              <a:buSzPts val="1625"/>
              <a:buFont typeface="Noto Sans Symbols"/>
              <a:buChar char="▪"/>
              <a:defRPr sz="162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accent4"/>
              </a:buClr>
              <a:buSzPts val="1462"/>
              <a:buFont typeface="Noto Sans Symbols"/>
              <a:buChar char="▪"/>
              <a:defRPr sz="146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143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7" name="Google Shape;207;p50"/>
          <p:cNvSpPr>
            <a:spLocks noGrp="1"/>
          </p:cNvSpPr>
          <p:nvPr>
            <p:ph type="dgm" idx="2"/>
          </p:nvPr>
        </p:nvSpPr>
        <p:spPr>
          <a:xfrm>
            <a:off x="3598864" y="1093790"/>
            <a:ext cx="8064501" cy="467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chemeClr val="dk1"/>
              </a:buClr>
              <a:buSzPts val="2275"/>
              <a:buFont typeface="Arial"/>
              <a:buChar char="•"/>
              <a:defRPr sz="2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25"/>
              <a:buFont typeface="Arial"/>
              <a:buChar char="•"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462"/>
              <a:buFont typeface="Arial"/>
              <a:buChar char="•"/>
              <a:defRPr sz="146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">
  <p:cSld name="Presentation - Empty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51"/>
          <p:cNvSpPr txBox="1">
            <a:spLocks noGrp="1"/>
          </p:cNvSpPr>
          <p:nvPr>
            <p:ph type="title"/>
          </p:nvPr>
        </p:nvSpPr>
        <p:spPr>
          <a:xfrm>
            <a:off x="1107254" y="3390843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42"/>
              <a:buFont typeface="Arial"/>
              <a:buNone/>
              <a:defRPr sz="2842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1" name="Google Shape;211;p51"/>
          <p:cNvSpPr txBox="1"/>
          <p:nvPr/>
        </p:nvSpPr>
        <p:spPr>
          <a:xfrm>
            <a:off x="1107254" y="4313604"/>
            <a:ext cx="7027420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Subscribe to our news: </a:t>
            </a:r>
            <a:r>
              <a:rPr lang="it-IT" sz="13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www.cost.eu/subscribe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2" name="Google Shape;212;p51"/>
          <p:cNvGrpSpPr/>
          <p:nvPr/>
        </p:nvGrpSpPr>
        <p:grpSpPr>
          <a:xfrm>
            <a:off x="9026219" y="5182890"/>
            <a:ext cx="2200682" cy="1131650"/>
            <a:chOff x="6636485" y="5354057"/>
            <a:chExt cx="2200682" cy="1131650"/>
          </a:xfrm>
        </p:grpSpPr>
        <p:grpSp>
          <p:nvGrpSpPr>
            <p:cNvPr id="213" name="Google Shape;213;p51"/>
            <p:cNvGrpSpPr/>
            <p:nvPr/>
          </p:nvGrpSpPr>
          <p:grpSpPr>
            <a:xfrm>
              <a:off x="6883674" y="5354057"/>
              <a:ext cx="1953493" cy="1131650"/>
              <a:chOff x="6883674" y="5354057"/>
              <a:chExt cx="1953493" cy="1131650"/>
            </a:xfrm>
          </p:grpSpPr>
          <p:pic>
            <p:nvPicPr>
              <p:cNvPr id="214" name="Google Shape;214;p51" descr="Plan de travail 1OFF-Icones.jpg">
                <a:hlinkClick r:id="rId3"/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903" y="5776143"/>
                <a:ext cx="360000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5" name="Google Shape;215;p51">
                <a:hlinkClick r:id="rId5"/>
              </p:cNvPr>
              <p:cNvSpPr txBox="1"/>
              <p:nvPr/>
            </p:nvSpPr>
            <p:spPr>
              <a:xfrm>
                <a:off x="6935575" y="6218452"/>
                <a:ext cx="1901592" cy="2672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sz="1137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www.cost.eu</a:t>
                </a:r>
                <a:endParaRPr sz="1137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16" name="Google Shape;216;p51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7500289" y="5780684"/>
                <a:ext cx="779907" cy="3310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7" name="Google Shape;217;p51">
                <a:hlinkClick r:id="rId8"/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7069413" y="5781094"/>
                <a:ext cx="330628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8" name="Google Shape;218;p51"/>
              <p:cNvSpPr txBox="1"/>
              <p:nvPr/>
            </p:nvSpPr>
            <p:spPr>
              <a:xfrm>
                <a:off x="6883674" y="5354057"/>
                <a:ext cx="1901592" cy="2672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sz="1137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Subscribe</a:t>
                </a:r>
                <a:endParaRPr sz="1137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19" name="Google Shape;219;p51">
              <a:hlinkClick r:id="rId10"/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636485" y="5778159"/>
              <a:ext cx="328612" cy="3286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2">
  <p:cSld name="Presentation - Empty 2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52"/>
          <p:cNvSpPr txBox="1"/>
          <p:nvPr/>
        </p:nvSpPr>
        <p:spPr>
          <a:xfrm>
            <a:off x="9413934" y="6216898"/>
            <a:ext cx="2249714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- Empty">
  <p:cSld name="Presentation - Empty - Empty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53"/>
          <p:cNvSpPr txBox="1"/>
          <p:nvPr/>
        </p:nvSpPr>
        <p:spPr>
          <a:xfrm>
            <a:off x="9413934" y="6216898"/>
            <a:ext cx="2249714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folie" type="title">
  <p:cSld name="TITLE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5"/>
          <p:cNvSpPr txBox="1">
            <a:spLocks noGrp="1"/>
          </p:cNvSpPr>
          <p:nvPr>
            <p:ph type="ctrTitle"/>
          </p:nvPr>
        </p:nvSpPr>
        <p:spPr>
          <a:xfrm>
            <a:off x="865695" y="691990"/>
            <a:ext cx="8488263" cy="1080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55"/>
          <p:cNvSpPr txBox="1">
            <a:spLocks noGrp="1"/>
          </p:cNvSpPr>
          <p:nvPr>
            <p:ph type="subTitle" idx="1"/>
          </p:nvPr>
        </p:nvSpPr>
        <p:spPr>
          <a:xfrm>
            <a:off x="865695" y="2133107"/>
            <a:ext cx="10458659" cy="3958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sz="2400" cap="none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pic>
        <p:nvPicPr>
          <p:cNvPr id="237" name="Google Shape;237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" y="6317402"/>
            <a:ext cx="1664027" cy="54059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55"/>
          <p:cNvSpPr txBox="1"/>
          <p:nvPr/>
        </p:nvSpPr>
        <p:spPr>
          <a:xfrm>
            <a:off x="3436816" y="6353099"/>
            <a:ext cx="5318366" cy="475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FinAI: Fintech and Artificial Intelligence in Finance - Towards a transparent financial industry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39" name="Google Shape;239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0737" y="5845686"/>
            <a:ext cx="1621262" cy="1012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19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, Untertitel und Inhalt">
  <p:cSld name="Titel, Untertitel und Inhalt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6"/>
          <p:cNvSpPr txBox="1">
            <a:spLocks noGrp="1"/>
          </p:cNvSpPr>
          <p:nvPr>
            <p:ph type="title"/>
          </p:nvPr>
        </p:nvSpPr>
        <p:spPr>
          <a:xfrm>
            <a:off x="865693" y="691991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56"/>
          <p:cNvSpPr txBox="1">
            <a:spLocks noGrp="1"/>
          </p:cNvSpPr>
          <p:nvPr>
            <p:ph type="sldNum" idx="12"/>
          </p:nvPr>
        </p:nvSpPr>
        <p:spPr>
          <a:xfrm>
            <a:off x="10494244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43" name="Google Shape;243;p56"/>
          <p:cNvSpPr txBox="1">
            <a:spLocks noGrp="1"/>
          </p:cNvSpPr>
          <p:nvPr>
            <p:ph type="body" idx="1"/>
          </p:nvPr>
        </p:nvSpPr>
        <p:spPr>
          <a:xfrm>
            <a:off x="865693" y="2493086"/>
            <a:ext cx="10458660" cy="35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244" name="Google Shape;244;p56"/>
          <p:cNvSpPr txBox="1">
            <a:spLocks noGrp="1"/>
          </p:cNvSpPr>
          <p:nvPr>
            <p:ph type="body" idx="2"/>
          </p:nvPr>
        </p:nvSpPr>
        <p:spPr>
          <a:xfrm>
            <a:off x="865693" y="1772828"/>
            <a:ext cx="10458660" cy="432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cap="none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pic>
        <p:nvPicPr>
          <p:cNvPr id="245" name="Google Shape;245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" y="6317402"/>
            <a:ext cx="1664027" cy="540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, Untertitel und Inhalt (2 Spalten)">
  <p:cSld name="Titel, Untertitel und Inhalt (2 Spalten)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7"/>
          <p:cNvSpPr txBox="1">
            <a:spLocks noGrp="1"/>
          </p:cNvSpPr>
          <p:nvPr>
            <p:ph type="title"/>
          </p:nvPr>
        </p:nvSpPr>
        <p:spPr>
          <a:xfrm>
            <a:off x="865693" y="691991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57"/>
          <p:cNvSpPr txBox="1">
            <a:spLocks noGrp="1"/>
          </p:cNvSpPr>
          <p:nvPr>
            <p:ph type="sldNum" idx="12"/>
          </p:nvPr>
        </p:nvSpPr>
        <p:spPr>
          <a:xfrm>
            <a:off x="10494244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49" name="Google Shape;249;p57"/>
          <p:cNvSpPr txBox="1">
            <a:spLocks noGrp="1"/>
          </p:cNvSpPr>
          <p:nvPr>
            <p:ph type="body" idx="1"/>
          </p:nvPr>
        </p:nvSpPr>
        <p:spPr>
          <a:xfrm>
            <a:off x="865695" y="2493086"/>
            <a:ext cx="5051501" cy="35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250" name="Google Shape;250;p57"/>
          <p:cNvSpPr txBox="1">
            <a:spLocks noGrp="1"/>
          </p:cNvSpPr>
          <p:nvPr>
            <p:ph type="body" idx="2"/>
          </p:nvPr>
        </p:nvSpPr>
        <p:spPr>
          <a:xfrm>
            <a:off x="865695" y="1772828"/>
            <a:ext cx="5051501" cy="432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cap="none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251" name="Google Shape;251;p57"/>
          <p:cNvSpPr txBox="1">
            <a:spLocks noGrp="1"/>
          </p:cNvSpPr>
          <p:nvPr>
            <p:ph type="body" idx="3"/>
          </p:nvPr>
        </p:nvSpPr>
        <p:spPr>
          <a:xfrm>
            <a:off x="6272854" y="1772827"/>
            <a:ext cx="5051501" cy="432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cap="none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252" name="Google Shape;252;p57"/>
          <p:cNvSpPr txBox="1">
            <a:spLocks noGrp="1"/>
          </p:cNvSpPr>
          <p:nvPr>
            <p:ph type="body" idx="4"/>
          </p:nvPr>
        </p:nvSpPr>
        <p:spPr>
          <a:xfrm>
            <a:off x="6272854" y="2493087"/>
            <a:ext cx="5051501" cy="359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>
  <p:cSld name="Titel und Inhalt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8"/>
          <p:cNvSpPr txBox="1">
            <a:spLocks noGrp="1"/>
          </p:cNvSpPr>
          <p:nvPr>
            <p:ph type="title"/>
          </p:nvPr>
        </p:nvSpPr>
        <p:spPr>
          <a:xfrm>
            <a:off x="865693" y="691991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58"/>
          <p:cNvSpPr txBox="1">
            <a:spLocks noGrp="1"/>
          </p:cNvSpPr>
          <p:nvPr>
            <p:ph type="sldNum" idx="12"/>
          </p:nvPr>
        </p:nvSpPr>
        <p:spPr>
          <a:xfrm>
            <a:off x="10494244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56" name="Google Shape;256;p58"/>
          <p:cNvSpPr txBox="1">
            <a:spLocks noGrp="1"/>
          </p:cNvSpPr>
          <p:nvPr>
            <p:ph type="body" idx="1"/>
          </p:nvPr>
        </p:nvSpPr>
        <p:spPr>
          <a:xfrm>
            <a:off x="865693" y="1772827"/>
            <a:ext cx="10458660" cy="431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 (2 Spalten)">
  <p:cSld name="Titel und Inhalt (2 Spalten)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9"/>
          <p:cNvSpPr txBox="1">
            <a:spLocks noGrp="1"/>
          </p:cNvSpPr>
          <p:nvPr>
            <p:ph type="title"/>
          </p:nvPr>
        </p:nvSpPr>
        <p:spPr>
          <a:xfrm>
            <a:off x="865693" y="691991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59"/>
          <p:cNvSpPr txBox="1">
            <a:spLocks noGrp="1"/>
          </p:cNvSpPr>
          <p:nvPr>
            <p:ph type="sldNum" idx="12"/>
          </p:nvPr>
        </p:nvSpPr>
        <p:spPr>
          <a:xfrm>
            <a:off x="10494244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60" name="Google Shape;260;p59"/>
          <p:cNvSpPr txBox="1">
            <a:spLocks noGrp="1"/>
          </p:cNvSpPr>
          <p:nvPr>
            <p:ph type="body" idx="1"/>
          </p:nvPr>
        </p:nvSpPr>
        <p:spPr>
          <a:xfrm>
            <a:off x="865695" y="1772827"/>
            <a:ext cx="5051501" cy="431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261" name="Google Shape;261;p59"/>
          <p:cNvSpPr txBox="1">
            <a:spLocks noGrp="1"/>
          </p:cNvSpPr>
          <p:nvPr>
            <p:ph type="body" idx="2"/>
          </p:nvPr>
        </p:nvSpPr>
        <p:spPr>
          <a:xfrm>
            <a:off x="6272854" y="1772827"/>
            <a:ext cx="5051501" cy="431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>
  <p:cSld name="nur Titel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0"/>
          <p:cNvSpPr txBox="1">
            <a:spLocks noGrp="1"/>
          </p:cNvSpPr>
          <p:nvPr>
            <p:ph type="title"/>
          </p:nvPr>
        </p:nvSpPr>
        <p:spPr>
          <a:xfrm>
            <a:off x="865693" y="691991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60"/>
          <p:cNvSpPr txBox="1">
            <a:spLocks noGrp="1"/>
          </p:cNvSpPr>
          <p:nvPr>
            <p:ph type="sldNum" idx="12"/>
          </p:nvPr>
        </p:nvSpPr>
        <p:spPr>
          <a:xfrm>
            <a:off x="10494244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>
  <p:cSld name="leer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1"/>
          <p:cNvSpPr txBox="1">
            <a:spLocks noGrp="1"/>
          </p:cNvSpPr>
          <p:nvPr>
            <p:ph type="sldNum" idx="12"/>
          </p:nvPr>
        </p:nvSpPr>
        <p:spPr>
          <a:xfrm>
            <a:off x="10494244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gleich" type="twoTxTwoObj">
  <p:cSld name="TWO_OBJECTS_WITH_TEXT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2"/>
          <p:cNvSpPr txBox="1"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62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entury Gothic"/>
              <a:buNone/>
              <a:defRPr sz="195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5"/>
              <a:buNone/>
              <a:defRPr sz="1625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2"/>
              <a:buNone/>
              <a:defRPr sz="1462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5pPr>
            <a:lvl6pPr marL="2743200" lvl="5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1"/>
            </a:lvl6pPr>
            <a:lvl7pPr marL="3200400" lvl="6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1"/>
            </a:lvl7pPr>
            <a:lvl8pPr marL="3657600" lvl="7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1"/>
            </a:lvl8pPr>
            <a:lvl9pPr marL="4114800" lvl="8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1"/>
            </a:lvl9pPr>
          </a:lstStyle>
          <a:p>
            <a:endParaRPr/>
          </a:p>
        </p:txBody>
      </p:sp>
      <p:sp>
        <p:nvSpPr>
          <p:cNvPr id="270" name="Google Shape;270;p62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271" name="Google Shape;271;p62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8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entury Gothic"/>
              <a:buNone/>
              <a:defRPr sz="195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5"/>
              <a:buNone/>
              <a:defRPr sz="1625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2"/>
              <a:buNone/>
              <a:defRPr sz="1462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5pPr>
            <a:lvl6pPr marL="2743200" lvl="5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1"/>
            </a:lvl6pPr>
            <a:lvl7pPr marL="3200400" lvl="6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1"/>
            </a:lvl7pPr>
            <a:lvl8pPr marL="3657600" lvl="7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1"/>
            </a:lvl8pPr>
            <a:lvl9pPr marL="4114800" lvl="8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1"/>
            </a:lvl9pPr>
          </a:lstStyle>
          <a:p>
            <a:endParaRPr/>
          </a:p>
        </p:txBody>
      </p:sp>
      <p:sp>
        <p:nvSpPr>
          <p:cNvPr id="272" name="Google Shape;272;p62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8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273" name="Google Shape;273;p62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4" name="Google Shape;274;p62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5" name="Google Shape;275;p62"/>
          <p:cNvSpPr txBox="1">
            <a:spLocks noGrp="1"/>
          </p:cNvSpPr>
          <p:nvPr>
            <p:ph type="sldNum" idx="12"/>
          </p:nvPr>
        </p:nvSpPr>
        <p:spPr>
          <a:xfrm>
            <a:off x="10494244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63"/>
          <p:cNvSpPr txBox="1">
            <a:spLocks noGrp="1"/>
          </p:cNvSpPr>
          <p:nvPr>
            <p:ph type="title"/>
          </p:nvPr>
        </p:nvSpPr>
        <p:spPr>
          <a:xfrm>
            <a:off x="865693" y="691991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63"/>
          <p:cNvSpPr txBox="1">
            <a:spLocks noGrp="1"/>
          </p:cNvSpPr>
          <p:nvPr>
            <p:ph type="body" idx="1"/>
          </p:nvPr>
        </p:nvSpPr>
        <p:spPr>
          <a:xfrm>
            <a:off x="865693" y="1772827"/>
            <a:ext cx="10458660" cy="431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279" name="Google Shape;279;p6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6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63"/>
          <p:cNvSpPr txBox="1">
            <a:spLocks noGrp="1"/>
          </p:cNvSpPr>
          <p:nvPr>
            <p:ph type="sldNum" idx="12"/>
          </p:nvPr>
        </p:nvSpPr>
        <p:spPr>
          <a:xfrm>
            <a:off x="10494244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title">
  <p:cSld name="1_Presentation - title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64"/>
          <p:cNvSpPr txBox="1">
            <a:spLocks noGrp="1"/>
          </p:cNvSpPr>
          <p:nvPr>
            <p:ph type="title"/>
          </p:nvPr>
        </p:nvSpPr>
        <p:spPr>
          <a:xfrm>
            <a:off x="1107254" y="3961397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42" b="1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64"/>
          <p:cNvSpPr txBox="1">
            <a:spLocks noGrp="1"/>
          </p:cNvSpPr>
          <p:nvPr>
            <p:ph type="body" idx="1"/>
          </p:nvPr>
        </p:nvSpPr>
        <p:spPr>
          <a:xfrm>
            <a:off x="1106772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0"/>
              <a:buFont typeface="Century Gothic"/>
              <a:buNone/>
              <a:defRPr sz="195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286" name="Google Shape;286;p64"/>
          <p:cNvSpPr txBox="1">
            <a:spLocks noGrp="1"/>
          </p:cNvSpPr>
          <p:nvPr>
            <p:ph type="body" idx="2"/>
          </p:nvPr>
        </p:nvSpPr>
        <p:spPr>
          <a:xfrm>
            <a:off x="1106772" y="5043452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entury Gothic"/>
              <a:buNone/>
              <a:defRPr sz="13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Content">
  <p:cSld name="1_Presentation - Content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65"/>
          <p:cNvSpPr txBox="1">
            <a:spLocks noGrp="1"/>
          </p:cNvSpPr>
          <p:nvPr>
            <p:ph type="body" idx="1"/>
          </p:nvPr>
        </p:nvSpPr>
        <p:spPr>
          <a:xfrm>
            <a:off x="874714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290" name="Google Shape;290;p65"/>
          <p:cNvSpPr txBox="1">
            <a:spLocks noGrp="1"/>
          </p:cNvSpPr>
          <p:nvPr>
            <p:ph type="title"/>
          </p:nvPr>
        </p:nvSpPr>
        <p:spPr>
          <a:xfrm>
            <a:off x="874713" y="1515180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75" b="1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65"/>
          <p:cNvSpPr txBox="1"/>
          <p:nvPr/>
        </p:nvSpPr>
        <p:spPr>
          <a:xfrm>
            <a:off x="9413934" y="6216897"/>
            <a:ext cx="2249714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Content">
  <p:cSld name="2_Presentation - Content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66"/>
          <p:cNvSpPr txBox="1">
            <a:spLocks noGrp="1"/>
          </p:cNvSpPr>
          <p:nvPr>
            <p:ph type="body" idx="1"/>
          </p:nvPr>
        </p:nvSpPr>
        <p:spPr>
          <a:xfrm>
            <a:off x="874714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295" name="Google Shape;295;p66"/>
          <p:cNvSpPr txBox="1">
            <a:spLocks noGrp="1"/>
          </p:cNvSpPr>
          <p:nvPr>
            <p:ph type="title"/>
          </p:nvPr>
        </p:nvSpPr>
        <p:spPr>
          <a:xfrm>
            <a:off x="874713" y="1515180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75" b="1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66"/>
          <p:cNvSpPr txBox="1"/>
          <p:nvPr/>
        </p:nvSpPr>
        <p:spPr>
          <a:xfrm>
            <a:off x="9413934" y="6216897"/>
            <a:ext cx="2249714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Presentation - Content">
  <p:cSld name="3_Presentation - Content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67"/>
          <p:cNvSpPr txBox="1">
            <a:spLocks noGrp="1"/>
          </p:cNvSpPr>
          <p:nvPr>
            <p:ph type="body" idx="1"/>
          </p:nvPr>
        </p:nvSpPr>
        <p:spPr>
          <a:xfrm>
            <a:off x="874714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300" name="Google Shape;300;p67"/>
          <p:cNvSpPr txBox="1">
            <a:spLocks noGrp="1"/>
          </p:cNvSpPr>
          <p:nvPr>
            <p:ph type="title"/>
          </p:nvPr>
        </p:nvSpPr>
        <p:spPr>
          <a:xfrm>
            <a:off x="874713" y="1515180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75" b="1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67"/>
          <p:cNvSpPr txBox="1"/>
          <p:nvPr/>
        </p:nvSpPr>
        <p:spPr>
          <a:xfrm>
            <a:off x="9413934" y="6216897"/>
            <a:ext cx="2249714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Presentation - Content">
  <p:cSld name="4_Presentation - Content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68"/>
          <p:cNvSpPr txBox="1">
            <a:spLocks noGrp="1"/>
          </p:cNvSpPr>
          <p:nvPr>
            <p:ph type="body" idx="1"/>
          </p:nvPr>
        </p:nvSpPr>
        <p:spPr>
          <a:xfrm>
            <a:off x="874714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305" name="Google Shape;305;p68"/>
          <p:cNvSpPr txBox="1">
            <a:spLocks noGrp="1"/>
          </p:cNvSpPr>
          <p:nvPr>
            <p:ph type="title"/>
          </p:nvPr>
        </p:nvSpPr>
        <p:spPr>
          <a:xfrm>
            <a:off x="874713" y="1515180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75" b="1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68"/>
          <p:cNvSpPr txBox="1"/>
          <p:nvPr/>
        </p:nvSpPr>
        <p:spPr>
          <a:xfrm>
            <a:off x="9413934" y="6216897"/>
            <a:ext cx="2249714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Presentation - Content">
  <p:cSld name="5_Presentation - Content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69"/>
          <p:cNvSpPr txBox="1">
            <a:spLocks noGrp="1"/>
          </p:cNvSpPr>
          <p:nvPr>
            <p:ph type="body" idx="1"/>
          </p:nvPr>
        </p:nvSpPr>
        <p:spPr>
          <a:xfrm>
            <a:off x="874714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310" name="Google Shape;310;p69"/>
          <p:cNvSpPr txBox="1">
            <a:spLocks noGrp="1"/>
          </p:cNvSpPr>
          <p:nvPr>
            <p:ph type="title"/>
          </p:nvPr>
        </p:nvSpPr>
        <p:spPr>
          <a:xfrm>
            <a:off x="874713" y="1515180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75" b="1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69"/>
          <p:cNvSpPr txBox="1"/>
          <p:nvPr/>
        </p:nvSpPr>
        <p:spPr>
          <a:xfrm>
            <a:off x="9413934" y="6216897"/>
            <a:ext cx="2249714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Presentation - Content">
  <p:cSld name="6_Presentation - Content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70"/>
          <p:cNvSpPr txBox="1">
            <a:spLocks noGrp="1"/>
          </p:cNvSpPr>
          <p:nvPr>
            <p:ph type="body" idx="1"/>
          </p:nvPr>
        </p:nvSpPr>
        <p:spPr>
          <a:xfrm>
            <a:off x="874714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315" name="Google Shape;315;p70"/>
          <p:cNvSpPr txBox="1">
            <a:spLocks noGrp="1"/>
          </p:cNvSpPr>
          <p:nvPr>
            <p:ph type="title"/>
          </p:nvPr>
        </p:nvSpPr>
        <p:spPr>
          <a:xfrm>
            <a:off x="874713" y="1515180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75" b="1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70"/>
          <p:cNvSpPr txBox="1"/>
          <p:nvPr/>
        </p:nvSpPr>
        <p:spPr>
          <a:xfrm>
            <a:off x="9413934" y="6216897"/>
            <a:ext cx="2249714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Presentation - Content">
  <p:cSld name="7_Presentation - Content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71"/>
          <p:cNvSpPr txBox="1">
            <a:spLocks noGrp="1"/>
          </p:cNvSpPr>
          <p:nvPr>
            <p:ph type="body" idx="1"/>
          </p:nvPr>
        </p:nvSpPr>
        <p:spPr>
          <a:xfrm>
            <a:off x="874714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320" name="Google Shape;320;p71"/>
          <p:cNvSpPr txBox="1">
            <a:spLocks noGrp="1"/>
          </p:cNvSpPr>
          <p:nvPr>
            <p:ph type="title"/>
          </p:nvPr>
        </p:nvSpPr>
        <p:spPr>
          <a:xfrm>
            <a:off x="874713" y="1515180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75" b="1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71"/>
          <p:cNvSpPr txBox="1"/>
          <p:nvPr/>
        </p:nvSpPr>
        <p:spPr>
          <a:xfrm>
            <a:off x="9413934" y="6216897"/>
            <a:ext cx="2249714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Presentation - Content">
  <p:cSld name="8_Presentation - Content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72"/>
          <p:cNvSpPr txBox="1">
            <a:spLocks noGrp="1"/>
          </p:cNvSpPr>
          <p:nvPr>
            <p:ph type="body" idx="1"/>
          </p:nvPr>
        </p:nvSpPr>
        <p:spPr>
          <a:xfrm>
            <a:off x="874714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325" name="Google Shape;325;p72"/>
          <p:cNvSpPr txBox="1">
            <a:spLocks noGrp="1"/>
          </p:cNvSpPr>
          <p:nvPr>
            <p:ph type="title"/>
          </p:nvPr>
        </p:nvSpPr>
        <p:spPr>
          <a:xfrm>
            <a:off x="874713" y="1515180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75" b="1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72"/>
          <p:cNvSpPr txBox="1"/>
          <p:nvPr/>
        </p:nvSpPr>
        <p:spPr>
          <a:xfrm>
            <a:off x="9413934" y="6216897"/>
            <a:ext cx="2249714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Presentation - Content">
  <p:cSld name="9_Presentation - Content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73"/>
          <p:cNvSpPr txBox="1">
            <a:spLocks noGrp="1"/>
          </p:cNvSpPr>
          <p:nvPr>
            <p:ph type="body" idx="1"/>
          </p:nvPr>
        </p:nvSpPr>
        <p:spPr>
          <a:xfrm>
            <a:off x="874714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>
            <a:endParaRPr/>
          </a:p>
        </p:txBody>
      </p:sp>
      <p:sp>
        <p:nvSpPr>
          <p:cNvPr id="330" name="Google Shape;330;p73"/>
          <p:cNvSpPr txBox="1">
            <a:spLocks noGrp="1"/>
          </p:cNvSpPr>
          <p:nvPr>
            <p:ph type="title"/>
          </p:nvPr>
        </p:nvSpPr>
        <p:spPr>
          <a:xfrm>
            <a:off x="874713" y="1515180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75" b="1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322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73"/>
          <p:cNvSpPr txBox="1"/>
          <p:nvPr/>
        </p:nvSpPr>
        <p:spPr>
          <a:xfrm>
            <a:off x="9413934" y="6216897"/>
            <a:ext cx="2249714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23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2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theme" Target="../theme/theme5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8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65693" y="691990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65693" y="1772827"/>
            <a:ext cx="10458660" cy="431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-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-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-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-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" name="Google Shape;12;p1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" y="6317402"/>
            <a:ext cx="1664027" cy="54059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1"/>
          <p:cNvSpPr txBox="1"/>
          <p:nvPr/>
        </p:nvSpPr>
        <p:spPr>
          <a:xfrm>
            <a:off x="3436816" y="6353098"/>
            <a:ext cx="5318366" cy="463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FinAI: Fintech and Artificial Intelligence in Finance - Towards a transparent financial industry</a:t>
            </a:r>
            <a:endParaRPr sz="12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" name="Google Shape;14;p1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74936" y="5804480"/>
            <a:ext cx="1317064" cy="101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399910" y="-27096"/>
            <a:ext cx="792088" cy="54167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2"/>
          <p:cNvSpPr txBox="1">
            <a:spLocks noGrp="1"/>
          </p:cNvSpPr>
          <p:nvPr>
            <p:ph type="title"/>
          </p:nvPr>
        </p:nvSpPr>
        <p:spPr>
          <a:xfrm>
            <a:off x="865693" y="691990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865693" y="1772827"/>
            <a:ext cx="10458660" cy="431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-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-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-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-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10494243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pic>
        <p:nvPicPr>
          <p:cNvPr id="66" name="Google Shape;66;p2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768922" y="6332117"/>
            <a:ext cx="423077" cy="461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2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" y="6317402"/>
            <a:ext cx="1664027" cy="540597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2"/>
          <p:cNvSpPr txBox="1"/>
          <p:nvPr/>
        </p:nvSpPr>
        <p:spPr>
          <a:xfrm>
            <a:off x="3436816" y="6353098"/>
            <a:ext cx="5318366" cy="463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FinAI: Fintech and Artificial Intelligence in Finance - Towards a transparent financial industry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1"/>
          <p:cNvSpPr txBox="1">
            <a:spLocks noGrp="1"/>
          </p:cNvSpPr>
          <p:nvPr>
            <p:ph type="title"/>
          </p:nvPr>
        </p:nvSpPr>
        <p:spPr>
          <a:xfrm>
            <a:off x="865693" y="691991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body" idx="1"/>
          </p:nvPr>
        </p:nvSpPr>
        <p:spPr>
          <a:xfrm>
            <a:off x="865693" y="1772827"/>
            <a:ext cx="10458660" cy="431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-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-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-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-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sldNum" idx="12"/>
          </p:nvPr>
        </p:nvSpPr>
        <p:spPr>
          <a:xfrm>
            <a:off x="10494244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pic>
        <p:nvPicPr>
          <p:cNvPr id="114" name="Google Shape;114;p3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" y="6317402"/>
            <a:ext cx="1664027" cy="54059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1"/>
          <p:cNvSpPr txBox="1"/>
          <p:nvPr/>
        </p:nvSpPr>
        <p:spPr>
          <a:xfrm>
            <a:off x="3436816" y="6353099"/>
            <a:ext cx="5318366" cy="475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FinAI: Fintech and Artificial Intelligence in Finance - Towards a transparent financial industry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6" name="Google Shape;116;p3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19076" y="5876131"/>
            <a:ext cx="1372921" cy="967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240428" y="1"/>
            <a:ext cx="975034" cy="54155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4"/>
          <p:cNvSpPr txBox="1">
            <a:spLocks noGrp="1"/>
          </p:cNvSpPr>
          <p:nvPr>
            <p:ph type="title"/>
          </p:nvPr>
        </p:nvSpPr>
        <p:spPr>
          <a:xfrm>
            <a:off x="865693" y="691991"/>
            <a:ext cx="8500360" cy="77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9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" name="Google Shape;228;p54"/>
          <p:cNvSpPr txBox="1">
            <a:spLocks noGrp="1"/>
          </p:cNvSpPr>
          <p:nvPr>
            <p:ph type="body" idx="1"/>
          </p:nvPr>
        </p:nvSpPr>
        <p:spPr>
          <a:xfrm>
            <a:off x="865693" y="1772827"/>
            <a:ext cx="10458660" cy="431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-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-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-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-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" name="Google Shape;229;p54"/>
          <p:cNvSpPr txBox="1">
            <a:spLocks noGrp="1"/>
          </p:cNvSpPr>
          <p:nvPr>
            <p:ph type="sldNum" idx="12"/>
          </p:nvPr>
        </p:nvSpPr>
        <p:spPr>
          <a:xfrm>
            <a:off x="10494244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pic>
        <p:nvPicPr>
          <p:cNvPr id="230" name="Google Shape;230;p54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3" y="6317402"/>
            <a:ext cx="1664027" cy="54059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4"/>
          <p:cNvSpPr txBox="1"/>
          <p:nvPr/>
        </p:nvSpPr>
        <p:spPr>
          <a:xfrm>
            <a:off x="3436816" y="6353099"/>
            <a:ext cx="5318366" cy="475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FinAI: Fintech and Artificial Intelligence in Finance - Towards a transparent financial industry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32" name="Google Shape;232;p54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10570737" y="5845686"/>
            <a:ext cx="1621262" cy="1012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54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11240428" y="1"/>
            <a:ext cx="975034" cy="54155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eams.microsoft.com/l/channel/19:Fne6wU-rDgMclzieWjIFMeshoF8_e_IEKwHikdVqqqM1@thread.tacv2/Generale?groupId=59e9c737-7c18-4206-921d-a3a0e9cae2ff&amp;tenantId=2fcfe26a-bb62-46b0-b1e3-28f9da0c45fd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805" y="2006378"/>
            <a:ext cx="5181600" cy="3989832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"/>
          <p:cNvSpPr txBox="1">
            <a:spLocks noGrp="1"/>
          </p:cNvSpPr>
          <p:nvPr>
            <p:ph type="body" idx="2"/>
          </p:nvPr>
        </p:nvSpPr>
        <p:spPr>
          <a:xfrm>
            <a:off x="5168767" y="1825625"/>
            <a:ext cx="661255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r>
              <a:rPr lang="it-IT"/>
              <a:t>Fintech and Artificial Intelligence in Finance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r>
              <a:rPr lang="it-IT"/>
              <a:t>Towards a transparent financial industry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it-IT" sz="4000" b="1"/>
              <a:t>County update: Italy</a:t>
            </a:r>
            <a:endParaRPr sz="4000"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endParaRPr/>
          </a:p>
        </p:txBody>
      </p:sp>
      <p:sp>
        <p:nvSpPr>
          <p:cNvPr id="339" name="Google Shape;339;p1"/>
          <p:cNvSpPr txBox="1">
            <a:spLocks noGrp="1"/>
          </p:cNvSpPr>
          <p:nvPr>
            <p:ph type="sldNum" idx="12"/>
          </p:nvPr>
        </p:nvSpPr>
        <p:spPr>
          <a:xfrm>
            <a:off x="10494243" y="6380273"/>
            <a:ext cx="830111" cy="18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"/>
          <p:cNvSpPr txBox="1">
            <a:spLocks noGrp="1"/>
          </p:cNvSpPr>
          <p:nvPr>
            <p:ph type="body" idx="1"/>
          </p:nvPr>
        </p:nvSpPr>
        <p:spPr>
          <a:xfrm>
            <a:off x="845838" y="1506179"/>
            <a:ext cx="10475344" cy="630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it-IT" sz="2400">
                <a:solidFill>
                  <a:schemeClr val="dk1"/>
                </a:solidFill>
              </a:rPr>
              <a:t>Participants from universities/institutions located in different part of Italy </a:t>
            </a:r>
            <a:endParaRPr/>
          </a:p>
          <a:p>
            <a: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it-IT" sz="2400">
                <a:solidFill>
                  <a:schemeClr val="dk1"/>
                </a:solidFill>
              </a:rPr>
              <a:t>Fully interdisciplinary background (Business, Law, Sociology, Quantitative Methods)</a:t>
            </a:r>
            <a:endParaRPr/>
          </a:p>
          <a:p>
            <a: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it-IT" sz="2400">
                <a:solidFill>
                  <a:schemeClr val="dk1"/>
                </a:solidFill>
              </a:rPr>
              <a:t>Involved in the activities of all WGs</a:t>
            </a:r>
            <a:endParaRPr/>
          </a:p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t-IT" b="1">
                <a:solidFill>
                  <a:srgbClr val="C00000"/>
                </a:solidFill>
              </a:rPr>
              <a:t>	</a:t>
            </a:r>
            <a:endParaRPr/>
          </a:p>
        </p:txBody>
      </p:sp>
      <p:sp>
        <p:nvSpPr>
          <p:cNvPr id="345" name="Google Shape;345;p2"/>
          <p:cNvSpPr/>
          <p:nvPr/>
        </p:nvSpPr>
        <p:spPr>
          <a:xfrm>
            <a:off x="641838" y="4122135"/>
            <a:ext cx="11023979" cy="1550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it-IT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Dissemination: 5 international conferences, 2 summer schools, 2 international competition (Dathathon)</a:t>
            </a:r>
            <a:endParaRPr/>
          </a:p>
          <a:p>
            <a: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it-IT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Networking:  4 STSMs (incoming-2 in 2023), 3 VMG (1 in 2023), various ongoing projects .1 International PhD Network (Marie Curie-starting in 2024)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"/>
          <p:cNvSpPr/>
          <p:nvPr/>
        </p:nvSpPr>
        <p:spPr>
          <a:xfrm>
            <a:off x="3926573" y="963445"/>
            <a:ext cx="176362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Members</a:t>
            </a:r>
            <a:endParaRPr sz="28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"/>
          <p:cNvSpPr/>
          <p:nvPr/>
        </p:nvSpPr>
        <p:spPr>
          <a:xfrm>
            <a:off x="4108378" y="3222256"/>
            <a:ext cx="3440365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Activities GP1-GP3</a:t>
            </a:r>
            <a:endParaRPr sz="28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"/>
          <p:cNvSpPr txBox="1"/>
          <p:nvPr/>
        </p:nvSpPr>
        <p:spPr>
          <a:xfrm>
            <a:off x="2098307" y="6119336"/>
            <a:ext cx="9222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"/>
          <p:cNvSpPr txBox="1">
            <a:spLocks noGrp="1"/>
          </p:cNvSpPr>
          <p:nvPr>
            <p:ph type="body" idx="1"/>
          </p:nvPr>
        </p:nvSpPr>
        <p:spPr>
          <a:xfrm>
            <a:off x="982133" y="4017024"/>
            <a:ext cx="10475344" cy="630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it-IT" sz="2400">
                <a:solidFill>
                  <a:schemeClr val="dk1"/>
                </a:solidFill>
              </a:rPr>
              <a:t>Training school</a:t>
            </a:r>
            <a:r>
              <a:rPr lang="it-IT"/>
              <a:t>:</a:t>
            </a:r>
            <a:endParaRPr/>
          </a:p>
          <a:p>
            <a:pPr marL="3136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t-IT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Advanced Statistical Modelling for Fintech, financial inclusion and inequality, Naples, 13-15 September, 2023. </a:t>
            </a:r>
            <a:endParaRPr/>
          </a:p>
          <a:p>
            <a:pPr marL="3136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t-IT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https://fin-ai.eu/affine/</a:t>
            </a:r>
            <a:endParaRPr/>
          </a:p>
          <a:p>
            <a:pPr marL="3136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"/>
          <p:cNvSpPr/>
          <p:nvPr/>
        </p:nvSpPr>
        <p:spPr>
          <a:xfrm>
            <a:off x="845837" y="1673779"/>
            <a:ext cx="11023979" cy="2471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it-IT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Conference:</a:t>
            </a:r>
            <a:endParaRPr/>
          </a:p>
          <a:p>
            <a:pPr marL="31360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Diversity Challenges for a Sustainable Fintech</a:t>
            </a:r>
            <a:endParaRPr/>
          </a:p>
          <a:p>
            <a:pPr marL="31360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2nd workshop on Environmental finance for the common good - Fintech and AI for more sustainable societies, Pavia, 13-14 April, 2023.      https://efcg2023.sciencesconf.org/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1360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"/>
          <p:cNvSpPr/>
          <p:nvPr/>
        </p:nvSpPr>
        <p:spPr>
          <a:xfrm>
            <a:off x="3926573" y="963445"/>
            <a:ext cx="413927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Main activities of  GP3</a:t>
            </a:r>
            <a:endParaRPr sz="28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"/>
          <p:cNvSpPr txBox="1"/>
          <p:nvPr/>
        </p:nvSpPr>
        <p:spPr>
          <a:xfrm>
            <a:off x="2098307" y="6119336"/>
            <a:ext cx="9222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77132" y="252013"/>
            <a:ext cx="6676845" cy="6394999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"/>
          <p:cNvSpPr txBox="1">
            <a:spLocks noGrp="1"/>
          </p:cNvSpPr>
          <p:nvPr>
            <p:ph type="body" idx="1"/>
          </p:nvPr>
        </p:nvSpPr>
        <p:spPr>
          <a:xfrm>
            <a:off x="1145008" y="2695292"/>
            <a:ext cx="4439159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t-IT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AFFINE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"/>
          <p:cNvSpPr txBox="1">
            <a:spLocks noGrp="1"/>
          </p:cNvSpPr>
          <p:nvPr>
            <p:ph type="title"/>
          </p:nvPr>
        </p:nvSpPr>
        <p:spPr>
          <a:xfrm>
            <a:off x="2404464" y="989332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t-IT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Best WI-FI 2023 Young Researcher Paper</a:t>
            </a:r>
            <a:endParaRPr/>
          </a:p>
        </p:txBody>
      </p:sp>
      <p:pic>
        <p:nvPicPr>
          <p:cNvPr id="369" name="Google Shape;36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9" cy="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06056" y="3398079"/>
            <a:ext cx="3824377" cy="30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"/>
          <p:cNvSpPr txBox="1">
            <a:spLocks noGrp="1"/>
          </p:cNvSpPr>
          <p:nvPr>
            <p:ph type="body" idx="1"/>
          </p:nvPr>
        </p:nvSpPr>
        <p:spPr>
          <a:xfrm>
            <a:off x="874713" y="2102946"/>
            <a:ext cx="10225087" cy="4223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it-IT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Rosa Fabbricatore and Lucio Palazzo won the context with a project on multilevel IRT applied to Financial Literacy in Italy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"/>
          <p:cNvSpPr txBox="1">
            <a:spLocks noGrp="1"/>
          </p:cNvSpPr>
          <p:nvPr>
            <p:ph type="body" idx="1"/>
          </p:nvPr>
        </p:nvSpPr>
        <p:spPr>
          <a:xfrm>
            <a:off x="276046" y="1460740"/>
            <a:ext cx="12157500" cy="9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endParaRPr lang="it-IT" sz="1200" dirty="0" smtClean="0">
              <a:solidFill>
                <a:schemeClr val="dk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200" dirty="0" smtClean="0">
                <a:solidFill>
                  <a:schemeClr val="dk1"/>
                </a:solidFill>
              </a:rPr>
              <a:t>(2023) </a:t>
            </a:r>
            <a:r>
              <a:rPr lang="en-GB" sz="1200" dirty="0" err="1" smtClean="0">
                <a:solidFill>
                  <a:schemeClr val="dk1"/>
                </a:solidFill>
              </a:rPr>
              <a:t>Anderloni</a:t>
            </a:r>
            <a:r>
              <a:rPr lang="en-GB" sz="1200" dirty="0">
                <a:solidFill>
                  <a:schemeClr val="dk1"/>
                </a:solidFill>
              </a:rPr>
              <a:t>,,L. </a:t>
            </a:r>
            <a:r>
              <a:rPr lang="en-GB" sz="1200" dirty="0" err="1">
                <a:solidFill>
                  <a:schemeClr val="dk1"/>
                </a:solidFill>
              </a:rPr>
              <a:t>Petukhina</a:t>
            </a:r>
            <a:r>
              <a:rPr lang="en-GB" sz="1200" dirty="0">
                <a:solidFill>
                  <a:schemeClr val="dk1"/>
                </a:solidFill>
              </a:rPr>
              <a:t>, A., </a:t>
            </a:r>
            <a:r>
              <a:rPr lang="en-GB" sz="1200" dirty="0" err="1">
                <a:solidFill>
                  <a:schemeClr val="dk1"/>
                </a:solidFill>
              </a:rPr>
              <a:t>Tanda</a:t>
            </a:r>
            <a:r>
              <a:rPr lang="en-GB" sz="1200" dirty="0">
                <a:solidFill>
                  <a:schemeClr val="dk1"/>
                </a:solidFill>
              </a:rPr>
              <a:t>, A</a:t>
            </a:r>
            <a:r>
              <a:rPr lang="en-GB" dirty="0"/>
              <a:t>. </a:t>
            </a:r>
            <a:r>
              <a:rPr lang="en-GB" sz="1200" dirty="0">
                <a:solidFill>
                  <a:schemeClr val="dk1"/>
                </a:solidFill>
              </a:rPr>
              <a:t>P2P lending </a:t>
            </a:r>
            <a:r>
              <a:rPr lang="en-GB" sz="1200" dirty="0" smtClean="0">
                <a:solidFill>
                  <a:schemeClr val="dk1"/>
                </a:solidFill>
              </a:rPr>
              <a:t>platforms. Manuscript</a:t>
            </a:r>
            <a:endParaRPr lang="en-GB" sz="1200" dirty="0">
              <a:solidFill>
                <a:schemeClr val="dk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IT" sz="1200" dirty="0">
                <a:solidFill>
                  <a:schemeClr val="dk1"/>
                </a:solidFill>
              </a:rPr>
              <a:t>(2023) </a:t>
            </a:r>
            <a:r>
              <a:rPr lang="it-IT" sz="1200" dirty="0" err="1">
                <a:solidFill>
                  <a:schemeClr val="dk1"/>
                </a:solidFill>
              </a:rPr>
              <a:t>Będowska-Sójka</a:t>
            </a:r>
            <a:r>
              <a:rPr lang="it-IT" sz="1200" dirty="0">
                <a:solidFill>
                  <a:schemeClr val="dk1"/>
                </a:solidFill>
              </a:rPr>
              <a:t>, B,  Tarantola, C., Mare, C, </a:t>
            </a:r>
            <a:r>
              <a:rPr lang="it-IT" sz="1200" dirty="0" err="1">
                <a:solidFill>
                  <a:schemeClr val="dk1"/>
                </a:solidFill>
              </a:rPr>
              <a:t>Paccagnini</a:t>
            </a:r>
            <a:r>
              <a:rPr lang="it-IT" sz="1200" dirty="0">
                <a:solidFill>
                  <a:schemeClr val="dk1"/>
                </a:solidFill>
              </a:rPr>
              <a:t>, A., </a:t>
            </a:r>
            <a:r>
              <a:rPr lang="it-IT" sz="1200" dirty="0" err="1">
                <a:solidFill>
                  <a:schemeClr val="dk1"/>
                </a:solidFill>
              </a:rPr>
              <a:t>Ozturkkal</a:t>
            </a:r>
            <a:r>
              <a:rPr lang="it-IT" sz="1200" dirty="0">
                <a:solidFill>
                  <a:schemeClr val="dk1"/>
                </a:solidFill>
              </a:rPr>
              <a:t>, B., </a:t>
            </a:r>
            <a:r>
              <a:rPr lang="it-IT" sz="1200" dirty="0" err="1">
                <a:solidFill>
                  <a:schemeClr val="dk1"/>
                </a:solidFill>
              </a:rPr>
              <a:t>Pisoni</a:t>
            </a:r>
            <a:r>
              <a:rPr lang="it-IT" sz="1200" dirty="0">
                <a:solidFill>
                  <a:schemeClr val="dk1"/>
                </a:solidFill>
              </a:rPr>
              <a:t>, G., </a:t>
            </a:r>
            <a:r>
              <a:rPr lang="it-IT" sz="1200" dirty="0" err="1">
                <a:solidFill>
                  <a:schemeClr val="dk1"/>
                </a:solidFill>
              </a:rPr>
              <a:t>Perri</a:t>
            </a:r>
            <a:r>
              <a:rPr lang="it-IT" sz="1200" dirty="0">
                <a:solidFill>
                  <a:schemeClr val="dk1"/>
                </a:solidFill>
              </a:rPr>
              <a:t>, R. Shala, A., and </a:t>
            </a:r>
            <a:r>
              <a:rPr lang="it-IT" sz="1200" dirty="0" err="1">
                <a:solidFill>
                  <a:schemeClr val="dk1"/>
                </a:solidFill>
              </a:rPr>
              <a:t>Skaftadótti</a:t>
            </a:r>
            <a:r>
              <a:rPr lang="it-IT" sz="1200" dirty="0">
                <a:solidFill>
                  <a:schemeClr val="dk1"/>
                </a:solidFill>
              </a:rPr>
              <a:t>, H.K. </a:t>
            </a:r>
            <a:r>
              <a:rPr lang="it-IT" sz="1200" dirty="0" err="1">
                <a:solidFill>
                  <a:schemeClr val="dk1"/>
                </a:solidFill>
              </a:rPr>
              <a:t>Editorial</a:t>
            </a:r>
            <a:r>
              <a:rPr lang="it-IT" sz="1200" dirty="0">
                <a:solidFill>
                  <a:schemeClr val="dk1"/>
                </a:solidFill>
              </a:rPr>
              <a:t> </a:t>
            </a:r>
            <a:r>
              <a:rPr lang="it-IT" sz="1200" dirty="0" err="1">
                <a:solidFill>
                  <a:schemeClr val="dk1"/>
                </a:solidFill>
              </a:rPr>
              <a:t>boards</a:t>
            </a:r>
            <a:r>
              <a:rPr lang="it-IT" sz="1200" dirty="0">
                <a:solidFill>
                  <a:schemeClr val="dk1"/>
                </a:solidFill>
              </a:rPr>
              <a:t> of </a:t>
            </a:r>
            <a:r>
              <a:rPr lang="it-IT" sz="1200" dirty="0" err="1">
                <a:solidFill>
                  <a:schemeClr val="dk1"/>
                </a:solidFill>
              </a:rPr>
              <a:t>finance</a:t>
            </a:r>
            <a:r>
              <a:rPr lang="it-IT" sz="1200" dirty="0">
                <a:solidFill>
                  <a:schemeClr val="dk1"/>
                </a:solidFill>
              </a:rPr>
              <a:t> </a:t>
            </a:r>
            <a:r>
              <a:rPr lang="it-IT" sz="1200" dirty="0" err="1">
                <a:solidFill>
                  <a:schemeClr val="dk1"/>
                </a:solidFill>
              </a:rPr>
              <a:t>journals</a:t>
            </a:r>
            <a:r>
              <a:rPr lang="it-IT" sz="1200" dirty="0">
                <a:solidFill>
                  <a:schemeClr val="dk1"/>
                </a:solidFill>
              </a:rPr>
              <a:t>: the gender gap and social networks. </a:t>
            </a:r>
            <a:r>
              <a:rPr lang="it-IT" sz="1200" dirty="0" err="1">
                <a:solidFill>
                  <a:schemeClr val="dk1"/>
                </a:solidFill>
              </a:rPr>
              <a:t>Manuscript</a:t>
            </a:r>
            <a:r>
              <a:rPr lang="it-IT" sz="1200" dirty="0">
                <a:solidFill>
                  <a:schemeClr val="dk1"/>
                </a:solidFill>
              </a:rPr>
              <a:t> (under </a:t>
            </a:r>
            <a:r>
              <a:rPr lang="it-IT" sz="1200" dirty="0" err="1">
                <a:solidFill>
                  <a:schemeClr val="dk1"/>
                </a:solidFill>
              </a:rPr>
              <a:t>review</a:t>
            </a:r>
            <a:r>
              <a:rPr lang="it-IT" sz="1200" dirty="0" smtClean="0">
                <a:solidFill>
                  <a:schemeClr val="dk1"/>
                </a:solidFill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200" dirty="0">
                <a:solidFill>
                  <a:schemeClr val="dk1"/>
                </a:solidFill>
              </a:rPr>
              <a:t>(2023) </a:t>
            </a:r>
            <a:r>
              <a:rPr lang="en-GB" sz="1200" dirty="0" err="1">
                <a:solidFill>
                  <a:schemeClr val="dk1"/>
                </a:solidFill>
              </a:rPr>
              <a:t>Bussman</a:t>
            </a:r>
            <a:r>
              <a:rPr lang="en-GB" sz="1200" dirty="0">
                <a:solidFill>
                  <a:schemeClr val="dk1"/>
                </a:solidFill>
              </a:rPr>
              <a:t>, N.,  </a:t>
            </a:r>
            <a:r>
              <a:rPr lang="en-GB" sz="1200" dirty="0" err="1">
                <a:solidFill>
                  <a:schemeClr val="dk1"/>
                </a:solidFill>
              </a:rPr>
              <a:t>Giudici</a:t>
            </a:r>
            <a:r>
              <a:rPr lang="en-GB" sz="1200" dirty="0">
                <a:solidFill>
                  <a:schemeClr val="dk1"/>
                </a:solidFill>
              </a:rPr>
              <a:t>, P., </a:t>
            </a:r>
            <a:r>
              <a:rPr lang="en-GB" sz="1200" dirty="0" err="1">
                <a:solidFill>
                  <a:schemeClr val="dk1"/>
                </a:solidFill>
              </a:rPr>
              <a:t>Tanda</a:t>
            </a:r>
            <a:r>
              <a:rPr lang="en-GB" sz="1200" dirty="0">
                <a:solidFill>
                  <a:schemeClr val="dk1"/>
                </a:solidFill>
              </a:rPr>
              <a:t>, A ,  Yu, E.P</a:t>
            </a:r>
            <a:r>
              <a:rPr lang="it-IT" sz="1200" dirty="0">
                <a:solidFill>
                  <a:schemeClr val="dk1"/>
                </a:solidFill>
              </a:rPr>
              <a:t> . </a:t>
            </a:r>
            <a:r>
              <a:rPr lang="en-US" sz="1200" dirty="0">
                <a:solidFill>
                  <a:schemeClr val="dk1"/>
                </a:solidFill>
              </a:rPr>
              <a:t>Explainable machine learning models to identify the key drivers of the implied cost of capital</a:t>
            </a:r>
            <a:r>
              <a:rPr lang="en-US" sz="1200" dirty="0"/>
              <a:t>. </a:t>
            </a:r>
            <a:r>
              <a:rPr lang="it-IT" sz="1200" dirty="0" err="1">
                <a:solidFill>
                  <a:schemeClr val="dk1"/>
                </a:solidFill>
              </a:rPr>
              <a:t>Manuscript</a:t>
            </a:r>
            <a:r>
              <a:rPr lang="it-IT" sz="1200" dirty="0">
                <a:solidFill>
                  <a:schemeClr val="dk1"/>
                </a:solidFill>
              </a:rPr>
              <a:t> (under </a:t>
            </a:r>
            <a:r>
              <a:rPr lang="it-IT" sz="1200" dirty="0" err="1">
                <a:solidFill>
                  <a:schemeClr val="dk1"/>
                </a:solidFill>
              </a:rPr>
              <a:t>review</a:t>
            </a:r>
            <a:r>
              <a:rPr lang="it-IT" sz="1200" dirty="0">
                <a:solidFill>
                  <a:schemeClr val="dk1"/>
                </a:solidFill>
              </a:rPr>
              <a:t>). </a:t>
            </a: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it-IT" sz="12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2023) Coita IF,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Iannario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M,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Iodice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D’Enza A,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Codruta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M. , Romano R.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Uncertainty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Latent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Trait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dimensionality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reduction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methods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data: an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taxpayer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perception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the Fiscal System.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Manuscript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(under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 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(2023) Colombi R., Giordano S.,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Kateri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M., (2023)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Hidden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Markov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longitudinal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rating data with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styles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Statistical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Methods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Applications DOI : </a:t>
            </a:r>
            <a:r>
              <a:rPr lang="it-IT" sz="12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10.1007/s10260-023-00717-x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IT" sz="1200" dirty="0">
                <a:solidFill>
                  <a:schemeClr val="dk1"/>
                </a:solidFill>
              </a:rPr>
              <a:t>(2023) Dalla Valle, L, Tarantola, C. Merli, L. White-Box </a:t>
            </a:r>
            <a:r>
              <a:rPr lang="it-IT" sz="1200" dirty="0" err="1">
                <a:solidFill>
                  <a:schemeClr val="dk1"/>
                </a:solidFill>
              </a:rPr>
              <a:t>Sentiment</a:t>
            </a:r>
            <a:r>
              <a:rPr lang="it-IT" sz="1200" dirty="0">
                <a:solidFill>
                  <a:schemeClr val="dk1"/>
                </a:solidFill>
              </a:rPr>
              <a:t> Analysis-</a:t>
            </a:r>
            <a:r>
              <a:rPr lang="it-IT" sz="1200" dirty="0" err="1">
                <a:solidFill>
                  <a:schemeClr val="dk1"/>
                </a:solidFill>
              </a:rPr>
              <a:t>Based</a:t>
            </a:r>
            <a:r>
              <a:rPr lang="it-IT" sz="1200" dirty="0">
                <a:solidFill>
                  <a:schemeClr val="dk1"/>
                </a:solidFill>
              </a:rPr>
              <a:t> </a:t>
            </a:r>
            <a:r>
              <a:rPr lang="it-IT" sz="1200" dirty="0" err="1">
                <a:solidFill>
                  <a:schemeClr val="dk1"/>
                </a:solidFill>
              </a:rPr>
              <a:t>Approaches</a:t>
            </a:r>
            <a:r>
              <a:rPr lang="it-IT" sz="1200" dirty="0">
                <a:solidFill>
                  <a:schemeClr val="dk1"/>
                </a:solidFill>
              </a:rPr>
              <a:t> to </a:t>
            </a:r>
            <a:r>
              <a:rPr lang="it-IT" sz="1200" dirty="0" err="1">
                <a:solidFill>
                  <a:schemeClr val="dk1"/>
                </a:solidFill>
              </a:rPr>
              <a:t>Predict</a:t>
            </a:r>
            <a:r>
              <a:rPr lang="it-IT" sz="1200" dirty="0">
                <a:solidFill>
                  <a:schemeClr val="dk1"/>
                </a:solidFill>
              </a:rPr>
              <a:t> </a:t>
            </a:r>
            <a:r>
              <a:rPr lang="it-IT" sz="1200" dirty="0" err="1">
                <a:solidFill>
                  <a:schemeClr val="dk1"/>
                </a:solidFill>
              </a:rPr>
              <a:t>Cryptocurrencies</a:t>
            </a:r>
            <a:r>
              <a:rPr lang="it-IT" sz="1200" dirty="0">
                <a:solidFill>
                  <a:schemeClr val="dk1"/>
                </a:solidFill>
              </a:rPr>
              <a:t>. </a:t>
            </a:r>
            <a:r>
              <a:rPr lang="it-IT" sz="1200" dirty="0" err="1">
                <a:solidFill>
                  <a:schemeClr val="dk1"/>
                </a:solidFill>
              </a:rPr>
              <a:t>Manuscript</a:t>
            </a:r>
            <a:r>
              <a:rPr lang="it-IT" sz="1200" dirty="0">
                <a:solidFill>
                  <a:schemeClr val="dk1"/>
                </a:solidFill>
              </a:rPr>
              <a:t>.</a:t>
            </a:r>
            <a:endParaRPr lang="it-IT" sz="1200" dirty="0"/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it-IT" sz="12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2023) Facchinetti, S.,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Osmetti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S.A. e Tarantola, C. A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statistical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approach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assessing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cyber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risk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via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ordered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Risk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Analysis, DOI: 10.1111/risa.14186, ISSN:1539-6924.</a:t>
            </a:r>
            <a:endParaRPr dirty="0"/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(2023) Facchinetti, S.,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Osmetti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S.A. e Tarantola, C. Networks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cyber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attacks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Socio-Economic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Planning Science Volume 87, Part B, 2023, 101584, ISSN 0038-0121, https://doi.org/10.1016/j.seps.2023.101584. </a:t>
            </a:r>
            <a:endParaRPr dirty="0"/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(2003)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Iannario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M.,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Tanda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A. and Tarantola C. A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latent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approach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Millennials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knowledge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green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finance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 book of short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paper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SIS2023,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Pearson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(2023) Del Vitto, A., Marazzina, D., ,Stocco D. ESG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ratings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explainability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through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machine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learning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techniques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Annals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Operations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DOI:10.1007/s10479-023-05514-z</a:t>
            </a:r>
            <a:endParaRPr dirty="0"/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(2023) Fabbricatore, R.,  Palazzo, L.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Multilevel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IRT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explore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heterogeneity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subjective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financial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knowledge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individual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regional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levels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the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Italian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case.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Frontiers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Applied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Mathematics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Statistics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(2023) Fabbricatore, R.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Iannario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R.  Palazzo, L. , Palumbo, F. .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Modeling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gaps in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FinTech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knowledge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Book of Short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Paper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ASA</a:t>
            </a:r>
            <a:r>
              <a:rPr lang="it-IT" sz="12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200" dirty="0" smtClean="0">
                <a:solidFill>
                  <a:schemeClr val="dk1"/>
                </a:solidFill>
              </a:rPr>
              <a:t>(20223) </a:t>
            </a:r>
            <a:r>
              <a:rPr lang="en-GB" sz="1200" dirty="0" err="1" smtClean="0">
                <a:solidFill>
                  <a:schemeClr val="dk1"/>
                </a:solidFill>
              </a:rPr>
              <a:t>Ozturkkal</a:t>
            </a:r>
            <a:r>
              <a:rPr lang="en-GB" sz="1200" dirty="0">
                <a:solidFill>
                  <a:schemeClr val="dk1"/>
                </a:solidFill>
              </a:rPr>
              <a:t>; B, </a:t>
            </a:r>
            <a:r>
              <a:rPr lang="en-GB" sz="1200" dirty="0" err="1">
                <a:solidFill>
                  <a:schemeClr val="dk1"/>
                </a:solidFill>
              </a:rPr>
              <a:t>Zdravevski</a:t>
            </a:r>
            <a:r>
              <a:rPr lang="en-GB" sz="1200" dirty="0">
                <a:solidFill>
                  <a:schemeClr val="dk1"/>
                </a:solidFill>
              </a:rPr>
              <a:t>; E., </a:t>
            </a:r>
            <a:r>
              <a:rPr lang="en-GB" sz="1200" dirty="0" err="1">
                <a:solidFill>
                  <a:schemeClr val="dk1"/>
                </a:solidFill>
              </a:rPr>
              <a:t>Tanda;A</a:t>
            </a:r>
            <a:r>
              <a:rPr lang="en-GB" sz="1200" dirty="0">
                <a:solidFill>
                  <a:schemeClr val="dk1"/>
                </a:solidFill>
              </a:rPr>
              <a:t>., Mare, C.; </a:t>
            </a:r>
            <a:r>
              <a:rPr lang="en-GB" sz="1200" dirty="0" err="1">
                <a:solidFill>
                  <a:schemeClr val="dk1"/>
                </a:solidFill>
              </a:rPr>
              <a:t>Ranik</a:t>
            </a:r>
            <a:r>
              <a:rPr lang="en-GB" sz="1200" dirty="0">
                <a:solidFill>
                  <a:schemeClr val="dk1"/>
                </a:solidFill>
              </a:rPr>
              <a:t> </a:t>
            </a:r>
            <a:r>
              <a:rPr lang="en-GB" sz="1200" dirty="0" err="1">
                <a:solidFill>
                  <a:schemeClr val="dk1"/>
                </a:solidFill>
              </a:rPr>
              <a:t>Raaen</a:t>
            </a:r>
            <a:r>
              <a:rPr lang="en-GB" sz="1200" dirty="0">
                <a:solidFill>
                  <a:schemeClr val="dk1"/>
                </a:solidFill>
              </a:rPr>
              <a:t> </a:t>
            </a:r>
            <a:r>
              <a:rPr lang="en-GB" sz="1200" dirty="0" err="1">
                <a:solidFill>
                  <a:schemeClr val="dk1"/>
                </a:solidFill>
              </a:rPr>
              <a:t>Wahlstrøm</a:t>
            </a:r>
            <a:r>
              <a:rPr lang="en-GB" sz="1200" dirty="0">
                <a:solidFill>
                  <a:schemeClr val="dk1"/>
                </a:solidFill>
              </a:rPr>
              <a:t>; Vladimir </a:t>
            </a:r>
            <a:r>
              <a:rPr lang="en-GB" sz="1200" dirty="0" err="1">
                <a:solidFill>
                  <a:schemeClr val="dk1"/>
                </a:solidFill>
              </a:rPr>
              <a:t>Trajkovik</a:t>
            </a:r>
            <a:r>
              <a:rPr lang="en-GB" sz="1200" dirty="0">
                <a:solidFill>
                  <a:schemeClr val="dk1"/>
                </a:solidFill>
              </a:rPr>
              <a:t>; </a:t>
            </a:r>
            <a:r>
              <a:rPr lang="en-GB" sz="1200" dirty="0" err="1">
                <a:solidFill>
                  <a:schemeClr val="dk1"/>
                </a:solidFill>
              </a:rPr>
              <a:t>Petre</a:t>
            </a:r>
            <a:r>
              <a:rPr lang="en-GB" sz="1200" dirty="0">
                <a:solidFill>
                  <a:schemeClr val="dk1"/>
                </a:solidFill>
              </a:rPr>
              <a:t> </a:t>
            </a:r>
            <a:r>
              <a:rPr lang="en-GB" sz="1200" dirty="0" err="1">
                <a:solidFill>
                  <a:schemeClr val="dk1"/>
                </a:solidFill>
              </a:rPr>
              <a:t>Lameski</a:t>
            </a:r>
            <a:r>
              <a:rPr lang="en-GB" sz="1200" dirty="0">
                <a:solidFill>
                  <a:schemeClr val="dk1"/>
                </a:solidFill>
              </a:rPr>
              <a:t> VC bibliometric </a:t>
            </a:r>
            <a:r>
              <a:rPr lang="en-GB" sz="1200" dirty="0" smtClean="0">
                <a:solidFill>
                  <a:schemeClr val="dk1"/>
                </a:solidFill>
              </a:rPr>
              <a:t>review.</a:t>
            </a:r>
            <a:r>
              <a:rPr lang="it-IT" sz="1200" dirty="0">
                <a:solidFill>
                  <a:schemeClr val="dk1"/>
                </a:solidFill>
              </a:rPr>
              <a:t> </a:t>
            </a:r>
            <a:r>
              <a:rPr lang="it-IT" sz="1200" dirty="0" err="1">
                <a:solidFill>
                  <a:schemeClr val="dk1"/>
                </a:solidFill>
              </a:rPr>
              <a:t>Manuscript</a:t>
            </a:r>
            <a:r>
              <a:rPr lang="it-IT" sz="1200" dirty="0">
                <a:solidFill>
                  <a:schemeClr val="dk1"/>
                </a:solidFill>
              </a:rPr>
              <a:t> (under </a:t>
            </a:r>
            <a:r>
              <a:rPr lang="it-IT" sz="1200" dirty="0" err="1">
                <a:solidFill>
                  <a:schemeClr val="dk1"/>
                </a:solidFill>
              </a:rPr>
              <a:t>review</a:t>
            </a:r>
            <a:r>
              <a:rPr lang="it-IT" sz="1200" dirty="0" smtClean="0">
                <a:solidFill>
                  <a:schemeClr val="dk1"/>
                </a:solidFill>
              </a:rPr>
              <a:t>).</a:t>
            </a:r>
            <a:endParaRPr dirty="0"/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(2023) Palazzo, L.,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Iannario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M., Palumbo, F. .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Integrated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assessment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financial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knowledge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through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latent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profile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Manuscript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(under </a:t>
            </a:r>
            <a:r>
              <a:rPr lang="it-IT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r>
              <a:rPr lang="it-IT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dirty="0"/>
          </a:p>
          <a:p>
            <a:pPr marL="228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endParaRPr dirty="0"/>
          </a:p>
        </p:txBody>
      </p:sp>
      <p:sp>
        <p:nvSpPr>
          <p:cNvPr id="377" name="Google Shape;377;p6"/>
          <p:cNvSpPr txBox="1">
            <a:spLocks noGrp="1"/>
          </p:cNvSpPr>
          <p:nvPr>
            <p:ph type="title"/>
          </p:nvPr>
        </p:nvSpPr>
        <p:spPr>
          <a:xfrm>
            <a:off x="3186592" y="554771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t-IT">
                <a:solidFill>
                  <a:srgbClr val="C00000"/>
                </a:solidFill>
              </a:rPr>
              <a:t>Recent works</a:t>
            </a:r>
            <a:endParaRPr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8"/>
          <p:cNvSpPr txBox="1">
            <a:spLocks noGrp="1"/>
          </p:cNvSpPr>
          <p:nvPr>
            <p:ph type="body" idx="1"/>
          </p:nvPr>
        </p:nvSpPr>
        <p:spPr>
          <a:xfrm>
            <a:off x="874713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t-IT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 October, DISP (Naples)</a:t>
            </a:r>
            <a:endParaRPr/>
          </a:p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t-IT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Hybrid event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080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t-IT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Keynote speakers</a:t>
            </a:r>
            <a:endParaRPr/>
          </a:p>
          <a:p>
            <a: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it-IT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Nial Friel,  University College Dublin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</a:pPr>
            <a:r>
              <a:rPr lang="it-IT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Rita Cappariello, Bank of Italy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400" u="sng">
              <a:solidFill>
                <a:srgbClr val="1155CC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</a:ext>
                </a:extLst>
              </a:hlinkClick>
            </a:endParaRPr>
          </a:p>
        </p:txBody>
      </p:sp>
      <p:sp>
        <p:nvSpPr>
          <p:cNvPr id="389" name="Google Shape;389;p8"/>
          <p:cNvSpPr txBox="1">
            <a:spLocks noGrp="1"/>
          </p:cNvSpPr>
          <p:nvPr>
            <p:ph type="title"/>
          </p:nvPr>
        </p:nvSpPr>
        <p:spPr>
          <a:xfrm>
            <a:off x="569343" y="1515179"/>
            <a:ext cx="10708257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it-IT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Advanced Statistical Modelling for data science in Digital Age</a:t>
            </a:r>
            <a:endParaRPr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8"/>
          <p:cNvSpPr/>
          <p:nvPr/>
        </p:nvSpPr>
        <p:spPr>
          <a:xfrm>
            <a:off x="0" y="-323165"/>
            <a:ext cx="184731" cy="6463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it-IT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it-IT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9"/>
          <p:cNvSpPr txBox="1">
            <a:spLocks noGrp="1"/>
          </p:cNvSpPr>
          <p:nvPr>
            <p:ph type="body" idx="1"/>
          </p:nvPr>
        </p:nvSpPr>
        <p:spPr>
          <a:xfrm>
            <a:off x="845838" y="1506179"/>
            <a:ext cx="10475344" cy="630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None/>
            </a:pPr>
            <a:endParaRPr sz="2400">
              <a:solidFill>
                <a:schemeClr val="dk1"/>
              </a:solidFill>
            </a:endParaRPr>
          </a:p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t-IT" b="1">
                <a:solidFill>
                  <a:srgbClr val="C00000"/>
                </a:solidFill>
              </a:rPr>
              <a:t>	</a:t>
            </a:r>
            <a:endParaRPr/>
          </a:p>
        </p:txBody>
      </p:sp>
      <p:sp>
        <p:nvSpPr>
          <p:cNvPr id="396" name="Google Shape;396;p9"/>
          <p:cNvSpPr/>
          <p:nvPr/>
        </p:nvSpPr>
        <p:spPr>
          <a:xfrm>
            <a:off x="1794294" y="1169954"/>
            <a:ext cx="1276149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International Fintech Research Conference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FINANCE, TECHNOLOGY, METHODOLOGIES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PARTHENOPE UNIVERSITY OF NAPLES | 2-3 NOVEMBER 2023</a:t>
            </a:r>
            <a:endParaRPr sz="16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9"/>
          <p:cNvSpPr txBox="1"/>
          <p:nvPr/>
        </p:nvSpPr>
        <p:spPr>
          <a:xfrm>
            <a:off x="2098307" y="6119336"/>
            <a:ext cx="9222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9"/>
          <p:cNvSpPr txBox="1"/>
          <p:nvPr/>
        </p:nvSpPr>
        <p:spPr>
          <a:xfrm>
            <a:off x="462921" y="2712571"/>
            <a:ext cx="11665819" cy="307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Conference aims to put together researchers working in all areas of Fintech (banking, asset management, insurance, payments, capital markets, internet of things) providing a multidisciplinary venue.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Keynote speakers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Juri Marcucci, Banca d’Italia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Stefan Thurner, University of Vienna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https://www.disaq.uniparthenope.it/fintechlab/international-fintech-research-conference/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0"/>
          <p:cNvSpPr txBox="1">
            <a:spLocks noGrp="1"/>
          </p:cNvSpPr>
          <p:nvPr>
            <p:ph type="body" idx="1"/>
          </p:nvPr>
        </p:nvSpPr>
        <p:spPr>
          <a:xfrm>
            <a:off x="943724" y="2942584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t-IT" sz="2000">
                <a:solidFill>
                  <a:schemeClr val="dk1"/>
                </a:solidFill>
              </a:rPr>
              <a:t>This online master's program in Artificial Intelligence &amp; Data Science provides a specialized dual curriculum. The first track hones expertise in advanced Artificial Intelligence techniques, while the second track focuses on crafting skilled Data Scientists. Both pathways emphasize a strong foundation in computer science, statistics, and machine learning.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0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t-IT" sz="2000">
                <a:solidFill>
                  <a:schemeClr val="dk1"/>
                </a:solidFill>
              </a:rPr>
              <a:t>https://desf.unical.it/didattica/formazione-post-laurea/master-artificial-intelligence-and-data-science/</a:t>
            </a:r>
            <a:endParaRPr/>
          </a:p>
        </p:txBody>
      </p:sp>
      <p:sp>
        <p:nvSpPr>
          <p:cNvPr id="404" name="Google Shape;404;p10"/>
          <p:cNvSpPr txBox="1">
            <a:spLocks noGrp="1"/>
          </p:cNvSpPr>
          <p:nvPr>
            <p:ph type="title"/>
          </p:nvPr>
        </p:nvSpPr>
        <p:spPr>
          <a:xfrm>
            <a:off x="874713" y="1469172"/>
            <a:ext cx="10063581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it-IT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Master in Artificial Intelligence &amp; Data Science, Unical</a:t>
            </a:r>
            <a:endParaRPr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haw_Folien_deutsch">
  <a:themeElements>
    <a:clrScheme name="ZHAW">
      <a:dk1>
        <a:srgbClr val="000000"/>
      </a:dk1>
      <a:lt1>
        <a:srgbClr val="FFFFFF"/>
      </a:lt1>
      <a:dk2>
        <a:srgbClr val="9A9A9C"/>
      </a:dk2>
      <a:lt2>
        <a:srgbClr val="0064A6"/>
      </a:lt2>
      <a:accent1>
        <a:srgbClr val="80B2D3"/>
      </a:accent1>
      <a:accent2>
        <a:srgbClr val="D54E12"/>
      </a:accent2>
      <a:accent3>
        <a:srgbClr val="83B819"/>
      </a:accent3>
      <a:accent4>
        <a:srgbClr val="F0B600"/>
      </a:accent4>
      <a:accent5>
        <a:srgbClr val="6A205F"/>
      </a:accent5>
      <a:accent6>
        <a:srgbClr val="EDDBAB"/>
      </a:accent6>
      <a:hlink>
        <a:srgbClr val="583119"/>
      </a:hlink>
      <a:folHlink>
        <a:srgbClr val="9A9A9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zhaw_Folien_deutsch">
  <a:themeElements>
    <a:clrScheme name="ZHAW">
      <a:dk1>
        <a:srgbClr val="000000"/>
      </a:dk1>
      <a:lt1>
        <a:srgbClr val="FFFFFF"/>
      </a:lt1>
      <a:dk2>
        <a:srgbClr val="9A9A9C"/>
      </a:dk2>
      <a:lt2>
        <a:srgbClr val="0064A6"/>
      </a:lt2>
      <a:accent1>
        <a:srgbClr val="80B2D3"/>
      </a:accent1>
      <a:accent2>
        <a:srgbClr val="D54E12"/>
      </a:accent2>
      <a:accent3>
        <a:srgbClr val="83B819"/>
      </a:accent3>
      <a:accent4>
        <a:srgbClr val="F0B600"/>
      </a:accent4>
      <a:accent5>
        <a:srgbClr val="6A205F"/>
      </a:accent5>
      <a:accent6>
        <a:srgbClr val="EDDBAB"/>
      </a:accent6>
      <a:hlink>
        <a:srgbClr val="583119"/>
      </a:hlink>
      <a:folHlink>
        <a:srgbClr val="9A9A9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zhaw_Folien_deutsch">
  <a:themeElements>
    <a:clrScheme name="ZHAW">
      <a:dk1>
        <a:srgbClr val="000000"/>
      </a:dk1>
      <a:lt1>
        <a:srgbClr val="FFFFFF"/>
      </a:lt1>
      <a:dk2>
        <a:srgbClr val="9A9A9C"/>
      </a:dk2>
      <a:lt2>
        <a:srgbClr val="0064A6"/>
      </a:lt2>
      <a:accent1>
        <a:srgbClr val="80B2D3"/>
      </a:accent1>
      <a:accent2>
        <a:srgbClr val="D54E12"/>
      </a:accent2>
      <a:accent3>
        <a:srgbClr val="83B819"/>
      </a:accent3>
      <a:accent4>
        <a:srgbClr val="F0B600"/>
      </a:accent4>
      <a:accent5>
        <a:srgbClr val="6A205F"/>
      </a:accent5>
      <a:accent6>
        <a:srgbClr val="EDDBAB"/>
      </a:accent6>
      <a:hlink>
        <a:srgbClr val="583119"/>
      </a:hlink>
      <a:folHlink>
        <a:srgbClr val="9A9A9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OST_ppt-16_9-color_1">
  <a:themeElements>
    <a:clrScheme name="COST THEME FUSHIA">
      <a:dk1>
        <a:srgbClr val="000000"/>
      </a:dk1>
      <a:lt1>
        <a:srgbClr val="FFFFFF"/>
      </a:lt1>
      <a:dk2>
        <a:srgbClr val="737373"/>
      </a:dk2>
      <a:lt2>
        <a:srgbClr val="D2D2CD"/>
      </a:lt2>
      <a:accent1>
        <a:srgbClr val="961E64"/>
      </a:accent1>
      <a:accent2>
        <a:srgbClr val="6E82BE"/>
      </a:accent2>
      <a:accent3>
        <a:srgbClr val="692364"/>
      </a:accent3>
      <a:accent4>
        <a:srgbClr val="2D3778"/>
      </a:accent4>
      <a:accent5>
        <a:srgbClr val="E1783C"/>
      </a:accent5>
      <a:accent6>
        <a:srgbClr val="00AB9D"/>
      </a:accent6>
      <a:hlink>
        <a:srgbClr val="D7D2C3"/>
      </a:hlink>
      <a:folHlink>
        <a:srgbClr val="9B9B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zhaw_Folien_deutsch">
  <a:themeElements>
    <a:clrScheme name="ZHAW">
      <a:dk1>
        <a:srgbClr val="000000"/>
      </a:dk1>
      <a:lt1>
        <a:srgbClr val="FFFFFF"/>
      </a:lt1>
      <a:dk2>
        <a:srgbClr val="9A9A9C"/>
      </a:dk2>
      <a:lt2>
        <a:srgbClr val="0064A6"/>
      </a:lt2>
      <a:accent1>
        <a:srgbClr val="80B2D3"/>
      </a:accent1>
      <a:accent2>
        <a:srgbClr val="D54E12"/>
      </a:accent2>
      <a:accent3>
        <a:srgbClr val="83B819"/>
      </a:accent3>
      <a:accent4>
        <a:srgbClr val="F0B600"/>
      </a:accent4>
      <a:accent5>
        <a:srgbClr val="6A205F"/>
      </a:accent5>
      <a:accent6>
        <a:srgbClr val="EDDBAB"/>
      </a:accent6>
      <a:hlink>
        <a:srgbClr val="583119"/>
      </a:hlink>
      <a:folHlink>
        <a:srgbClr val="9A9A9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874</Words>
  <Application>Microsoft Office PowerPoint</Application>
  <PresentationFormat>Widescreen</PresentationFormat>
  <Paragraphs>65</Paragraphs>
  <Slides>9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5</vt:i4>
      </vt:variant>
      <vt:variant>
        <vt:lpstr>Titoli diapositive</vt:lpstr>
      </vt:variant>
      <vt:variant>
        <vt:i4>9</vt:i4>
      </vt:variant>
    </vt:vector>
  </HeadingPairs>
  <TitlesOfParts>
    <vt:vector size="18" baseType="lpstr">
      <vt:lpstr>Century Gothic</vt:lpstr>
      <vt:lpstr>Calibri</vt:lpstr>
      <vt:lpstr>Noto Sans Symbols</vt:lpstr>
      <vt:lpstr>Arial</vt:lpstr>
      <vt:lpstr>zhaw_Folien_deutsch</vt:lpstr>
      <vt:lpstr>1_zhaw_Folien_deutsch</vt:lpstr>
      <vt:lpstr>2_zhaw_Folien_deutsch</vt:lpstr>
      <vt:lpstr>COST_ppt-16_9-color_1</vt:lpstr>
      <vt:lpstr>3_zhaw_Folien_deutsch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Best WI-FI 2023 Young Researcher Paper</vt:lpstr>
      <vt:lpstr>Recent works</vt:lpstr>
      <vt:lpstr>Advanced Statistical Modelling for data science in Digital Age</vt:lpstr>
      <vt:lpstr>Presentazione standard di PowerPoint</vt:lpstr>
      <vt:lpstr>Master in Artificial Intelligence &amp; Data Science, Unical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J</dc:creator>
  <cp:lastModifiedBy>Claudia</cp:lastModifiedBy>
  <cp:revision>1</cp:revision>
  <dcterms:created xsi:type="dcterms:W3CDTF">2021-02-07T21:05:03Z</dcterms:created>
  <dcterms:modified xsi:type="dcterms:W3CDTF">2023-09-21T12:53:53Z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etDate">
    <vt:lpwstr>2021-05-14T07:54:44Z</vt:lpwstr>
  </property>
  <property fmtid="{D5CDD505-2E9C-101B-9397-08002B2CF9AE}" pid="4" name="MSIP_Label_10d9bad3-6dac-4e9a-89a3-89f3b8d247b2_Method">
    <vt:lpwstr>Standard</vt:lpwstr>
  </property>
  <property fmtid="{D5CDD505-2E9C-101B-9397-08002B2CF9AE}" pid="5" name="MSIP_Label_10d9bad3-6dac-4e9a-89a3-89f3b8d247b2_Name">
    <vt:lpwstr>10d9bad3-6dac-4e9a-89a3-89f3b8d247b2</vt:lpwstr>
  </property>
  <property fmtid="{D5CDD505-2E9C-101B-9397-08002B2CF9AE}" pid="6" name="MSIP_Label_10d9bad3-6dac-4e9a-89a3-89f3b8d247b2_SiteId">
    <vt:lpwstr>5d1a9f9d-201f-4a10-b983-451cf65cbc1e</vt:lpwstr>
  </property>
  <property fmtid="{D5CDD505-2E9C-101B-9397-08002B2CF9AE}" pid="7" name="MSIP_Label_10d9bad3-6dac-4e9a-89a3-89f3b8d247b2_ActionId">
    <vt:lpwstr>f9d79185-1dd1-41b3-9a1d-510ff195067c</vt:lpwstr>
  </property>
  <property fmtid="{D5CDD505-2E9C-101B-9397-08002B2CF9AE}" pid="8" name="MSIP_Label_10d9bad3-6dac-4e9a-89a3-89f3b8d247b2_ContentBits">
    <vt:lpwstr>0</vt:lpwstr>
  </property>
</Properties>
</file>