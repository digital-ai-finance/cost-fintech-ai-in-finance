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3" r:id="rId6"/>
    <p:sldMasterId id="2147483678" r:id="rId7"/>
  </p:sldMasterIdLst>
  <p:notesMasterIdLst>
    <p:notesMasterId r:id="rId8"/>
  </p:notesMasterIdLst>
  <p:sldIdLst>
    <p:sldId id="256" r:id="rId9"/>
    <p:sldId id="257" r:id="rId10"/>
    <p:sldId id="258" r:id="rId11"/>
    <p:sldId id="259" r:id="rId12"/>
    <p:sldId id="260" r:id="rId13"/>
    <p:sldId id="261" r:id="rId14"/>
    <p:sldId id="262" r:id="rId15"/>
    <p:sldId id="263"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949">
          <p15:clr>
            <a:srgbClr val="A4A3A4"/>
          </p15:clr>
        </p15:guide>
        <p15:guide id="2" orient="horz" pos="2160">
          <p15:clr>
            <a:srgbClr val="A4A3A4"/>
          </p15:clr>
        </p15:guide>
      </p15:sldGuideLst>
    </p:ext>
    <p:ext uri="GoogleSlidesCustomDataVersion2">
      <go:slidesCustomData xmlns:go="http://customooxmlschemas.google.com/" r:id="rId17" roundtripDataSignature="AMtx7mjSK0XLjbvQH3rkIBtZsH7aLKbd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13FDC1-CDFC-4A88-85DF-0B6200295325}">
  <a:tblStyle styleId="{0C13FDC1-CDFC-4A88-85DF-0B62002953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49"/>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customschemas.google.com/relationships/presentationmetadata" Target="metadata"/><Relationship Id="rId16"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7cd44d00de_2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7cd44d00de_2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27cd44d00de_2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twitter.com/costprogramme?lang=fr" TargetMode="External"/><Relationship Id="rId4" Type="http://schemas.openxmlformats.org/officeDocument/2006/relationships/image" Target="../media/image10.jpg"/><Relationship Id="rId11" Type="http://schemas.openxmlformats.org/officeDocument/2006/relationships/image" Target="../media/image8.png"/><Relationship Id="rId10" Type="http://schemas.openxmlformats.org/officeDocument/2006/relationships/hyperlink" Target="https://www.linkedin.com/company/cost-office" TargetMode="External"/><Relationship Id="rId9" Type="http://schemas.openxmlformats.org/officeDocument/2006/relationships/image" Target="../media/image9.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11.png"/><Relationship Id="rId8" Type="http://schemas.openxmlformats.org/officeDocument/2006/relationships/hyperlink" Target="https://www.facebook.com/COST.Programme/"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 Id="rId3" Type="http://schemas.openxmlformats.org/officeDocument/2006/relationships/hyperlink" Target="https://twitter.com/costprogramme?lang=fr" TargetMode="External"/><Relationship Id="rId4" Type="http://schemas.openxmlformats.org/officeDocument/2006/relationships/image" Target="../media/image10.jpg"/><Relationship Id="rId11" Type="http://schemas.openxmlformats.org/officeDocument/2006/relationships/image" Target="../media/image8.png"/><Relationship Id="rId10" Type="http://schemas.openxmlformats.org/officeDocument/2006/relationships/hyperlink" Target="https://www.linkedin.com/company/cost-office" TargetMode="External"/><Relationship Id="rId9" Type="http://schemas.openxmlformats.org/officeDocument/2006/relationships/image" Target="../media/image9.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11.png"/><Relationship Id="rId8" Type="http://schemas.openxmlformats.org/officeDocument/2006/relationships/hyperlink" Target="https://www.facebook.com/COST.Programme/"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 Id="rId3" Type="http://schemas.openxmlformats.org/officeDocument/2006/relationships/hyperlink" Target="https://twitter.com/costprogramme?lang=fr" TargetMode="External"/><Relationship Id="rId4" Type="http://schemas.openxmlformats.org/officeDocument/2006/relationships/image" Target="../media/image10.jpg"/><Relationship Id="rId11" Type="http://schemas.openxmlformats.org/officeDocument/2006/relationships/image" Target="../media/image8.png"/><Relationship Id="rId10" Type="http://schemas.openxmlformats.org/officeDocument/2006/relationships/hyperlink" Target="https://www.linkedin.com/company/cost-office" TargetMode="External"/><Relationship Id="rId9" Type="http://schemas.openxmlformats.org/officeDocument/2006/relationships/image" Target="../media/image9.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11.png"/><Relationship Id="rId8" Type="http://schemas.openxmlformats.org/officeDocument/2006/relationships/hyperlink" Target="https://www.facebook.com/COST.Programme/"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10" name="Shape 10"/>
        <p:cNvGrpSpPr/>
        <p:nvPr/>
      </p:nvGrpSpPr>
      <p:grpSpPr>
        <a:xfrm>
          <a:off x="0" y="0"/>
          <a:ext cx="0" cy="0"/>
          <a:chOff x="0" y="0"/>
          <a:chExt cx="0" cy="0"/>
        </a:xfrm>
      </p:grpSpPr>
      <p:pic>
        <p:nvPicPr>
          <p:cNvPr id="11" name="Google Shape;11;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 name="Google Shape;12;p9"/>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9"/>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9"/>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5"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10"/>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 name="Google Shape;18;p10"/>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10"/>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20" name="Shape 20"/>
        <p:cNvGrpSpPr/>
        <p:nvPr/>
      </p:nvGrpSpPr>
      <p:grpSpPr>
        <a:xfrm>
          <a:off x="0" y="0"/>
          <a:ext cx="0" cy="0"/>
          <a:chOff x="0" y="0"/>
          <a:chExt cx="0" cy="0"/>
        </a:xfrm>
      </p:grpSpPr>
      <p:pic>
        <p:nvPicPr>
          <p:cNvPr id="21" name="Google Shape;21;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p11"/>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1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1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25" name="Shape 25"/>
        <p:cNvGrpSpPr/>
        <p:nvPr/>
      </p:nvGrpSpPr>
      <p:grpSpPr>
        <a:xfrm>
          <a:off x="0" y="0"/>
          <a:ext cx="0" cy="0"/>
          <a:chOff x="0" y="0"/>
          <a:chExt cx="0" cy="0"/>
        </a:xfrm>
      </p:grpSpPr>
      <p:pic>
        <p:nvPicPr>
          <p:cNvPr id="26" name="Google Shape;26;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7" name="Google Shape;27;p12"/>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2"/>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9" name="Google Shape;29;p12"/>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30" name="Shape 30"/>
        <p:cNvGrpSpPr/>
        <p:nvPr/>
      </p:nvGrpSpPr>
      <p:grpSpPr>
        <a:xfrm>
          <a:off x="0" y="0"/>
          <a:ext cx="0" cy="0"/>
          <a:chOff x="0" y="0"/>
          <a:chExt cx="0" cy="0"/>
        </a:xfrm>
      </p:grpSpPr>
      <p:pic>
        <p:nvPicPr>
          <p:cNvPr id="31" name="Google Shape;31;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2" name="Google Shape;32;p13"/>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3" name="Google Shape;33;p1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13"/>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35" name="Shape 35"/>
        <p:cNvGrpSpPr/>
        <p:nvPr/>
      </p:nvGrpSpPr>
      <p:grpSpPr>
        <a:xfrm>
          <a:off x="0" y="0"/>
          <a:ext cx="0" cy="0"/>
          <a:chOff x="0" y="0"/>
          <a:chExt cx="0" cy="0"/>
        </a:xfrm>
      </p:grpSpPr>
      <p:pic>
        <p:nvPicPr>
          <p:cNvPr id="36" name="Google Shape;36;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7" name="Google Shape;37;p14"/>
          <p:cNvSpPr txBox="1"/>
          <p:nvPr>
            <p:ph idx="1" type="body"/>
          </p:nvPr>
        </p:nvSpPr>
        <p:spPr>
          <a:xfrm>
            <a:off x="874713" y="1093983"/>
            <a:ext cx="10225087"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1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14"/>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40" name="Shape 40"/>
        <p:cNvGrpSpPr/>
        <p:nvPr/>
      </p:nvGrpSpPr>
      <p:grpSpPr>
        <a:xfrm>
          <a:off x="0" y="0"/>
          <a:ext cx="0" cy="0"/>
          <a:chOff x="0" y="0"/>
          <a:chExt cx="0" cy="0"/>
        </a:xfrm>
      </p:grpSpPr>
      <p:pic>
        <p:nvPicPr>
          <p:cNvPr id="41" name="Google Shape;41;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2" name="Google Shape;42;p15"/>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1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15"/>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5" name="Google Shape;45;p15"/>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46" name="Shape 46"/>
        <p:cNvGrpSpPr/>
        <p:nvPr/>
      </p:nvGrpSpPr>
      <p:grpSpPr>
        <a:xfrm>
          <a:off x="0" y="0"/>
          <a:ext cx="0" cy="0"/>
          <a:chOff x="0" y="0"/>
          <a:chExt cx="0" cy="0"/>
        </a:xfrm>
      </p:grpSpPr>
      <p:pic>
        <p:nvPicPr>
          <p:cNvPr id="47" name="Google Shape;47;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16"/>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9" name="Google Shape;49;p1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16"/>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51" name="Shape 51"/>
        <p:cNvGrpSpPr/>
        <p:nvPr/>
      </p:nvGrpSpPr>
      <p:grpSpPr>
        <a:xfrm>
          <a:off x="0" y="0"/>
          <a:ext cx="0" cy="0"/>
          <a:chOff x="0" y="0"/>
          <a:chExt cx="0" cy="0"/>
        </a:xfrm>
      </p:grpSpPr>
      <p:pic>
        <p:nvPicPr>
          <p:cNvPr id="52" name="Google Shape;52;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3" name="Google Shape;53;p17"/>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4" name="Google Shape;54;p17"/>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17"/>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56" name="Shape 56"/>
        <p:cNvGrpSpPr/>
        <p:nvPr/>
      </p:nvGrpSpPr>
      <p:grpSpPr>
        <a:xfrm>
          <a:off x="0" y="0"/>
          <a:ext cx="0" cy="0"/>
          <a:chOff x="0" y="0"/>
          <a:chExt cx="0" cy="0"/>
        </a:xfrm>
      </p:grpSpPr>
      <p:pic>
        <p:nvPicPr>
          <p:cNvPr id="57" name="Google Shape;57;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8" name="Google Shape;58;p18"/>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9" name="Google Shape;59;p1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18"/>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61" name="Shape 61"/>
        <p:cNvGrpSpPr/>
        <p:nvPr/>
      </p:nvGrpSpPr>
      <p:grpSpPr>
        <a:xfrm>
          <a:off x="0" y="0"/>
          <a:ext cx="0" cy="0"/>
          <a:chOff x="0" y="0"/>
          <a:chExt cx="0" cy="0"/>
        </a:xfrm>
      </p:grpSpPr>
      <p:pic>
        <p:nvPicPr>
          <p:cNvPr id="62" name="Google Shape;62;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3" name="Google Shape;63;p19"/>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64" name="Google Shape;64;p1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 name="Google Shape;65;p19"/>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6" name="Google Shape;66;p19"/>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67" name="Shape 67"/>
        <p:cNvGrpSpPr/>
        <p:nvPr/>
      </p:nvGrpSpPr>
      <p:grpSpPr>
        <a:xfrm>
          <a:off x="0" y="0"/>
          <a:ext cx="0" cy="0"/>
          <a:chOff x="0" y="0"/>
          <a:chExt cx="0" cy="0"/>
        </a:xfrm>
      </p:grpSpPr>
      <p:pic>
        <p:nvPicPr>
          <p:cNvPr id="68" name="Google Shape;68;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9" name="Google Shape;69;p20"/>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0" name="Google Shape;70;p20"/>
          <p:cNvSpPr txBox="1"/>
          <p:nvPr/>
        </p:nvSpPr>
        <p:spPr>
          <a:xfrm>
            <a:off x="1107254" y="4313604"/>
            <a:ext cx="70274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sz="1600">
              <a:solidFill>
                <a:schemeClr val="dk2"/>
              </a:solidFill>
              <a:latin typeface="Arial"/>
              <a:ea typeface="Arial"/>
              <a:cs typeface="Arial"/>
              <a:sym typeface="Arial"/>
            </a:endParaRPr>
          </a:p>
        </p:txBody>
      </p:sp>
      <p:grpSp>
        <p:nvGrpSpPr>
          <p:cNvPr id="71" name="Google Shape;71;p20"/>
          <p:cNvGrpSpPr/>
          <p:nvPr/>
        </p:nvGrpSpPr>
        <p:grpSpPr>
          <a:xfrm>
            <a:off x="9026219" y="5182889"/>
            <a:ext cx="2200682" cy="1172172"/>
            <a:chOff x="6636485" y="5354057"/>
            <a:chExt cx="2200682" cy="1172172"/>
          </a:xfrm>
        </p:grpSpPr>
        <p:grpSp>
          <p:nvGrpSpPr>
            <p:cNvPr id="72" name="Google Shape;72;p20"/>
            <p:cNvGrpSpPr/>
            <p:nvPr/>
          </p:nvGrpSpPr>
          <p:grpSpPr>
            <a:xfrm>
              <a:off x="6883674" y="5354057"/>
              <a:ext cx="1953493" cy="1172172"/>
              <a:chOff x="6883674" y="5354057"/>
              <a:chExt cx="1953493" cy="1172172"/>
            </a:xfrm>
          </p:grpSpPr>
          <p:pic>
            <p:nvPicPr>
              <p:cNvPr descr="Plan de travail 1OFF-Icones.jpg" id="73" name="Google Shape;73;p20">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74" name="Google Shape;74;p20">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400">
                    <a:solidFill>
                      <a:schemeClr val="dk2"/>
                    </a:solidFill>
                    <a:latin typeface="Arial"/>
                    <a:ea typeface="Arial"/>
                    <a:cs typeface="Arial"/>
                    <a:sym typeface="Arial"/>
                  </a:rPr>
                  <a:t>www.cost.eu</a:t>
                </a:r>
                <a:endParaRPr sz="1400">
                  <a:solidFill>
                    <a:schemeClr val="dk2"/>
                  </a:solidFill>
                  <a:latin typeface="Arial"/>
                  <a:ea typeface="Arial"/>
                  <a:cs typeface="Arial"/>
                  <a:sym typeface="Arial"/>
                </a:endParaRPr>
              </a:p>
            </p:txBody>
          </p:sp>
          <p:pic>
            <p:nvPicPr>
              <p:cNvPr id="75" name="Google Shape;75;p20">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76" name="Google Shape;76;p20">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77" name="Google Shape;77;p20"/>
              <p:cNvSpPr txBox="1"/>
              <p:nvPr/>
            </p:nvSpPr>
            <p:spPr>
              <a:xfrm>
                <a:off x="6883674" y="5354057"/>
                <a:ext cx="1901592"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400">
                    <a:solidFill>
                      <a:schemeClr val="dk2"/>
                    </a:solidFill>
                    <a:latin typeface="Arial"/>
                    <a:ea typeface="Arial"/>
                    <a:cs typeface="Arial"/>
                    <a:sym typeface="Arial"/>
                  </a:rPr>
                  <a:t>Subscribe</a:t>
                </a:r>
                <a:endParaRPr b="1" sz="1400">
                  <a:solidFill>
                    <a:schemeClr val="dk2"/>
                  </a:solidFill>
                  <a:latin typeface="Arial"/>
                  <a:ea typeface="Arial"/>
                  <a:cs typeface="Arial"/>
                  <a:sym typeface="Arial"/>
                </a:endParaRPr>
              </a:p>
            </p:txBody>
          </p:sp>
        </p:grpSp>
        <p:pic>
          <p:nvPicPr>
            <p:cNvPr id="78" name="Google Shape;78;p20">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79" name="Shape 79"/>
        <p:cNvGrpSpPr/>
        <p:nvPr/>
      </p:nvGrpSpPr>
      <p:grpSpPr>
        <a:xfrm>
          <a:off x="0" y="0"/>
          <a:ext cx="0" cy="0"/>
          <a:chOff x="0" y="0"/>
          <a:chExt cx="0" cy="0"/>
        </a:xfrm>
      </p:grpSpPr>
      <p:pic>
        <p:nvPicPr>
          <p:cNvPr id="80" name="Google Shape;80;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1" name="Google Shape;81;p21"/>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82" name="Shape 82"/>
        <p:cNvGrpSpPr/>
        <p:nvPr/>
      </p:nvGrpSpPr>
      <p:grpSpPr>
        <a:xfrm>
          <a:off x="0" y="0"/>
          <a:ext cx="0" cy="0"/>
          <a:chOff x="0" y="0"/>
          <a:chExt cx="0" cy="0"/>
        </a:xfrm>
      </p:grpSpPr>
      <p:pic>
        <p:nvPicPr>
          <p:cNvPr id="83" name="Google Shape;83;p2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4" name="Google Shape;84;p22"/>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86" name="Shape 86"/>
        <p:cNvGrpSpPr/>
        <p:nvPr/>
      </p:nvGrpSpPr>
      <p:grpSpPr>
        <a:xfrm>
          <a:off x="0" y="0"/>
          <a:ext cx="0" cy="0"/>
          <a:chOff x="0" y="0"/>
          <a:chExt cx="0" cy="0"/>
        </a:xfrm>
      </p:grpSpPr>
      <p:pic>
        <p:nvPicPr>
          <p:cNvPr id="87" name="Google Shape;87;p2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8" name="Google Shape;88;p24"/>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9" name="Google Shape;89;p24"/>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0" name="Google Shape;90;p24"/>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91" name="Shape 91"/>
        <p:cNvGrpSpPr/>
        <p:nvPr/>
      </p:nvGrpSpPr>
      <p:grpSpPr>
        <a:xfrm>
          <a:off x="0" y="0"/>
          <a:ext cx="0" cy="0"/>
          <a:chOff x="0" y="0"/>
          <a:chExt cx="0" cy="0"/>
        </a:xfrm>
      </p:grpSpPr>
      <p:pic>
        <p:nvPicPr>
          <p:cNvPr id="92" name="Google Shape;92;p2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3" name="Google Shape;93;p25"/>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4" name="Google Shape;94;p25"/>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25"/>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96" name="Shape 96"/>
        <p:cNvGrpSpPr/>
        <p:nvPr/>
      </p:nvGrpSpPr>
      <p:grpSpPr>
        <a:xfrm>
          <a:off x="0" y="0"/>
          <a:ext cx="0" cy="0"/>
          <a:chOff x="0" y="0"/>
          <a:chExt cx="0" cy="0"/>
        </a:xfrm>
      </p:grpSpPr>
      <p:pic>
        <p:nvPicPr>
          <p:cNvPr id="97" name="Google Shape;97;p2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8" name="Google Shape;98;p26"/>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9" name="Google Shape;99;p26"/>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0" name="Google Shape;100;p26"/>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01" name="Shape 101"/>
        <p:cNvGrpSpPr/>
        <p:nvPr/>
      </p:nvGrpSpPr>
      <p:grpSpPr>
        <a:xfrm>
          <a:off x="0" y="0"/>
          <a:ext cx="0" cy="0"/>
          <a:chOff x="0" y="0"/>
          <a:chExt cx="0" cy="0"/>
        </a:xfrm>
      </p:grpSpPr>
      <p:pic>
        <p:nvPicPr>
          <p:cNvPr id="102" name="Google Shape;102;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3" name="Google Shape;103;p27"/>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4" name="Google Shape;104;p27"/>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5" name="Google Shape;105;p27"/>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106" name="Shape 106"/>
        <p:cNvGrpSpPr/>
        <p:nvPr/>
      </p:nvGrpSpPr>
      <p:grpSpPr>
        <a:xfrm>
          <a:off x="0" y="0"/>
          <a:ext cx="0" cy="0"/>
          <a:chOff x="0" y="0"/>
          <a:chExt cx="0" cy="0"/>
        </a:xfrm>
      </p:grpSpPr>
      <p:pic>
        <p:nvPicPr>
          <p:cNvPr id="107" name="Google Shape;107;p2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8" name="Google Shape;108;p28"/>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9" name="Google Shape;109;p2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28"/>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111" name="Shape 111"/>
        <p:cNvGrpSpPr/>
        <p:nvPr/>
      </p:nvGrpSpPr>
      <p:grpSpPr>
        <a:xfrm>
          <a:off x="0" y="0"/>
          <a:ext cx="0" cy="0"/>
          <a:chOff x="0" y="0"/>
          <a:chExt cx="0" cy="0"/>
        </a:xfrm>
      </p:grpSpPr>
      <p:pic>
        <p:nvPicPr>
          <p:cNvPr id="112" name="Google Shape;112;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3" name="Google Shape;113;p29"/>
          <p:cNvSpPr txBox="1"/>
          <p:nvPr>
            <p:ph idx="1" type="body"/>
          </p:nvPr>
        </p:nvSpPr>
        <p:spPr>
          <a:xfrm>
            <a:off x="874713" y="1093982"/>
            <a:ext cx="10225087"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4" name="Google Shape;114;p2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5" name="Google Shape;115;p29"/>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16" name="Shape 116"/>
        <p:cNvGrpSpPr/>
        <p:nvPr/>
      </p:nvGrpSpPr>
      <p:grpSpPr>
        <a:xfrm>
          <a:off x="0" y="0"/>
          <a:ext cx="0" cy="0"/>
          <a:chOff x="0" y="0"/>
          <a:chExt cx="0" cy="0"/>
        </a:xfrm>
      </p:grpSpPr>
      <p:pic>
        <p:nvPicPr>
          <p:cNvPr id="117" name="Google Shape;117;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8" name="Google Shape;118;p30"/>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9" name="Google Shape;119;p3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0" name="Google Shape;120;p30"/>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21" name="Google Shape;121;p30"/>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122" name="Shape 122"/>
        <p:cNvGrpSpPr/>
        <p:nvPr/>
      </p:nvGrpSpPr>
      <p:grpSpPr>
        <a:xfrm>
          <a:off x="0" y="0"/>
          <a:ext cx="0" cy="0"/>
          <a:chOff x="0" y="0"/>
          <a:chExt cx="0" cy="0"/>
        </a:xfrm>
      </p:grpSpPr>
      <p:pic>
        <p:nvPicPr>
          <p:cNvPr id="123" name="Google Shape;123;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31"/>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25" name="Google Shape;125;p31"/>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6" name="Google Shape;126;p31"/>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127" name="Shape 127"/>
        <p:cNvGrpSpPr/>
        <p:nvPr/>
      </p:nvGrpSpPr>
      <p:grpSpPr>
        <a:xfrm>
          <a:off x="0" y="0"/>
          <a:ext cx="0" cy="0"/>
          <a:chOff x="0" y="0"/>
          <a:chExt cx="0" cy="0"/>
        </a:xfrm>
      </p:grpSpPr>
      <p:pic>
        <p:nvPicPr>
          <p:cNvPr id="128" name="Google Shape;128;p3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9" name="Google Shape;129;p32"/>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30" name="Google Shape;130;p32"/>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1" name="Google Shape;131;p32"/>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132" name="Shape 132"/>
        <p:cNvGrpSpPr/>
        <p:nvPr/>
      </p:nvGrpSpPr>
      <p:grpSpPr>
        <a:xfrm>
          <a:off x="0" y="0"/>
          <a:ext cx="0" cy="0"/>
          <a:chOff x="0" y="0"/>
          <a:chExt cx="0" cy="0"/>
        </a:xfrm>
      </p:grpSpPr>
      <p:pic>
        <p:nvPicPr>
          <p:cNvPr id="133" name="Google Shape;133;p3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4" name="Google Shape;134;p33"/>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35" name="Google Shape;135;p3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6" name="Google Shape;136;p33"/>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137" name="Shape 137"/>
        <p:cNvGrpSpPr/>
        <p:nvPr/>
      </p:nvGrpSpPr>
      <p:grpSpPr>
        <a:xfrm>
          <a:off x="0" y="0"/>
          <a:ext cx="0" cy="0"/>
          <a:chOff x="0" y="0"/>
          <a:chExt cx="0" cy="0"/>
        </a:xfrm>
      </p:grpSpPr>
      <p:pic>
        <p:nvPicPr>
          <p:cNvPr id="138" name="Google Shape;138;p3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9" name="Google Shape;139;p34"/>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40" name="Google Shape;140;p3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1" name="Google Shape;141;p34"/>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2" name="Google Shape;142;p34"/>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143" name="Shape 143"/>
        <p:cNvGrpSpPr/>
        <p:nvPr/>
      </p:nvGrpSpPr>
      <p:grpSpPr>
        <a:xfrm>
          <a:off x="0" y="0"/>
          <a:ext cx="0" cy="0"/>
          <a:chOff x="0" y="0"/>
          <a:chExt cx="0" cy="0"/>
        </a:xfrm>
      </p:grpSpPr>
      <p:pic>
        <p:nvPicPr>
          <p:cNvPr id="144" name="Google Shape;144;p3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5" name="Google Shape;145;p35"/>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6" name="Google Shape;146;p35"/>
          <p:cNvSpPr txBox="1"/>
          <p:nvPr/>
        </p:nvSpPr>
        <p:spPr>
          <a:xfrm>
            <a:off x="1107254" y="4313604"/>
            <a:ext cx="70274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u="none">
                <a:solidFill>
                  <a:schemeClr val="dk2"/>
                </a:solidFill>
                <a:latin typeface="Arial"/>
                <a:ea typeface="Arial"/>
                <a:cs typeface="Arial"/>
                <a:sym typeface="Arial"/>
              </a:rPr>
              <a:t>Subscribe</a:t>
            </a:r>
            <a:r>
              <a:rPr lang="en-US" sz="1600" u="none">
                <a:solidFill>
                  <a:schemeClr val="dk2"/>
                </a:solidFill>
                <a:latin typeface="Arial"/>
                <a:ea typeface="Arial"/>
                <a:cs typeface="Arial"/>
                <a:sym typeface="Arial"/>
              </a:rPr>
              <a:t> to our news: </a:t>
            </a:r>
            <a:r>
              <a:rPr lang="en-US" sz="1600" u="sng">
                <a:solidFill>
                  <a:schemeClr val="dk2"/>
                </a:solidFill>
                <a:latin typeface="Arial"/>
                <a:ea typeface="Arial"/>
                <a:cs typeface="Arial"/>
                <a:sym typeface="Arial"/>
              </a:rPr>
              <a:t>www.cost.eu/subscribe</a:t>
            </a:r>
            <a:endParaRPr sz="1600">
              <a:solidFill>
                <a:schemeClr val="dk2"/>
              </a:solidFill>
              <a:latin typeface="Arial"/>
              <a:ea typeface="Arial"/>
              <a:cs typeface="Arial"/>
              <a:sym typeface="Arial"/>
            </a:endParaRPr>
          </a:p>
        </p:txBody>
      </p:sp>
      <p:grpSp>
        <p:nvGrpSpPr>
          <p:cNvPr id="147" name="Google Shape;147;p35"/>
          <p:cNvGrpSpPr/>
          <p:nvPr/>
        </p:nvGrpSpPr>
        <p:grpSpPr>
          <a:xfrm>
            <a:off x="9026219" y="5182889"/>
            <a:ext cx="2200682" cy="1172172"/>
            <a:chOff x="6636485" y="5354057"/>
            <a:chExt cx="2200682" cy="1172172"/>
          </a:xfrm>
        </p:grpSpPr>
        <p:grpSp>
          <p:nvGrpSpPr>
            <p:cNvPr id="148" name="Google Shape;148;p35"/>
            <p:cNvGrpSpPr/>
            <p:nvPr/>
          </p:nvGrpSpPr>
          <p:grpSpPr>
            <a:xfrm>
              <a:off x="6883674" y="5354057"/>
              <a:ext cx="1953493" cy="1172172"/>
              <a:chOff x="6883674" y="5354057"/>
              <a:chExt cx="1953493" cy="1172172"/>
            </a:xfrm>
          </p:grpSpPr>
          <p:pic>
            <p:nvPicPr>
              <p:cNvPr descr="Plan de travail 1OFF-Icones.jpg" id="149" name="Google Shape;149;p35">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150" name="Google Shape;150;p35">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400">
                    <a:solidFill>
                      <a:schemeClr val="dk2"/>
                    </a:solidFill>
                    <a:latin typeface="Arial"/>
                    <a:ea typeface="Arial"/>
                    <a:cs typeface="Arial"/>
                    <a:sym typeface="Arial"/>
                  </a:rPr>
                  <a:t>www.cost.eu</a:t>
                </a:r>
                <a:endParaRPr sz="1400">
                  <a:solidFill>
                    <a:schemeClr val="dk2"/>
                  </a:solidFill>
                  <a:latin typeface="Arial"/>
                  <a:ea typeface="Arial"/>
                  <a:cs typeface="Arial"/>
                  <a:sym typeface="Arial"/>
                </a:endParaRPr>
              </a:p>
            </p:txBody>
          </p:sp>
          <p:pic>
            <p:nvPicPr>
              <p:cNvPr id="151" name="Google Shape;151;p35">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152" name="Google Shape;152;p35">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153" name="Google Shape;153;p35"/>
              <p:cNvSpPr txBox="1"/>
              <p:nvPr/>
            </p:nvSpPr>
            <p:spPr>
              <a:xfrm>
                <a:off x="6883674" y="5354057"/>
                <a:ext cx="1901592"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400">
                    <a:solidFill>
                      <a:schemeClr val="dk2"/>
                    </a:solidFill>
                    <a:latin typeface="Arial"/>
                    <a:ea typeface="Arial"/>
                    <a:cs typeface="Arial"/>
                    <a:sym typeface="Arial"/>
                  </a:rPr>
                  <a:t>Subscribe</a:t>
                </a:r>
                <a:endParaRPr b="1" sz="1400">
                  <a:solidFill>
                    <a:schemeClr val="dk2"/>
                  </a:solidFill>
                  <a:latin typeface="Arial"/>
                  <a:ea typeface="Arial"/>
                  <a:cs typeface="Arial"/>
                  <a:sym typeface="Arial"/>
                </a:endParaRPr>
              </a:p>
            </p:txBody>
          </p:sp>
        </p:grpSp>
        <p:pic>
          <p:nvPicPr>
            <p:cNvPr id="154" name="Google Shape;154;p35">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155" name="Shape 155"/>
        <p:cNvGrpSpPr/>
        <p:nvPr/>
      </p:nvGrpSpPr>
      <p:grpSpPr>
        <a:xfrm>
          <a:off x="0" y="0"/>
          <a:ext cx="0" cy="0"/>
          <a:chOff x="0" y="0"/>
          <a:chExt cx="0" cy="0"/>
        </a:xfrm>
      </p:grpSpPr>
      <p:pic>
        <p:nvPicPr>
          <p:cNvPr id="156" name="Google Shape;156;p3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7" name="Google Shape;157;p36"/>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158" name="Shape 158"/>
        <p:cNvGrpSpPr/>
        <p:nvPr/>
      </p:nvGrpSpPr>
      <p:grpSpPr>
        <a:xfrm>
          <a:off x="0" y="0"/>
          <a:ext cx="0" cy="0"/>
          <a:chOff x="0" y="0"/>
          <a:chExt cx="0" cy="0"/>
        </a:xfrm>
      </p:grpSpPr>
      <p:pic>
        <p:nvPicPr>
          <p:cNvPr id="159" name="Google Shape;159;p3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0" name="Google Shape;160;p37"/>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title">
  <p:cSld name="3_Presentation - title">
    <p:spTree>
      <p:nvGrpSpPr>
        <p:cNvPr id="162" name="Shape 162"/>
        <p:cNvGrpSpPr/>
        <p:nvPr/>
      </p:nvGrpSpPr>
      <p:grpSpPr>
        <a:xfrm>
          <a:off x="0" y="0"/>
          <a:ext cx="0" cy="0"/>
          <a:chOff x="0" y="0"/>
          <a:chExt cx="0" cy="0"/>
        </a:xfrm>
      </p:grpSpPr>
      <p:pic>
        <p:nvPicPr>
          <p:cNvPr id="163" name="Google Shape;163;p3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4" name="Google Shape;164;p39"/>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5" name="Google Shape;165;p39"/>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6" name="Google Shape;166;p39"/>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resentation - title">
  <p:cSld name="4_Presentation - title">
    <p:spTree>
      <p:nvGrpSpPr>
        <p:cNvPr id="167" name="Shape 167"/>
        <p:cNvGrpSpPr/>
        <p:nvPr/>
      </p:nvGrpSpPr>
      <p:grpSpPr>
        <a:xfrm>
          <a:off x="0" y="0"/>
          <a:ext cx="0" cy="0"/>
          <a:chOff x="0" y="0"/>
          <a:chExt cx="0" cy="0"/>
        </a:xfrm>
      </p:grpSpPr>
      <p:pic>
        <p:nvPicPr>
          <p:cNvPr id="168" name="Google Shape;168;p4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9" name="Google Shape;169;p40"/>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0" name="Google Shape;170;p40"/>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1" name="Google Shape;171;p40"/>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Presentation - title">
  <p:cSld name="5_Presentation - title">
    <p:spTree>
      <p:nvGrpSpPr>
        <p:cNvPr id="172" name="Shape 172"/>
        <p:cNvGrpSpPr/>
        <p:nvPr/>
      </p:nvGrpSpPr>
      <p:grpSpPr>
        <a:xfrm>
          <a:off x="0" y="0"/>
          <a:ext cx="0" cy="0"/>
          <a:chOff x="0" y="0"/>
          <a:chExt cx="0" cy="0"/>
        </a:xfrm>
      </p:grpSpPr>
      <p:pic>
        <p:nvPicPr>
          <p:cNvPr id="173" name="Google Shape;173;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4" name="Google Shape;174;p41"/>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5" name="Google Shape;175;p41"/>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6" name="Google Shape;176;p41"/>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p:cSld name="2_Presentation - Content">
    <p:spTree>
      <p:nvGrpSpPr>
        <p:cNvPr id="177" name="Shape 177"/>
        <p:cNvGrpSpPr/>
        <p:nvPr/>
      </p:nvGrpSpPr>
      <p:grpSpPr>
        <a:xfrm>
          <a:off x="0" y="0"/>
          <a:ext cx="0" cy="0"/>
          <a:chOff x="0" y="0"/>
          <a:chExt cx="0" cy="0"/>
        </a:xfrm>
      </p:grpSpPr>
      <p:pic>
        <p:nvPicPr>
          <p:cNvPr id="178" name="Google Shape;178;p4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9" name="Google Shape;179;p42"/>
          <p:cNvSpPr txBox="1"/>
          <p:nvPr>
            <p:ph idx="1" type="body"/>
          </p:nvPr>
        </p:nvSpPr>
        <p:spPr>
          <a:xfrm>
            <a:off x="874713" y="2102946"/>
            <a:ext cx="10225087" cy="367328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0" name="Google Shape;180;p42"/>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1" name="Google Shape;181;p42"/>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2">
  <p:cSld name="2_Presentation - Content 2">
    <p:spTree>
      <p:nvGrpSpPr>
        <p:cNvPr id="182" name="Shape 182"/>
        <p:cNvGrpSpPr/>
        <p:nvPr/>
      </p:nvGrpSpPr>
      <p:grpSpPr>
        <a:xfrm>
          <a:off x="0" y="0"/>
          <a:ext cx="0" cy="0"/>
          <a:chOff x="0" y="0"/>
          <a:chExt cx="0" cy="0"/>
        </a:xfrm>
      </p:grpSpPr>
      <p:pic>
        <p:nvPicPr>
          <p:cNvPr id="183" name="Google Shape;183;p4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4" name="Google Shape;184;p43"/>
          <p:cNvSpPr txBox="1"/>
          <p:nvPr>
            <p:ph idx="1" type="body"/>
          </p:nvPr>
        </p:nvSpPr>
        <p:spPr>
          <a:xfrm>
            <a:off x="874713" y="1093984"/>
            <a:ext cx="10225087" cy="384790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5" name="Google Shape;185;p4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6" name="Google Shape;186;p43"/>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Empty - Content">
  <p:cSld name="2_Presentation - Empty - Content">
    <p:spTree>
      <p:nvGrpSpPr>
        <p:cNvPr id="187" name="Shape 187"/>
        <p:cNvGrpSpPr/>
        <p:nvPr/>
      </p:nvGrpSpPr>
      <p:grpSpPr>
        <a:xfrm>
          <a:off x="0" y="0"/>
          <a:ext cx="0" cy="0"/>
          <a:chOff x="0" y="0"/>
          <a:chExt cx="0" cy="0"/>
        </a:xfrm>
      </p:grpSpPr>
      <p:pic>
        <p:nvPicPr>
          <p:cNvPr id="188" name="Google Shape;188;p4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9" name="Google Shape;189;p44"/>
          <p:cNvSpPr txBox="1"/>
          <p:nvPr>
            <p:ph idx="1" type="body"/>
          </p:nvPr>
        </p:nvSpPr>
        <p:spPr>
          <a:xfrm>
            <a:off x="874713" y="1093983"/>
            <a:ext cx="10225087" cy="468224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0" name="Google Shape;190;p4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1" name="Google Shape;191;p44"/>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92" name="Shape 192"/>
        <p:cNvGrpSpPr/>
        <p:nvPr/>
      </p:nvGrpSpPr>
      <p:grpSpPr>
        <a:xfrm>
          <a:off x="0" y="0"/>
          <a:ext cx="0" cy="0"/>
          <a:chOff x="0" y="0"/>
          <a:chExt cx="0" cy="0"/>
        </a:xfrm>
      </p:grpSpPr>
      <p:pic>
        <p:nvPicPr>
          <p:cNvPr id="193" name="Google Shape;193;p4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4" name="Google Shape;194;p45"/>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5" name="Google Shape;195;p4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6" name="Google Shape;196;p45"/>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197" name="Google Shape;197;p45"/>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p:cSld name="3_Presentation - Content">
    <p:spTree>
      <p:nvGrpSpPr>
        <p:cNvPr id="198" name="Shape 198"/>
        <p:cNvGrpSpPr/>
        <p:nvPr/>
      </p:nvGrpSpPr>
      <p:grpSpPr>
        <a:xfrm>
          <a:off x="0" y="0"/>
          <a:ext cx="0" cy="0"/>
          <a:chOff x="0" y="0"/>
          <a:chExt cx="0" cy="0"/>
        </a:xfrm>
      </p:grpSpPr>
      <p:pic>
        <p:nvPicPr>
          <p:cNvPr id="199" name="Google Shape;199;p4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0" name="Google Shape;200;p46"/>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01" name="Google Shape;201;p4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2" name="Google Shape;202;p46"/>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2">
  <p:cSld name="3_Presentation - Content 2">
    <p:spTree>
      <p:nvGrpSpPr>
        <p:cNvPr id="203" name="Shape 203"/>
        <p:cNvGrpSpPr/>
        <p:nvPr/>
      </p:nvGrpSpPr>
      <p:grpSpPr>
        <a:xfrm>
          <a:off x="0" y="0"/>
          <a:ext cx="0" cy="0"/>
          <a:chOff x="0" y="0"/>
          <a:chExt cx="0" cy="0"/>
        </a:xfrm>
      </p:grpSpPr>
      <p:pic>
        <p:nvPicPr>
          <p:cNvPr id="204" name="Google Shape;204;p4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5" name="Google Shape;205;p47"/>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06" name="Google Shape;206;p47"/>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47"/>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Empty - Content">
  <p:cSld name="3_Presentation - Empty - Content">
    <p:spTree>
      <p:nvGrpSpPr>
        <p:cNvPr id="208" name="Shape 208"/>
        <p:cNvGrpSpPr/>
        <p:nvPr/>
      </p:nvGrpSpPr>
      <p:grpSpPr>
        <a:xfrm>
          <a:off x="0" y="0"/>
          <a:ext cx="0" cy="0"/>
          <a:chOff x="0" y="0"/>
          <a:chExt cx="0" cy="0"/>
        </a:xfrm>
      </p:grpSpPr>
      <p:pic>
        <p:nvPicPr>
          <p:cNvPr id="209" name="Google Shape;209;p4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0" name="Google Shape;210;p48"/>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11" name="Google Shape;211;p4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2" name="Google Shape;212;p48"/>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213" name="Shape 213"/>
        <p:cNvGrpSpPr/>
        <p:nvPr/>
      </p:nvGrpSpPr>
      <p:grpSpPr>
        <a:xfrm>
          <a:off x="0" y="0"/>
          <a:ext cx="0" cy="0"/>
          <a:chOff x="0" y="0"/>
          <a:chExt cx="0" cy="0"/>
        </a:xfrm>
      </p:grpSpPr>
      <p:pic>
        <p:nvPicPr>
          <p:cNvPr id="214" name="Google Shape;214;p4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5" name="Google Shape;215;p49"/>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
        <p:nvSpPr>
          <p:cNvPr id="216" name="Google Shape;216;p4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7" name="Google Shape;217;p49"/>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8" name="Google Shape;218;p49"/>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p:cSld name="1_Presentation - Empty">
    <p:spTree>
      <p:nvGrpSpPr>
        <p:cNvPr id="219" name="Shape 219"/>
        <p:cNvGrpSpPr/>
        <p:nvPr/>
      </p:nvGrpSpPr>
      <p:grpSpPr>
        <a:xfrm>
          <a:off x="0" y="0"/>
          <a:ext cx="0" cy="0"/>
          <a:chOff x="0" y="0"/>
          <a:chExt cx="0" cy="0"/>
        </a:xfrm>
      </p:grpSpPr>
      <p:pic>
        <p:nvPicPr>
          <p:cNvPr id="220" name="Google Shape;220;p5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1" name="Google Shape;221;p50"/>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2" name="Google Shape;222;p50"/>
          <p:cNvSpPr txBox="1"/>
          <p:nvPr/>
        </p:nvSpPr>
        <p:spPr>
          <a:xfrm>
            <a:off x="1107254" y="4313604"/>
            <a:ext cx="702742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u="none">
                <a:solidFill>
                  <a:schemeClr val="dk2"/>
                </a:solidFill>
                <a:latin typeface="Arial"/>
                <a:ea typeface="Arial"/>
                <a:cs typeface="Arial"/>
                <a:sym typeface="Arial"/>
              </a:rPr>
              <a:t>Subscribe</a:t>
            </a:r>
            <a:r>
              <a:rPr lang="en-US" sz="1600" u="none">
                <a:solidFill>
                  <a:schemeClr val="dk2"/>
                </a:solidFill>
                <a:latin typeface="Arial"/>
                <a:ea typeface="Arial"/>
                <a:cs typeface="Arial"/>
                <a:sym typeface="Arial"/>
              </a:rPr>
              <a:t> to our news: </a:t>
            </a:r>
            <a:r>
              <a:rPr lang="en-US" sz="1600" u="sng">
                <a:solidFill>
                  <a:schemeClr val="dk2"/>
                </a:solidFill>
                <a:latin typeface="Arial"/>
                <a:ea typeface="Arial"/>
                <a:cs typeface="Arial"/>
                <a:sym typeface="Arial"/>
              </a:rPr>
              <a:t>www.cost.eu/subscribe</a:t>
            </a:r>
            <a:endParaRPr sz="1600">
              <a:solidFill>
                <a:schemeClr val="dk2"/>
              </a:solidFill>
              <a:latin typeface="Arial"/>
              <a:ea typeface="Arial"/>
              <a:cs typeface="Arial"/>
              <a:sym typeface="Arial"/>
            </a:endParaRPr>
          </a:p>
        </p:txBody>
      </p:sp>
      <p:grpSp>
        <p:nvGrpSpPr>
          <p:cNvPr id="223" name="Google Shape;223;p50"/>
          <p:cNvGrpSpPr/>
          <p:nvPr/>
        </p:nvGrpSpPr>
        <p:grpSpPr>
          <a:xfrm>
            <a:off x="9026219" y="5182889"/>
            <a:ext cx="2200682" cy="1172172"/>
            <a:chOff x="6636485" y="5354057"/>
            <a:chExt cx="2200682" cy="1172172"/>
          </a:xfrm>
        </p:grpSpPr>
        <p:grpSp>
          <p:nvGrpSpPr>
            <p:cNvPr id="224" name="Google Shape;224;p50"/>
            <p:cNvGrpSpPr/>
            <p:nvPr/>
          </p:nvGrpSpPr>
          <p:grpSpPr>
            <a:xfrm>
              <a:off x="6883674" y="5354057"/>
              <a:ext cx="1953493" cy="1172172"/>
              <a:chOff x="6883674" y="5354057"/>
              <a:chExt cx="1953493" cy="1172172"/>
            </a:xfrm>
          </p:grpSpPr>
          <p:pic>
            <p:nvPicPr>
              <p:cNvPr descr="Plan de travail 1OFF-Icones.jpg" id="225" name="Google Shape;225;p50">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226" name="Google Shape;226;p50">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400">
                    <a:solidFill>
                      <a:schemeClr val="dk2"/>
                    </a:solidFill>
                    <a:latin typeface="Arial"/>
                    <a:ea typeface="Arial"/>
                    <a:cs typeface="Arial"/>
                    <a:sym typeface="Arial"/>
                  </a:rPr>
                  <a:t>www.cost.eu</a:t>
                </a:r>
                <a:endParaRPr sz="1400">
                  <a:solidFill>
                    <a:schemeClr val="dk2"/>
                  </a:solidFill>
                  <a:latin typeface="Arial"/>
                  <a:ea typeface="Arial"/>
                  <a:cs typeface="Arial"/>
                  <a:sym typeface="Arial"/>
                </a:endParaRPr>
              </a:p>
            </p:txBody>
          </p:sp>
          <p:pic>
            <p:nvPicPr>
              <p:cNvPr id="227" name="Google Shape;227;p50">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228" name="Google Shape;228;p50">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229" name="Google Shape;229;p50"/>
              <p:cNvSpPr txBox="1"/>
              <p:nvPr/>
            </p:nvSpPr>
            <p:spPr>
              <a:xfrm>
                <a:off x="6883674" y="5354057"/>
                <a:ext cx="1901592"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400">
                    <a:solidFill>
                      <a:schemeClr val="dk2"/>
                    </a:solidFill>
                    <a:latin typeface="Arial"/>
                    <a:ea typeface="Arial"/>
                    <a:cs typeface="Arial"/>
                    <a:sym typeface="Arial"/>
                  </a:rPr>
                  <a:t>Subscribe</a:t>
                </a:r>
                <a:endParaRPr b="1" sz="1400">
                  <a:solidFill>
                    <a:schemeClr val="dk2"/>
                  </a:solidFill>
                  <a:latin typeface="Arial"/>
                  <a:ea typeface="Arial"/>
                  <a:cs typeface="Arial"/>
                  <a:sym typeface="Arial"/>
                </a:endParaRPr>
              </a:p>
            </p:txBody>
          </p:sp>
        </p:grpSp>
        <p:pic>
          <p:nvPicPr>
            <p:cNvPr id="230" name="Google Shape;230;p50">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2">
  <p:cSld name="1_Presentation - Empty 2">
    <p:spTree>
      <p:nvGrpSpPr>
        <p:cNvPr id="231" name="Shape 231"/>
        <p:cNvGrpSpPr/>
        <p:nvPr/>
      </p:nvGrpSpPr>
      <p:grpSpPr>
        <a:xfrm>
          <a:off x="0" y="0"/>
          <a:ext cx="0" cy="0"/>
          <a:chOff x="0" y="0"/>
          <a:chExt cx="0" cy="0"/>
        </a:xfrm>
      </p:grpSpPr>
      <p:pic>
        <p:nvPicPr>
          <p:cNvPr id="232" name="Google Shape;232;p5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3" name="Google Shape;233;p51"/>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Empty">
  <p:cSld name="1_Presentation - Empty - Empty">
    <p:spTree>
      <p:nvGrpSpPr>
        <p:cNvPr id="234" name="Shape 234"/>
        <p:cNvGrpSpPr/>
        <p:nvPr/>
      </p:nvGrpSpPr>
      <p:grpSpPr>
        <a:xfrm>
          <a:off x="0" y="0"/>
          <a:ext cx="0" cy="0"/>
          <a:chOff x="0" y="0"/>
          <a:chExt cx="0" cy="0"/>
        </a:xfrm>
      </p:grpSpPr>
      <p:pic>
        <p:nvPicPr>
          <p:cNvPr id="235" name="Google Shape;235;p5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6" name="Google Shape;236;p52"/>
          <p:cNvSpPr txBox="1"/>
          <p:nvPr/>
        </p:nvSpPr>
        <p:spPr>
          <a:xfrm>
            <a:off x="9413934" y="6216896"/>
            <a:ext cx="2249714"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1600">
                <a:solidFill>
                  <a:schemeClr val="dk2"/>
                </a:solidFill>
                <a:latin typeface="Arial"/>
                <a:ea typeface="Arial"/>
                <a:cs typeface="Arial"/>
                <a:sym typeface="Arial"/>
              </a:rPr>
              <a:t>‹#›</a:t>
            </a:fld>
            <a:endParaRPr sz="1600">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3.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theme" Target="../theme/theme4.xml"/><Relationship Id="rId14" Type="http://schemas.openxmlformats.org/officeDocument/2006/relationships/slideLayout" Target="../slideLayouts/slideLayout4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www.online-engineering.org" TargetMode="External"/><Relationship Id="rId4" Type="http://schemas.openxmlformats.org/officeDocument/2006/relationships/hyperlink" Target="http://www.online-engineering.or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blockchainhungary.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masterschool.eitdigital.eu/fintech" TargetMode="External"/><Relationship Id="rId4" Type="http://schemas.openxmlformats.org/officeDocument/2006/relationships/hyperlink" Target="https://www.elte.hu/en/computer-science-msc-financial-technology-specializ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500"/>
              <a:buFont typeface="Arial"/>
              <a:buNone/>
            </a:pPr>
            <a:r>
              <a:rPr lang="en-US"/>
              <a:t>COST Fin AI Country Update</a:t>
            </a:r>
            <a:endParaRPr/>
          </a:p>
        </p:txBody>
      </p:sp>
      <p:sp>
        <p:nvSpPr>
          <p:cNvPr id="242" name="Google Shape;242;p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400"/>
              <a:buNone/>
            </a:pPr>
            <a:r>
              <a:rPr lang="en-US"/>
              <a:t>Hungary</a:t>
            </a:r>
            <a:endParaRPr/>
          </a:p>
        </p:txBody>
      </p:sp>
      <p:sp>
        <p:nvSpPr>
          <p:cNvPr id="243" name="Google Shape;243;p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600"/>
              <a:buNone/>
            </a:pPr>
            <a:r>
              <a:rPr lang="en-US"/>
              <a:t>Bálint Molnár</a:t>
            </a:r>
            <a:endParaRPr/>
          </a:p>
          <a:p>
            <a:pPr indent="0" lvl="0" marL="0" rtl="0" algn="l">
              <a:lnSpc>
                <a:spcPct val="90000"/>
              </a:lnSpc>
              <a:spcBef>
                <a:spcPts val="1000"/>
              </a:spcBef>
              <a:spcAft>
                <a:spcPts val="0"/>
              </a:spcAft>
              <a:buClr>
                <a:schemeClr val="dk2"/>
              </a:buClr>
              <a:buSzPts val="16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SzPct val="100000"/>
              <a:buChar char="▪"/>
            </a:pPr>
            <a:r>
              <a:rPr lang="en-US"/>
              <a:t>Bálint Molnár, Dr.habil., Principal Researcher, Associate Professor at Eötvös Loránd University (ELTE);</a:t>
            </a:r>
            <a:endParaRPr/>
          </a:p>
          <a:p>
            <a:pPr indent="-228600" lvl="0" marL="228600" rtl="0" algn="l">
              <a:lnSpc>
                <a:spcPct val="120000"/>
              </a:lnSpc>
              <a:spcBef>
                <a:spcPts val="1000"/>
              </a:spcBef>
              <a:spcAft>
                <a:spcPts val="0"/>
              </a:spcAft>
              <a:buSzPct val="100000"/>
              <a:buChar char="▪"/>
            </a:pPr>
            <a:r>
              <a:rPr lang="en-US"/>
              <a:t>Tuan Trinh, Ph.D., EIT Digital Budapest Co-Location Centre manager</a:t>
            </a:r>
            <a:endParaRPr/>
          </a:p>
          <a:p>
            <a:pPr indent="-228600" lvl="0" marL="228600" rtl="0" algn="l">
              <a:lnSpc>
                <a:spcPct val="120000"/>
              </a:lnSpc>
              <a:spcBef>
                <a:spcPts val="1000"/>
              </a:spcBef>
              <a:spcAft>
                <a:spcPts val="0"/>
              </a:spcAft>
              <a:buSzPct val="100000"/>
              <a:buChar char="▪"/>
            </a:pPr>
            <a:r>
              <a:rPr lang="en-US"/>
              <a:t>Planned Actions, Projects</a:t>
            </a:r>
            <a:endParaRPr/>
          </a:p>
          <a:p>
            <a:pPr indent="-228600" lvl="1" marL="685800" rtl="0" algn="l">
              <a:lnSpc>
                <a:spcPct val="120000"/>
              </a:lnSpc>
              <a:spcBef>
                <a:spcPts val="500"/>
              </a:spcBef>
              <a:spcAft>
                <a:spcPts val="0"/>
              </a:spcAft>
              <a:buSzPct val="100000"/>
              <a:buChar char="▪"/>
            </a:pPr>
            <a:r>
              <a:rPr lang="en-US"/>
              <a:t>Participation in the Hungarian Security And FintEch Digital Innovation Hub (Digitaltech Edih): the primary goal is to yield support for SME, micro  firms, startup in Financial Services Technologies.</a:t>
            </a:r>
            <a:endParaRPr/>
          </a:p>
          <a:p>
            <a:pPr indent="-228600" lvl="1" marL="685800" rtl="0" algn="l">
              <a:lnSpc>
                <a:spcPct val="120000"/>
              </a:lnSpc>
              <a:spcBef>
                <a:spcPts val="500"/>
              </a:spcBef>
              <a:spcAft>
                <a:spcPts val="0"/>
              </a:spcAft>
              <a:buSzPct val="100000"/>
              <a:buChar char="▪"/>
            </a:pPr>
            <a:r>
              <a:rPr lang="en-US"/>
              <a:t> Integrating the Financial Institution and their subsidiaries into Digitaltech Edih and consequently into CA 19130.</a:t>
            </a:r>
            <a:endParaRPr/>
          </a:p>
          <a:p>
            <a:pPr indent="-228600" lvl="1" marL="685800" rtl="0" algn="l">
              <a:lnSpc>
                <a:spcPct val="120000"/>
              </a:lnSpc>
              <a:spcBef>
                <a:spcPts val="500"/>
              </a:spcBef>
              <a:spcAft>
                <a:spcPts val="0"/>
              </a:spcAft>
              <a:buSzPct val="100000"/>
              <a:buChar char="▪"/>
            </a:pPr>
            <a:r>
              <a:rPr lang="en-US"/>
              <a:t>Participation in WG1, WG2 and WG3</a:t>
            </a:r>
            <a:endParaRPr/>
          </a:p>
          <a:p>
            <a:pPr indent="-110490" lvl="1" marL="685800" rtl="0" algn="l">
              <a:lnSpc>
                <a:spcPct val="120000"/>
              </a:lnSpc>
              <a:spcBef>
                <a:spcPts val="500"/>
              </a:spcBef>
              <a:spcAft>
                <a:spcPts val="0"/>
              </a:spcAft>
              <a:buSzPct val="100000"/>
              <a:buNone/>
            </a:pPr>
            <a:r>
              <a:t/>
            </a:r>
            <a:endParaRPr/>
          </a:p>
          <a:p>
            <a:pPr indent="-90804" lvl="0" marL="228600" rtl="0" algn="l">
              <a:lnSpc>
                <a:spcPct val="120000"/>
              </a:lnSpc>
              <a:spcBef>
                <a:spcPts val="1000"/>
              </a:spcBef>
              <a:spcAft>
                <a:spcPts val="0"/>
              </a:spcAft>
              <a:buSzPct val="100000"/>
              <a:buNone/>
            </a:pPr>
            <a:r>
              <a:t/>
            </a:r>
            <a:endParaRPr/>
          </a:p>
        </p:txBody>
      </p:sp>
      <p:sp>
        <p:nvSpPr>
          <p:cNvPr id="249" name="Google Shape;249;p2"/>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MC Members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fontScale="70000" lnSpcReduction="20000"/>
          </a:bodyPr>
          <a:lstStyle/>
          <a:p>
            <a:pPr indent="-188595" lvl="0" marL="228600" rtl="0" algn="l">
              <a:lnSpc>
                <a:spcPct val="90000"/>
              </a:lnSpc>
              <a:spcBef>
                <a:spcPts val="0"/>
              </a:spcBef>
              <a:spcAft>
                <a:spcPts val="0"/>
              </a:spcAft>
              <a:buClr>
                <a:schemeClr val="accent4"/>
              </a:buClr>
              <a:buSzPct val="100000"/>
              <a:buFont typeface="Noto Sans Symbols"/>
              <a:buChar char="▪"/>
            </a:pPr>
            <a:r>
              <a:rPr lang="en-US"/>
              <a:t>Education </a:t>
            </a:r>
            <a:endParaRPr/>
          </a:p>
          <a:p>
            <a:pPr indent="-194310" lvl="1" marL="685800" rtl="0" algn="l">
              <a:lnSpc>
                <a:spcPct val="90000"/>
              </a:lnSpc>
              <a:spcBef>
                <a:spcPts val="500"/>
              </a:spcBef>
              <a:spcAft>
                <a:spcPts val="0"/>
              </a:spcAft>
              <a:buSzPct val="100000"/>
              <a:buChar char="▪"/>
            </a:pPr>
            <a:r>
              <a:rPr lang="en-US"/>
              <a:t>English language MSc program within the Computer Science track</a:t>
            </a:r>
            <a:endParaRPr/>
          </a:p>
          <a:p>
            <a:pPr indent="-194310" lvl="1" marL="685800" rtl="0" algn="l">
              <a:lnSpc>
                <a:spcPct val="90000"/>
              </a:lnSpc>
              <a:spcBef>
                <a:spcPts val="500"/>
              </a:spcBef>
              <a:spcAft>
                <a:spcPts val="0"/>
              </a:spcAft>
              <a:buSzPct val="100000"/>
              <a:buChar char="▪"/>
            </a:pPr>
            <a:r>
              <a:rPr lang="en-US"/>
              <a:t>Courses, workshops, conferences on Financial Services Technologies</a:t>
            </a:r>
            <a:endParaRPr/>
          </a:p>
          <a:p>
            <a:pPr indent="-194310" lvl="1" marL="685800" rtl="0" algn="l">
              <a:lnSpc>
                <a:spcPct val="90000"/>
              </a:lnSpc>
              <a:spcBef>
                <a:spcPts val="500"/>
              </a:spcBef>
              <a:spcAft>
                <a:spcPts val="0"/>
              </a:spcAft>
              <a:buSzPct val="100000"/>
              <a:buChar char="▪"/>
            </a:pPr>
            <a:r>
              <a:rPr lang="en-US"/>
              <a:t>Cooperation under the auspices of DIGITALTECH EDIH with Financial Institutions, SME, start-ups</a:t>
            </a:r>
            <a:endParaRPr/>
          </a:p>
          <a:p>
            <a:pPr indent="-194310" lvl="1" marL="685800" rtl="0" algn="l">
              <a:lnSpc>
                <a:spcPct val="90000"/>
              </a:lnSpc>
              <a:spcBef>
                <a:spcPts val="500"/>
              </a:spcBef>
              <a:spcAft>
                <a:spcPts val="0"/>
              </a:spcAft>
              <a:buSzPct val="100000"/>
              <a:buChar char="▪"/>
            </a:pPr>
            <a:r>
              <a:rPr lang="en-US"/>
              <a:t>Dissemination of FinTech and AI in FinTech related knowledge for SME</a:t>
            </a:r>
            <a:endParaRPr/>
          </a:p>
          <a:p>
            <a:pPr indent="-190500" lvl="2" marL="1143000" rtl="0" algn="l">
              <a:lnSpc>
                <a:spcPct val="90000"/>
              </a:lnSpc>
              <a:spcBef>
                <a:spcPts val="500"/>
              </a:spcBef>
              <a:spcAft>
                <a:spcPts val="0"/>
              </a:spcAft>
              <a:buSzPct val="100000"/>
              <a:buChar char="▪"/>
            </a:pPr>
            <a:r>
              <a:rPr lang="en-US"/>
              <a:t>Courses for MSMEs</a:t>
            </a:r>
            <a:endParaRPr/>
          </a:p>
          <a:p>
            <a:pPr indent="-190500" lvl="2" marL="1143000" rtl="0" algn="l">
              <a:lnSpc>
                <a:spcPct val="90000"/>
              </a:lnSpc>
              <a:spcBef>
                <a:spcPts val="500"/>
              </a:spcBef>
              <a:spcAft>
                <a:spcPts val="0"/>
              </a:spcAft>
              <a:buSzPct val="100000"/>
              <a:buChar char="▪"/>
            </a:pPr>
            <a:r>
              <a:rPr lang="en-US"/>
              <a:t>Consultancy services for MSMEs</a:t>
            </a:r>
            <a:endParaRPr sz="2000"/>
          </a:p>
          <a:p>
            <a:pPr indent="0" lvl="0" marL="1143000" rtl="0" algn="l">
              <a:lnSpc>
                <a:spcPct val="90000"/>
              </a:lnSpc>
              <a:spcBef>
                <a:spcPts val="500"/>
              </a:spcBef>
              <a:spcAft>
                <a:spcPts val="0"/>
              </a:spcAft>
              <a:buNone/>
            </a:pPr>
            <a:r>
              <a:t/>
            </a:r>
            <a:endParaRPr sz="2000"/>
          </a:p>
          <a:p>
            <a:pPr indent="-194310" lvl="1" marL="685800" rtl="0" algn="l">
              <a:lnSpc>
                <a:spcPct val="90000"/>
              </a:lnSpc>
              <a:spcBef>
                <a:spcPts val="500"/>
              </a:spcBef>
              <a:spcAft>
                <a:spcPts val="0"/>
              </a:spcAft>
              <a:buSzPct val="100000"/>
              <a:buChar char="▪"/>
            </a:pPr>
            <a:r>
              <a:rPr lang="en-US"/>
              <a:t>EDIH (European Digital Innovation Hub) – cooperation with other countries in Financial Services Technologies</a:t>
            </a:r>
            <a:endParaRPr/>
          </a:p>
          <a:p>
            <a:pPr indent="-194310" lvl="1" marL="685800" rtl="0" algn="l">
              <a:lnSpc>
                <a:spcPct val="90000"/>
              </a:lnSpc>
              <a:spcBef>
                <a:spcPts val="500"/>
              </a:spcBef>
              <a:spcAft>
                <a:spcPts val="0"/>
              </a:spcAft>
              <a:buSzPct val="100000"/>
              <a:buChar char="▪"/>
            </a:pPr>
            <a:r>
              <a:rPr lang="en-US"/>
              <a:t>Establish a large and interconnected community across academia, public institutions and industry focusing on Financial Technology and Artificial Intelligence, improving transparency in financial services, especially in and through FinTech, in financial modelling and investment performance evaluation</a:t>
            </a:r>
            <a:endParaRPr/>
          </a:p>
          <a:p>
            <a:pPr indent="-87630" lvl="1" marL="685800" rtl="0" algn="l">
              <a:lnSpc>
                <a:spcPct val="90000"/>
              </a:lnSpc>
              <a:spcBef>
                <a:spcPts val="500"/>
              </a:spcBef>
              <a:spcAft>
                <a:spcPts val="0"/>
              </a:spcAft>
              <a:buSzPct val="100000"/>
              <a:buNone/>
            </a:pPr>
            <a:r>
              <a:t/>
            </a:r>
            <a:endParaRPr/>
          </a:p>
        </p:txBody>
      </p:sp>
      <p:sp>
        <p:nvSpPr>
          <p:cNvPr id="255" name="Google Shape;255;p3"/>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DIGITALTECH EDIH and CA 19130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Publications</a:t>
            </a:r>
            <a:endParaRPr/>
          </a:p>
        </p:txBody>
      </p:sp>
      <p:sp>
        <p:nvSpPr>
          <p:cNvPr id="261" name="Google Shape;261;p4"/>
          <p:cNvSpPr txBox="1"/>
          <p:nvPr>
            <p:ph idx="1" type="body"/>
          </p:nvPr>
        </p:nvSpPr>
        <p:spPr>
          <a:xfrm>
            <a:off x="1465750" y="1884225"/>
            <a:ext cx="9440100" cy="4368900"/>
          </a:xfrm>
          <a:prstGeom prst="rect">
            <a:avLst/>
          </a:prstGeom>
          <a:noFill/>
          <a:ln>
            <a:noFill/>
          </a:ln>
        </p:spPr>
        <p:txBody>
          <a:bodyPr anchorCtr="0" anchor="ctr" bIns="45700" lIns="91425" spcFirstLastPara="1" rIns="91425" wrap="square" tIns="158700">
            <a:noAutofit/>
          </a:bodyPr>
          <a:lstStyle/>
          <a:p>
            <a:pPr indent="-22860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a:t>
            </a:r>
            <a:r>
              <a:rPr b="1" lang="en-US" sz="2300">
                <a:solidFill>
                  <a:schemeClr val="dk1"/>
                </a:solidFill>
              </a:rPr>
              <a:t>Conference</a:t>
            </a:r>
            <a:endParaRPr b="1" sz="1200">
              <a:solidFill>
                <a:schemeClr val="dk1"/>
              </a:solidFill>
              <a:latin typeface="Times New Roman"/>
              <a:ea typeface="Times New Roman"/>
              <a:cs typeface="Times New Roman"/>
              <a:sym typeface="Times New Roman"/>
            </a:endParaRPr>
          </a:p>
          <a:p>
            <a:pPr indent="-22860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a:t>
            </a:r>
            <a:r>
              <a:rPr lang="en-US" sz="7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PISONI, Galena, BÁLINT MOLNÁR, . BUSINESS PROCESSES MANAGEMENT AND RESPONSIBLE USE OF BIG DATA. IADIS Press, 2023, ISBN: 978-989-8704-48-1.</a:t>
            </a:r>
            <a:endParaRPr sz="1200">
              <a:solidFill>
                <a:schemeClr val="dk1"/>
              </a:solidFill>
              <a:latin typeface="Times New Roman"/>
              <a:ea typeface="Times New Roman"/>
              <a:cs typeface="Times New Roman"/>
              <a:sym typeface="Times New Roman"/>
            </a:endParaRPr>
          </a:p>
          <a:p>
            <a:pPr indent="-22860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2.</a:t>
            </a:r>
            <a:r>
              <a:rPr lang="en-US" sz="7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PISONI, Galena y BÁLINT MOLNÁR, . Superior business processes with XAI. IAOE - International Association of Online Engineering (</a:t>
            </a:r>
            <a:r>
              <a:rPr lang="en-US" sz="1200" u="sng">
                <a:solidFill>
                  <a:schemeClr val="hlink"/>
                </a:solidFill>
                <a:latin typeface="Times New Roman"/>
                <a:ea typeface="Times New Roman"/>
                <a:cs typeface="Times New Roman"/>
                <a:sym typeface="Times New Roman"/>
                <a:hlinkClick r:id="rId3"/>
              </a:rPr>
              <a:t>www.online-engineering.org</a:t>
            </a:r>
            <a:r>
              <a:rPr lang="en-US" sz="1200">
                <a:solidFill>
                  <a:schemeClr val="dk1"/>
                </a:solidFill>
                <a:latin typeface="Times New Roman"/>
                <a:ea typeface="Times New Roman"/>
                <a:cs typeface="Times New Roman"/>
                <a:sym typeface="Times New Roman"/>
              </a:rPr>
              <a:t> ), 2023,</a:t>
            </a:r>
            <a:endParaRPr sz="1200">
              <a:solidFill>
                <a:schemeClr val="dk1"/>
              </a:solidFill>
              <a:latin typeface="Times New Roman"/>
              <a:ea typeface="Times New Roman"/>
              <a:cs typeface="Times New Roman"/>
              <a:sym typeface="Times New Roman"/>
            </a:endParaRPr>
          </a:p>
          <a:p>
            <a:pPr indent="-22860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3.</a:t>
            </a:r>
            <a:r>
              <a:rPr lang="en-US" sz="7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PISONI, Galena y BÁLINT MOLNÁR, . Data management and enterprise architectures for. IAOE - International Association of Online Engineering (</a:t>
            </a:r>
            <a:r>
              <a:rPr lang="en-US" sz="1200" u="sng">
                <a:solidFill>
                  <a:schemeClr val="hlink"/>
                </a:solidFill>
                <a:latin typeface="Times New Roman"/>
                <a:ea typeface="Times New Roman"/>
                <a:cs typeface="Times New Roman"/>
                <a:sym typeface="Times New Roman"/>
                <a:hlinkClick r:id="rId4"/>
              </a:rPr>
              <a:t>www.online-engineering.org</a:t>
            </a:r>
            <a:r>
              <a:rPr lang="en-US" sz="1200">
                <a:solidFill>
                  <a:schemeClr val="dk1"/>
                </a:solidFill>
                <a:latin typeface="Times New Roman"/>
                <a:ea typeface="Times New Roman"/>
                <a:cs typeface="Times New Roman"/>
                <a:sym typeface="Times New Roman"/>
              </a:rPr>
              <a:t> ), 2023,</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228600" lvl="0" marL="0" rtl="0" algn="l">
              <a:lnSpc>
                <a:spcPct val="115000"/>
              </a:lnSpc>
              <a:spcBef>
                <a:spcPts val="2400"/>
              </a:spcBef>
              <a:spcAft>
                <a:spcPts val="0"/>
              </a:spcAft>
              <a:buClr>
                <a:schemeClr val="dk1"/>
              </a:buClr>
              <a:buSzPts val="1100"/>
              <a:buFont typeface="Arial"/>
              <a:buNone/>
            </a:pPr>
            <a:r>
              <a:rPr b="1" lang="en-US" sz="2300">
                <a:solidFill>
                  <a:schemeClr val="dk1"/>
                </a:solidFill>
              </a:rPr>
              <a:t>Journal</a:t>
            </a:r>
            <a:endParaRPr b="1" sz="2300">
              <a:solidFill>
                <a:schemeClr val="dk1"/>
              </a:solidFill>
            </a:endParaRPr>
          </a:p>
          <a:p>
            <a:pPr indent="-228600" lvl="0" marL="0" rtl="0" algn="just">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1.</a:t>
            </a:r>
            <a:r>
              <a:rPr lang="en-US" sz="7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MOLNÁR, Bálint, PISONI, Galena, KHERBOUCHE, Meriem, ZGHAL, Yossra. Blockchain-based business process management (BPM) for finance: the case of credit and claim requests. 2023, 1254-1278. (6). Journal subject: Scopus - Electrical and Electronic Engineering Rank: Q1Journal subject: Scopus - Urban Studies Rank: Q1Journal subject: Scopus - Artificial Intelligence Rank: Q2. https://m2.mtmt.hu/api/publication/33791941.</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2"/>
              </a:buClr>
              <a:buSzPts val="900"/>
              <a:buFont typeface="Arial"/>
              <a:buNone/>
            </a:pPr>
            <a:r>
              <a:t/>
            </a:r>
            <a:endParaRPr sz="900">
              <a:solidFill>
                <a:schemeClr val="dk1"/>
              </a:solidFill>
            </a:endParaRPr>
          </a:p>
          <a:p>
            <a:pPr indent="0" lvl="0" marL="0" marR="0" rtl="0" algn="l">
              <a:lnSpc>
                <a:spcPct val="100000"/>
              </a:lnSpc>
              <a:spcBef>
                <a:spcPts val="0"/>
              </a:spcBef>
              <a:spcAft>
                <a:spcPts val="0"/>
              </a:spcAft>
              <a:buClr>
                <a:schemeClr val="dk2"/>
              </a:buClr>
              <a:buSzPts val="900"/>
              <a:buFont typeface="Arial"/>
              <a:buNone/>
            </a:pPr>
            <a:r>
              <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fontScale="55000" lnSpcReduction="10000"/>
          </a:bodyPr>
          <a:lstStyle/>
          <a:p>
            <a:pPr indent="-201930" lvl="0" marL="228600" rtl="0" algn="l">
              <a:lnSpc>
                <a:spcPct val="90000"/>
              </a:lnSpc>
              <a:spcBef>
                <a:spcPts val="0"/>
              </a:spcBef>
              <a:spcAft>
                <a:spcPts val="0"/>
              </a:spcAft>
              <a:buSzPct val="100000"/>
              <a:buChar char="▪"/>
            </a:pPr>
            <a:r>
              <a:rPr lang="en-US"/>
              <a:t>Building up an R&amp;D relationship with the OTP (The largest Hungarian retail bank) in topics of Financial Services Technologies:</a:t>
            </a:r>
            <a:endParaRPr/>
          </a:p>
          <a:p>
            <a:pPr indent="-173990" lvl="1" marL="685800" rtl="0" algn="l">
              <a:lnSpc>
                <a:spcPct val="90000"/>
              </a:lnSpc>
              <a:spcBef>
                <a:spcPts val="1000"/>
              </a:spcBef>
              <a:spcAft>
                <a:spcPts val="0"/>
              </a:spcAft>
              <a:buSzPct val="116666"/>
              <a:buChar char="▪"/>
            </a:pPr>
            <a:r>
              <a:rPr lang="en-US"/>
              <a:t>Blockchain application in financial business processes</a:t>
            </a:r>
            <a:endParaRPr/>
          </a:p>
          <a:p>
            <a:pPr indent="-173990" lvl="1" marL="685800" rtl="0" algn="l">
              <a:lnSpc>
                <a:spcPct val="90000"/>
              </a:lnSpc>
              <a:spcBef>
                <a:spcPts val="1000"/>
              </a:spcBef>
              <a:spcAft>
                <a:spcPts val="0"/>
              </a:spcAft>
              <a:buSzPct val="116666"/>
              <a:buChar char="▪"/>
            </a:pPr>
            <a:r>
              <a:rPr lang="en-US"/>
              <a:t>NFT</a:t>
            </a:r>
            <a:endParaRPr/>
          </a:p>
          <a:p>
            <a:pPr indent="-173990" lvl="1" marL="685800" rtl="0" algn="l">
              <a:lnSpc>
                <a:spcPct val="90000"/>
              </a:lnSpc>
              <a:spcBef>
                <a:spcPts val="1000"/>
              </a:spcBef>
              <a:spcAft>
                <a:spcPts val="0"/>
              </a:spcAft>
              <a:buSzPct val="116666"/>
              <a:buChar char="▪"/>
            </a:pPr>
            <a:r>
              <a:rPr lang="en-US"/>
              <a:t>Digital money, currencies, assets.</a:t>
            </a:r>
            <a:endParaRPr/>
          </a:p>
          <a:p>
            <a:pPr indent="-173990" lvl="1" marL="685800" rtl="0" algn="l">
              <a:lnSpc>
                <a:spcPct val="90000"/>
              </a:lnSpc>
              <a:spcBef>
                <a:spcPts val="1000"/>
              </a:spcBef>
              <a:spcAft>
                <a:spcPts val="0"/>
              </a:spcAft>
              <a:buSzPct val="116666"/>
              <a:buChar char="▪"/>
            </a:pPr>
            <a:r>
              <a:rPr lang="en-US"/>
              <a:t>Legal aspects of the application of AI in Finance (GDPR, regulation etc.).</a:t>
            </a:r>
            <a:endParaRPr/>
          </a:p>
          <a:p>
            <a:pPr indent="-201930" lvl="0" marL="228600" rtl="0" algn="l">
              <a:lnSpc>
                <a:spcPct val="90000"/>
              </a:lnSpc>
              <a:spcBef>
                <a:spcPts val="1000"/>
              </a:spcBef>
              <a:spcAft>
                <a:spcPts val="0"/>
              </a:spcAft>
              <a:buSzPct val="100000"/>
              <a:buChar char="▪"/>
            </a:pPr>
            <a:r>
              <a:rPr lang="en-US"/>
              <a:t>Building up a relationship with the Association of Hungarian Banks and the Hungarian National Bank.</a:t>
            </a:r>
            <a:endParaRPr/>
          </a:p>
          <a:p>
            <a:pPr indent="-201930" lvl="0" marL="228600" rtl="0" algn="l">
              <a:lnSpc>
                <a:spcPct val="90000"/>
              </a:lnSpc>
              <a:spcBef>
                <a:spcPts val="1000"/>
              </a:spcBef>
              <a:spcAft>
                <a:spcPts val="0"/>
              </a:spcAft>
              <a:buSzPct val="100000"/>
              <a:buChar char="▪"/>
            </a:pPr>
            <a:r>
              <a:rPr lang="en-US"/>
              <a:t>Participating as members in the Hungarian Blockchain coalition:</a:t>
            </a:r>
            <a:endParaRPr/>
          </a:p>
          <a:p>
            <a:pPr indent="-205739" lvl="1" marL="685800" rtl="0" algn="l">
              <a:lnSpc>
                <a:spcPct val="90000"/>
              </a:lnSpc>
              <a:spcBef>
                <a:spcPts val="500"/>
              </a:spcBef>
              <a:spcAft>
                <a:spcPts val="0"/>
              </a:spcAft>
              <a:buSzPct val="100000"/>
              <a:buChar char="▪"/>
            </a:pPr>
            <a:r>
              <a:rPr lang="en-US"/>
              <a:t>Logistics workgroup (every issue that is related to enterprises and blockchain).</a:t>
            </a:r>
            <a:endParaRPr/>
          </a:p>
          <a:p>
            <a:pPr indent="-205739" lvl="1" marL="685800" rtl="0" algn="l">
              <a:lnSpc>
                <a:spcPct val="90000"/>
              </a:lnSpc>
              <a:spcBef>
                <a:spcPts val="500"/>
              </a:spcBef>
              <a:spcAft>
                <a:spcPts val="0"/>
              </a:spcAft>
              <a:buSzPct val="100000"/>
              <a:buChar char="▪"/>
            </a:pPr>
            <a:r>
              <a:rPr lang="en-US"/>
              <a:t>Legal group</a:t>
            </a:r>
            <a:endParaRPr/>
          </a:p>
          <a:p>
            <a:pPr indent="-205739" lvl="1" marL="685800" rtl="0" algn="l">
              <a:lnSpc>
                <a:spcPct val="90000"/>
              </a:lnSpc>
              <a:spcBef>
                <a:spcPts val="500"/>
              </a:spcBef>
              <a:spcAft>
                <a:spcPts val="0"/>
              </a:spcAft>
              <a:buSzPct val="100000"/>
              <a:buChar char="▪"/>
            </a:pPr>
            <a:r>
              <a:rPr lang="en-US"/>
              <a:t>Financial institution (bank, insurance, National Bank, etc.)</a:t>
            </a:r>
            <a:endParaRPr/>
          </a:p>
          <a:p>
            <a:pPr indent="-148590" lvl="0" marL="228600" rtl="0" algn="l">
              <a:lnSpc>
                <a:spcPct val="90000"/>
              </a:lnSpc>
              <a:spcBef>
                <a:spcPts val="500"/>
              </a:spcBef>
              <a:spcAft>
                <a:spcPts val="0"/>
              </a:spcAft>
              <a:buSzPct val="100000"/>
              <a:buChar char="▪"/>
            </a:pPr>
            <a:r>
              <a:rPr lang="en-US"/>
              <a:t>Participating in the Hungarian Blockchain Association (</a:t>
            </a:r>
            <a:r>
              <a:rPr lang="en-US" u="sng">
                <a:solidFill>
                  <a:schemeClr val="hlink"/>
                </a:solidFill>
                <a:hlinkClick r:id="rId3"/>
              </a:rPr>
              <a:t>https://www.blockchainhungary.org/</a:t>
            </a:r>
            <a:r>
              <a:rPr lang="en-US"/>
              <a:t> )</a:t>
            </a:r>
            <a:endParaRPr/>
          </a:p>
          <a:p>
            <a:pPr indent="-104140" lvl="0" marL="228600" rtl="0" algn="l">
              <a:lnSpc>
                <a:spcPct val="90000"/>
              </a:lnSpc>
              <a:spcBef>
                <a:spcPts val="1000"/>
              </a:spcBef>
              <a:spcAft>
                <a:spcPts val="0"/>
              </a:spcAft>
              <a:buClr>
                <a:schemeClr val="accent4"/>
              </a:buClr>
              <a:buSzPct val="100000"/>
              <a:buFont typeface="Noto Sans Symbols"/>
              <a:buNone/>
            </a:pPr>
            <a:r>
              <a:t/>
            </a:r>
            <a:endParaRPr/>
          </a:p>
        </p:txBody>
      </p:sp>
      <p:sp>
        <p:nvSpPr>
          <p:cNvPr id="267" name="Google Shape;267;p5"/>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b="0" lang="en-US"/>
              <a:t>Impact (creating network, promotions, etc.)</a:t>
            </a:r>
            <a:br>
              <a:rPr b="0" lang="en-US"/>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6"/>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4"/>
              </a:buClr>
              <a:buSzPts val="2800"/>
              <a:buFont typeface="Noto Sans Symbols"/>
              <a:buChar char="▪"/>
            </a:pPr>
            <a:r>
              <a:rPr lang="en-US"/>
              <a:t>EIT Digital Master School on Digital Finance (FinTech) including reachout activities:</a:t>
            </a:r>
            <a:endParaRPr/>
          </a:p>
          <a:p>
            <a:pPr indent="-228600" lvl="0" marL="228600" rtl="0" algn="l">
              <a:lnSpc>
                <a:spcPct val="90000"/>
              </a:lnSpc>
              <a:spcBef>
                <a:spcPts val="1000"/>
              </a:spcBef>
              <a:spcAft>
                <a:spcPts val="0"/>
              </a:spcAft>
              <a:buClr>
                <a:schemeClr val="accent4"/>
              </a:buClr>
              <a:buSzPts val="2800"/>
              <a:buFont typeface="Noto Sans Symbols"/>
              <a:buChar char="▪"/>
            </a:pPr>
            <a:r>
              <a:rPr lang="en-US" u="sng">
                <a:solidFill>
                  <a:schemeClr val="hlink"/>
                </a:solidFill>
                <a:hlinkClick r:id="rId3"/>
              </a:rPr>
              <a:t>https://masterschool.eitdigital.eu/fintech</a:t>
            </a:r>
            <a:endParaRPr u="sng"/>
          </a:p>
          <a:p>
            <a:pPr indent="-228600" lvl="0" marL="228600" rtl="0" algn="l">
              <a:lnSpc>
                <a:spcPct val="90000"/>
              </a:lnSpc>
              <a:spcBef>
                <a:spcPts val="1000"/>
              </a:spcBef>
              <a:spcAft>
                <a:spcPts val="0"/>
              </a:spcAft>
              <a:buClr>
                <a:schemeClr val="accent4"/>
              </a:buClr>
              <a:buSzPts val="2800"/>
              <a:buFont typeface="Noto Sans Symbols"/>
              <a:buChar char="▪"/>
            </a:pPr>
            <a:r>
              <a:rPr lang="en-US" u="sng"/>
              <a:t>ELTE English language M.Sc. Degree Fintech program</a:t>
            </a:r>
            <a:endParaRPr/>
          </a:p>
          <a:p>
            <a:pPr indent="-228600" lvl="0" marL="228600" rtl="0" algn="l">
              <a:lnSpc>
                <a:spcPct val="90000"/>
              </a:lnSpc>
              <a:spcBef>
                <a:spcPts val="1000"/>
              </a:spcBef>
              <a:spcAft>
                <a:spcPts val="0"/>
              </a:spcAft>
              <a:buClr>
                <a:schemeClr val="accent4"/>
              </a:buClr>
              <a:buSzPts val="2800"/>
              <a:buFont typeface="Noto Sans Symbols"/>
              <a:buChar char="▪"/>
            </a:pPr>
            <a:r>
              <a:rPr lang="en-US" u="sng">
                <a:solidFill>
                  <a:schemeClr val="hlink"/>
                </a:solidFill>
                <a:hlinkClick r:id="rId4"/>
              </a:rPr>
              <a:t>https://www.elte.hu/en/computer-science-msc-financial-technology-specialization</a:t>
            </a:r>
            <a:endParaRPr u="sng"/>
          </a:p>
          <a:p>
            <a:pPr indent="-50800" lvl="0" marL="228600" rtl="0" algn="l">
              <a:lnSpc>
                <a:spcPct val="90000"/>
              </a:lnSpc>
              <a:spcBef>
                <a:spcPts val="1000"/>
              </a:spcBef>
              <a:spcAft>
                <a:spcPts val="0"/>
              </a:spcAft>
              <a:buClr>
                <a:schemeClr val="accent4"/>
              </a:buClr>
              <a:buSzPts val="2800"/>
              <a:buFont typeface="Noto Sans Symbols"/>
              <a:buNone/>
            </a:pPr>
            <a:r>
              <a:t/>
            </a:r>
            <a:endParaRPr u="sng"/>
          </a:p>
          <a:p>
            <a:pPr indent="-50800" lvl="0" marL="228600" rtl="0" algn="l">
              <a:lnSpc>
                <a:spcPct val="90000"/>
              </a:lnSpc>
              <a:spcBef>
                <a:spcPts val="1000"/>
              </a:spcBef>
              <a:spcAft>
                <a:spcPts val="0"/>
              </a:spcAft>
              <a:buClr>
                <a:schemeClr val="accent4"/>
              </a:buClr>
              <a:buSzPts val="2800"/>
              <a:buFont typeface="Noto Sans Symbols"/>
              <a:buNone/>
            </a:pPr>
            <a:r>
              <a:t/>
            </a:r>
            <a:endParaRPr/>
          </a:p>
          <a:p>
            <a:pPr indent="-50800" lvl="0" marL="228600" rtl="0" algn="l">
              <a:lnSpc>
                <a:spcPct val="90000"/>
              </a:lnSpc>
              <a:spcBef>
                <a:spcPts val="1000"/>
              </a:spcBef>
              <a:spcAft>
                <a:spcPts val="0"/>
              </a:spcAft>
              <a:buClr>
                <a:schemeClr val="accent4"/>
              </a:buClr>
              <a:buSzPts val="2800"/>
              <a:buFont typeface="Noto Sans Symbols"/>
              <a:buNone/>
            </a:pPr>
            <a:r>
              <a:t/>
            </a:r>
            <a:endParaRPr/>
          </a:p>
        </p:txBody>
      </p:sp>
      <p:sp>
        <p:nvSpPr>
          <p:cNvPr id="273" name="Google Shape;273;p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Master Degree programs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7"/>
          <p:cNvSpPr txBox="1"/>
          <p:nvPr>
            <p:ph type="title"/>
          </p:nvPr>
        </p:nvSpPr>
        <p:spPr>
          <a:xfrm>
            <a:off x="874712" y="1515179"/>
            <a:ext cx="9965083"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800"/>
              <a:buFont typeface="Arial"/>
              <a:buNone/>
            </a:pPr>
            <a:r>
              <a:rPr lang="en-US"/>
              <a:t>M.Sc. Theses related to FinTech</a:t>
            </a:r>
            <a:endParaRPr/>
          </a:p>
        </p:txBody>
      </p:sp>
      <p:graphicFrame>
        <p:nvGraphicFramePr>
          <p:cNvPr id="279" name="Google Shape;279;p7"/>
          <p:cNvGraphicFramePr/>
          <p:nvPr/>
        </p:nvGraphicFramePr>
        <p:xfrm>
          <a:off x="448700" y="1989150"/>
          <a:ext cx="3000000" cy="3000000"/>
        </p:xfrm>
        <a:graphic>
          <a:graphicData uri="http://schemas.openxmlformats.org/drawingml/2006/table">
            <a:tbl>
              <a:tblPr>
                <a:noFill/>
                <a:tableStyleId>{0C13FDC1-CDFC-4A88-85DF-0B6200295325}</a:tableStyleId>
              </a:tblPr>
              <a:tblGrid>
                <a:gridCol w="2643425"/>
                <a:gridCol w="6563250"/>
                <a:gridCol w="2380875"/>
              </a:tblGrid>
              <a:tr h="209550">
                <a:tc>
                  <a:txBody>
                    <a:bodyPr/>
                    <a:lstStyle/>
                    <a:p>
                      <a:pPr indent="0" lvl="0" marL="0" rtl="0" algn="l">
                        <a:lnSpc>
                          <a:spcPct val="115000"/>
                        </a:lnSpc>
                        <a:spcBef>
                          <a:spcPts val="0"/>
                        </a:spcBef>
                        <a:spcAft>
                          <a:spcPts val="0"/>
                        </a:spcAft>
                        <a:buNone/>
                      </a:pPr>
                      <a:r>
                        <a:rPr lang="en-US"/>
                        <a:t>Kara Ádám Péter</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Automating the distribution of marketing materials with blockhain and smart contracts</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Molnár Bálint</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a:t>Nagy Antal</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Blockchain and smart contract enabled real estate tokenization platform</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Molnár Bálint</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a:t>Qandah Muhannad</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Exploring the Efficacy of Ethereum Blockchain-based Crowdfunding</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Molnár Bálint</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a:t>Xu Xichen</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Risk analysis in the financial sphere</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Molnár Bálint</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US"/>
                        <a:t>Zaidi Youcef</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Forecasting the financial stock market trends for providing an assistance on making informed financi</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Molnár Bálint</a:t>
                      </a:r>
                      <a:endParaRPr/>
                    </a:p>
                  </a:txBody>
                  <a:tcPr marT="9525" marB="95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g27cd44d00de_2_7"/>
          <p:cNvPicPr preferRelativeResize="0"/>
          <p:nvPr/>
        </p:nvPicPr>
        <p:blipFill>
          <a:blip r:embed="rId3">
            <a:alphaModFix/>
          </a:blip>
          <a:stretch>
            <a:fillRect/>
          </a:stretch>
        </p:blipFill>
        <p:spPr>
          <a:xfrm>
            <a:off x="5197100" y="3069975"/>
            <a:ext cx="885825" cy="885825"/>
          </a:xfrm>
          <a:prstGeom prst="rect">
            <a:avLst/>
          </a:prstGeom>
          <a:noFill/>
          <a:ln>
            <a:noFill/>
          </a:ln>
        </p:spPr>
      </p:pic>
      <p:sp>
        <p:nvSpPr>
          <p:cNvPr id="286" name="Google Shape;286;g27cd44d00de_2_7"/>
          <p:cNvSpPr txBox="1"/>
          <p:nvPr/>
        </p:nvSpPr>
        <p:spPr>
          <a:xfrm>
            <a:off x="4243825" y="967100"/>
            <a:ext cx="4347300" cy="12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t>Questions?</a:t>
            </a:r>
            <a:endParaRPr b="1" sz="3000"/>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Bureau">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ST_ppt-16_9-color_1">
  <a:themeElements>
    <a:clrScheme name="COST THEME FUSHIA">
      <a:dk1>
        <a:srgbClr val="000000"/>
      </a:dk1>
      <a:lt1>
        <a:srgbClr val="FFFFFF"/>
      </a:lt1>
      <a:dk2>
        <a:srgbClr val="737373"/>
      </a:dk2>
      <a:lt2>
        <a:srgbClr val="D2D2CD"/>
      </a:lt2>
      <a:accent1>
        <a:srgbClr val="961E64"/>
      </a:accent1>
      <a:accent2>
        <a:srgbClr val="6E82BE"/>
      </a:accent2>
      <a:accent3>
        <a:srgbClr val="692364"/>
      </a:accent3>
      <a:accent4>
        <a:srgbClr val="2D3778"/>
      </a:accent4>
      <a:accent5>
        <a:srgbClr val="E1783C"/>
      </a:accent5>
      <a:accent6>
        <a:srgbClr val="00AB9D"/>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ST_ppt-16_9-color_2">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OST_ppt-16_9-color_3">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2020-11-09T15:57:23Z</dcterms:created>
  <dc:creator>Molnár Bálint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0x010100EFB92027B0E2564A9C6FE34CFB6A55A3</vt:lpwstr>
  </property>
</Properties>
</file>