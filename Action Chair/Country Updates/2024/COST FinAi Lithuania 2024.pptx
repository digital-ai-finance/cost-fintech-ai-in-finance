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hqTm9wl8H4TJ4DCitS9ilpQkf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49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437bfb8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2a437bfb8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twitter.com/costprogramme?lang=fr" TargetMode="External"/><Relationship Id="rId4" Type="http://schemas.openxmlformats.org/officeDocument/2006/relationships/image" Target="../media/image14.jpg"/><Relationship Id="rId11" Type="http://schemas.openxmlformats.org/officeDocument/2006/relationships/image" Target="../media/image8.png"/><Relationship Id="rId10" Type="http://schemas.openxmlformats.org/officeDocument/2006/relationships/hyperlink" Target="https://www.linkedin.com/company/cost-office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://www.cost.eu/" TargetMode="External"/><Relationship Id="rId6" Type="http://schemas.openxmlformats.org/officeDocument/2006/relationships/hyperlink" Target="https://www.youtube.com/user/COSTOffice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facebook.com/COST.Programme/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title">
  <p:cSld name="Presentation - 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/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2" type="body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">
  <p:cSld name="Presentation -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>
            <p:ph idx="1" type="body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title">
  <p:cSld name="1_Presentation - 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/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resentation - title">
  <p:cSld name="2_Presentation - 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 2">
  <p:cSld name="Presentation - Content 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- Content">
  <p:cSld name="Presentation - Empty -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 txBox="1"/>
          <p:nvPr>
            <p:ph idx="1" type="body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Two content shapes">
  <p:cSld name="Presentation - Two content shape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Content">
  <p:cSld name="1_Presentation -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1"/>
          <p:cNvSpPr/>
          <p:nvPr>
            <p:ph idx="2" type="tbl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Content 2">
  <p:cSld name="1_Presentation - Content 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2"/>
          <p:cNvSpPr/>
          <p:nvPr>
            <p:ph idx="2" type="tbl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- Empty - Content">
  <p:cSld name="1_Presentation - Empty -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/>
          <p:nvPr>
            <p:ph idx="2" type="tbl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Content - Smartart">
  <p:cSld name="Presentation - Content - Smartar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4"/>
          <p:cNvSpPr/>
          <p:nvPr>
            <p:ph idx="2" type="dgm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">
  <p:cSld name="Presentation - Empt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b="0" i="0" lang="en-US" sz="16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descr="Plan de travail 1OFF-Icones.jpg" id="73" name="Google Shape;73;p15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5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b="0" i="0" sz="1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5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5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5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b="1" i="0" sz="1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5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2">
  <p:cSld name="Presentation - Empty 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- Empty - Empty">
  <p:cSld name="Presentation - Empty - Empt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007/s10462-024-10854-8" TargetMode="External"/><Relationship Id="rId4" Type="http://schemas.openxmlformats.org/officeDocument/2006/relationships/hyperlink" Target="https://dx.doi.org/10.2139/ssrn.4893677" TargetMode="External"/><Relationship Id="rId5" Type="http://schemas.openxmlformats.org/officeDocument/2006/relationships/hyperlink" Target="http://dx.doi.org/10.2139/ssrn.4893677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foYG70ZYvMY" TargetMode="External"/><Relationship Id="rId4" Type="http://schemas.openxmlformats.org/officeDocument/2006/relationships/hyperlink" Target="https://sites.google.com/net.efzg.hr/tinfinconferen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1003887" y="366837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br>
              <a:rPr lang="en-US"/>
            </a:br>
            <a:r>
              <a:rPr lang="en-US"/>
              <a:t>COST FinAI annual meeting 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860280" y="501109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lang="en-US">
                <a:solidFill>
                  <a:srgbClr val="C00000"/>
                </a:solidFill>
              </a:rPr>
              <a:t>Lithuanian Node of FinAI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91" name="Google Shape;91;p1"/>
          <p:cNvSpPr txBox="1"/>
          <p:nvPr>
            <p:ph idx="2" type="body"/>
          </p:nvPr>
        </p:nvSpPr>
        <p:spPr>
          <a:xfrm>
            <a:off x="4727797" y="4776259"/>
            <a:ext cx="2482900" cy="46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45838" y="1506179"/>
            <a:ext cx="7080704" cy="1977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200">
                <a:solidFill>
                  <a:schemeClr val="dk1"/>
                </a:solidFill>
              </a:rPr>
              <a:t>MC Members:</a:t>
            </a:r>
            <a:endParaRPr sz="2600"/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</a:rPr>
              <a:t>Kristina Šutienė (KTU), WG2 Co-leader </a:t>
            </a:r>
            <a:endParaRPr sz="2600"/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</a:rPr>
              <a:t>Deimantė Teresienė (VU)</a:t>
            </a:r>
            <a:endParaRPr sz="22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200">
                <a:solidFill>
                  <a:schemeClr val="dk1"/>
                </a:solidFill>
              </a:rPr>
              <a:t>MC Substitute Members:</a:t>
            </a:r>
            <a:endParaRPr sz="22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</a:rPr>
              <a:t>Audrius Kabašinskas (KTU), Coordinator of network expansion</a:t>
            </a:r>
            <a:endParaRPr sz="22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</a:rPr>
              <a:t>Rasa Kanapickienė (VU)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>
                <a:solidFill>
                  <a:schemeClr val="dk1"/>
                </a:solidFill>
              </a:rPr>
              <a:t>Jurgita Černevičienė (KTU)</a:t>
            </a:r>
            <a:endParaRPr sz="2200">
              <a:solidFill>
                <a:schemeClr val="dk1"/>
              </a:solidFill>
            </a:endParaRPr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200">
                <a:solidFill>
                  <a:schemeClr val="dk1"/>
                </a:solidFill>
              </a:rPr>
              <a:t>Interdisciplinary background : AI, Quantitative Methods, Finance and Economics </a:t>
            </a:r>
            <a:endParaRPr sz="22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 sz="2600">
                <a:solidFill>
                  <a:schemeClr val="dk1"/>
                </a:solidFill>
              </a:rPr>
              <a:t>	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926573" y="963445"/>
            <a:ext cx="21804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Who we are</a:t>
            </a:r>
            <a:endParaRPr b="1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34681" l="45876" r="4265" t="47020"/>
          <a:stretch/>
        </p:blipFill>
        <p:spPr>
          <a:xfrm>
            <a:off x="8400817" y="1376035"/>
            <a:ext cx="3705840" cy="120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35334" l="0" r="53255" t="45357"/>
          <a:stretch/>
        </p:blipFill>
        <p:spPr>
          <a:xfrm>
            <a:off x="8568943" y="2476654"/>
            <a:ext cx="3479506" cy="12777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7598731" y="4146365"/>
            <a:ext cx="38134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Vilnius University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467090" y="884363"/>
            <a:ext cx="4947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Kaunas University of Technology (KTU)</a:t>
            </a:r>
            <a:endParaRPr b="1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8911649" y="4584629"/>
            <a:ext cx="3195008" cy="2172710"/>
            <a:chOff x="8911649" y="4584629"/>
            <a:chExt cx="3195008" cy="2172710"/>
          </a:xfrm>
        </p:grpSpPr>
        <p:grpSp>
          <p:nvGrpSpPr>
            <p:cNvPr id="103" name="Google Shape;103;p2"/>
            <p:cNvGrpSpPr/>
            <p:nvPr/>
          </p:nvGrpSpPr>
          <p:grpSpPr>
            <a:xfrm>
              <a:off x="8911649" y="4584629"/>
              <a:ext cx="3195008" cy="1039979"/>
              <a:chOff x="8911649" y="4913149"/>
              <a:chExt cx="3195008" cy="1039979"/>
            </a:xfrm>
          </p:grpSpPr>
          <p:pic>
            <p:nvPicPr>
              <p:cNvPr id="104" name="Google Shape;104;p2"/>
              <p:cNvPicPr preferRelativeResize="0"/>
              <p:nvPr/>
            </p:nvPicPr>
            <p:blipFill rotWithShape="1">
              <a:blip r:embed="rId4">
                <a:alphaModFix/>
              </a:blip>
              <a:srcRect b="31803" l="0" r="33037" t="16764"/>
              <a:stretch/>
            </p:blipFill>
            <p:spPr>
              <a:xfrm>
                <a:off x="8911649" y="5127556"/>
                <a:ext cx="2168239" cy="8255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" name="Google Shape;105;p2"/>
              <p:cNvSpPr txBox="1"/>
              <p:nvPr/>
            </p:nvSpPr>
            <p:spPr>
              <a:xfrm>
                <a:off x="9491839" y="4913149"/>
                <a:ext cx="261481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Associate Professor Dr. Deimantė Teresienė</a:t>
                </a:r>
                <a:endParaRPr b="1" i="0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6" name="Google Shape;106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11649" y="5973637"/>
              <a:ext cx="2403856" cy="783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"/>
            <p:cNvSpPr txBox="1"/>
            <p:nvPr/>
          </p:nvSpPr>
          <p:spPr>
            <a:xfrm>
              <a:off x="9513794" y="5792531"/>
              <a:ext cx="19992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Professor Dr. Rasa Kanapickienė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845838" y="1506178"/>
            <a:ext cx="10475344" cy="413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000">
                <a:solidFill>
                  <a:schemeClr val="dk1"/>
                </a:solidFill>
              </a:rPr>
              <a:t>Papers and presentations with COST FinAi acknowledgement: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</a:rPr>
              <a:t>Sutiene, K., Schwendner, P., Sipos, C., Lorenzo, L., Mirchev, M., Lameski, P., Kabasinskas, A., Tidjani, C., Ozturkkal, B., &amp; Cerneviciene, J. (2024). Enhancing portfolio management using artificial intelligence: literature review. Frontiers in Artificial Intelligence, 7. doi: </a:t>
            </a: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10.3389/frai.2024.1371502 </a:t>
            </a:r>
            <a:endParaRPr sz="2000" u="sng">
              <a:solidFill>
                <a:schemeClr val="accent2"/>
              </a:solidFill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</a:rPr>
              <a:t>Černevičienė J and Kabašinskas A (2022) Review of Multi-Criteria Decision-Making Methods in Finance Using Explainable Artificial Intelligence. Front. Artif. Intell. 5:827584. 10 March 2022. doi: </a:t>
            </a: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10.3389/frai.2022.827584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</a:rPr>
              <a:t>Kabašinskas, Audrius. Discussion on: “Programmable money: next generation blockchain based conditional payments” by Ingo Weber and Mark Staples : short communication // Digital finance. Lausanne : Springer. ISSN 2524-6984. eISSN 2524-6186. 2022, vol. 4, iss. 2-3, p. 135. DOI: </a:t>
            </a:r>
            <a:r>
              <a:rPr lang="en-US" sz="20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10.1007/s42521-022-00062-w </a:t>
            </a:r>
            <a:endParaRPr sz="2000" u="sng">
              <a:solidFill>
                <a:schemeClr val="accent2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3926572" y="963445"/>
            <a:ext cx="418375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we contribute</a:t>
            </a:r>
            <a:endParaRPr b="1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437bfb89a_0_0"/>
          <p:cNvSpPr txBox="1"/>
          <p:nvPr>
            <p:ph idx="1" type="body"/>
          </p:nvPr>
        </p:nvSpPr>
        <p:spPr>
          <a:xfrm>
            <a:off x="845838" y="1506178"/>
            <a:ext cx="10475400" cy="4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000">
                <a:solidFill>
                  <a:schemeClr val="dk1"/>
                </a:solidFill>
              </a:rPr>
              <a:t>Papers and presentations with COST FinAi acknowledgement </a:t>
            </a:r>
            <a:r>
              <a:rPr lang="en-US" sz="1800">
                <a:solidFill>
                  <a:schemeClr val="dk1"/>
                </a:solidFill>
              </a:rPr>
              <a:t>(continued):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</a:rPr>
              <a:t>Černevičienė, J., Kabašinskas, A. Explainable artificial intelligence (XAI) in finance: a systematic literature review. Artif Intell Rev 57, 216 (2024). </a:t>
            </a:r>
            <a:r>
              <a:rPr lang="en-US" sz="2000" u="sng">
                <a:solidFill>
                  <a:srgbClr val="9AA3D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https://doi.org/10.1007/s10462-024-10854-8</a:t>
            </a:r>
            <a:r>
              <a:rPr lang="en-US" sz="2000" u="sng">
                <a:solidFill>
                  <a:schemeClr val="accent2"/>
                </a:solidFill>
              </a:rPr>
              <a:t> </a:t>
            </a:r>
            <a:endParaRPr sz="2000" u="sng">
              <a:solidFill>
                <a:schemeClr val="accent2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accent2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000">
                <a:solidFill>
                  <a:schemeClr val="dk1"/>
                </a:solidFill>
              </a:rPr>
              <a:t>Arakelian, Veni and Bolesta, Karolina and Vlah Jeric, Silvija and Liu, Yiting and Osterrieder, Joerg and Potì, Valerio and Schwendner, Peter and Sutiene, Kristina and Weinberg, Abraham Itzhak, A discussion paper for possible approaches to building a statistically valid backtesting framework (2024).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rgbClr val="9AA3D9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http://dx.doi.org/10.2139/ssrn.4893677</a:t>
            </a:r>
            <a:r>
              <a:rPr lang="en-US" sz="1800" u="sng">
                <a:solidFill>
                  <a:srgbClr val="9AA3D9"/>
                </a:solidFill>
                <a:highlight>
                  <a:srgbClr val="FFFFFF"/>
                </a:highlight>
              </a:rPr>
              <a:t> </a:t>
            </a:r>
            <a:endParaRPr sz="1800" u="sng">
              <a:solidFill>
                <a:srgbClr val="9AA3D9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accent2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9" name="Google Shape;119;g2a437bfb89a_0_0"/>
          <p:cNvSpPr/>
          <p:nvPr/>
        </p:nvSpPr>
        <p:spPr>
          <a:xfrm>
            <a:off x="3926572" y="963445"/>
            <a:ext cx="418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we contribute</a:t>
            </a:r>
            <a:endParaRPr b="1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845838" y="1506178"/>
            <a:ext cx="10475344" cy="413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1800">
                <a:solidFill>
                  <a:schemeClr val="dk1"/>
                </a:solidFill>
              </a:rPr>
              <a:t>Papers and presentations with COST FinAi acknowledgement (continued):</a:t>
            </a:r>
            <a:endParaRPr sz="2600"/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</a:rPr>
              <a:t>FinAI COST Action Podcast #2 - Audrius Kabašinskas, </a:t>
            </a:r>
            <a:r>
              <a:rPr lang="en-US" sz="1800" u="sng">
                <a:solidFill>
                  <a:srgbClr val="9AA3D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https://www.youtube.com/watch?v=foYG70ZYvMY</a:t>
            </a:r>
            <a:endParaRPr sz="1800" u="sng">
              <a:solidFill>
                <a:srgbClr val="9AA3D9"/>
              </a:solidFill>
            </a:endParaRPr>
          </a:p>
          <a:p>
            <a:pPr indent="-3937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6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</a:rPr>
              <a:t>ECI: „Explainable Cryptocurrency Steep Price Movement Prediction Using Reddit Messages And Technical Indicators“, presentation by Dominykas Švedas and Kristina Šutienė, Croatia, WG2 meeting (in-person), </a:t>
            </a:r>
            <a:r>
              <a:rPr lang="en-US" sz="1800" u="sng">
                <a:solidFill>
                  <a:srgbClr val="9AA3D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https://sites.google.com/net.efzg.hr/tinfinconference/</a:t>
            </a:r>
            <a:r>
              <a:rPr lang="en-US" sz="1800" u="sng">
                <a:solidFill>
                  <a:srgbClr val="9AA3D9"/>
                </a:solidFill>
              </a:rPr>
              <a:t> </a:t>
            </a:r>
            <a:endParaRPr sz="1800" u="sng">
              <a:solidFill>
                <a:srgbClr val="9AA3D9"/>
              </a:solidFill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AA3D9"/>
              </a:buClr>
              <a:buSzPts val="1400"/>
              <a:buChar char="▪"/>
            </a:pPr>
            <a:r>
              <a:rPr lang="en-US" sz="1800">
                <a:solidFill>
                  <a:schemeClr val="dk1"/>
                </a:solidFill>
              </a:rPr>
              <a:t>STAT of ML (Statistics of Machine Learning):"</a:t>
            </a:r>
            <a:r>
              <a:rPr lang="en-US" sz="1800">
                <a:solidFill>
                  <a:srgbClr val="212121"/>
                </a:solidFill>
              </a:rPr>
              <a:t>Explainable AI methods for early warning system of financial crises prediction</a:t>
            </a:r>
            <a:r>
              <a:rPr lang="en-US" sz="1800">
                <a:solidFill>
                  <a:schemeClr val="dk1"/>
                </a:solidFill>
              </a:rPr>
              <a:t>", presentation by Jurgita Černevičienė, Prague (in-person), https://barunik.github.io/Prague2023/</a:t>
            </a:r>
            <a:endParaRPr sz="1400" u="sng">
              <a:solidFill>
                <a:srgbClr val="9AA3D9"/>
              </a:solidFill>
            </a:endParaRPr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1800">
                <a:solidFill>
                  <a:schemeClr val="dk1"/>
                </a:solidFill>
              </a:rPr>
              <a:t>Others:</a:t>
            </a:r>
            <a:endParaRPr sz="2600"/>
          </a:p>
          <a:p>
            <a:pPr indent="-330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lang="en-US" sz="1800">
                <a:solidFill>
                  <a:schemeClr val="dk1"/>
                </a:solidFill>
              </a:rPr>
              <a:t>Kristina Šutienė (together with Peter Schwendner) - a guest editor in </a:t>
            </a:r>
            <a:r>
              <a:rPr i="1" lang="en-US" sz="1800">
                <a:solidFill>
                  <a:schemeClr val="accent2"/>
                </a:solidFill>
              </a:rPr>
              <a:t>Mathematics</a:t>
            </a:r>
            <a:r>
              <a:rPr lang="en-US" sz="1800">
                <a:solidFill>
                  <a:schemeClr val="dk1"/>
                </a:solidFill>
              </a:rPr>
              <a:t> journal, SI: </a:t>
            </a:r>
            <a:r>
              <a:rPr i="1" lang="en-US" sz="1800">
                <a:solidFill>
                  <a:schemeClr val="accent2"/>
                </a:solidFill>
              </a:rPr>
              <a:t>Applications and Mathematical Foundations of Machine Learning in Investments</a:t>
            </a:r>
            <a:endParaRPr sz="2600"/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600"/>
          </a:p>
        </p:txBody>
      </p:sp>
      <p:sp>
        <p:nvSpPr>
          <p:cNvPr id="125" name="Google Shape;125;p20"/>
          <p:cNvSpPr/>
          <p:nvPr/>
        </p:nvSpPr>
        <p:spPr>
          <a:xfrm>
            <a:off x="3926572" y="963445"/>
            <a:ext cx="418375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we contribute</a:t>
            </a:r>
            <a:endParaRPr b="1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ctaranto</dc:creator>
</cp:coreProperties>
</file>