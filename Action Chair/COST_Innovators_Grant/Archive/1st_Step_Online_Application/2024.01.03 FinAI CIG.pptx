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Roboto"/>
      <p:regular r:id="rId21"/>
      <p:bold r:id="rId22"/>
      <p:italic r:id="rId23"/>
      <p:boldItalic r:id="rId24"/>
    </p:embeddedFont>
    <p:embeddedFont>
      <p:font typeface="Century Gothic"/>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g76z0PqbAElURFYHbf3NNf4eCn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4E3EE5-BD90-4ED7-9C65-D522846581B6}">
  <a:tblStyle styleId="{534E3EE5-BD90-4ED7-9C65-D522846581B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bold.fntdata"/><Relationship Id="rId25" Type="http://schemas.openxmlformats.org/officeDocument/2006/relationships/font" Target="fonts/CenturyGothic-regular.fntdata"/><Relationship Id="rId28" Type="http://schemas.openxmlformats.org/officeDocument/2006/relationships/font" Target="fonts/CenturyGothic-boldItalic.fntdata"/><Relationship Id="rId27" Type="http://schemas.openxmlformats.org/officeDocument/2006/relationships/font" Target="fonts/CenturyGothic-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a68e2429f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2a68e2429f2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g2a68e2429f2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a6da3fe019_19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a6da3fe019_19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2a6da3fe019_19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a6da3fe019_19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a6da3fe019_19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2a6da3fe019_19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a6da3fe019_19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a6da3fe019_19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2a6da3fe019_19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a6da3fe019_19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a6da3fe019_19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2a6da3fe019_19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a68e24341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g2a68e24341e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g2a68e24341e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a6da3fe019_65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g2a6da3fe019_65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2a6da3fe019_65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a6da3fe019_3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g2a6da3fe019_3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g2a6da3fe019_3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latin typeface="Century Gothic"/>
                <a:ea typeface="Century Gothic"/>
                <a:cs typeface="Century Gothic"/>
                <a:sym typeface="Century Gothic"/>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p:nvPr>
            <p:ph idx="2" type="pic"/>
          </p:nvPr>
        </p:nvSpPr>
        <p:spPr>
          <a:xfrm>
            <a:off x="5183188" y="987425"/>
            <a:ext cx="6172200" cy="4873625"/>
          </a:xfrm>
          <a:prstGeom prst="rect">
            <a:avLst/>
          </a:prstGeom>
          <a:noFill/>
          <a:ln>
            <a:noFill/>
          </a:ln>
        </p:spPr>
      </p:sp>
      <p:sp>
        <p:nvSpPr>
          <p:cNvPr id="68" name="Google Shape;68;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CIG@cost.eu?subject=COST%20Innovators%20Grant%20Application%20for%20Action%20CA19130" TargetMode="External"/><Relationship Id="rId4" Type="http://schemas.openxmlformats.org/officeDocument/2006/relationships/hyperlink" Target="https://docs.google.com/spreadsheets/d/1SiArmTypGwmyUNSih7gQuWCegJ6pUZZfZfznp1ze68w/edit#gid=0" TargetMode="External"/><Relationship Id="rId5" Type="http://schemas.openxmlformats.org/officeDocument/2006/relationships/hyperlink" Target="https://www.cost.eu/uploads/2021/10/Annex-II-level-A-Glossary-REVISION.pdf" TargetMode="External"/><Relationship Id="rId6" Type="http://schemas.openxmlformats.org/officeDocument/2006/relationships/hyperlink" Target="https://www.cost.eu/funding/documents-guidelin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cost.eu/five-new-cost-innovators-grants-2023/" TargetMode="Externa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cost.eu/six-new-cost-innovators-grants/" TargetMode="Externa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cost.eu/uploads/2022/12/COST-CIG-Guidelines-105-21-2023-2024.pdf"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entury Gothic"/>
              <a:buNone/>
            </a:pPr>
            <a:r>
              <a:rPr lang="en-US"/>
              <a:t>COST CA19130 Fintech and AI in Finance</a:t>
            </a:r>
            <a:endParaRPr/>
          </a:p>
        </p:txBody>
      </p:sp>
      <p:sp>
        <p:nvSpPr>
          <p:cNvPr id="90" name="Google Shape;90;p1"/>
          <p:cNvSpPr txBox="1"/>
          <p:nvPr>
            <p:ph idx="1" type="subTitle"/>
          </p:nvPr>
        </p:nvSpPr>
        <p:spPr>
          <a:xfrm>
            <a:off x="1524000" y="3602038"/>
            <a:ext cx="9144000" cy="26463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rPr lang="en-US" sz="2000"/>
              <a:t>COST Innovators Grant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sz="4400"/>
              <a:t>Application Phase</a:t>
            </a:r>
            <a:endParaRPr/>
          </a:p>
        </p:txBody>
      </p:sp>
      <p:sp>
        <p:nvSpPr>
          <p:cNvPr id="97" name="Google Shape;97;p2"/>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latin typeface="Century Gothic"/>
                <a:ea typeface="Century Gothic"/>
                <a:cs typeface="Century Gothic"/>
                <a:sym typeface="Century Gothic"/>
              </a:rPr>
              <a:t>Admin details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The deadline for the application is </a:t>
            </a:r>
            <a:r>
              <a:rPr b="1" lang="en-US" sz="1400"/>
              <a:t>24th January 2024</a:t>
            </a:r>
            <a:r>
              <a:rPr lang="en-US" sz="1400">
                <a:latin typeface="Century Gothic"/>
                <a:ea typeface="Century Gothic"/>
                <a:cs typeface="Century Gothic"/>
                <a:sym typeface="Century Gothic"/>
              </a:rPr>
              <a:t>, at 11:00 (CET).</a:t>
            </a:r>
            <a:endParaRPr/>
          </a:p>
          <a:p>
            <a:pPr indent="0" lvl="0" marL="0" rtl="0" algn="l">
              <a:spcBef>
                <a:spcPts val="1000"/>
              </a:spcBef>
              <a:spcAft>
                <a:spcPts val="0"/>
              </a:spcAft>
              <a:buNone/>
            </a:pPr>
            <a:r>
              <a:rPr lang="en-US" sz="1400"/>
              <a:t>Decision: End of April 2024.</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Hearings:</a:t>
            </a:r>
            <a:r>
              <a:rPr b="1" lang="en-US" sz="1400"/>
              <a:t> 23th and 24th May 2024 in </a:t>
            </a:r>
            <a:r>
              <a:rPr lang="en-US" sz="1400">
                <a:latin typeface="Century Gothic"/>
                <a:ea typeface="Century Gothic"/>
                <a:cs typeface="Century Gothic"/>
                <a:sym typeface="Century Gothic"/>
              </a:rPr>
              <a:t>Brussels.</a:t>
            </a:r>
            <a:endParaRPr>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Applications submitted by email to </a:t>
            </a:r>
            <a:r>
              <a:rPr lang="en-US" sz="1400" u="sng">
                <a:solidFill>
                  <a:schemeClr val="hlink"/>
                </a:solidFill>
                <a:latin typeface="Century Gothic"/>
                <a:ea typeface="Century Gothic"/>
                <a:cs typeface="Century Gothic"/>
                <a:sym typeface="Century Gothic"/>
                <a:hlinkClick r:id="rId3"/>
              </a:rPr>
              <a:t>CIG@cost.eu</a:t>
            </a:r>
            <a:r>
              <a:rPr lang="en-US" sz="1400">
                <a:latin typeface="Century Gothic"/>
                <a:ea typeface="Century Gothic"/>
                <a:cs typeface="Century Gothic"/>
                <a:sym typeface="Century Gothic"/>
              </a:rPr>
              <a:t> by Action Chair or Vice-Chair on behalf of the Management Committee.</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One submission allowed per COST Action, submission by the Chair takes precedence.</a:t>
            </a:r>
            <a:endParaRPr/>
          </a:p>
          <a:p>
            <a:pPr indent="-228600" lvl="0" marL="228600" rtl="0" algn="l">
              <a:lnSpc>
                <a:spcPct val="90000"/>
              </a:lnSpc>
              <a:spcBef>
                <a:spcPts val="1000"/>
              </a:spcBef>
              <a:spcAft>
                <a:spcPts val="0"/>
              </a:spcAft>
              <a:buClr>
                <a:schemeClr val="dk1"/>
              </a:buClr>
              <a:buSzPts val="1400"/>
              <a:buChar char="•"/>
            </a:pPr>
            <a:r>
              <a:rPr b="1" lang="en-US" sz="1400"/>
              <a:t>CIG team needs to be specified beforehand and cannot be changed afterwards</a:t>
            </a:r>
            <a:r>
              <a:rPr lang="en-US" sz="1400">
                <a:latin typeface="Century Gothic"/>
                <a:ea typeface="Century Gothic"/>
                <a:cs typeface="Century Gothic"/>
                <a:sym typeface="Century Gothic"/>
              </a:rPr>
              <a:t>,</a:t>
            </a:r>
            <a:r>
              <a:rPr b="1" lang="en-US" sz="1400"/>
              <a:t> relevant expertise and expected contribution need to be given per team member</a:t>
            </a:r>
            <a:r>
              <a:rPr lang="en-US" sz="1400">
                <a:latin typeface="Century Gothic"/>
                <a:ea typeface="Century Gothic"/>
                <a:cs typeface="Century Gothic"/>
                <a:sym typeface="Century Gothic"/>
              </a:rPr>
              <a:t>: </a:t>
            </a:r>
            <a:r>
              <a:rPr lang="en-US" sz="1400" u="sng">
                <a:solidFill>
                  <a:schemeClr val="hlink"/>
                </a:solidFill>
                <a:latin typeface="Century Gothic"/>
                <a:ea typeface="Century Gothic"/>
                <a:cs typeface="Century Gothic"/>
                <a:sym typeface="Century Gothic"/>
                <a:hlinkClick r:id="rId4"/>
              </a:rPr>
              <a:t>link to the excel team members</a:t>
            </a:r>
            <a:endParaRPr sz="1400">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Glossary: </a:t>
            </a:r>
            <a:r>
              <a:rPr lang="en-US" sz="1400" u="sng">
                <a:solidFill>
                  <a:schemeClr val="hlink"/>
                </a:solidFill>
                <a:latin typeface="Century Gothic"/>
                <a:ea typeface="Century Gothic"/>
                <a:cs typeface="Century Gothic"/>
                <a:sym typeface="Century Gothic"/>
                <a:hlinkClick r:id="rId5"/>
              </a:rPr>
              <a:t>https://www.cost.eu/uploads/2021/10/Annex-II-level-A-Glossary-REVISION.pdf</a:t>
            </a:r>
            <a:r>
              <a:rPr lang="en-US" sz="1400">
                <a:latin typeface="Century Gothic"/>
                <a:ea typeface="Century Gothic"/>
                <a:cs typeface="Century Gothic"/>
                <a:sym typeface="Century Gothic"/>
              </a:rPr>
              <a:t>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Useful COST documents: </a:t>
            </a:r>
            <a:r>
              <a:rPr lang="en-US" sz="1400" u="sng">
                <a:solidFill>
                  <a:schemeClr val="hlink"/>
                </a:solidFill>
                <a:latin typeface="Century Gothic"/>
                <a:ea typeface="Century Gothic"/>
                <a:cs typeface="Century Gothic"/>
                <a:sym typeface="Century Gothic"/>
                <a:hlinkClick r:id="rId6"/>
              </a:rPr>
              <a:t>https://www.cost.eu/funding/documents-guidelines/</a:t>
            </a:r>
            <a:r>
              <a:rPr lang="en-US" sz="1400">
                <a:latin typeface="Century Gothic"/>
                <a:ea typeface="Century Gothic"/>
                <a:cs typeface="Century Gothic"/>
                <a:sym typeface="Century Gothic"/>
              </a:rPr>
              <a:t> </a:t>
            </a:r>
            <a:endParaRPr sz="1400"/>
          </a:p>
          <a:p>
            <a:pPr indent="0" lvl="0" marL="0" rtl="0" algn="l">
              <a:lnSpc>
                <a:spcPct val="90000"/>
              </a:lnSpc>
              <a:spcBef>
                <a:spcPts val="1000"/>
              </a:spcBef>
              <a:spcAft>
                <a:spcPts val="0"/>
              </a:spcAft>
              <a:buClr>
                <a:schemeClr val="dk1"/>
              </a:buClr>
              <a:buSzPts val="1400"/>
              <a:buNone/>
            </a:pPr>
            <a:r>
              <a:rPr b="1" lang="en-US" sz="1400">
                <a:latin typeface="Century Gothic"/>
                <a:ea typeface="Century Gothic"/>
                <a:cs typeface="Century Gothic"/>
                <a:sym typeface="Century Gothic"/>
              </a:rPr>
              <a:t>Content</a:t>
            </a:r>
            <a:endParaRPr/>
          </a:p>
          <a:p>
            <a:pPr indent="-228600" lvl="0" marL="228600" rtl="0" algn="l">
              <a:lnSpc>
                <a:spcPct val="90000"/>
              </a:lnSpc>
              <a:spcBef>
                <a:spcPts val="1000"/>
              </a:spcBef>
              <a:spcAft>
                <a:spcPts val="0"/>
              </a:spcAft>
              <a:buClr>
                <a:schemeClr val="dk1"/>
              </a:buClr>
              <a:buSzPts val="1400"/>
              <a:buChar char="•"/>
            </a:pPr>
            <a:r>
              <a:rPr b="1" lang="en-US" sz="1400"/>
              <a:t>Action overview (code, name, origin, team members, roles, etc.)</a:t>
            </a:r>
            <a:endParaRPr b="1"/>
          </a:p>
          <a:p>
            <a:pPr indent="-228600" lvl="0" marL="228600" rtl="0" algn="l">
              <a:lnSpc>
                <a:spcPct val="90000"/>
              </a:lnSpc>
              <a:spcBef>
                <a:spcPts val="1000"/>
              </a:spcBef>
              <a:spcAft>
                <a:spcPts val="0"/>
              </a:spcAft>
              <a:buClr>
                <a:schemeClr val="dk1"/>
              </a:buClr>
              <a:buSzPts val="1400"/>
              <a:buChar char="•"/>
            </a:pPr>
            <a:r>
              <a:rPr b="1" lang="en-US" sz="1400"/>
              <a:t>Summary (for publication if the application is approved, between 100 and 500 words)</a:t>
            </a:r>
            <a:endParaRPr b="1"/>
          </a:p>
          <a:p>
            <a:pPr indent="-228600" lvl="0" marL="228600" rtl="0" algn="l">
              <a:lnSpc>
                <a:spcPct val="90000"/>
              </a:lnSpc>
              <a:spcBef>
                <a:spcPts val="1000"/>
              </a:spcBef>
              <a:spcAft>
                <a:spcPts val="0"/>
              </a:spcAft>
              <a:buClr>
                <a:schemeClr val="dk1"/>
              </a:buClr>
              <a:buSzPts val="1400"/>
              <a:buChar char="•"/>
            </a:pPr>
            <a:r>
              <a:rPr b="1" lang="en-US" sz="1400"/>
              <a:t>Research</a:t>
            </a:r>
            <a:r>
              <a:rPr b="1" lang="en-US" sz="1400"/>
              <a:t> Plan (6 pages)</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Project Phase</a:t>
            </a:r>
            <a:endParaRPr/>
          </a:p>
        </p:txBody>
      </p:sp>
      <p:sp>
        <p:nvSpPr>
          <p:cNvPr id="104" name="Google Shape;104;p3"/>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From application to implementation</a:t>
            </a:r>
            <a:endParaRPr/>
          </a:p>
          <a:p>
            <a:pPr indent="-228600" lvl="0" marL="228600" rtl="0" algn="l">
              <a:lnSpc>
                <a:spcPct val="90000"/>
              </a:lnSpc>
              <a:spcBef>
                <a:spcPts val="1000"/>
              </a:spcBef>
              <a:spcAft>
                <a:spcPts val="0"/>
              </a:spcAft>
              <a:buClr>
                <a:schemeClr val="dk1"/>
              </a:buClr>
              <a:buSzPts val="1400"/>
              <a:buChar char="•"/>
            </a:pPr>
            <a:r>
              <a:rPr lang="en-US" sz="1400"/>
              <a:t>Start Date: November 1, 2024</a:t>
            </a:r>
            <a:endParaRPr/>
          </a:p>
          <a:p>
            <a:pPr indent="-228600" lvl="0" marL="228600" rtl="0" algn="l">
              <a:lnSpc>
                <a:spcPct val="90000"/>
              </a:lnSpc>
              <a:spcBef>
                <a:spcPts val="1000"/>
              </a:spcBef>
              <a:spcAft>
                <a:spcPts val="0"/>
              </a:spcAft>
              <a:buClr>
                <a:schemeClr val="dk1"/>
              </a:buClr>
              <a:buSzPts val="1400"/>
              <a:buChar char="•"/>
            </a:pPr>
            <a:r>
              <a:rPr lang="en-US" sz="1400"/>
              <a:t>Duration: </a:t>
            </a:r>
            <a:r>
              <a:rPr b="1" lang="en-US" sz="1400"/>
              <a:t>12 months</a:t>
            </a:r>
            <a:endParaRPr b="1"/>
          </a:p>
          <a:p>
            <a:pPr indent="-139700" lvl="0" marL="228600" rtl="0" algn="l">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A</a:t>
            </a:r>
            <a:endParaRPr/>
          </a:p>
        </p:txBody>
      </p:sp>
      <p:sp>
        <p:nvSpPr>
          <p:cNvPr id="111" name="Google Shape;111;p4"/>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application form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A content:</a:t>
            </a:r>
            <a:endParaRPr/>
          </a:p>
          <a:p>
            <a:pPr indent="-228600" lvl="1" marL="685800" rtl="0" algn="l">
              <a:lnSpc>
                <a:spcPct val="90000"/>
              </a:lnSpc>
              <a:spcBef>
                <a:spcPts val="500"/>
              </a:spcBef>
              <a:spcAft>
                <a:spcPts val="0"/>
              </a:spcAft>
              <a:buClr>
                <a:schemeClr val="dk1"/>
              </a:buClr>
              <a:buSzPts val="1400"/>
              <a:buChar char="•"/>
            </a:pPr>
            <a:r>
              <a:rPr lang="en-US" sz="1400"/>
              <a:t>Application title</a:t>
            </a:r>
            <a:endParaRPr/>
          </a:p>
          <a:p>
            <a:pPr indent="-228600" lvl="1" marL="685800" rtl="0" algn="l">
              <a:lnSpc>
                <a:spcPct val="90000"/>
              </a:lnSpc>
              <a:spcBef>
                <a:spcPts val="500"/>
              </a:spcBef>
              <a:spcAft>
                <a:spcPts val="0"/>
              </a:spcAft>
              <a:buClr>
                <a:schemeClr val="dk1"/>
              </a:buClr>
              <a:buSzPts val="1400"/>
              <a:buChar char="•"/>
            </a:pPr>
            <a:r>
              <a:rPr lang="en-US" sz="1400"/>
              <a:t>Application acronym</a:t>
            </a:r>
            <a:endParaRPr/>
          </a:p>
          <a:p>
            <a:pPr indent="-228600" lvl="1" marL="685800" rtl="0" algn="l">
              <a:lnSpc>
                <a:spcPct val="90000"/>
              </a:lnSpc>
              <a:spcBef>
                <a:spcPts val="500"/>
              </a:spcBef>
              <a:spcAft>
                <a:spcPts val="0"/>
              </a:spcAft>
              <a:buClr>
                <a:schemeClr val="dk1"/>
              </a:buClr>
              <a:buSzPts val="1400"/>
              <a:buChar char="•"/>
            </a:pPr>
            <a:r>
              <a:rPr lang="en-US" sz="1400"/>
              <a:t>Code of COST Action, here is CA19130</a:t>
            </a:r>
            <a:endParaRPr/>
          </a:p>
          <a:p>
            <a:pPr indent="-228600" lvl="1" marL="685800" rtl="0" algn="l">
              <a:lnSpc>
                <a:spcPct val="90000"/>
              </a:lnSpc>
              <a:spcBef>
                <a:spcPts val="500"/>
              </a:spcBef>
              <a:spcAft>
                <a:spcPts val="0"/>
              </a:spcAft>
              <a:buClr>
                <a:schemeClr val="dk1"/>
              </a:buClr>
              <a:buSzPts val="1400"/>
              <a:buChar char="•"/>
            </a:pPr>
            <a:r>
              <a:rPr lang="en-US" sz="1400"/>
              <a:t>Submitter (must be Action Chair/ Vice Chair)</a:t>
            </a:r>
            <a:endParaRPr/>
          </a:p>
          <a:p>
            <a:pPr indent="-228600" lvl="1" marL="685800" rtl="0" algn="l">
              <a:lnSpc>
                <a:spcPct val="90000"/>
              </a:lnSpc>
              <a:spcBef>
                <a:spcPts val="500"/>
              </a:spcBef>
              <a:spcAft>
                <a:spcPts val="0"/>
              </a:spcAft>
              <a:buClr>
                <a:schemeClr val="dk1"/>
              </a:buClr>
              <a:buSzPts val="1400"/>
              <a:buChar char="•"/>
            </a:pPr>
            <a:r>
              <a:rPr lang="en-US" sz="1400"/>
              <a:t>Origin of CIG application in the Action</a:t>
            </a:r>
            <a:endParaRPr/>
          </a:p>
          <a:p>
            <a:pPr indent="-228600" lvl="1" marL="685800" rtl="0" algn="l">
              <a:lnSpc>
                <a:spcPct val="90000"/>
              </a:lnSpc>
              <a:spcBef>
                <a:spcPts val="500"/>
              </a:spcBef>
              <a:spcAft>
                <a:spcPts val="0"/>
              </a:spcAft>
              <a:buClr>
                <a:schemeClr val="dk1"/>
              </a:buClr>
              <a:buSzPts val="1400"/>
              <a:buChar char="•"/>
            </a:pPr>
            <a:r>
              <a:rPr lang="en-US" sz="1400"/>
              <a:t>CIG Grant Holder</a:t>
            </a:r>
            <a:endParaRPr/>
          </a:p>
          <a:p>
            <a:pPr indent="-228600" lvl="1" marL="685800" rtl="0" algn="l">
              <a:lnSpc>
                <a:spcPct val="90000"/>
              </a:lnSpc>
              <a:spcBef>
                <a:spcPts val="500"/>
              </a:spcBef>
              <a:spcAft>
                <a:spcPts val="0"/>
              </a:spcAft>
              <a:buClr>
                <a:schemeClr val="dk1"/>
              </a:buClr>
              <a:buSzPts val="1400"/>
              <a:buChar char="•"/>
            </a:pPr>
            <a:r>
              <a:rPr lang="en-US" sz="1400"/>
              <a:t>Summary (for publication if the application is approved, </a:t>
            </a:r>
            <a:r>
              <a:rPr lang="en-US" sz="1400"/>
              <a:t>between 100 and 500 words</a:t>
            </a:r>
            <a:r>
              <a:rPr lang="en-US" sz="1400"/>
              <a:t>)</a:t>
            </a:r>
            <a:endParaRPr/>
          </a:p>
          <a:p>
            <a:pPr indent="-228600" lvl="1" marL="685800" rtl="0" algn="l">
              <a:lnSpc>
                <a:spcPct val="90000"/>
              </a:lnSpc>
              <a:spcBef>
                <a:spcPts val="500"/>
              </a:spcBef>
              <a:spcAft>
                <a:spcPts val="0"/>
              </a:spcAft>
              <a:buClr>
                <a:schemeClr val="dk1"/>
              </a:buClr>
              <a:buSzPts val="1400"/>
              <a:buChar char="•"/>
            </a:pPr>
            <a:r>
              <a:rPr lang="en-US" sz="1400"/>
              <a:t>Composition of CIG Team.</a:t>
            </a:r>
            <a:endParaRPr/>
          </a:p>
          <a:p>
            <a:pPr indent="-228600" lvl="1" marL="685800" rtl="0" algn="l">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Vice-Chair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Team Members.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B</a:t>
            </a:r>
            <a:endParaRPr/>
          </a:p>
        </p:txBody>
      </p:sp>
      <p:sp>
        <p:nvSpPr>
          <p:cNvPr id="118" name="Google Shape;118;p5"/>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application form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B (max. 6 pages):</a:t>
            </a:r>
            <a:endParaRPr/>
          </a:p>
          <a:p>
            <a:pPr indent="-317500" lvl="0" marL="914400" rtl="0" algn="l">
              <a:lnSpc>
                <a:spcPct val="90000"/>
              </a:lnSpc>
              <a:spcBef>
                <a:spcPts val="0"/>
              </a:spcBef>
              <a:spcAft>
                <a:spcPts val="0"/>
              </a:spcAft>
              <a:buSzPts val="1400"/>
              <a:buChar char="●"/>
            </a:pPr>
            <a:r>
              <a:rPr b="1" lang="en-US" sz="1400"/>
              <a:t>Innovation Potential </a:t>
            </a:r>
            <a:r>
              <a:rPr lang="en-US" sz="1400"/>
              <a:t>(</a:t>
            </a:r>
            <a:r>
              <a:rPr b="1" lang="en-US" sz="1400"/>
              <a:t>recommended 2 pages</a:t>
            </a:r>
            <a:r>
              <a:rPr lang="en-US" sz="1400"/>
              <a:t>): </a:t>
            </a:r>
            <a:endParaRPr/>
          </a:p>
          <a:p>
            <a:pPr indent="457200" lvl="0" marL="457200" rtl="0" algn="l">
              <a:lnSpc>
                <a:spcPct val="90000"/>
              </a:lnSpc>
              <a:spcBef>
                <a:spcPts val="500"/>
              </a:spcBef>
              <a:spcAft>
                <a:spcPts val="0"/>
              </a:spcAft>
              <a:buSzPts val="2800"/>
              <a:buNone/>
            </a:pPr>
            <a:r>
              <a:rPr lang="en-US" sz="1400"/>
              <a:t>1.1. What is the practical challenge and target group that you will address? </a:t>
            </a:r>
            <a:endParaRPr/>
          </a:p>
          <a:p>
            <a:pPr indent="457200" lvl="0" marL="457200" rtl="0" algn="l">
              <a:lnSpc>
                <a:spcPct val="90000"/>
              </a:lnSpc>
              <a:spcBef>
                <a:spcPts val="500"/>
              </a:spcBef>
              <a:spcAft>
                <a:spcPts val="0"/>
              </a:spcAft>
              <a:buSzPts val="2800"/>
              <a:buNone/>
            </a:pPr>
            <a:r>
              <a:rPr lang="en-US" sz="1400"/>
              <a:t>1.2. What is your proposed solution, what will be the main outcomes of the CIG? </a:t>
            </a:r>
            <a:endParaRPr/>
          </a:p>
          <a:p>
            <a:pPr indent="457200" lvl="0" marL="457200" rtl="0" algn="l">
              <a:lnSpc>
                <a:spcPct val="90000"/>
              </a:lnSpc>
              <a:spcBef>
                <a:spcPts val="500"/>
              </a:spcBef>
              <a:spcAft>
                <a:spcPts val="0"/>
              </a:spcAft>
              <a:buSzPts val="2800"/>
              <a:buNone/>
            </a:pPr>
            <a:r>
              <a:rPr lang="en-US" sz="1400"/>
              <a:t>1.3. </a:t>
            </a:r>
            <a:r>
              <a:rPr b="1" lang="en-US" sz="1400"/>
              <a:t>Objectives </a:t>
            </a:r>
            <a:r>
              <a:rPr lang="en-US" sz="1400"/>
              <a:t>of the CIG? </a:t>
            </a:r>
            <a:endParaRPr/>
          </a:p>
          <a:p>
            <a:pPr indent="457200" lvl="0" marL="457200" rtl="0" algn="l">
              <a:lnSpc>
                <a:spcPct val="90000"/>
              </a:lnSpc>
              <a:spcBef>
                <a:spcPts val="500"/>
              </a:spcBef>
              <a:spcAft>
                <a:spcPts val="0"/>
              </a:spcAft>
              <a:buSzPts val="2800"/>
              <a:buNone/>
            </a:pPr>
            <a:r>
              <a:rPr lang="en-US" sz="1400"/>
              <a:t>1.4. What is </a:t>
            </a:r>
            <a:r>
              <a:rPr b="1" lang="en-US" sz="1400"/>
              <a:t>innovative </a:t>
            </a:r>
            <a:r>
              <a:rPr lang="en-US" sz="1400"/>
              <a:t>about your solution?</a:t>
            </a:r>
            <a:endParaRPr/>
          </a:p>
          <a:p>
            <a:pPr indent="-317500" lvl="0" marL="914400" rtl="0" algn="l">
              <a:lnSpc>
                <a:spcPct val="90000"/>
              </a:lnSpc>
              <a:spcBef>
                <a:spcPts val="500"/>
              </a:spcBef>
              <a:spcAft>
                <a:spcPts val="0"/>
              </a:spcAft>
              <a:buSzPts val="1400"/>
              <a:buChar char="●"/>
            </a:pPr>
            <a:r>
              <a:rPr b="1" lang="en-US" sz="1400"/>
              <a:t>Expected impact </a:t>
            </a:r>
            <a:r>
              <a:rPr lang="en-US" sz="1400"/>
              <a:t>(recommended 2 pages): </a:t>
            </a:r>
            <a:endParaRPr/>
          </a:p>
          <a:p>
            <a:pPr indent="457200" lvl="0" marL="457200" rtl="0" algn="l">
              <a:lnSpc>
                <a:spcPct val="90000"/>
              </a:lnSpc>
              <a:spcBef>
                <a:spcPts val="500"/>
              </a:spcBef>
              <a:spcAft>
                <a:spcPts val="0"/>
              </a:spcAft>
              <a:buSzPts val="2800"/>
              <a:buNone/>
            </a:pPr>
            <a:r>
              <a:rPr lang="en-US" sz="1400"/>
              <a:t>2.1. Describe who and/or what will benefit, how, when and to which extent. </a:t>
            </a:r>
            <a:endParaRPr/>
          </a:p>
          <a:p>
            <a:pPr indent="457200" lvl="0" marL="457200" rtl="0" algn="l">
              <a:lnSpc>
                <a:spcPct val="90000"/>
              </a:lnSpc>
              <a:spcBef>
                <a:spcPts val="500"/>
              </a:spcBef>
              <a:spcAft>
                <a:spcPts val="0"/>
              </a:spcAft>
              <a:buSzPts val="2800"/>
              <a:buNone/>
            </a:pPr>
            <a:r>
              <a:rPr lang="en-US" sz="1400"/>
              <a:t>2.2. Plan for exploitation.</a:t>
            </a:r>
            <a:endParaRPr/>
          </a:p>
          <a:p>
            <a:pPr indent="-317500" lvl="0" marL="914400" rtl="0" algn="l">
              <a:lnSpc>
                <a:spcPct val="90000"/>
              </a:lnSpc>
              <a:spcBef>
                <a:spcPts val="500"/>
              </a:spcBef>
              <a:spcAft>
                <a:spcPts val="0"/>
              </a:spcAft>
              <a:buSzPts val="1400"/>
              <a:buChar char="●"/>
            </a:pPr>
            <a:r>
              <a:rPr b="1" lang="en-US" sz="1400"/>
              <a:t>Plan for Implementing the CIG </a:t>
            </a:r>
            <a:r>
              <a:rPr lang="en-US" sz="1400"/>
              <a:t>(recommended 2 pages)</a:t>
            </a:r>
            <a:endParaRPr/>
          </a:p>
          <a:p>
            <a:pPr indent="457200" lvl="0" marL="457200" rtl="0" algn="l">
              <a:lnSpc>
                <a:spcPct val="90000"/>
              </a:lnSpc>
              <a:spcBef>
                <a:spcPts val="500"/>
              </a:spcBef>
              <a:spcAft>
                <a:spcPts val="0"/>
              </a:spcAft>
              <a:buSzPts val="2800"/>
              <a:buNone/>
            </a:pPr>
            <a:r>
              <a:rPr lang="en-US" sz="1400"/>
              <a:t>3.1. Work plan. </a:t>
            </a:r>
            <a:endParaRPr/>
          </a:p>
          <a:p>
            <a:pPr indent="457200" lvl="0" marL="457200" rtl="0" algn="l">
              <a:lnSpc>
                <a:spcPct val="90000"/>
              </a:lnSpc>
              <a:spcBef>
                <a:spcPts val="500"/>
              </a:spcBef>
              <a:spcAft>
                <a:spcPts val="0"/>
              </a:spcAft>
              <a:buSzPts val="2800"/>
              <a:buNone/>
            </a:pPr>
            <a:r>
              <a:rPr lang="en-US" sz="1400"/>
              <a:t>3.2. Intellectual property rights considerations.</a:t>
            </a:r>
            <a:endParaRPr b="1"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a68e2429f2_1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Evaluation</a:t>
            </a:r>
            <a:endParaRPr/>
          </a:p>
        </p:txBody>
      </p:sp>
      <p:sp>
        <p:nvSpPr>
          <p:cNvPr id="125" name="Google Shape;125;g2a68e2429f2_1_0"/>
          <p:cNvSpPr txBox="1"/>
          <p:nvPr>
            <p:ph idx="1" type="body"/>
          </p:nvPr>
        </p:nvSpPr>
        <p:spPr>
          <a:xfrm>
            <a:off x="838200" y="1803400"/>
            <a:ext cx="10515600" cy="4689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SzPts val="2800"/>
              <a:buNone/>
            </a:pPr>
            <a:r>
              <a:rPr b="1" lang="en-US" sz="1400"/>
              <a:t>1. INNOVATION POTENTIAL</a:t>
            </a:r>
            <a:endParaRPr b="1" sz="1400"/>
          </a:p>
          <a:p>
            <a:pPr indent="0" lvl="0" marL="457200" marR="0" rtl="0" algn="l">
              <a:lnSpc>
                <a:spcPct val="90000"/>
              </a:lnSpc>
              <a:spcBef>
                <a:spcPts val="1000"/>
              </a:spcBef>
              <a:spcAft>
                <a:spcPts val="0"/>
              </a:spcAft>
              <a:buSzPts val="2800"/>
              <a:buNone/>
            </a:pPr>
            <a:r>
              <a:rPr lang="en-US" sz="1300"/>
              <a:t>Q1: To what extent does the application describe an </a:t>
            </a:r>
            <a:r>
              <a:rPr b="1" lang="en-US" sz="1300"/>
              <a:t>innovation challenge, problem </a:t>
            </a:r>
            <a:r>
              <a:rPr lang="en-US" sz="1300"/>
              <a:t>or need that is real, relevant, and timely?</a:t>
            </a:r>
            <a:endParaRPr sz="1300"/>
          </a:p>
          <a:p>
            <a:pPr indent="0" lvl="0" marL="457200" marR="0" rtl="0" algn="l">
              <a:lnSpc>
                <a:spcPct val="90000"/>
              </a:lnSpc>
              <a:spcBef>
                <a:spcPts val="1000"/>
              </a:spcBef>
              <a:spcAft>
                <a:spcPts val="0"/>
              </a:spcAft>
              <a:buSzPts val="2800"/>
              <a:buNone/>
            </a:pPr>
            <a:r>
              <a:rPr lang="en-US" sz="1300"/>
              <a:t>Q2: To what extent is the </a:t>
            </a:r>
            <a:r>
              <a:rPr b="1" lang="en-US" sz="1300"/>
              <a:t>proposed solution innovative, feasible, and adequate in addressing the problem or need described above</a:t>
            </a:r>
            <a:r>
              <a:rPr lang="en-US" sz="1300"/>
              <a:t>?</a:t>
            </a:r>
            <a:endParaRPr sz="1300"/>
          </a:p>
          <a:p>
            <a:pPr indent="0" lvl="0" marL="0" marR="0" rtl="0" algn="l">
              <a:lnSpc>
                <a:spcPct val="90000"/>
              </a:lnSpc>
              <a:spcBef>
                <a:spcPts val="1000"/>
              </a:spcBef>
              <a:spcAft>
                <a:spcPts val="0"/>
              </a:spcAft>
              <a:buSzPts val="2800"/>
              <a:buNone/>
            </a:pPr>
            <a:r>
              <a:rPr b="1" lang="en-US" sz="1400"/>
              <a:t>2. EXPECTED IMPACT</a:t>
            </a:r>
            <a:endParaRPr b="1" sz="1400"/>
          </a:p>
          <a:p>
            <a:pPr indent="0" lvl="0" marL="457200" marR="0" rtl="0" algn="l">
              <a:lnSpc>
                <a:spcPct val="90000"/>
              </a:lnSpc>
              <a:spcBef>
                <a:spcPts val="1000"/>
              </a:spcBef>
              <a:spcAft>
                <a:spcPts val="0"/>
              </a:spcAft>
              <a:buSzPts val="2800"/>
              <a:buNone/>
            </a:pPr>
            <a:r>
              <a:rPr lang="en-US" sz="1300"/>
              <a:t>Q3: To what extent does the application describe </a:t>
            </a:r>
            <a:r>
              <a:rPr b="1" lang="en-US" sz="1300"/>
              <a:t>expected impacts that </a:t>
            </a:r>
            <a:r>
              <a:rPr lang="en-US" sz="1300"/>
              <a:t>are both significant and credible (realistic)?</a:t>
            </a:r>
            <a:endParaRPr sz="1300"/>
          </a:p>
          <a:p>
            <a:pPr indent="0" lvl="0" marL="457200" marR="0" rtl="0" algn="l">
              <a:lnSpc>
                <a:spcPct val="90000"/>
              </a:lnSpc>
              <a:spcBef>
                <a:spcPts val="1000"/>
              </a:spcBef>
              <a:spcAft>
                <a:spcPts val="0"/>
              </a:spcAft>
              <a:buSzPts val="2800"/>
              <a:buNone/>
            </a:pPr>
            <a:r>
              <a:rPr lang="en-US" sz="1300"/>
              <a:t>Q4: To what extent is the </a:t>
            </a:r>
            <a:r>
              <a:rPr b="1" lang="en-US" sz="1300"/>
              <a:t>plan for exploitation both realistic and adequate</a:t>
            </a:r>
            <a:r>
              <a:rPr lang="en-US" sz="1300"/>
              <a:t>?</a:t>
            </a:r>
            <a:endParaRPr sz="1300"/>
          </a:p>
          <a:p>
            <a:pPr indent="0" lvl="0" marL="0" marR="0" rtl="0" algn="l">
              <a:lnSpc>
                <a:spcPct val="90000"/>
              </a:lnSpc>
              <a:spcBef>
                <a:spcPts val="1000"/>
              </a:spcBef>
              <a:spcAft>
                <a:spcPts val="0"/>
              </a:spcAft>
              <a:buSzPts val="2800"/>
              <a:buNone/>
            </a:pPr>
            <a:r>
              <a:rPr b="1" lang="en-US" sz="1400"/>
              <a:t>3. PLAN FOR IMPLEMENTING THE CIG</a:t>
            </a:r>
            <a:endParaRPr b="1" sz="1400"/>
          </a:p>
          <a:p>
            <a:pPr indent="457200" lvl="0" marL="0" marR="0" rtl="0" algn="l">
              <a:lnSpc>
                <a:spcPct val="90000"/>
              </a:lnSpc>
              <a:spcBef>
                <a:spcPts val="1000"/>
              </a:spcBef>
              <a:spcAft>
                <a:spcPts val="0"/>
              </a:spcAft>
              <a:buSzPts val="2800"/>
              <a:buNone/>
            </a:pPr>
            <a:r>
              <a:rPr lang="en-US" sz="1300"/>
              <a:t>Q5: To what extent are the work plan and the team appropriate for achieving the stated objectives of the CIG?</a:t>
            </a:r>
            <a:endParaRPr sz="1300"/>
          </a:p>
          <a:p>
            <a:pPr indent="0" lvl="0" marL="63500" rtl="0" algn="l">
              <a:lnSpc>
                <a:spcPct val="115000"/>
              </a:lnSpc>
              <a:spcBef>
                <a:spcPts val="200"/>
              </a:spcBef>
              <a:spcAft>
                <a:spcPts val="0"/>
              </a:spcAft>
              <a:buSzPts val="2800"/>
              <a:buNone/>
            </a:pPr>
            <a:r>
              <a:t/>
            </a:r>
            <a:endParaRPr sz="1000">
              <a:solidFill>
                <a:srgbClr val="000000"/>
              </a:solidFill>
              <a:latin typeface="Arial"/>
              <a:ea typeface="Arial"/>
              <a:cs typeface="Arial"/>
              <a:sym typeface="Arial"/>
            </a:endParaRPr>
          </a:p>
          <a:p>
            <a:pPr indent="-101600" lvl="0" marL="228600" marR="0" rtl="0" algn="l">
              <a:lnSpc>
                <a:spcPct val="90000"/>
              </a:lnSpc>
              <a:spcBef>
                <a:spcPts val="1000"/>
              </a:spcBef>
              <a:spcAft>
                <a:spcPts val="0"/>
              </a:spcAft>
              <a:buClr>
                <a:schemeClr val="dk1"/>
              </a:buClr>
              <a:buSzPts val="2000"/>
              <a:buFont typeface="Arial"/>
              <a:buNone/>
            </a:pPr>
            <a:r>
              <a:t/>
            </a:r>
            <a:endParaRPr sz="1400"/>
          </a:p>
        </p:txBody>
      </p:sp>
      <p:graphicFrame>
        <p:nvGraphicFramePr>
          <p:cNvPr id="126" name="Google Shape;126;g2a68e2429f2_1_0"/>
          <p:cNvGraphicFramePr/>
          <p:nvPr/>
        </p:nvGraphicFramePr>
        <p:xfrm>
          <a:off x="3200400" y="4835350"/>
          <a:ext cx="3000000" cy="3000000"/>
        </p:xfrm>
        <a:graphic>
          <a:graphicData uri="http://schemas.openxmlformats.org/drawingml/2006/table">
            <a:tbl>
              <a:tblPr>
                <a:noFill/>
                <a:tableStyleId>{534E3EE5-BD90-4ED7-9C65-D522846581B6}</a:tableStyleId>
              </a:tblPr>
              <a:tblGrid>
                <a:gridCol w="2396175"/>
                <a:gridCol w="2408200"/>
                <a:gridCol w="2516575"/>
              </a:tblGrid>
              <a:tr h="480275">
                <a:tc>
                  <a:txBody>
                    <a:bodyPr/>
                    <a:lstStyle/>
                    <a:p>
                      <a:pPr indent="0" lvl="0" marL="635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INNOVATION POTENTIAL</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270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EXPECTED IMPACT</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01600" marR="0" rtl="0" algn="l">
                        <a:lnSpc>
                          <a:spcPct val="115000"/>
                        </a:lnSpc>
                        <a:spcBef>
                          <a:spcPts val="0"/>
                        </a:spcBef>
                        <a:spcAft>
                          <a:spcPts val="0"/>
                        </a:spcAft>
                        <a:buClr>
                          <a:srgbClr val="000000"/>
                        </a:buClr>
                        <a:buSzPts val="1000"/>
                        <a:buFont typeface="Arial"/>
                        <a:buNone/>
                      </a:pPr>
                      <a:r>
                        <a:rPr b="1" lang="en-US" sz="1000" u="none" cap="none" strike="noStrike">
                          <a:solidFill>
                            <a:srgbClr val="FFFFFF"/>
                          </a:solidFill>
                        </a:rPr>
                        <a:t>IMPLEMENTATION</a:t>
                      </a:r>
                      <a:endParaRPr b="1" sz="1000" u="none" cap="none" strike="noStrike">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r>
              <a:tr h="787100">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6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6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marR="0" rtl="0" algn="l">
                        <a:lnSpc>
                          <a:spcPct val="115000"/>
                        </a:lnSpc>
                        <a:spcBef>
                          <a:spcPts val="0"/>
                        </a:spcBef>
                        <a:spcAft>
                          <a:spcPts val="0"/>
                        </a:spcAft>
                        <a:buClr>
                          <a:srgbClr val="000000"/>
                        </a:buClr>
                        <a:buSzPts val="1000"/>
                        <a:buFont typeface="Arial"/>
                        <a:buNone/>
                      </a:pPr>
                      <a:r>
                        <a:rPr lang="en-US" sz="1000" u="none" cap="none" strike="noStrike"/>
                        <a:t>Total marks for the section</a:t>
                      </a:r>
                      <a:endParaRPr sz="1000" u="none" cap="none" strike="noStrike"/>
                    </a:p>
                    <a:p>
                      <a:pPr indent="0" lvl="0" marL="63500" marR="0" rtl="0" algn="l">
                        <a:lnSpc>
                          <a:spcPct val="115000"/>
                        </a:lnSpc>
                        <a:spcBef>
                          <a:spcPts val="300"/>
                        </a:spcBef>
                        <a:spcAft>
                          <a:spcPts val="0"/>
                        </a:spcAft>
                        <a:buClr>
                          <a:srgbClr val="000000"/>
                        </a:buClr>
                        <a:buSzPts val="1000"/>
                        <a:buFont typeface="Arial"/>
                        <a:buNone/>
                      </a:pPr>
                      <a:r>
                        <a:rPr lang="en-US" sz="1000" u="none" cap="none" strike="noStrike"/>
                        <a:t>= 3 points</a:t>
                      </a:r>
                      <a:endParaRPr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3625">
                <a:tc gridSpan="3">
                  <a:txBody>
                    <a:bodyPr/>
                    <a:lstStyle/>
                    <a:p>
                      <a:pPr indent="0" lvl="0" marL="63500" marR="0" rtl="0" algn="l">
                        <a:lnSpc>
                          <a:spcPct val="115000"/>
                        </a:lnSpc>
                        <a:spcBef>
                          <a:spcPts val="0"/>
                        </a:spcBef>
                        <a:spcAft>
                          <a:spcPts val="0"/>
                        </a:spcAft>
                        <a:buClr>
                          <a:srgbClr val="000000"/>
                        </a:buClr>
                        <a:buSzPts val="1000"/>
                        <a:buFont typeface="Arial"/>
                        <a:buNone/>
                      </a:pPr>
                      <a:r>
                        <a:rPr b="1" lang="en-US" sz="1000" u="none" cap="none" strike="noStrike"/>
                        <a:t>TOTAL MAXIMUM MARKS AWARDED = 15 points</a:t>
                      </a:r>
                      <a:endParaRPr b="1" sz="1000" u="none" cap="none" strike="noStrike"/>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C3C1"/>
                    </a:solidFill>
                  </a:tcPr>
                </a:tc>
                <a:tc hMerge="1"/>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a6da3fe019_19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Brainstorming - Topics which lead to a Business Model, include a justification</a:t>
            </a:r>
            <a:endParaRPr/>
          </a:p>
        </p:txBody>
      </p:sp>
      <p:sp>
        <p:nvSpPr>
          <p:cNvPr id="133" name="Google Shape;133;g2a6da3fe019_19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1: Service-a-Software, applying LLMs on Finance to  provide information for micro and SME-s. Semantic searching with the help of LLM, Generative AI, defining a cognitive enterprise architecture for M-SMEs to exploit the most recent AI technologies through Cloud Computing.</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2: Green fintech is crucial for directing investments toward sustainable projects, mitigating climate risks, and meeting the increasing demand for eco-friendly financial products, aligning with environmental and consumer expectations. It combines finance and technology to drive innovation for a more environmentally responsible and resilient global economy.</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3: Generative Adversarial Networks for Auction Simulation. Specifically, competitive loan auctions are one of the means for an institutional investor to develop a portfolio. Working in a loan auction environment developed for the secondary loan market, the aim would be for the participants to carry out research and develop a model synthesizing the other auction bidders using a Generative Adversarial Network in order to optimize bidding price.</a:t>
            </a:r>
            <a:br>
              <a:rPr lang="en-US" sz="1200">
                <a:solidFill>
                  <a:srgbClr val="374151"/>
                </a:solidFill>
                <a:latin typeface="Roboto"/>
                <a:ea typeface="Roboto"/>
                <a:cs typeface="Roboto"/>
                <a:sym typeface="Roboto"/>
              </a:rPr>
            </a:br>
            <a:br>
              <a:rPr lang="en-US" sz="1200">
                <a:solidFill>
                  <a:srgbClr val="374151"/>
                </a:solidFill>
                <a:latin typeface="Roboto"/>
                <a:ea typeface="Roboto"/>
                <a:cs typeface="Roboto"/>
                <a:sym typeface="Roboto"/>
              </a:rPr>
            </a:br>
            <a:r>
              <a:rPr lang="en-US" sz="1200">
                <a:solidFill>
                  <a:srgbClr val="374151"/>
                </a:solidFill>
                <a:latin typeface="Roboto"/>
                <a:ea typeface="Roboto"/>
                <a:cs typeface="Roboto"/>
                <a:sym typeface="Roboto"/>
              </a:rPr>
              <a:t>Topic 4: Since workforce expenditure is included in the financial statements and so released on a yearly basis/ quarterly basis, the goal of the research is to understand if public human capital information can be used to estimate the workforce expenditure of a company. Using LinkedIn, Glassdoor and other social media/ job posts aggregators, the researcher should be able to retrieve information both on the headcount, the roles and the average salary to estimate the workforce expenditure. The performance and results of the analysis should be evaluated at least at company dimension level (SMEs and big companies) and geographical level.</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5: Neural-Symbolic AI for Fintech / Compliance Testing / Contestability: It could be used as a way to regulate / explain / contest LLM predictions in view of the AI Act and GDPR.</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rtl="0" algn="l">
              <a:lnSpc>
                <a:spcPct val="115000"/>
              </a:lnSpc>
              <a:spcBef>
                <a:spcPts val="0"/>
              </a:spcBef>
              <a:spcAft>
                <a:spcPts val="0"/>
              </a:spcAft>
              <a:buNone/>
            </a:pPr>
            <a:r>
              <a:rPr lang="en-US" sz="1200">
                <a:solidFill>
                  <a:srgbClr val="374151"/>
                </a:solidFill>
                <a:latin typeface="Roboto"/>
                <a:ea typeface="Roboto"/>
                <a:cs typeface="Roboto"/>
                <a:sym typeface="Roboto"/>
              </a:rPr>
              <a:t>Topic 6: Image-based Financial Pattern Recognition (Financial data has deep patterns –trading signals, price anomalies, systemic risks– that are hard to define/extract in a rule-based sense. Deep learning can be employed to identify these patterns.)</a:t>
            </a:r>
            <a:endParaRPr sz="1200">
              <a:solidFill>
                <a:srgbClr val="37415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a6da3fe019_19_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rgbClr val="000000"/>
              </a:buClr>
              <a:buSzPts val="1100"/>
              <a:buFont typeface="Arial"/>
              <a:buNone/>
            </a:pPr>
            <a:r>
              <a:rPr lang="en-US"/>
              <a:t>Brainstorming - Topics which lead to a Business Model II</a:t>
            </a:r>
            <a:endParaRPr/>
          </a:p>
        </p:txBody>
      </p:sp>
      <p:sp>
        <p:nvSpPr>
          <p:cNvPr id="140" name="Google Shape;140;g2a6da3fe019_19_1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7: </a:t>
            </a:r>
            <a:r>
              <a:rPr lang="en-US" sz="1200">
                <a:solidFill>
                  <a:srgbClr val="374151"/>
                </a:solidFill>
                <a:latin typeface="Roboto"/>
                <a:ea typeface="Roboto"/>
                <a:cs typeface="Roboto"/>
                <a:sym typeface="Roboto"/>
              </a:rPr>
              <a:t>Develop workflows for financial service providers to address the requirements of the EU AI act</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8: Initiate R&amp;D service to business and state institutions based on XAI analytics</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9: Empowering Education in the AI Era: Implementing FINTECH and Involving all Actors</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10: Predicting the EU Courts decisions using the Predictive AI</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None/>
            </a:pPr>
            <a:r>
              <a:rPr lang="en-US" sz="1200">
                <a:solidFill>
                  <a:srgbClr val="374151"/>
                </a:solidFill>
                <a:latin typeface="Roboto"/>
                <a:ea typeface="Roboto"/>
                <a:cs typeface="Roboto"/>
                <a:sym typeface="Roboto"/>
              </a:rPr>
              <a:t>Topic 11: </a:t>
            </a:r>
            <a:r>
              <a:rPr lang="en-US" sz="1200">
                <a:solidFill>
                  <a:srgbClr val="374151"/>
                </a:solidFill>
                <a:latin typeface="Roboto"/>
                <a:ea typeface="Roboto"/>
                <a:cs typeface="Roboto"/>
                <a:sym typeface="Roboto"/>
              </a:rPr>
              <a:t>Empowering Education in the AI Era: Implementing FINTECH and Involving all Actors (Training school, for Fintech and AI)</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lang="en-US" sz="1200">
                <a:solidFill>
                  <a:srgbClr val="374151"/>
                </a:solidFill>
                <a:latin typeface="Roboto"/>
                <a:ea typeface="Roboto"/>
                <a:cs typeface="Roboto"/>
                <a:sym typeface="Roboto"/>
              </a:rPr>
              <a:t>Topic 12: Using machine learning to predict short-term price movement ; the goal is to improve MARCO AVELLANEDA and SASHA STOIKOV market making model with machine learning techniques, by predicting short-term price movements for several timeframes (from 10 to 100 ticks, typically less than a second to 10 seconds). The next step would be to develop a trading framework in a production mode for some cryptocurrencies.</a:t>
            </a:r>
            <a:endParaRPr sz="1200">
              <a:solidFill>
                <a:srgbClr val="37415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sz="1200">
              <a:solidFill>
                <a:srgbClr val="37415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2a6da3fe019_19_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Brainstorming - Topics which lead to a Business Model III</a:t>
            </a:r>
            <a:endParaRPr/>
          </a:p>
        </p:txBody>
      </p:sp>
      <p:sp>
        <p:nvSpPr>
          <p:cNvPr id="147" name="Google Shape;147;g2a6da3fe019_19_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2a6da3fe019_19_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Approach</a:t>
            </a:r>
            <a:endParaRPr/>
          </a:p>
        </p:txBody>
      </p:sp>
      <p:sp>
        <p:nvSpPr>
          <p:cNvPr id="154" name="Google Shape;154;g2a6da3fe019_19_1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AutoNum type="arabicPeriod"/>
            </a:pPr>
            <a:r>
              <a:rPr lang="en-US"/>
              <a:t>Collect all ideas with justification why that leads to a business plan by December 21st. </a:t>
            </a:r>
            <a:endParaRPr/>
          </a:p>
          <a:p>
            <a:pPr indent="-406400" lvl="0" marL="457200" rtl="0" algn="l">
              <a:spcBef>
                <a:spcPts val="0"/>
              </a:spcBef>
              <a:spcAft>
                <a:spcPts val="0"/>
              </a:spcAft>
              <a:buSzPts val="2800"/>
              <a:buAutoNum type="arabicPeriod"/>
            </a:pPr>
            <a:r>
              <a:rPr lang="en-US"/>
              <a:t>Match those ideas to </a:t>
            </a:r>
            <a:r>
              <a:rPr lang="en-US"/>
              <a:t>what everyone has to contribute by mentioning how they contribute during this 1 year.</a:t>
            </a:r>
            <a:endParaRPr/>
          </a:p>
          <a:p>
            <a:pPr indent="0" lvl="0" marL="0" rtl="0" algn="l">
              <a:spcBef>
                <a:spcPts val="1000"/>
              </a:spcBef>
              <a:spcAft>
                <a:spcPts val="0"/>
              </a:spcAft>
              <a:buNone/>
            </a:pPr>
            <a:r>
              <a:rPr lang="en-US"/>
              <a:t>e.g. google doc where everyone indicates how much they can contribute to each topic.</a:t>
            </a:r>
            <a:endParaRPr/>
          </a:p>
          <a:p>
            <a:pPr indent="-406400" lvl="0" marL="457200" rtl="0" algn="l">
              <a:spcBef>
                <a:spcPts val="1000"/>
              </a:spcBef>
              <a:spcAft>
                <a:spcPts val="0"/>
              </a:spcAft>
              <a:buSzPts val="2800"/>
              <a:buAutoNum type="arabicPeriod"/>
            </a:pPr>
            <a:r>
              <a:rPr lang="en-US"/>
              <a:t>Decide on 1 topic by Dec 31st.</a:t>
            </a:r>
            <a:endParaRPr/>
          </a:p>
          <a:p>
            <a:pPr indent="-406400" lvl="0" marL="457200" rtl="0" algn="l">
              <a:spcBef>
                <a:spcPts val="0"/>
              </a:spcBef>
              <a:spcAft>
                <a:spcPts val="0"/>
              </a:spcAft>
              <a:buSzPts val="2800"/>
              <a:buAutoNum type="arabicPeriod"/>
            </a:pPr>
            <a:r>
              <a:rPr lang="en-US"/>
              <a:t>Write the application by January 25th. </a:t>
            </a:r>
            <a:endParaRPr/>
          </a:p>
          <a:p>
            <a:pPr indent="-406400" lvl="0" marL="457200" rtl="0" algn="l">
              <a:spcBef>
                <a:spcPts val="0"/>
              </a:spcBef>
              <a:spcAft>
                <a:spcPts val="0"/>
              </a:spcAft>
              <a:buSzPts val="2800"/>
              <a:buAutoNum type="arabicPeriod"/>
            </a:pPr>
            <a:r>
              <a:rPr lang="en-US"/>
              <a:t>A smaller group will write the application and then ask for approval from everyone before submitting.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2a68e24341e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2023 Five COST Innovators Grant</a:t>
            </a:r>
            <a:endParaRPr/>
          </a:p>
        </p:txBody>
      </p:sp>
      <p:sp>
        <p:nvSpPr>
          <p:cNvPr id="161" name="Google Shape;161;g2a68e24341e_0_6"/>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1000"/>
              </a:spcBef>
              <a:spcAft>
                <a:spcPts val="0"/>
              </a:spcAft>
              <a:buClr>
                <a:schemeClr val="dk1"/>
              </a:buClr>
              <a:buSzPts val="2000"/>
              <a:buNone/>
            </a:pPr>
            <a:r>
              <a:rPr b="1" lang="en-US" sz="1400"/>
              <a:t>Link to the article: </a:t>
            </a:r>
            <a:r>
              <a:rPr b="1" lang="en-US" sz="1400" u="sng">
                <a:solidFill>
                  <a:schemeClr val="hlink"/>
                </a:solidFill>
                <a:hlinkClick r:id="rId3"/>
              </a:rPr>
              <a:t>https://www.cost.eu/five-new-cost-innovators-grants-2023/</a:t>
            </a:r>
            <a:endParaRPr b="1" sz="1400"/>
          </a:p>
          <a:p>
            <a:pPr indent="-101600" lvl="0" marL="228600" rtl="0" algn="l">
              <a:lnSpc>
                <a:spcPct val="90000"/>
              </a:lnSpc>
              <a:spcBef>
                <a:spcPts val="1000"/>
              </a:spcBef>
              <a:spcAft>
                <a:spcPts val="0"/>
              </a:spcAft>
              <a:buClr>
                <a:schemeClr val="dk1"/>
              </a:buClr>
              <a:buSzPts val="2000"/>
              <a:buNone/>
            </a:pPr>
            <a:r>
              <a:t/>
            </a:r>
            <a:endParaRPr b="1" sz="1400"/>
          </a:p>
        </p:txBody>
      </p:sp>
      <p:pic>
        <p:nvPicPr>
          <p:cNvPr id="162" name="Google Shape;162;g2a68e24341e_0_6"/>
          <p:cNvPicPr preferRelativeResize="0"/>
          <p:nvPr/>
        </p:nvPicPr>
        <p:blipFill rotWithShape="1">
          <a:blip r:embed="rId4">
            <a:alphaModFix/>
          </a:blip>
          <a:srcRect b="0" l="0" r="0" t="0"/>
          <a:stretch/>
        </p:blipFill>
        <p:spPr>
          <a:xfrm>
            <a:off x="2173438" y="2390300"/>
            <a:ext cx="7845124" cy="4102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2a6da3fe019_65_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2022 Six COST Innovators Grant</a:t>
            </a:r>
            <a:endParaRPr/>
          </a:p>
        </p:txBody>
      </p:sp>
      <p:sp>
        <p:nvSpPr>
          <p:cNvPr id="169" name="Google Shape;169;g2a6da3fe019_65_1"/>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1000"/>
              </a:spcBef>
              <a:spcAft>
                <a:spcPts val="0"/>
              </a:spcAft>
              <a:buClr>
                <a:schemeClr val="dk1"/>
              </a:buClr>
              <a:buSzPts val="2000"/>
              <a:buNone/>
            </a:pPr>
            <a:r>
              <a:rPr b="1" lang="en-US" sz="1400"/>
              <a:t>Link to the article: </a:t>
            </a:r>
            <a:r>
              <a:rPr b="1" lang="en-US" sz="1400" u="sng">
                <a:solidFill>
                  <a:schemeClr val="hlink"/>
                </a:solidFill>
                <a:hlinkClick r:id="rId3"/>
              </a:rPr>
              <a:t>https://www.cost.eu/six-new-cost-innovators-grants/</a:t>
            </a:r>
            <a:endParaRPr b="1" sz="1400"/>
          </a:p>
          <a:p>
            <a:pPr indent="-101600" lvl="0" marL="228600" rtl="0" algn="l">
              <a:lnSpc>
                <a:spcPct val="90000"/>
              </a:lnSpc>
              <a:spcBef>
                <a:spcPts val="1000"/>
              </a:spcBef>
              <a:spcAft>
                <a:spcPts val="0"/>
              </a:spcAft>
              <a:buClr>
                <a:schemeClr val="dk1"/>
              </a:buClr>
              <a:buSzPts val="2000"/>
              <a:buNone/>
            </a:pPr>
            <a:r>
              <a:t/>
            </a:r>
            <a:endParaRPr b="1" sz="1400"/>
          </a:p>
          <a:p>
            <a:pPr indent="-101600" lvl="0" marL="228600" rtl="0" algn="l">
              <a:lnSpc>
                <a:spcPct val="90000"/>
              </a:lnSpc>
              <a:spcBef>
                <a:spcPts val="1000"/>
              </a:spcBef>
              <a:spcAft>
                <a:spcPts val="0"/>
              </a:spcAft>
              <a:buClr>
                <a:schemeClr val="dk1"/>
              </a:buClr>
              <a:buSzPts val="2000"/>
              <a:buNone/>
            </a:pPr>
            <a:r>
              <a:t/>
            </a:r>
            <a:endParaRPr b="1" sz="1400"/>
          </a:p>
        </p:txBody>
      </p:sp>
      <p:pic>
        <p:nvPicPr>
          <p:cNvPr id="170" name="Google Shape;170;g2a6da3fe019_65_1"/>
          <p:cNvPicPr preferRelativeResize="0"/>
          <p:nvPr/>
        </p:nvPicPr>
        <p:blipFill>
          <a:blip r:embed="rId4">
            <a:alphaModFix/>
          </a:blip>
          <a:stretch>
            <a:fillRect/>
          </a:stretch>
        </p:blipFill>
        <p:spPr>
          <a:xfrm>
            <a:off x="482600" y="2634099"/>
            <a:ext cx="11226800" cy="3554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Appendix</a:t>
            </a:r>
            <a:endParaRPr/>
          </a:p>
        </p:txBody>
      </p:sp>
      <p:sp>
        <p:nvSpPr>
          <p:cNvPr id="176" name="Google Shape;176;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Stylistic Requirements</a:t>
            </a:r>
            <a:endParaRPr/>
          </a:p>
        </p:txBody>
      </p:sp>
      <p:sp>
        <p:nvSpPr>
          <p:cNvPr id="183" name="Google Shape;183;p10"/>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Find writing style guide </a:t>
            </a:r>
            <a:r>
              <a:rPr b="1" lang="en-US" sz="1400" u="sng">
                <a:solidFill>
                  <a:schemeClr val="hlink"/>
                </a:solidFill>
                <a:hlinkClick r:id="rId3"/>
              </a:rPr>
              <a:t>here</a:t>
            </a:r>
            <a:r>
              <a:rPr b="1" lang="en-US" sz="1400"/>
              <a:t>, page 10, section 2.2.2.3.</a:t>
            </a:r>
            <a:endParaRPr/>
          </a:p>
          <a:p>
            <a:pPr indent="-228600" lvl="0" marL="228600" rtl="0" algn="l">
              <a:lnSpc>
                <a:spcPct val="90000"/>
              </a:lnSpc>
              <a:spcBef>
                <a:spcPts val="1000"/>
              </a:spcBef>
              <a:spcAft>
                <a:spcPts val="0"/>
              </a:spcAft>
              <a:buClr>
                <a:schemeClr val="dk1"/>
              </a:buClr>
              <a:buSzPts val="1400"/>
              <a:buChar char="•"/>
            </a:pPr>
            <a:r>
              <a:rPr lang="en-US" sz="1400"/>
              <a:t>Checking language and spelling, presenting the text in a logical way, avoiding unnecessary repetition between the different sections;</a:t>
            </a:r>
            <a:endParaRPr/>
          </a:p>
          <a:p>
            <a:pPr indent="-228600" lvl="0" marL="228600" rtl="0" algn="l">
              <a:lnSpc>
                <a:spcPct val="90000"/>
              </a:lnSpc>
              <a:spcBef>
                <a:spcPts val="1000"/>
              </a:spcBef>
              <a:spcAft>
                <a:spcPts val="0"/>
              </a:spcAft>
              <a:buClr>
                <a:schemeClr val="dk1"/>
              </a:buClr>
              <a:buSzPts val="1400"/>
              <a:buChar char="•"/>
            </a:pPr>
            <a:r>
              <a:rPr lang="en-US" sz="1400"/>
              <a:t>Use of capital letters for COST-specific and Action-related expressions and explaining all acronyms, including those commonly used in the Framework Programme context;</a:t>
            </a:r>
            <a:endParaRPr/>
          </a:p>
          <a:p>
            <a:pPr indent="-228600" lvl="0" marL="228600" rtl="0" algn="l">
              <a:lnSpc>
                <a:spcPct val="90000"/>
              </a:lnSpc>
              <a:spcBef>
                <a:spcPts val="1000"/>
              </a:spcBef>
              <a:spcAft>
                <a:spcPts val="0"/>
              </a:spcAft>
              <a:buClr>
                <a:schemeClr val="dk1"/>
              </a:buClr>
              <a:buSzPts val="1400"/>
              <a:buChar char="•"/>
            </a:pPr>
            <a:r>
              <a:rPr lang="en-US" sz="1400"/>
              <a:t>Use of "Europe" or "COST Member Countries" when referring to the overall geographical scope of COST. "European Union" or "EU Member States" should only be used to refer to the EU as a player ("EU legislation", "EU programmes", "EU policies" etc.) or when only EU Member State(s) need to be explicitly mentioned, excluding COST Members not being Member States of the EU;</a:t>
            </a:r>
            <a:endParaRPr/>
          </a:p>
          <a:p>
            <a:pPr indent="-228600" lvl="0" marL="228600" rtl="0" algn="l">
              <a:lnSpc>
                <a:spcPct val="90000"/>
              </a:lnSpc>
              <a:spcBef>
                <a:spcPts val="1000"/>
              </a:spcBef>
              <a:spcAft>
                <a:spcPts val="0"/>
              </a:spcAft>
              <a:buClr>
                <a:schemeClr val="dk1"/>
              </a:buClr>
              <a:buSzPts val="1400"/>
              <a:buChar char="•"/>
            </a:pPr>
            <a:r>
              <a:rPr lang="en-US" sz="1400"/>
              <a:t>Use of "framework" or "scheme" when referring to COST (COST is an intergovernmental framework, not an "EU instrument", although it is funded by the EU Framework Programme);</a:t>
            </a:r>
            <a:endParaRPr/>
          </a:p>
          <a:p>
            <a:pPr indent="-228600" lvl="0" marL="228600" rtl="0" algn="l">
              <a:lnSpc>
                <a:spcPct val="90000"/>
              </a:lnSpc>
              <a:spcBef>
                <a:spcPts val="1000"/>
              </a:spcBef>
              <a:spcAft>
                <a:spcPts val="0"/>
              </a:spcAft>
              <a:buClr>
                <a:schemeClr val="dk1"/>
              </a:buClr>
              <a:buSzPts val="1400"/>
              <a:buChar char="•"/>
            </a:pPr>
            <a:r>
              <a:rPr lang="en-US" sz="1400"/>
              <a:t>Avoiding pronouns such as “I”, “we”; rather use “the CIG”;</a:t>
            </a:r>
            <a:endParaRPr/>
          </a:p>
          <a:p>
            <a:pPr indent="-228600" lvl="0" marL="228600" rtl="0" algn="l">
              <a:lnSpc>
                <a:spcPct val="90000"/>
              </a:lnSpc>
              <a:spcBef>
                <a:spcPts val="1000"/>
              </a:spcBef>
              <a:spcAft>
                <a:spcPts val="0"/>
              </a:spcAft>
              <a:buClr>
                <a:schemeClr val="dk1"/>
              </a:buClr>
              <a:buSzPts val="1400"/>
              <a:buChar char="•"/>
            </a:pPr>
            <a:r>
              <a:rPr lang="en-US" sz="1400"/>
              <a:t>Avoiding expressions such as “planned” or “proposed” when referring to the CIG; rather use “aims at”, “will”, etc.;</a:t>
            </a:r>
            <a:endParaRPr/>
          </a:p>
          <a:p>
            <a:pPr indent="-228600" lvl="0" marL="228600" rtl="0" algn="l">
              <a:lnSpc>
                <a:spcPct val="90000"/>
              </a:lnSpc>
              <a:spcBef>
                <a:spcPts val="1000"/>
              </a:spcBef>
              <a:spcAft>
                <a:spcPts val="0"/>
              </a:spcAft>
              <a:buClr>
                <a:schemeClr val="dk1"/>
              </a:buClr>
              <a:buSzPts val="1400"/>
              <a:buChar char="•"/>
            </a:pPr>
            <a:r>
              <a:rPr lang="en-US" sz="1400"/>
              <a:t>Avoiding overstatements regarding the potential impact of the CIG.</a:t>
            </a:r>
            <a:endParaRPr/>
          </a:p>
          <a:p>
            <a:pPr indent="-228600" lvl="0" marL="228600" rtl="0" algn="l">
              <a:lnSpc>
                <a:spcPct val="90000"/>
              </a:lnSpc>
              <a:spcBef>
                <a:spcPts val="1000"/>
              </a:spcBef>
              <a:spcAft>
                <a:spcPts val="0"/>
              </a:spcAft>
              <a:buClr>
                <a:schemeClr val="dk1"/>
              </a:buClr>
              <a:buSzPts val="1400"/>
              <a:buChar char="•"/>
            </a:pPr>
            <a:r>
              <a:rPr lang="en-US" sz="1400"/>
              <a:t>Using of the “CIG application template” and the following COST standard style: Arial font, size 10, line spacing 1 - choose “Normal, Text” style option from the ribbon styles gallery, margins, line spacing, etc. Any application not fulfilling the aforementioned “CIG application template”, will be converted into the standard template by COST. In case of exceeding pages, these will not be provided to CIG Committee for evaluation.</a:t>
            </a:r>
            <a:endParaRPr/>
          </a:p>
          <a:p>
            <a:pPr indent="-228600" lvl="0" marL="228600" rtl="0" algn="l">
              <a:lnSpc>
                <a:spcPct val="90000"/>
              </a:lnSpc>
              <a:spcBef>
                <a:spcPts val="1000"/>
              </a:spcBef>
              <a:spcAft>
                <a:spcPts val="0"/>
              </a:spcAft>
              <a:buClr>
                <a:schemeClr val="dk1"/>
              </a:buClr>
              <a:buSzPts val="1400"/>
              <a:buChar char="•"/>
            </a:pPr>
            <a:r>
              <a:rPr lang="en-US" sz="1400"/>
              <a:t>No footnotes;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a6da3fe019_33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2023.12.</a:t>
            </a:r>
            <a:r>
              <a:rPr lang="en-US"/>
              <a:t>14 - Brainstorming </a:t>
            </a:r>
            <a:r>
              <a:rPr lang="en-US"/>
              <a:t>Meeting</a:t>
            </a:r>
            <a:endParaRPr/>
          </a:p>
        </p:txBody>
      </p:sp>
      <p:sp>
        <p:nvSpPr>
          <p:cNvPr id="190" name="Google Shape;190;g2a6da3fe019_33_0"/>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None/>
            </a:pPr>
            <a:r>
              <a:rPr b="1" lang="en-US" sz="1400"/>
              <a:t>People</a:t>
            </a:r>
            <a:endParaRPr b="1"/>
          </a:p>
          <a:p>
            <a:pPr indent="-139700" lvl="0" marL="228600" rtl="0" algn="l">
              <a:lnSpc>
                <a:spcPct val="90000"/>
              </a:lnSpc>
              <a:spcBef>
                <a:spcPts val="1000"/>
              </a:spcBef>
              <a:spcAft>
                <a:spcPts val="0"/>
              </a:spcAft>
              <a:buClr>
                <a:schemeClr val="dk1"/>
              </a:buClr>
              <a:buSzPts val="1400"/>
              <a:buNone/>
            </a:pPr>
            <a:r>
              <a:t/>
            </a:r>
            <a:endParaRPr sz="1400"/>
          </a:p>
        </p:txBody>
      </p:sp>
      <p:pic>
        <p:nvPicPr>
          <p:cNvPr id="191" name="Google Shape;191;g2a6da3fe019_33_0"/>
          <p:cNvPicPr preferRelativeResize="0"/>
          <p:nvPr/>
        </p:nvPicPr>
        <p:blipFill rotWithShape="1">
          <a:blip r:embed="rId3">
            <a:alphaModFix/>
          </a:blip>
          <a:srcRect b="744" l="0" r="49989" t="0"/>
          <a:stretch/>
        </p:blipFill>
        <p:spPr>
          <a:xfrm>
            <a:off x="3904750" y="1690825"/>
            <a:ext cx="1234501" cy="4798024"/>
          </a:xfrm>
          <a:prstGeom prst="rect">
            <a:avLst/>
          </a:prstGeom>
          <a:noFill/>
          <a:ln>
            <a:noFill/>
          </a:ln>
        </p:spPr>
      </p:pic>
      <p:pic>
        <p:nvPicPr>
          <p:cNvPr id="192" name="Google Shape;192;g2a6da3fe019_33_0"/>
          <p:cNvPicPr preferRelativeResize="0"/>
          <p:nvPr/>
        </p:nvPicPr>
        <p:blipFill rotWithShape="1">
          <a:blip r:embed="rId4">
            <a:alphaModFix/>
          </a:blip>
          <a:srcRect b="1263" l="0" r="52191" t="0"/>
          <a:stretch/>
        </p:blipFill>
        <p:spPr>
          <a:xfrm>
            <a:off x="5250825" y="1690825"/>
            <a:ext cx="1454774" cy="460837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2023-08-05T16:07:15Z</dcterms:created>
  <dc:creator>Osterrieder, Jörg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0x0101006C54B87C28FEFA4AAE092391D0079FE1</vt:lpwstr>
  </property>
  <property fmtid="{D5CDD505-2E9C-101B-9397-08002B2CF9AE}" pid="3" name="MediaServiceImageTags">
    <vt:lpwstr/>
  </property>
</Properties>
</file>