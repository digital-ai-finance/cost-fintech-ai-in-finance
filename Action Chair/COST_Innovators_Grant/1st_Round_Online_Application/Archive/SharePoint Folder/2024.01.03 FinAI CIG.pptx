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Roboto"/>
      <p:regular r:id="rId21"/>
      <p:bold r:id="rId22"/>
      <p:italic r:id="rId23"/>
      <p:boldItalic r:id="rId24"/>
    </p:embeddedFon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76z0PqbAElURFYHbf3NNf4eC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4E3EE5-BD90-4ED7-9C65-D522846581B6}">
  <a:tblStyle styleId="{534E3EE5-BD90-4ED7-9C65-D522846581B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font" Target="fonts/CenturyGothic-bold.fntdata"/><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font" Target="fonts/Roboto-regular.fntdata"/><Relationship Id="rId3" Type="http://schemas.openxmlformats.org/officeDocument/2006/relationships/tableStyles" Target="tableStyles.xml"/><Relationship Id="rId25" Type="http://schemas.openxmlformats.org/officeDocument/2006/relationships/font" Target="fonts/CenturyGothic-regular.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presProps" Target="presProps.xml"/><Relationship Id="rId29" Type="http://customschemas.google.com/relationships/presentationmetadata" Target="metadata"/><Relationship Id="rId16" Type="http://schemas.openxmlformats.org/officeDocument/2006/relationships/slide" Target="slides/slide11.xml"/><Relationship Id="rId24" Type="http://schemas.openxmlformats.org/officeDocument/2006/relationships/font" Target="fonts/Roboto-boldItalic.fntdata"/><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customXml" Target="../customXml/item3.xml"/><Relationship Id="rId23" Type="http://schemas.openxmlformats.org/officeDocument/2006/relationships/font" Target="fonts/Roboto-italic.fntdata"/><Relationship Id="rId28" Type="http://schemas.openxmlformats.org/officeDocument/2006/relationships/font" Target="fonts/CenturyGothic-boldItalic.fntdata"/><Relationship Id="rId5" Type="http://schemas.openxmlformats.org/officeDocument/2006/relationships/notesMaster" Target="notesMasters/notes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ustomXml" Target="../customXml/item2.xml"/><Relationship Id="rId22" Type="http://schemas.openxmlformats.org/officeDocument/2006/relationships/font" Target="fonts/Roboto-bold.fntdata"/><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CenturyGothic-italic.fntdata"/><Relationship Id="rId14" Type="http://schemas.openxmlformats.org/officeDocument/2006/relationships/slide" Target="slides/slide9.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da3fe019_1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a6da3fe019_1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da3fe019_1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6da3fe019_19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6da3fe019_19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2a6da3fe019_19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6da3fe019_19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6da3fe019_19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2a6da3fe019_19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6da3fe019_19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6da3fe019_19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2a6da3fe019_19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6da3fe019_6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a6da3fe019_65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2a6da3fe019_65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a6da3fe019_3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2a6da3fe019_3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g2a6da3fe019_3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cost.eu/five-new-cost-innovators-grants-2023/"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six-new-cost-innovators-grants/"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cost.eu/uploads/2022/12/COST-CIG-Guidelines-105-21-2023-2024.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a:t>
            </a:r>
            <a:r>
              <a:rPr b="1" lang="en-US" sz="1400"/>
              <a:t>24th January 2024</a:t>
            </a:r>
            <a:r>
              <a:rPr lang="en-US" sz="1400">
                <a:latin typeface="Century Gothic"/>
                <a:ea typeface="Century Gothic"/>
                <a:cs typeface="Century Gothic"/>
                <a:sym typeface="Century Gothic"/>
              </a:rPr>
              <a:t>, at 11:00 (CET).</a:t>
            </a:r>
            <a:endParaRPr/>
          </a:p>
          <a:p>
            <a:pPr indent="0" lvl="0" marL="0" rtl="0" algn="l">
              <a:spcBef>
                <a:spcPts val="1000"/>
              </a:spcBef>
              <a:spcAft>
                <a:spcPts val="0"/>
              </a:spcAft>
              <a:buNone/>
            </a:pPr>
            <a:r>
              <a:rPr lang="en-US" sz="1400"/>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a:t>
            </a:r>
            <a:r>
              <a:rPr b="1" lang="en-US" sz="1400"/>
              <a:t> 23th and 24th May 2024 in </a:t>
            </a:r>
            <a:r>
              <a:rPr lang="en-US" sz="1400">
                <a:latin typeface="Century Gothic"/>
                <a:ea typeface="Century Gothic"/>
                <a:cs typeface="Century Gothic"/>
                <a:sym typeface="Century Gothic"/>
              </a:rPr>
              <a:t>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b="1" lang="en-US" sz="1400"/>
              <a:t>CIG team needs to be specified beforehand and cannot be changed afterwards</a:t>
            </a:r>
            <a:r>
              <a:rPr lang="en-US" sz="1400">
                <a:latin typeface="Century Gothic"/>
                <a:ea typeface="Century Gothic"/>
                <a:cs typeface="Century Gothic"/>
                <a:sym typeface="Century Gothic"/>
              </a:rPr>
              <a:t>,</a:t>
            </a:r>
            <a:r>
              <a:rPr b="1" lang="en-US" sz="1400"/>
              <a:t> relevant expertise and expected contribution need to be given per team member</a:t>
            </a:r>
            <a:r>
              <a:rPr lang="en-US" sz="1400">
                <a:latin typeface="Century Gothic"/>
                <a:ea typeface="Century Gothic"/>
                <a:cs typeface="Century Gothic"/>
                <a:sym typeface="Century Gothic"/>
              </a:rPr>
              <a:t>: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b="1" lang="en-US" sz="1400"/>
              <a:t>Action overview (code, name, origin, team members, roles, etc.)</a:t>
            </a:r>
            <a:endParaRPr b="1"/>
          </a:p>
          <a:p>
            <a:pPr indent="-228600" lvl="0" marL="228600" rtl="0" algn="l">
              <a:lnSpc>
                <a:spcPct val="90000"/>
              </a:lnSpc>
              <a:spcBef>
                <a:spcPts val="1000"/>
              </a:spcBef>
              <a:spcAft>
                <a:spcPts val="0"/>
              </a:spcAft>
              <a:buClr>
                <a:schemeClr val="dk1"/>
              </a:buClr>
              <a:buSzPts val="1400"/>
              <a:buChar char="•"/>
            </a:pPr>
            <a:r>
              <a:rPr b="1" lang="en-US" sz="1400"/>
              <a:t>Summary (for publication if the application is approved, between 100 and 500 words)</a:t>
            </a:r>
            <a:endParaRPr b="1"/>
          </a:p>
          <a:p>
            <a:pPr indent="-228600" lvl="0" marL="228600" rtl="0" algn="l">
              <a:lnSpc>
                <a:spcPct val="90000"/>
              </a:lnSpc>
              <a:spcBef>
                <a:spcPts val="1000"/>
              </a:spcBef>
              <a:spcAft>
                <a:spcPts val="0"/>
              </a:spcAft>
              <a:buClr>
                <a:schemeClr val="dk1"/>
              </a:buClr>
              <a:buSzPts val="1400"/>
              <a:buChar char="•"/>
            </a:pPr>
            <a:r>
              <a:rPr b="1" lang="en-US" sz="1400"/>
              <a:t>Research</a:t>
            </a:r>
            <a:r>
              <a:rPr b="1" lang="en-US" sz="1400"/>
              <a:t> Plan (6 pages)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a:t>
            </a:r>
            <a:r>
              <a:rPr b="1" lang="en-US" sz="1400"/>
              <a:t>12 months</a:t>
            </a:r>
            <a:endParaRPr b="1"/>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Char char="●"/>
            </a:pPr>
            <a:r>
              <a:rPr b="1" lang="en-US" sz="1400"/>
              <a:t>Innovation Potential </a:t>
            </a:r>
            <a:r>
              <a:rPr lang="en-US" sz="1400"/>
              <a:t>(</a:t>
            </a:r>
            <a:r>
              <a:rPr b="1" lang="en-US" sz="1400"/>
              <a:t>recommended 2 pages</a:t>
            </a:r>
            <a:r>
              <a:rPr lang="en-US" sz="1400"/>
              <a:t>): </a:t>
            </a:r>
            <a:endParaRPr/>
          </a:p>
          <a:p>
            <a:pPr indent="457200" lvl="0" marL="457200" rtl="0" algn="l">
              <a:lnSpc>
                <a:spcPct val="90000"/>
              </a:lnSpc>
              <a:spcBef>
                <a:spcPts val="500"/>
              </a:spcBef>
              <a:spcAft>
                <a:spcPts val="0"/>
              </a:spcAft>
              <a:buSzPts val="2800"/>
              <a:buNone/>
            </a:pPr>
            <a:r>
              <a:rPr lang="en-US" sz="1400"/>
              <a:t>1.1. What is the practical challenge and target group that you will address? </a:t>
            </a:r>
            <a:endParaRPr/>
          </a:p>
          <a:p>
            <a:pPr indent="457200" lvl="0" marL="457200" rtl="0" algn="l">
              <a:lnSpc>
                <a:spcPct val="90000"/>
              </a:lnSpc>
              <a:spcBef>
                <a:spcPts val="500"/>
              </a:spcBef>
              <a:spcAft>
                <a:spcPts val="0"/>
              </a:spcAft>
              <a:buSzPts val="2800"/>
              <a:buNone/>
            </a:pPr>
            <a:r>
              <a:rPr lang="en-US" sz="1400"/>
              <a:t>1.2. What is your proposed solution, what will be the main outcomes of the CIG? </a:t>
            </a:r>
            <a:endParaRPr/>
          </a:p>
          <a:p>
            <a:pPr indent="457200" lvl="0" marL="457200" rtl="0" algn="l">
              <a:lnSpc>
                <a:spcPct val="90000"/>
              </a:lnSpc>
              <a:spcBef>
                <a:spcPts val="500"/>
              </a:spcBef>
              <a:spcAft>
                <a:spcPts val="0"/>
              </a:spcAft>
              <a:buSzPts val="2800"/>
              <a:buNone/>
            </a:pPr>
            <a:r>
              <a:rPr lang="en-US" sz="1400"/>
              <a:t>1.3. </a:t>
            </a:r>
            <a:r>
              <a:rPr b="1" lang="en-US" sz="1400"/>
              <a:t>Objectives </a:t>
            </a:r>
            <a:r>
              <a:rPr lang="en-US" sz="1400"/>
              <a:t>of the CIG? </a:t>
            </a:r>
            <a:endParaRPr/>
          </a:p>
          <a:p>
            <a:pPr indent="457200" lvl="0" marL="457200" rtl="0" algn="l">
              <a:lnSpc>
                <a:spcPct val="90000"/>
              </a:lnSpc>
              <a:spcBef>
                <a:spcPts val="500"/>
              </a:spcBef>
              <a:spcAft>
                <a:spcPts val="0"/>
              </a:spcAft>
              <a:buSzPts val="2800"/>
              <a:buNone/>
            </a:pPr>
            <a:r>
              <a:rPr lang="en-US" sz="1400"/>
              <a:t>1.4. What is </a:t>
            </a:r>
            <a:r>
              <a:rPr b="1" lang="en-US" sz="1400"/>
              <a:t>innovative </a:t>
            </a:r>
            <a:r>
              <a:rPr lang="en-US" sz="1400"/>
              <a:t>about your solution?</a:t>
            </a:r>
            <a:endParaRPr/>
          </a:p>
          <a:p>
            <a:pPr indent="-317500" lvl="0" marL="914400" rtl="0" algn="l">
              <a:lnSpc>
                <a:spcPct val="90000"/>
              </a:lnSpc>
              <a:spcBef>
                <a:spcPts val="500"/>
              </a:spcBef>
              <a:spcAft>
                <a:spcPts val="0"/>
              </a:spcAft>
              <a:buSzPts val="1400"/>
              <a:buChar char="●"/>
            </a:pPr>
            <a:r>
              <a:rPr b="1" lang="en-US" sz="1400"/>
              <a:t>Expected impact </a:t>
            </a:r>
            <a:r>
              <a:rPr lang="en-US" sz="1400"/>
              <a:t>(recommended 2 pages): </a:t>
            </a:r>
            <a:endParaRPr/>
          </a:p>
          <a:p>
            <a:pPr indent="457200" lvl="0" marL="457200" rtl="0" algn="l">
              <a:lnSpc>
                <a:spcPct val="90000"/>
              </a:lnSpc>
              <a:spcBef>
                <a:spcPts val="500"/>
              </a:spcBef>
              <a:spcAft>
                <a:spcPts val="0"/>
              </a:spcAft>
              <a:buSzPts val="2800"/>
              <a:buNone/>
            </a:pPr>
            <a:r>
              <a:rPr lang="en-US" sz="1400"/>
              <a:t>2.1. Describe who and/or what will benefit, how, when and to which extent. </a:t>
            </a:r>
            <a:endParaRPr/>
          </a:p>
          <a:p>
            <a:pPr indent="457200" lvl="0" marL="457200" rtl="0" algn="l">
              <a:lnSpc>
                <a:spcPct val="90000"/>
              </a:lnSpc>
              <a:spcBef>
                <a:spcPts val="500"/>
              </a:spcBef>
              <a:spcAft>
                <a:spcPts val="0"/>
              </a:spcAft>
              <a:buSzPts val="2800"/>
              <a:buNone/>
            </a:pPr>
            <a:r>
              <a:rPr lang="en-US" sz="1400"/>
              <a:t>2.2. Plan for exploitation.</a:t>
            </a:r>
            <a:endParaRPr/>
          </a:p>
          <a:p>
            <a:pPr indent="-317500" lvl="0" marL="914400" rtl="0" algn="l">
              <a:lnSpc>
                <a:spcPct val="90000"/>
              </a:lnSpc>
              <a:spcBef>
                <a:spcPts val="500"/>
              </a:spcBef>
              <a:spcAft>
                <a:spcPts val="0"/>
              </a:spcAft>
              <a:buSzPts val="1400"/>
              <a:buChar char="●"/>
            </a:pPr>
            <a:r>
              <a:rPr b="1" lang="en-US" sz="1400"/>
              <a:t>Plan for Implementing the CIG </a:t>
            </a:r>
            <a:r>
              <a:rPr lang="en-US" sz="1400"/>
              <a:t>(recommended 2 pages)</a:t>
            </a:r>
            <a:endParaRPr/>
          </a:p>
          <a:p>
            <a:pPr indent="457200" lvl="0" marL="457200" rtl="0" algn="l">
              <a:lnSpc>
                <a:spcPct val="90000"/>
              </a:lnSpc>
              <a:spcBef>
                <a:spcPts val="500"/>
              </a:spcBef>
              <a:spcAft>
                <a:spcPts val="0"/>
              </a:spcAft>
              <a:buSzPts val="2800"/>
              <a:buNone/>
            </a:pPr>
            <a:r>
              <a:rPr lang="en-US" sz="1400"/>
              <a:t>3.1. Work plan. </a:t>
            </a:r>
            <a:endParaRPr/>
          </a:p>
          <a:p>
            <a:pPr indent="457200" lvl="0" marL="457200" rtl="0" algn="l">
              <a:lnSpc>
                <a:spcPct val="90000"/>
              </a:lnSpc>
              <a:spcBef>
                <a:spcPts val="500"/>
              </a:spcBef>
              <a:spcAft>
                <a:spcPts val="0"/>
              </a:spcAft>
              <a:buSzPts val="2800"/>
              <a:buNone/>
            </a:pPr>
            <a:r>
              <a:rPr lang="en-US" sz="1400"/>
              <a:t>3.2. 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SzPts val="2800"/>
              <a:buNone/>
            </a:pPr>
            <a:r>
              <a:rPr b="1" lang="en-US" sz="1400"/>
              <a:t>1. INNOVATION POTENTIAL</a:t>
            </a:r>
            <a:endParaRPr b="1" sz="1400"/>
          </a:p>
          <a:p>
            <a:pPr indent="0" lvl="0" marL="457200" marR="0" rtl="0" algn="l">
              <a:lnSpc>
                <a:spcPct val="90000"/>
              </a:lnSpc>
              <a:spcBef>
                <a:spcPts val="1000"/>
              </a:spcBef>
              <a:spcAft>
                <a:spcPts val="0"/>
              </a:spcAft>
              <a:buSzPts val="2800"/>
              <a:buNone/>
            </a:pPr>
            <a:r>
              <a:rPr lang="en-US" sz="1300"/>
              <a:t>Q1: To what extent does the application describe an </a:t>
            </a:r>
            <a:r>
              <a:rPr b="1" lang="en-US" sz="1300"/>
              <a:t>innovation challenge, problem </a:t>
            </a:r>
            <a:r>
              <a:rPr lang="en-US" sz="1300"/>
              <a:t>or need that is real, relevant, and timely?</a:t>
            </a:r>
            <a:endParaRPr sz="1300"/>
          </a:p>
          <a:p>
            <a:pPr indent="0" lvl="0" marL="457200" marR="0" rtl="0" algn="l">
              <a:lnSpc>
                <a:spcPct val="90000"/>
              </a:lnSpc>
              <a:spcBef>
                <a:spcPts val="1000"/>
              </a:spcBef>
              <a:spcAft>
                <a:spcPts val="0"/>
              </a:spcAft>
              <a:buSzPts val="2800"/>
              <a:buNone/>
            </a:pPr>
            <a:r>
              <a:rPr lang="en-US" sz="1300"/>
              <a:t>Q2: To what extent is the </a:t>
            </a:r>
            <a:r>
              <a:rPr b="1" lang="en-US" sz="1300"/>
              <a:t>proposed solution innovative, feasible, and adequate in addressing the problem or need described above</a:t>
            </a:r>
            <a:r>
              <a:rPr lang="en-US" sz="1300"/>
              <a:t>?</a:t>
            </a:r>
            <a:endParaRPr sz="1300"/>
          </a:p>
          <a:p>
            <a:pPr indent="0" lvl="0" marL="0" marR="0" rtl="0" algn="l">
              <a:lnSpc>
                <a:spcPct val="90000"/>
              </a:lnSpc>
              <a:spcBef>
                <a:spcPts val="1000"/>
              </a:spcBef>
              <a:spcAft>
                <a:spcPts val="0"/>
              </a:spcAft>
              <a:buSzPts val="2800"/>
              <a:buNone/>
            </a:pPr>
            <a:r>
              <a:rPr b="1" lang="en-US" sz="1400"/>
              <a:t>2. EXPECTED IMPACT</a:t>
            </a:r>
            <a:endParaRPr b="1" sz="1400"/>
          </a:p>
          <a:p>
            <a:pPr indent="0" lvl="0" marL="457200" marR="0" rtl="0" algn="l">
              <a:lnSpc>
                <a:spcPct val="90000"/>
              </a:lnSpc>
              <a:spcBef>
                <a:spcPts val="1000"/>
              </a:spcBef>
              <a:spcAft>
                <a:spcPts val="0"/>
              </a:spcAft>
              <a:buSzPts val="2800"/>
              <a:buNone/>
            </a:pPr>
            <a:r>
              <a:rPr lang="en-US" sz="1300"/>
              <a:t>Q3: To what extent does the application describe </a:t>
            </a:r>
            <a:r>
              <a:rPr b="1" lang="en-US" sz="1300"/>
              <a:t>expected impacts that </a:t>
            </a:r>
            <a:r>
              <a:rPr lang="en-US" sz="1300"/>
              <a:t>are both significant and credible (realistic)?</a:t>
            </a:r>
            <a:endParaRPr sz="1300"/>
          </a:p>
          <a:p>
            <a:pPr indent="0" lvl="0" marL="457200" marR="0" rtl="0" algn="l">
              <a:lnSpc>
                <a:spcPct val="90000"/>
              </a:lnSpc>
              <a:spcBef>
                <a:spcPts val="1000"/>
              </a:spcBef>
              <a:spcAft>
                <a:spcPts val="0"/>
              </a:spcAft>
              <a:buSzPts val="2800"/>
              <a:buNone/>
            </a:pPr>
            <a:r>
              <a:rPr lang="en-US" sz="1300"/>
              <a:t>Q4: To what extent is the </a:t>
            </a:r>
            <a:r>
              <a:rPr b="1" lang="en-US" sz="1300"/>
              <a:t>plan for exploitation both realistic and adequate</a:t>
            </a:r>
            <a:r>
              <a:rPr lang="en-US" sz="1300"/>
              <a:t>?</a:t>
            </a:r>
            <a:endParaRPr sz="1300"/>
          </a:p>
          <a:p>
            <a:pPr indent="0" lvl="0" marL="0" marR="0" rtl="0" algn="l">
              <a:lnSpc>
                <a:spcPct val="90000"/>
              </a:lnSpc>
              <a:spcBef>
                <a:spcPts val="1000"/>
              </a:spcBef>
              <a:spcAft>
                <a:spcPts val="0"/>
              </a:spcAft>
              <a:buSzPts val="2800"/>
              <a:buNone/>
            </a:pPr>
            <a:r>
              <a:rPr b="1" lang="en-US" sz="1400"/>
              <a:t>3. PLAN FOR IMPLEMENTING THE CIG</a:t>
            </a:r>
            <a:endParaRPr b="1" sz="1400"/>
          </a:p>
          <a:p>
            <a:pPr indent="457200" lvl="0" marL="0" marR="0" rtl="0" algn="l">
              <a:lnSpc>
                <a:spcPct val="90000"/>
              </a:lnSpc>
              <a:spcBef>
                <a:spcPts val="1000"/>
              </a:spcBef>
              <a:spcAft>
                <a:spcPts val="0"/>
              </a:spcAft>
              <a:buSzPts val="2800"/>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SzPts val="2800"/>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{534E3EE5-BD90-4ED7-9C65-D522846581B6}</a:tableStyleId>
              </a:tblPr>
              <a:tblGrid>
                <a:gridCol w="2396175"/>
                <a:gridCol w="2408200"/>
                <a:gridCol w="2516575"/>
              </a:tblGrid>
              <a:tr h="480275">
                <a:tc>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INNOVATION POTENTIAL</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EXPECTED IMPACT</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IMPLEMENTATION</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787100">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3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3625">
                <a:tc gridSpan="3">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t>TOTAL MAXIMUM MARKS AWARDED = 15 points</a:t>
                      </a:r>
                      <a:endParaRPr b="1"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da3fe019_19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include a justification</a:t>
            </a:r>
            <a:endParaRPr/>
          </a:p>
        </p:txBody>
      </p:sp>
      <p:sp>
        <p:nvSpPr>
          <p:cNvPr id="133" name="Google Shape;133;g2a6da3fe019_19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 Service-a-Software, applying LLMs on Finance to  provide information for micro and SME-s. Semantic searching with the help of LLM, Generative AI, defining a cognitive enterprise architecture for M-SMEs to exploit the most recent AI technologies through Cloud Computing.</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2: Green fintech is crucial for directing investments toward sustainable projects, mitigating climate risks, and meeting the increasing demand for eco-friendly financial products, aligning with environmental and consumer expectations. It combines finance and technology to drive innovation for a more environmentally responsible and resilient global economy.</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3: Generative Adversarial Networks for Auction Simulation. Specifically, competitive loan auctions are one of the means for an institutional investor to develop a portfolio. Working in a loan auction environment developed for the secondary loan market, the aim would be for the participants to carry out research and develop a model synthesizing the other auction bidders using a Generative Adversarial Network in order to optimize bidding price.</a:t>
            </a:r>
            <a:br>
              <a:rPr lang="en-US" sz="1200">
                <a:solidFill>
                  <a:srgbClr val="374151"/>
                </a:solidFill>
                <a:latin typeface="Roboto"/>
                <a:ea typeface="Roboto"/>
                <a:cs typeface="Roboto"/>
                <a:sym typeface="Roboto"/>
              </a:rPr>
            </a:br>
            <a:br>
              <a:rPr lang="en-US" sz="1200">
                <a:solidFill>
                  <a:srgbClr val="374151"/>
                </a:solidFill>
                <a:latin typeface="Roboto"/>
                <a:ea typeface="Roboto"/>
                <a:cs typeface="Roboto"/>
                <a:sym typeface="Roboto"/>
              </a:rPr>
            </a:br>
            <a:r>
              <a:rPr lang="en-US" sz="1200">
                <a:solidFill>
                  <a:srgbClr val="374151"/>
                </a:solidFill>
                <a:latin typeface="Roboto"/>
                <a:ea typeface="Roboto"/>
                <a:cs typeface="Roboto"/>
                <a:sym typeface="Roboto"/>
              </a:rPr>
              <a:t>Topic 4: Since workforce expenditure is included in the financial statements and so released on a yearly basis/ quarterly basis, the goal of the research is to understand if public human capital information can be used to estimate the workforce expenditure of a company. Using LinkedIn, Glassdoor and other social media/ job posts aggregators, the researcher should be able to retrieve information both on the headcount, the roles and the average salary to estimate the workforce expenditure. The performance and results of the analysis should be evaluated at least at company dimension level (SMEs and big companies) and geographical level.</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5: Neural-Symbolic AI for Fintech / Compliance Testing / Contestability: It could be used as a way to regulate / explain / contest LLM predictions in view of the AI Act and GDPR.</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rPr lang="en-US" sz="1200">
                <a:solidFill>
                  <a:srgbClr val="374151"/>
                </a:solidFill>
                <a:latin typeface="Roboto"/>
                <a:ea typeface="Roboto"/>
                <a:cs typeface="Roboto"/>
                <a:sym typeface="Roboto"/>
              </a:rPr>
              <a:t>Topic 6: Image-based Financial Pattern Recognition (Financial data has deep patterns –trading signals, price anomalies, systemic risks– that are hard to define/extract in a rule-based sense. Deep learning can be employed to identify these patterns.)</a:t>
            </a:r>
            <a:endParaRPr sz="1200">
              <a:solidFill>
                <a:srgbClr val="37415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a6da3fe019_19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1100"/>
              <a:buFont typeface="Arial"/>
              <a:buNone/>
            </a:pPr>
            <a:r>
              <a:rPr lang="en-US"/>
              <a:t>Brainstorming - Topics which lead to a Business Model II</a:t>
            </a:r>
            <a:endParaRPr/>
          </a:p>
        </p:txBody>
      </p:sp>
      <p:sp>
        <p:nvSpPr>
          <p:cNvPr id="140" name="Google Shape;140;g2a6da3fe019_19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7: </a:t>
            </a:r>
            <a:r>
              <a:rPr lang="en-US" sz="1200">
                <a:solidFill>
                  <a:srgbClr val="374151"/>
                </a:solidFill>
                <a:latin typeface="Roboto"/>
                <a:ea typeface="Roboto"/>
                <a:cs typeface="Roboto"/>
                <a:sym typeface="Roboto"/>
              </a:rPr>
              <a:t>Develop workflows for financial service providers to address the requirements of the EU AI act</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8: Initiate R&amp;D service to business and state institutions based on XAI analytics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9: Empowering Education in the AI Era: Implementing FINTECH and Involving all Actors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10: Predicting the EU Courts decisions using the Predictive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11: </a:t>
            </a:r>
            <a:r>
              <a:rPr lang="en-US" sz="1200">
                <a:solidFill>
                  <a:srgbClr val="374151"/>
                </a:solidFill>
                <a:latin typeface="Roboto"/>
                <a:ea typeface="Roboto"/>
                <a:cs typeface="Roboto"/>
                <a:sym typeface="Roboto"/>
              </a:rPr>
              <a:t>Empowering Education in the AI Era: Implementing FINTECH and Involving all Actors (Training school, for Fintech and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12: Using machine learning to predict short-term price movement ; the goal is to improve MARCO AVELLANEDA and SASHA STOIKOV market making model with machine learning techniques, by predicting short-term price movements for several timeframes (from 10 to 100 ticks, typically less than a second to 10 seconds). The next step would be to develop a trading framework in a production mode for some cryptocurrencies.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a6da3fe019_19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III</a:t>
            </a:r>
            <a:endParaRPr/>
          </a:p>
        </p:txBody>
      </p:sp>
      <p:sp>
        <p:nvSpPr>
          <p:cNvPr id="147" name="Google Shape;147;g2a6da3fe019_19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a6da3fe019_19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Approach</a:t>
            </a:r>
            <a:endParaRPr/>
          </a:p>
        </p:txBody>
      </p:sp>
      <p:sp>
        <p:nvSpPr>
          <p:cNvPr id="154" name="Google Shape;154;g2a6da3fe019_19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AutoNum type="arabicPeriod"/>
            </a:pPr>
            <a:r>
              <a:rPr lang="en-US"/>
              <a:t>Collect all ideas with justification why that leads to a business plan by December 21st. </a:t>
            </a:r>
            <a:endParaRPr/>
          </a:p>
          <a:p>
            <a:pPr indent="-406400" lvl="0" marL="457200" rtl="0" algn="l">
              <a:spcBef>
                <a:spcPts val="0"/>
              </a:spcBef>
              <a:spcAft>
                <a:spcPts val="0"/>
              </a:spcAft>
              <a:buSzPts val="2800"/>
              <a:buAutoNum type="arabicPeriod"/>
            </a:pPr>
            <a:r>
              <a:rPr lang="en-US"/>
              <a:t>Match those ideas to </a:t>
            </a:r>
            <a:r>
              <a:rPr lang="en-US"/>
              <a:t>what everyone has to contribute by mentioning how they contribute during this 1 year.</a:t>
            </a:r>
            <a:endParaRPr/>
          </a:p>
          <a:p>
            <a:pPr indent="0" lvl="0" marL="0" rtl="0" algn="l">
              <a:spcBef>
                <a:spcPts val="1000"/>
              </a:spcBef>
              <a:spcAft>
                <a:spcPts val="0"/>
              </a:spcAft>
              <a:buNone/>
            </a:pPr>
            <a:r>
              <a:rPr lang="en-US"/>
              <a:t>e.g. google doc where everyone indicates how much they can contribute to each topic.</a:t>
            </a:r>
            <a:endParaRPr/>
          </a:p>
          <a:p>
            <a:pPr indent="-406400" lvl="0" marL="457200" rtl="0" algn="l">
              <a:spcBef>
                <a:spcPts val="1000"/>
              </a:spcBef>
              <a:spcAft>
                <a:spcPts val="0"/>
              </a:spcAft>
              <a:buSzPts val="2800"/>
              <a:buAutoNum type="arabicPeriod"/>
            </a:pPr>
            <a:r>
              <a:rPr lang="en-US"/>
              <a:t>Decide on 1 topic by Dec 31st.</a:t>
            </a:r>
            <a:endParaRPr/>
          </a:p>
          <a:p>
            <a:pPr indent="-406400" lvl="0" marL="457200" rtl="0" algn="l">
              <a:spcBef>
                <a:spcPts val="0"/>
              </a:spcBef>
              <a:spcAft>
                <a:spcPts val="0"/>
              </a:spcAft>
              <a:buSzPts val="2800"/>
              <a:buAutoNum type="arabicPeriod"/>
            </a:pPr>
            <a:r>
              <a:rPr lang="en-US"/>
              <a:t>Write the application by January 25th. </a:t>
            </a:r>
            <a:endParaRPr/>
          </a:p>
          <a:p>
            <a:pPr indent="-406400" lvl="0" marL="457200" rtl="0" algn="l">
              <a:spcBef>
                <a:spcPts val="0"/>
              </a:spcBef>
              <a:spcAft>
                <a:spcPts val="0"/>
              </a:spcAft>
              <a:buSzPts val="2800"/>
              <a:buAutoNum type="arabicPeriod"/>
            </a:pPr>
            <a:r>
              <a:rPr lang="en-US"/>
              <a:t>A smaller group will write the application and then ask for approval from everyone before submitting.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61" name="Google Shape;161;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62" name="Google Shape;162;g2a68e24341e_0_6"/>
          <p:cNvPicPr preferRelativeResize="0"/>
          <p:nvPr/>
        </p:nvPicPr>
        <p:blipFill rotWithShape="1">
          <a:blip r:embed="rId4">
            <a:alphaModFix/>
          </a:blip>
          <a:srcRect b="0" l="0" r="0" t="0"/>
          <a:stretch/>
        </p:blipFill>
        <p:spPr>
          <a:xfrm>
            <a:off x="2173438" y="2390300"/>
            <a:ext cx="7845124" cy="410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a6da3fe019_65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2022 Six COST Innovators Grant</a:t>
            </a:r>
            <a:endParaRPr/>
          </a:p>
        </p:txBody>
      </p:sp>
      <p:sp>
        <p:nvSpPr>
          <p:cNvPr id="169" name="Google Shape;169;g2a6da3fe019_65_1"/>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https://www.cost.eu/six-new-cost-innovators-grants/</a:t>
            </a:r>
            <a:endParaRPr b="1" sz="1400"/>
          </a:p>
          <a:p>
            <a:pPr indent="-101600" lvl="0" marL="228600" rtl="0" algn="l">
              <a:lnSpc>
                <a:spcPct val="90000"/>
              </a:lnSpc>
              <a:spcBef>
                <a:spcPts val="1000"/>
              </a:spcBef>
              <a:spcAft>
                <a:spcPts val="0"/>
              </a:spcAft>
              <a:buClr>
                <a:schemeClr val="dk1"/>
              </a:buClr>
              <a:buSzPts val="2000"/>
              <a:buNone/>
            </a:pPr>
            <a:r>
              <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70" name="Google Shape;170;g2a6da3fe019_65_1"/>
          <p:cNvPicPr preferRelativeResize="0"/>
          <p:nvPr/>
        </p:nvPicPr>
        <p:blipFill>
          <a:blip r:embed="rId4">
            <a:alphaModFix/>
          </a:blip>
          <a:stretch>
            <a:fillRect/>
          </a:stretch>
        </p:blipFill>
        <p:spPr>
          <a:xfrm>
            <a:off x="482600" y="2634099"/>
            <a:ext cx="11226800" cy="355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76" name="Google Shape;17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83" name="Google Shape;183;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a6da3fe019_33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2023.12.</a:t>
            </a:r>
            <a:r>
              <a:rPr lang="en-US"/>
              <a:t>14 - Brainstorming </a:t>
            </a:r>
            <a:r>
              <a:rPr lang="en-US"/>
              <a:t>Meeting</a:t>
            </a:r>
            <a:endParaRPr/>
          </a:p>
        </p:txBody>
      </p:sp>
      <p:sp>
        <p:nvSpPr>
          <p:cNvPr id="190" name="Google Shape;190;g2a6da3fe019_33_0"/>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None/>
            </a:pPr>
            <a:r>
              <a:rPr b="1" lang="en-US" sz="1400"/>
              <a:t>People</a:t>
            </a:r>
            <a:endParaRPr b="1"/>
          </a:p>
          <a:p>
            <a:pPr indent="-139700" lvl="0" marL="228600" rtl="0" algn="l">
              <a:lnSpc>
                <a:spcPct val="90000"/>
              </a:lnSpc>
              <a:spcBef>
                <a:spcPts val="1000"/>
              </a:spcBef>
              <a:spcAft>
                <a:spcPts val="0"/>
              </a:spcAft>
              <a:buClr>
                <a:schemeClr val="dk1"/>
              </a:buClr>
              <a:buSzPts val="1400"/>
              <a:buNone/>
            </a:pPr>
            <a:r>
              <a:t/>
            </a:r>
            <a:endParaRPr sz="1400"/>
          </a:p>
        </p:txBody>
      </p:sp>
      <p:pic>
        <p:nvPicPr>
          <p:cNvPr id="191" name="Google Shape;191;g2a6da3fe019_33_0"/>
          <p:cNvPicPr preferRelativeResize="0"/>
          <p:nvPr/>
        </p:nvPicPr>
        <p:blipFill rotWithShape="1">
          <a:blip r:embed="rId3">
            <a:alphaModFix/>
          </a:blip>
          <a:srcRect b="744" l="0" r="49989" t="0"/>
          <a:stretch/>
        </p:blipFill>
        <p:spPr>
          <a:xfrm>
            <a:off x="3904750" y="1690825"/>
            <a:ext cx="1234501" cy="4798024"/>
          </a:xfrm>
          <a:prstGeom prst="rect">
            <a:avLst/>
          </a:prstGeom>
          <a:noFill/>
          <a:ln>
            <a:noFill/>
          </a:ln>
        </p:spPr>
      </p:pic>
      <p:pic>
        <p:nvPicPr>
          <p:cNvPr id="192" name="Google Shape;192;g2a6da3fe019_33_0"/>
          <p:cNvPicPr preferRelativeResize="0"/>
          <p:nvPr/>
        </p:nvPicPr>
        <p:blipFill rotWithShape="1">
          <a:blip r:embed="rId4">
            <a:alphaModFix/>
          </a:blip>
          <a:srcRect b="1263" l="0" r="52191" t="0"/>
          <a:stretch/>
        </p:blipFill>
        <p:spPr>
          <a:xfrm>
            <a:off x="5250825" y="1690825"/>
            <a:ext cx="1454774" cy="46083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21fce7b-b771-4f81-be52-15a33b1b6b95">
      <Terms xmlns="http://schemas.microsoft.com/office/infopath/2007/PartnerControls"/>
    </lcf76f155ced4ddcb4097134ff3c332f>
    <TaxCatchAll xmlns="da5cdfc7-013d-46ce-9160-57d9aef5e595" xsi:nil="true"/>
  </documentManagement>
</p:properties>
</file>

<file path=customXml/itemProps1.xml><?xml version="1.0" encoding="utf-8"?>
<ds:datastoreItem xmlns:ds="http://schemas.openxmlformats.org/officeDocument/2006/customXml" ds:itemID="{038215A1-5308-41DD-A718-FF6D7FF7328D}"/>
</file>

<file path=customXml/itemProps2.xml><?xml version="1.0" encoding="utf-8"?>
<ds:datastoreItem xmlns:ds="http://schemas.openxmlformats.org/officeDocument/2006/customXml" ds:itemID="{BCBF65F5-38ED-42B9-9F18-1E252F3F401A}"/>
</file>

<file path=customXml/itemProps3.xml><?xml version="1.0" encoding="utf-8"?>
<ds:datastoreItem xmlns:ds="http://schemas.openxmlformats.org/officeDocument/2006/customXml" ds:itemID="{1AEDA1FA-8B1E-4B9B-90CB-2CEEF8291641}"/>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Osterrieder, Jörg</dc:creator>
  <dcterms:created xsi:type="dcterms:W3CDTF">2023-08-05T16:07:15Z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