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tableStyles.xml" ContentType="application/vnd.openxmlformats-officedocument.presentationml.tableStyles+xml"/>
  <Override PartName="/docProps/custom.xml" ContentType="application/vnd.openxmlformats-officedocument.custom-propertie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embeddedFontLst>
    <p:embeddedFont>
      <p:font typeface="Century Gothic"/>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jQNQsSzwYfEEDY286ajFlD3uim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0FE14ED-1857-4ACC-A3DC-EA51282B261E}">
  <a:tblStyle styleId="{30FE14ED-1857-4ACC-A3DC-EA51282B261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8" Type="http://schemas.openxmlformats.org/officeDocument/2006/relationships/slide" Target="slides/slide3.xml"/><Relationship Id="rId26" Type="http://schemas.openxmlformats.org/officeDocument/2006/relationships/customXml" Target="../customXml/item3.xml"/><Relationship Id="rId21" Type="http://schemas.openxmlformats.org/officeDocument/2006/relationships/font" Target="fonts/CenturyGothic-italic.fntdata"/><Relationship Id="rId3" Type="http://schemas.openxmlformats.org/officeDocument/2006/relationships/tableStyles" Target="tableStyles.xml"/><Relationship Id="rId12" Type="http://schemas.openxmlformats.org/officeDocument/2006/relationships/slide" Target="slides/slide7.xml"/><Relationship Id="rId17" Type="http://schemas.openxmlformats.org/officeDocument/2006/relationships/slide" Target="slides/slide12.xml"/><Relationship Id="rId7" Type="http://schemas.openxmlformats.org/officeDocument/2006/relationships/slide" Target="slides/slide2.xml"/><Relationship Id="rId25" Type="http://schemas.openxmlformats.org/officeDocument/2006/relationships/customXml" Target="../customXml/item2.xml"/><Relationship Id="rId20" Type="http://schemas.openxmlformats.org/officeDocument/2006/relationships/font" Target="fonts/CenturyGothic-bold.fntdata"/><Relationship Id="rId2" Type="http://schemas.openxmlformats.org/officeDocument/2006/relationships/presProps" Target="presProps.xml"/><Relationship Id="rId16" Type="http://schemas.openxmlformats.org/officeDocument/2006/relationships/slide" Target="slides/slide11.xml"/><Relationship Id="rId11" Type="http://schemas.openxmlformats.org/officeDocument/2006/relationships/slide" Target="slides/slide6.xml"/><Relationship Id="rId1" Type="http://schemas.openxmlformats.org/officeDocument/2006/relationships/theme" Target="theme/theme1.xml"/><Relationship Id="rId6" Type="http://schemas.openxmlformats.org/officeDocument/2006/relationships/slide" Target="slides/slide1.xml"/><Relationship Id="rId24" Type="http://schemas.openxmlformats.org/officeDocument/2006/relationships/customXml" Target="../customXml/item1.xml"/><Relationship Id="rId23" Type="http://customschemas.google.com/relationships/presentationmetadata" Target="metadata"/><Relationship Id="rId15" Type="http://schemas.openxmlformats.org/officeDocument/2006/relationships/slide" Target="slides/slide10.xml"/><Relationship Id="rId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font" Target="fonts/CenturyGothic-regular.fntdata"/><Relationship Id="rId22" Type="http://schemas.openxmlformats.org/officeDocument/2006/relationships/font" Target="fonts/CenturyGothic-boldItalic.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a68e2429f2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2a68e2429f2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g2a68e2429f2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a68e24341e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g2a68e24341e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g2a68e24341e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To be checked</a:t>
            </a:r>
            <a:endParaRPr/>
          </a:p>
        </p:txBody>
      </p:sp>
      <p:sp>
        <p:nvSpPr>
          <p:cNvPr id="138" name="Google Shape;13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entury Gothic"/>
              <a:buNone/>
              <a:defRPr sz="6000">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atin typeface="Century Gothic"/>
                <a:ea typeface="Century Gothic"/>
                <a:cs typeface="Century Gothic"/>
                <a:sym typeface="Century Gothic"/>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entury Gothic"/>
              <a:buNone/>
              <a:defRPr sz="6000">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latin typeface="Century Gothic"/>
                <a:ea typeface="Century Gothic"/>
                <a:cs typeface="Century Gothic"/>
                <a:sym typeface="Century Gothic"/>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atin typeface="Century Gothic"/>
                <a:ea typeface="Century Gothic"/>
                <a:cs typeface="Century Gothic"/>
                <a:sym typeface="Century Gothic"/>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atin typeface="Century Gothic"/>
                <a:ea typeface="Century Gothic"/>
                <a:cs typeface="Century Gothic"/>
                <a:sym typeface="Century Gothic"/>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1"/>
          <p:cNvSpPr/>
          <p:nvPr>
            <p:ph idx="2" type="pic"/>
          </p:nvPr>
        </p:nvSpPr>
        <p:spPr>
          <a:xfrm>
            <a:off x="5183188" y="987425"/>
            <a:ext cx="6172200" cy="4873625"/>
          </a:xfrm>
          <a:prstGeom prst="rect">
            <a:avLst/>
          </a:prstGeom>
          <a:noFill/>
          <a:ln>
            <a:noFill/>
          </a:ln>
        </p:spPr>
      </p:sp>
      <p:sp>
        <p:nvSpPr>
          <p:cNvPr id="68" name="Google Shape;68;p2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mailto:CIG@cost.eu?subject=COST%20Innovators%20Grant%20Application%20for%20Action%20CA19130" TargetMode="External"/><Relationship Id="rId4" Type="http://schemas.openxmlformats.org/officeDocument/2006/relationships/hyperlink" Target="https://docs.google.com/spreadsheets/d/1SiArmTypGwmyUNSih7gQuWCegJ6pUZZfZfznp1ze68w/edit#gid=0" TargetMode="External"/><Relationship Id="rId5" Type="http://schemas.openxmlformats.org/officeDocument/2006/relationships/hyperlink" Target="https://www.cost.eu/uploads/2021/10/Annex-II-level-A-Glossary-REVISION.pdf" TargetMode="External"/><Relationship Id="rId6" Type="http://schemas.openxmlformats.org/officeDocument/2006/relationships/hyperlink" Target="https://www.cost.eu/funding/documents-guideline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cost.eu/uploads/2022/12/COST-CIG-Guidelines-105-21-2023-2024.pdf" TargetMode="External"/><Relationship Id="rId4" Type="http://schemas.openxmlformats.org/officeDocument/2006/relationships/hyperlink" Target="https://docs.google.com/document/d/1P2kLXN00AUoJwdFOUjmh3Oqgkwg9vxmR/edit?rtpof=true" TargetMode="External"/><Relationship Id="rId5" Type="http://schemas.openxmlformats.org/officeDocument/2006/relationships/hyperlink" Target="http://www.cost.eu/innovators_grant_applicat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cost.eu/uploads/2022/12/COST-CIG-Guidelines-105-21-2023-2024.pdf" TargetMode="External"/><Relationship Id="rId4" Type="http://schemas.openxmlformats.org/officeDocument/2006/relationships/hyperlink" Target="https://docs.google.com/document/d/1P2kLXN00AUoJwdFOUjmh3Oqgkwg9vxmR/edit?rtpof=true" TargetMode="External"/><Relationship Id="rId5" Type="http://schemas.openxmlformats.org/officeDocument/2006/relationships/hyperlink" Target="http://www.cost.eu/innovators_grant_applicati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cost.eu/five-new-cost-innovators-grants-2023/" TargetMode="Externa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docs.google.com/spreadsheets/d/1SiArmTypGwmyUNSih7gQuWCegJ6pUZZfZfznp1ze68w/edit#gid=0" TargetMode="External"/><Relationship Id="rId4" Type="http://schemas.openxmlformats.org/officeDocument/2006/relationships/hyperlink" Target="https://docs.google.com/document/d/1P2kLXN00AUoJwdFOUjmh3Oqgkwg9vxmR/edit?rtpof=true" TargetMode="External"/><Relationship Id="rId5" Type="http://schemas.openxmlformats.org/officeDocument/2006/relationships/hyperlink" Target="mailto:CIG@cost.eu?subject=COST%20Innovators%20Grant%20Application%20for%20Action%20CA1913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mailto:CIG@cost.eu?subject=CIG%20inquiry,%20FinAI%20CA1913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mailto:CIG@cost.eu?subject=CIG%20inquiry,%20FinAI%20CA1913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cost.eu/uploads/2022/12/COST-CIG-Guidelines-105-21-2023-2024.pdf"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www.cost.eu/uploads/2022/12/COST-CIG-Guidelines-105-21-2023-2024.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entury Gothic"/>
              <a:buNone/>
            </a:pPr>
            <a:r>
              <a:rPr lang="en-US"/>
              <a:t>COST CA19130 Fintech and AI in Finance</a:t>
            </a:r>
            <a:endParaRPr/>
          </a:p>
        </p:txBody>
      </p:sp>
      <p:sp>
        <p:nvSpPr>
          <p:cNvPr id="90" name="Google Shape;90;p1"/>
          <p:cNvSpPr txBox="1"/>
          <p:nvPr>
            <p:ph idx="1" type="subTitle"/>
          </p:nvPr>
        </p:nvSpPr>
        <p:spPr>
          <a:xfrm>
            <a:off x="1524000" y="3602038"/>
            <a:ext cx="9144000" cy="26463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000"/>
              <a:buNone/>
            </a:pPr>
            <a:r>
              <a:rPr lang="en-US" sz="2000"/>
              <a:t>COST Innovators Grant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sz="4400"/>
              <a:t>Application Phase</a:t>
            </a:r>
            <a:endParaRPr/>
          </a:p>
        </p:txBody>
      </p:sp>
      <p:sp>
        <p:nvSpPr>
          <p:cNvPr id="97" name="Google Shape;97;p2"/>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latin typeface="Century Gothic"/>
                <a:ea typeface="Century Gothic"/>
                <a:cs typeface="Century Gothic"/>
                <a:sym typeface="Century Gothic"/>
              </a:rPr>
              <a:t>Admin details</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The deadline for the application is 24th January 2024, at 11:00 (CET).</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Hearings: 23th and 24th May 2024 in Brussels.</a:t>
            </a:r>
            <a:endParaRPr>
              <a:latin typeface="Century Gothic"/>
              <a:ea typeface="Century Gothic"/>
              <a:cs typeface="Century Gothic"/>
              <a:sym typeface="Century Gothic"/>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Decision: End of April 2024.</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Applications submitted by email to </a:t>
            </a:r>
            <a:r>
              <a:rPr lang="en-US" sz="1400" u="sng">
                <a:solidFill>
                  <a:schemeClr val="hlink"/>
                </a:solidFill>
                <a:latin typeface="Century Gothic"/>
                <a:ea typeface="Century Gothic"/>
                <a:cs typeface="Century Gothic"/>
                <a:sym typeface="Century Gothic"/>
                <a:hlinkClick r:id="rId3"/>
              </a:rPr>
              <a:t>CIG@cost.eu</a:t>
            </a:r>
            <a:r>
              <a:rPr lang="en-US" sz="1400">
                <a:latin typeface="Century Gothic"/>
                <a:ea typeface="Century Gothic"/>
                <a:cs typeface="Century Gothic"/>
                <a:sym typeface="Century Gothic"/>
              </a:rPr>
              <a:t> by Action Chair or Vice-Chair on behalf of the Management Committee.</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One submission allowed per COST Action, submission by the Chair takes precedence.</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CIG team needs to be specified beforehand and cannot be changed afterwards, relevant expertise and expected contribution need to be given per team member: </a:t>
            </a:r>
            <a:r>
              <a:rPr lang="en-US" sz="1400" u="sng">
                <a:solidFill>
                  <a:schemeClr val="hlink"/>
                </a:solidFill>
                <a:latin typeface="Century Gothic"/>
                <a:ea typeface="Century Gothic"/>
                <a:cs typeface="Century Gothic"/>
                <a:sym typeface="Century Gothic"/>
                <a:hlinkClick r:id="rId4"/>
              </a:rPr>
              <a:t>link to the excel team members</a:t>
            </a:r>
            <a:endParaRPr sz="1400">
              <a:latin typeface="Century Gothic"/>
              <a:ea typeface="Century Gothic"/>
              <a:cs typeface="Century Gothic"/>
              <a:sym typeface="Century Gothic"/>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Glossary: </a:t>
            </a:r>
            <a:r>
              <a:rPr lang="en-US" sz="1400" u="sng">
                <a:solidFill>
                  <a:schemeClr val="hlink"/>
                </a:solidFill>
                <a:latin typeface="Century Gothic"/>
                <a:ea typeface="Century Gothic"/>
                <a:cs typeface="Century Gothic"/>
                <a:sym typeface="Century Gothic"/>
                <a:hlinkClick r:id="rId5"/>
              </a:rPr>
              <a:t>https://www.cost.eu/uploads/2021/10/Annex-II-level-A-Glossary-REVISION.pdf</a:t>
            </a:r>
            <a:r>
              <a:rPr lang="en-US" sz="1400">
                <a:latin typeface="Century Gothic"/>
                <a:ea typeface="Century Gothic"/>
                <a:cs typeface="Century Gothic"/>
                <a:sym typeface="Century Gothic"/>
              </a:rPr>
              <a:t> </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Useful COST documents: </a:t>
            </a:r>
            <a:r>
              <a:rPr lang="en-US" sz="1400" u="sng">
                <a:solidFill>
                  <a:schemeClr val="hlink"/>
                </a:solidFill>
                <a:latin typeface="Century Gothic"/>
                <a:ea typeface="Century Gothic"/>
                <a:cs typeface="Century Gothic"/>
                <a:sym typeface="Century Gothic"/>
                <a:hlinkClick r:id="rId6"/>
              </a:rPr>
              <a:t>https://www.cost.eu/funding/documents-guidelines/</a:t>
            </a:r>
            <a:r>
              <a:rPr lang="en-US" sz="1400">
                <a:latin typeface="Century Gothic"/>
                <a:ea typeface="Century Gothic"/>
                <a:cs typeface="Century Gothic"/>
                <a:sym typeface="Century Gothic"/>
              </a:rPr>
              <a:t> </a:t>
            </a:r>
            <a:endParaRPr sz="1400"/>
          </a:p>
          <a:p>
            <a:pPr indent="0" lvl="0" marL="0" rtl="0" algn="l">
              <a:lnSpc>
                <a:spcPct val="90000"/>
              </a:lnSpc>
              <a:spcBef>
                <a:spcPts val="1000"/>
              </a:spcBef>
              <a:spcAft>
                <a:spcPts val="0"/>
              </a:spcAft>
              <a:buClr>
                <a:schemeClr val="dk1"/>
              </a:buClr>
              <a:buSzPts val="1400"/>
              <a:buNone/>
            </a:pPr>
            <a:r>
              <a:rPr b="1" lang="en-US" sz="1400">
                <a:latin typeface="Century Gothic"/>
                <a:ea typeface="Century Gothic"/>
                <a:cs typeface="Century Gothic"/>
                <a:sym typeface="Century Gothic"/>
              </a:rPr>
              <a:t>Content</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Action overview (code, name, origin, team members, roles, etc.)</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Summary (for publication if the application is approved, between 100 and 500 words)</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Business Plan (6 pages)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Project Phase</a:t>
            </a:r>
            <a:endParaRPr/>
          </a:p>
        </p:txBody>
      </p:sp>
      <p:sp>
        <p:nvSpPr>
          <p:cNvPr id="104" name="Google Shape;104;p3"/>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t>From application to implementation</a:t>
            </a:r>
            <a:endParaRPr/>
          </a:p>
          <a:p>
            <a:pPr indent="-228600" lvl="0" marL="228600" rtl="0" algn="l">
              <a:lnSpc>
                <a:spcPct val="90000"/>
              </a:lnSpc>
              <a:spcBef>
                <a:spcPts val="1000"/>
              </a:spcBef>
              <a:spcAft>
                <a:spcPts val="0"/>
              </a:spcAft>
              <a:buClr>
                <a:schemeClr val="dk1"/>
              </a:buClr>
              <a:buSzPts val="1400"/>
              <a:buChar char="•"/>
            </a:pPr>
            <a:r>
              <a:rPr lang="en-US" sz="1400"/>
              <a:t>Start Date: November 1, 2024</a:t>
            </a:r>
            <a:endParaRPr/>
          </a:p>
          <a:p>
            <a:pPr indent="-228600" lvl="0" marL="228600" rtl="0" algn="l">
              <a:lnSpc>
                <a:spcPct val="90000"/>
              </a:lnSpc>
              <a:spcBef>
                <a:spcPts val="1000"/>
              </a:spcBef>
              <a:spcAft>
                <a:spcPts val="0"/>
              </a:spcAft>
              <a:buClr>
                <a:schemeClr val="dk1"/>
              </a:buClr>
              <a:buSzPts val="1400"/>
              <a:buChar char="•"/>
            </a:pPr>
            <a:r>
              <a:rPr lang="en-US" sz="1400"/>
              <a:t>Duration: 12 months</a:t>
            </a:r>
            <a:endParaRPr/>
          </a:p>
          <a:p>
            <a:pPr indent="-139700" lvl="0" marL="228600" rtl="0" algn="l">
              <a:lnSpc>
                <a:spcPct val="90000"/>
              </a:lnSpc>
              <a:spcBef>
                <a:spcPts val="1000"/>
              </a:spcBef>
              <a:spcAft>
                <a:spcPts val="0"/>
              </a:spcAft>
              <a:buClr>
                <a:schemeClr val="dk1"/>
              </a:buClr>
              <a:buSzPts val="1400"/>
              <a:buNone/>
            </a:pPr>
            <a:r>
              <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Application Form – Part A</a:t>
            </a:r>
            <a:endParaRPr/>
          </a:p>
        </p:txBody>
      </p:sp>
      <p:sp>
        <p:nvSpPr>
          <p:cNvPr id="111" name="Google Shape;111;p4"/>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b="1" lang="en-US" sz="1400" u="sng">
                <a:solidFill>
                  <a:schemeClr val="hlink"/>
                </a:solidFill>
                <a:hlinkClick r:id="rId3"/>
              </a:rPr>
              <a:t>Guidelines</a:t>
            </a:r>
            <a:endParaRPr b="1" sz="1400"/>
          </a:p>
          <a:p>
            <a:pPr indent="-228600" lvl="0" marL="228600" rtl="0" algn="l">
              <a:lnSpc>
                <a:spcPct val="90000"/>
              </a:lnSpc>
              <a:spcBef>
                <a:spcPts val="1000"/>
              </a:spcBef>
              <a:spcAft>
                <a:spcPts val="0"/>
              </a:spcAft>
              <a:buClr>
                <a:schemeClr val="dk1"/>
              </a:buClr>
              <a:buSzPts val="1400"/>
              <a:buChar char="•"/>
            </a:pPr>
            <a:r>
              <a:rPr b="1" lang="en-US" sz="1400"/>
              <a:t>Google drive application form </a:t>
            </a:r>
            <a:r>
              <a:rPr b="1" lang="en-US" sz="1400" u="sng">
                <a:solidFill>
                  <a:schemeClr val="hlink"/>
                </a:solidFill>
                <a:hlinkClick r:id="rId4"/>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COST website </a:t>
            </a:r>
            <a:r>
              <a:rPr b="1" lang="en-US" sz="1400" u="sng">
                <a:solidFill>
                  <a:schemeClr val="hlink"/>
                </a:solidFill>
                <a:hlinkClick r:id="rId5"/>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CIG application Part A content:</a:t>
            </a:r>
            <a:endParaRPr/>
          </a:p>
          <a:p>
            <a:pPr indent="-228600" lvl="1" marL="685800" rtl="0" algn="l">
              <a:lnSpc>
                <a:spcPct val="90000"/>
              </a:lnSpc>
              <a:spcBef>
                <a:spcPts val="500"/>
              </a:spcBef>
              <a:spcAft>
                <a:spcPts val="0"/>
              </a:spcAft>
              <a:buClr>
                <a:schemeClr val="dk1"/>
              </a:buClr>
              <a:buSzPts val="1400"/>
              <a:buChar char="•"/>
            </a:pPr>
            <a:r>
              <a:rPr lang="en-US" sz="1400"/>
              <a:t>Application title</a:t>
            </a:r>
            <a:endParaRPr/>
          </a:p>
          <a:p>
            <a:pPr indent="-228600" lvl="1" marL="685800" rtl="0" algn="l">
              <a:lnSpc>
                <a:spcPct val="90000"/>
              </a:lnSpc>
              <a:spcBef>
                <a:spcPts val="500"/>
              </a:spcBef>
              <a:spcAft>
                <a:spcPts val="0"/>
              </a:spcAft>
              <a:buClr>
                <a:schemeClr val="dk1"/>
              </a:buClr>
              <a:buSzPts val="1400"/>
              <a:buChar char="•"/>
            </a:pPr>
            <a:r>
              <a:rPr lang="en-US" sz="1400"/>
              <a:t>Application acronym</a:t>
            </a:r>
            <a:endParaRPr/>
          </a:p>
          <a:p>
            <a:pPr indent="-228600" lvl="1" marL="685800" rtl="0" algn="l">
              <a:lnSpc>
                <a:spcPct val="90000"/>
              </a:lnSpc>
              <a:spcBef>
                <a:spcPts val="500"/>
              </a:spcBef>
              <a:spcAft>
                <a:spcPts val="0"/>
              </a:spcAft>
              <a:buClr>
                <a:schemeClr val="dk1"/>
              </a:buClr>
              <a:buSzPts val="1400"/>
              <a:buChar char="•"/>
            </a:pPr>
            <a:r>
              <a:rPr lang="en-US" sz="1400"/>
              <a:t>Code of COST Action, here is CA19130</a:t>
            </a:r>
            <a:endParaRPr/>
          </a:p>
          <a:p>
            <a:pPr indent="-228600" lvl="1" marL="685800" rtl="0" algn="l">
              <a:lnSpc>
                <a:spcPct val="90000"/>
              </a:lnSpc>
              <a:spcBef>
                <a:spcPts val="500"/>
              </a:spcBef>
              <a:spcAft>
                <a:spcPts val="0"/>
              </a:spcAft>
              <a:buClr>
                <a:schemeClr val="dk1"/>
              </a:buClr>
              <a:buSzPts val="1400"/>
              <a:buChar char="•"/>
            </a:pPr>
            <a:r>
              <a:rPr lang="en-US" sz="1400"/>
              <a:t>Submitter (must be Action Chair/ Vice Chair)</a:t>
            </a:r>
            <a:endParaRPr/>
          </a:p>
          <a:p>
            <a:pPr indent="-228600" lvl="1" marL="685800" rtl="0" algn="l">
              <a:lnSpc>
                <a:spcPct val="90000"/>
              </a:lnSpc>
              <a:spcBef>
                <a:spcPts val="500"/>
              </a:spcBef>
              <a:spcAft>
                <a:spcPts val="0"/>
              </a:spcAft>
              <a:buClr>
                <a:schemeClr val="dk1"/>
              </a:buClr>
              <a:buSzPts val="1400"/>
              <a:buChar char="•"/>
            </a:pPr>
            <a:r>
              <a:rPr lang="en-US" sz="1400"/>
              <a:t>Origin of CIG application in the Action</a:t>
            </a:r>
            <a:endParaRPr/>
          </a:p>
          <a:p>
            <a:pPr indent="-228600" lvl="1" marL="685800" rtl="0" algn="l">
              <a:lnSpc>
                <a:spcPct val="90000"/>
              </a:lnSpc>
              <a:spcBef>
                <a:spcPts val="500"/>
              </a:spcBef>
              <a:spcAft>
                <a:spcPts val="0"/>
              </a:spcAft>
              <a:buClr>
                <a:schemeClr val="dk1"/>
              </a:buClr>
              <a:buSzPts val="1400"/>
              <a:buChar char="•"/>
            </a:pPr>
            <a:r>
              <a:rPr lang="en-US" sz="1400"/>
              <a:t>CIG Grant Holder</a:t>
            </a:r>
            <a:endParaRPr/>
          </a:p>
          <a:p>
            <a:pPr indent="-228600" lvl="1" marL="685800" rtl="0" algn="l">
              <a:lnSpc>
                <a:spcPct val="90000"/>
              </a:lnSpc>
              <a:spcBef>
                <a:spcPts val="500"/>
              </a:spcBef>
              <a:spcAft>
                <a:spcPts val="0"/>
              </a:spcAft>
              <a:buClr>
                <a:schemeClr val="dk1"/>
              </a:buClr>
              <a:buSzPts val="1400"/>
              <a:buChar char="•"/>
            </a:pPr>
            <a:r>
              <a:rPr lang="en-US" sz="1400"/>
              <a:t>Summary (for publication if the application is approved, </a:t>
            </a:r>
            <a:r>
              <a:rPr b="1" lang="en-US" sz="1400"/>
              <a:t>between 100 and 500 words</a:t>
            </a:r>
            <a:r>
              <a:rPr lang="en-US" sz="1400"/>
              <a:t>)</a:t>
            </a:r>
            <a:endParaRPr/>
          </a:p>
          <a:p>
            <a:pPr indent="-228600" lvl="1" marL="685800" rtl="0" algn="l">
              <a:lnSpc>
                <a:spcPct val="90000"/>
              </a:lnSpc>
              <a:spcBef>
                <a:spcPts val="500"/>
              </a:spcBef>
              <a:spcAft>
                <a:spcPts val="0"/>
              </a:spcAft>
              <a:buClr>
                <a:schemeClr val="dk1"/>
              </a:buClr>
              <a:buSzPts val="1400"/>
              <a:buChar char="•"/>
            </a:pPr>
            <a:r>
              <a:rPr lang="en-US" sz="1400"/>
              <a:t>Composition of CIG Team.</a:t>
            </a:r>
            <a:endParaRPr/>
          </a:p>
          <a:p>
            <a:pPr indent="-228600" lvl="1" marL="685800" rtl="0" algn="l">
              <a:lnSpc>
                <a:spcPct val="90000"/>
              </a:lnSpc>
              <a:spcBef>
                <a:spcPts val="500"/>
              </a:spcBef>
              <a:spcAft>
                <a:spcPts val="0"/>
              </a:spcAft>
              <a:buClr>
                <a:schemeClr val="dk1"/>
              </a:buClr>
              <a:buSzPts val="1400"/>
              <a:buChar char="•"/>
            </a:pPr>
            <a:r>
              <a:rPr lang="en-US" sz="1400"/>
              <a:t>Name, email, institution, country of affiliation, role in the CIG, relevant expertise and expected contribution in the CIG for: </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Chair</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Vice-Chair</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Team Members.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Application Form – Part B</a:t>
            </a:r>
            <a:endParaRPr/>
          </a:p>
        </p:txBody>
      </p:sp>
      <p:sp>
        <p:nvSpPr>
          <p:cNvPr id="118" name="Google Shape;118;p5"/>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b="1" lang="en-US" sz="1400" u="sng">
                <a:solidFill>
                  <a:schemeClr val="hlink"/>
                </a:solidFill>
                <a:hlinkClick r:id="rId3"/>
              </a:rPr>
              <a:t>Guidelines</a:t>
            </a:r>
            <a:endParaRPr b="1" sz="1400"/>
          </a:p>
          <a:p>
            <a:pPr indent="-228600" lvl="0" marL="228600" rtl="0" algn="l">
              <a:lnSpc>
                <a:spcPct val="90000"/>
              </a:lnSpc>
              <a:spcBef>
                <a:spcPts val="1000"/>
              </a:spcBef>
              <a:spcAft>
                <a:spcPts val="0"/>
              </a:spcAft>
              <a:buClr>
                <a:schemeClr val="dk1"/>
              </a:buClr>
              <a:buSzPts val="1400"/>
              <a:buChar char="•"/>
            </a:pPr>
            <a:r>
              <a:rPr b="1" lang="en-US" sz="1400"/>
              <a:t>Google drive application form </a:t>
            </a:r>
            <a:r>
              <a:rPr b="1" lang="en-US" sz="1400" u="sng">
                <a:solidFill>
                  <a:schemeClr val="hlink"/>
                </a:solidFill>
                <a:hlinkClick r:id="rId4"/>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COST website </a:t>
            </a:r>
            <a:r>
              <a:rPr b="1" lang="en-US" sz="1400" u="sng">
                <a:solidFill>
                  <a:schemeClr val="hlink"/>
                </a:solidFill>
                <a:hlinkClick r:id="rId5"/>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CIG application Part B (max. 6 pages):</a:t>
            </a:r>
            <a:endParaRPr/>
          </a:p>
          <a:p>
            <a:pPr indent="-317500" lvl="0" marL="914400" rtl="0" algn="l">
              <a:lnSpc>
                <a:spcPct val="90000"/>
              </a:lnSpc>
              <a:spcBef>
                <a:spcPts val="0"/>
              </a:spcBef>
              <a:spcAft>
                <a:spcPts val="0"/>
              </a:spcAft>
              <a:buSzPts val="1400"/>
              <a:buAutoNum type="arabicPeriod"/>
            </a:pPr>
            <a:r>
              <a:rPr lang="en-US" sz="1400"/>
              <a:t>Innovation Potential (recommended 2 pages): </a:t>
            </a:r>
            <a:endParaRPr/>
          </a:p>
          <a:p>
            <a:pPr indent="457200" lvl="0" marL="457200" rtl="0" algn="l">
              <a:lnSpc>
                <a:spcPct val="90000"/>
              </a:lnSpc>
              <a:spcBef>
                <a:spcPts val="500"/>
              </a:spcBef>
              <a:spcAft>
                <a:spcPts val="0"/>
              </a:spcAft>
              <a:buNone/>
            </a:pPr>
            <a:r>
              <a:rPr lang="en-US" sz="1400"/>
              <a:t>1.1. </a:t>
            </a:r>
            <a:r>
              <a:rPr lang="en-US" sz="1400"/>
              <a:t>What is the practical challenge and target group that you will address? </a:t>
            </a:r>
            <a:endParaRPr/>
          </a:p>
          <a:p>
            <a:pPr indent="457200" lvl="0" marL="457200" rtl="0" algn="l">
              <a:lnSpc>
                <a:spcPct val="90000"/>
              </a:lnSpc>
              <a:spcBef>
                <a:spcPts val="500"/>
              </a:spcBef>
              <a:spcAft>
                <a:spcPts val="0"/>
              </a:spcAft>
              <a:buNone/>
            </a:pPr>
            <a:r>
              <a:rPr lang="en-US" sz="1400"/>
              <a:t>1.2. </a:t>
            </a:r>
            <a:r>
              <a:rPr lang="en-US" sz="1400"/>
              <a:t>What is your proposed solution, what will be the main outcomes of the CIG? </a:t>
            </a:r>
            <a:endParaRPr/>
          </a:p>
          <a:p>
            <a:pPr indent="457200" lvl="0" marL="457200" rtl="0" algn="l">
              <a:lnSpc>
                <a:spcPct val="90000"/>
              </a:lnSpc>
              <a:spcBef>
                <a:spcPts val="500"/>
              </a:spcBef>
              <a:spcAft>
                <a:spcPts val="0"/>
              </a:spcAft>
              <a:buNone/>
            </a:pPr>
            <a:r>
              <a:rPr lang="en-US" sz="1400"/>
              <a:t>1.3. </a:t>
            </a:r>
            <a:r>
              <a:rPr lang="en-US" sz="1400"/>
              <a:t>Objectives of the CIG? </a:t>
            </a:r>
            <a:endParaRPr/>
          </a:p>
          <a:p>
            <a:pPr indent="457200" lvl="0" marL="457200" rtl="0" algn="l">
              <a:lnSpc>
                <a:spcPct val="90000"/>
              </a:lnSpc>
              <a:spcBef>
                <a:spcPts val="500"/>
              </a:spcBef>
              <a:spcAft>
                <a:spcPts val="0"/>
              </a:spcAft>
              <a:buNone/>
            </a:pPr>
            <a:r>
              <a:rPr lang="en-US" sz="1400"/>
              <a:t>1.4. </a:t>
            </a:r>
            <a:r>
              <a:rPr lang="en-US" sz="1400"/>
              <a:t>What is innovative about your solution?</a:t>
            </a:r>
            <a:endParaRPr/>
          </a:p>
          <a:p>
            <a:pPr indent="-317500" lvl="0" marL="914400" rtl="0" algn="l">
              <a:lnSpc>
                <a:spcPct val="90000"/>
              </a:lnSpc>
              <a:spcBef>
                <a:spcPts val="500"/>
              </a:spcBef>
              <a:spcAft>
                <a:spcPts val="0"/>
              </a:spcAft>
              <a:buSzPts val="1400"/>
              <a:buAutoNum type="arabicPeriod"/>
            </a:pPr>
            <a:r>
              <a:rPr lang="en-US" sz="1400"/>
              <a:t>Expected impact (</a:t>
            </a:r>
            <a:r>
              <a:rPr lang="en-US" sz="1400"/>
              <a:t>recommended </a:t>
            </a:r>
            <a:r>
              <a:rPr lang="en-US" sz="1400"/>
              <a:t>2 pages): </a:t>
            </a:r>
            <a:endParaRPr/>
          </a:p>
          <a:p>
            <a:pPr indent="457200" lvl="0" marL="457200" rtl="0" algn="l">
              <a:lnSpc>
                <a:spcPct val="90000"/>
              </a:lnSpc>
              <a:spcBef>
                <a:spcPts val="500"/>
              </a:spcBef>
              <a:spcAft>
                <a:spcPts val="0"/>
              </a:spcAft>
              <a:buNone/>
            </a:pPr>
            <a:r>
              <a:rPr lang="en-US" sz="1400"/>
              <a:t>2.1. </a:t>
            </a:r>
            <a:r>
              <a:rPr lang="en-US" sz="1400"/>
              <a:t>Describe who and/or what will benefit, how, when and to which extent. </a:t>
            </a:r>
            <a:endParaRPr/>
          </a:p>
          <a:p>
            <a:pPr indent="457200" lvl="0" marL="457200" rtl="0" algn="l">
              <a:lnSpc>
                <a:spcPct val="90000"/>
              </a:lnSpc>
              <a:spcBef>
                <a:spcPts val="500"/>
              </a:spcBef>
              <a:spcAft>
                <a:spcPts val="0"/>
              </a:spcAft>
              <a:buNone/>
            </a:pPr>
            <a:r>
              <a:rPr lang="en-US" sz="1400"/>
              <a:t>2.2. </a:t>
            </a:r>
            <a:r>
              <a:rPr lang="en-US" sz="1400"/>
              <a:t>Plan for exploitation.</a:t>
            </a:r>
            <a:endParaRPr/>
          </a:p>
          <a:p>
            <a:pPr indent="-317500" lvl="0" marL="914400" rtl="0" algn="l">
              <a:lnSpc>
                <a:spcPct val="90000"/>
              </a:lnSpc>
              <a:spcBef>
                <a:spcPts val="500"/>
              </a:spcBef>
              <a:spcAft>
                <a:spcPts val="0"/>
              </a:spcAft>
              <a:buSzPts val="1400"/>
              <a:buAutoNum type="arabicPeriod"/>
            </a:pPr>
            <a:r>
              <a:rPr lang="en-US" sz="1400"/>
              <a:t>Plan for Implementing the CIG (</a:t>
            </a:r>
            <a:r>
              <a:rPr lang="en-US" sz="1400"/>
              <a:t>recommended </a:t>
            </a:r>
            <a:r>
              <a:rPr lang="en-US" sz="1400"/>
              <a:t>2 pages)</a:t>
            </a:r>
            <a:endParaRPr/>
          </a:p>
          <a:p>
            <a:pPr indent="457200" lvl="0" marL="457200" rtl="0" algn="l">
              <a:lnSpc>
                <a:spcPct val="90000"/>
              </a:lnSpc>
              <a:spcBef>
                <a:spcPts val="500"/>
              </a:spcBef>
              <a:spcAft>
                <a:spcPts val="0"/>
              </a:spcAft>
              <a:buNone/>
            </a:pPr>
            <a:r>
              <a:rPr lang="en-US" sz="1400"/>
              <a:t>3.1. </a:t>
            </a:r>
            <a:r>
              <a:rPr lang="en-US" sz="1400"/>
              <a:t>Work plan. </a:t>
            </a:r>
            <a:endParaRPr/>
          </a:p>
          <a:p>
            <a:pPr indent="457200" lvl="0" marL="457200" rtl="0" algn="l">
              <a:lnSpc>
                <a:spcPct val="90000"/>
              </a:lnSpc>
              <a:spcBef>
                <a:spcPts val="500"/>
              </a:spcBef>
              <a:spcAft>
                <a:spcPts val="0"/>
              </a:spcAft>
              <a:buNone/>
            </a:pPr>
            <a:r>
              <a:rPr lang="en-US" sz="1400"/>
              <a:t>3.2. </a:t>
            </a:r>
            <a:r>
              <a:rPr lang="en-US" sz="1400"/>
              <a:t>Intellectual property rights considerations.</a:t>
            </a:r>
            <a:endParaRPr b="1"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2a68e2429f2_1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Evaluation</a:t>
            </a:r>
            <a:endParaRPr/>
          </a:p>
        </p:txBody>
      </p:sp>
      <p:sp>
        <p:nvSpPr>
          <p:cNvPr id="125" name="Google Shape;125;g2a68e2429f2_1_0"/>
          <p:cNvSpPr txBox="1"/>
          <p:nvPr>
            <p:ph idx="1" type="body"/>
          </p:nvPr>
        </p:nvSpPr>
        <p:spPr>
          <a:xfrm>
            <a:off x="838200" y="1803400"/>
            <a:ext cx="10515600" cy="4689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0"/>
              </a:spcBef>
              <a:spcAft>
                <a:spcPts val="0"/>
              </a:spcAft>
              <a:buNone/>
            </a:pPr>
            <a:r>
              <a:rPr b="1" lang="en-US" sz="1400"/>
              <a:t>1. INNOVATION POTENTIAL</a:t>
            </a:r>
            <a:endParaRPr b="1" sz="1400"/>
          </a:p>
          <a:p>
            <a:pPr indent="0" lvl="0" marL="457200" marR="0" rtl="0" algn="l">
              <a:lnSpc>
                <a:spcPct val="90000"/>
              </a:lnSpc>
              <a:spcBef>
                <a:spcPts val="1000"/>
              </a:spcBef>
              <a:spcAft>
                <a:spcPts val="0"/>
              </a:spcAft>
              <a:buNone/>
            </a:pPr>
            <a:r>
              <a:rPr lang="en-US" sz="1300"/>
              <a:t>Q1: To what extent does the application describe an innovation challenge, problem or need that is real, relevant, and timely?</a:t>
            </a:r>
            <a:endParaRPr sz="1300"/>
          </a:p>
          <a:p>
            <a:pPr indent="0" lvl="0" marL="457200" marR="0" rtl="0" algn="l">
              <a:lnSpc>
                <a:spcPct val="90000"/>
              </a:lnSpc>
              <a:spcBef>
                <a:spcPts val="1000"/>
              </a:spcBef>
              <a:spcAft>
                <a:spcPts val="0"/>
              </a:spcAft>
              <a:buNone/>
            </a:pPr>
            <a:r>
              <a:rPr lang="en-US" sz="1300"/>
              <a:t>Q2: To what extent is the proposed solution innovative, feasible, and adequate in addressing the problem or need described above?</a:t>
            </a:r>
            <a:endParaRPr sz="1300"/>
          </a:p>
          <a:p>
            <a:pPr indent="0" lvl="0" marL="0" marR="0" rtl="0" algn="l">
              <a:lnSpc>
                <a:spcPct val="90000"/>
              </a:lnSpc>
              <a:spcBef>
                <a:spcPts val="1000"/>
              </a:spcBef>
              <a:spcAft>
                <a:spcPts val="0"/>
              </a:spcAft>
              <a:buNone/>
            </a:pPr>
            <a:r>
              <a:rPr b="1" lang="en-US" sz="1400"/>
              <a:t>2. EXPECTED IMPACT</a:t>
            </a:r>
            <a:endParaRPr b="1" sz="1400"/>
          </a:p>
          <a:p>
            <a:pPr indent="0" lvl="0" marL="457200" marR="0" rtl="0" algn="l">
              <a:lnSpc>
                <a:spcPct val="90000"/>
              </a:lnSpc>
              <a:spcBef>
                <a:spcPts val="1000"/>
              </a:spcBef>
              <a:spcAft>
                <a:spcPts val="0"/>
              </a:spcAft>
              <a:buNone/>
            </a:pPr>
            <a:r>
              <a:rPr lang="en-US" sz="1300"/>
              <a:t>Q3: To what extent does the application describe expected impacts that are both significant and credible (realistic)?</a:t>
            </a:r>
            <a:endParaRPr sz="1300"/>
          </a:p>
          <a:p>
            <a:pPr indent="0" lvl="0" marL="457200" marR="0" rtl="0" algn="l">
              <a:lnSpc>
                <a:spcPct val="90000"/>
              </a:lnSpc>
              <a:spcBef>
                <a:spcPts val="1000"/>
              </a:spcBef>
              <a:spcAft>
                <a:spcPts val="0"/>
              </a:spcAft>
              <a:buNone/>
            </a:pPr>
            <a:r>
              <a:rPr lang="en-US" sz="1300"/>
              <a:t>Q4: To what extent is the plan for exploitation both realistic and adequate?</a:t>
            </a:r>
            <a:endParaRPr sz="1300"/>
          </a:p>
          <a:p>
            <a:pPr indent="0" lvl="0" marL="0" marR="0" rtl="0" algn="l">
              <a:lnSpc>
                <a:spcPct val="90000"/>
              </a:lnSpc>
              <a:spcBef>
                <a:spcPts val="1000"/>
              </a:spcBef>
              <a:spcAft>
                <a:spcPts val="0"/>
              </a:spcAft>
              <a:buNone/>
            </a:pPr>
            <a:r>
              <a:rPr b="1" lang="en-US" sz="1400"/>
              <a:t>3. PLAN FOR IMPLEMENTING THE CIG</a:t>
            </a:r>
            <a:endParaRPr b="1" sz="1400"/>
          </a:p>
          <a:p>
            <a:pPr indent="457200" lvl="0" marL="0" marR="0" rtl="0" algn="l">
              <a:lnSpc>
                <a:spcPct val="90000"/>
              </a:lnSpc>
              <a:spcBef>
                <a:spcPts val="1000"/>
              </a:spcBef>
              <a:spcAft>
                <a:spcPts val="0"/>
              </a:spcAft>
              <a:buNone/>
            </a:pPr>
            <a:r>
              <a:rPr lang="en-US" sz="1300"/>
              <a:t>Q5: To what extent are the work plan and the team appropriate for achieving the stated objectives of the CIG?</a:t>
            </a:r>
            <a:endParaRPr sz="1300"/>
          </a:p>
          <a:p>
            <a:pPr indent="0" lvl="0" marL="63500" rtl="0" algn="l">
              <a:lnSpc>
                <a:spcPct val="115000"/>
              </a:lnSpc>
              <a:spcBef>
                <a:spcPts val="200"/>
              </a:spcBef>
              <a:spcAft>
                <a:spcPts val="0"/>
              </a:spcAft>
              <a:buNone/>
            </a:pPr>
            <a:r>
              <a:t/>
            </a:r>
            <a:endParaRPr sz="1000">
              <a:solidFill>
                <a:srgbClr val="000000"/>
              </a:solidFill>
              <a:latin typeface="Arial"/>
              <a:ea typeface="Arial"/>
              <a:cs typeface="Arial"/>
              <a:sym typeface="Arial"/>
            </a:endParaRPr>
          </a:p>
          <a:p>
            <a:pPr indent="-101600" lvl="0" marL="228600" marR="0" rtl="0" algn="l">
              <a:lnSpc>
                <a:spcPct val="90000"/>
              </a:lnSpc>
              <a:spcBef>
                <a:spcPts val="1000"/>
              </a:spcBef>
              <a:spcAft>
                <a:spcPts val="0"/>
              </a:spcAft>
              <a:buClr>
                <a:schemeClr val="dk1"/>
              </a:buClr>
              <a:buSzPts val="2000"/>
              <a:buFont typeface="Arial"/>
              <a:buNone/>
            </a:pPr>
            <a:r>
              <a:t/>
            </a:r>
            <a:endParaRPr sz="1400"/>
          </a:p>
        </p:txBody>
      </p:sp>
      <p:graphicFrame>
        <p:nvGraphicFramePr>
          <p:cNvPr id="126" name="Google Shape;126;g2a68e2429f2_1_0"/>
          <p:cNvGraphicFramePr/>
          <p:nvPr/>
        </p:nvGraphicFramePr>
        <p:xfrm>
          <a:off x="3200400" y="4835350"/>
          <a:ext cx="3000000" cy="3000000"/>
        </p:xfrm>
        <a:graphic>
          <a:graphicData uri="http://schemas.openxmlformats.org/drawingml/2006/table">
            <a:tbl>
              <a:tblPr>
                <a:noFill/>
                <a:tableStyleId>{30FE14ED-1857-4ACC-A3DC-EA51282B261E}</a:tableStyleId>
              </a:tblPr>
              <a:tblGrid>
                <a:gridCol w="1895475"/>
                <a:gridCol w="1905000"/>
                <a:gridCol w="1990725"/>
              </a:tblGrid>
              <a:tr h="342900">
                <a:tc>
                  <a:txBody>
                    <a:bodyPr/>
                    <a:lstStyle/>
                    <a:p>
                      <a:pPr indent="0" lvl="0" marL="63500" rtl="0" algn="l">
                        <a:lnSpc>
                          <a:spcPct val="115000"/>
                        </a:lnSpc>
                        <a:spcBef>
                          <a:spcPts val="900"/>
                        </a:spcBef>
                        <a:spcAft>
                          <a:spcPts val="0"/>
                        </a:spcAft>
                        <a:buNone/>
                      </a:pPr>
                      <a:r>
                        <a:rPr b="1" lang="en-US" sz="1000">
                          <a:solidFill>
                            <a:srgbClr val="FFFFFF"/>
                          </a:solidFill>
                        </a:rPr>
                        <a:t>INNOVATION POTENTIAL</a:t>
                      </a:r>
                      <a:endParaRPr b="1" sz="1000">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c>
                  <a:txBody>
                    <a:bodyPr/>
                    <a:lstStyle/>
                    <a:p>
                      <a:pPr indent="0" lvl="0" marL="127000" rtl="0" algn="l">
                        <a:lnSpc>
                          <a:spcPct val="115000"/>
                        </a:lnSpc>
                        <a:spcBef>
                          <a:spcPts val="900"/>
                        </a:spcBef>
                        <a:spcAft>
                          <a:spcPts val="0"/>
                        </a:spcAft>
                        <a:buNone/>
                      </a:pPr>
                      <a:r>
                        <a:rPr b="1" lang="en-US" sz="1000">
                          <a:solidFill>
                            <a:srgbClr val="FFFFFF"/>
                          </a:solidFill>
                        </a:rPr>
                        <a:t>EXPECTED IMPACT</a:t>
                      </a:r>
                      <a:endParaRPr b="1" sz="1000">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c>
                  <a:txBody>
                    <a:bodyPr/>
                    <a:lstStyle/>
                    <a:p>
                      <a:pPr indent="0" lvl="0" marL="101600" rtl="0" algn="l">
                        <a:lnSpc>
                          <a:spcPct val="115000"/>
                        </a:lnSpc>
                        <a:spcBef>
                          <a:spcPts val="900"/>
                        </a:spcBef>
                        <a:spcAft>
                          <a:spcPts val="0"/>
                        </a:spcAft>
                        <a:buNone/>
                      </a:pPr>
                      <a:r>
                        <a:rPr b="1" lang="en-US" sz="1000">
                          <a:solidFill>
                            <a:srgbClr val="FFFFFF"/>
                          </a:solidFill>
                        </a:rPr>
                        <a:t>IMPLEMENTATION</a:t>
                      </a:r>
                      <a:endParaRPr b="1" sz="1000">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r>
              <a:tr h="561975">
                <a:tc>
                  <a:txBody>
                    <a:bodyPr/>
                    <a:lstStyle/>
                    <a:p>
                      <a:pPr indent="0" lvl="0" marL="63500" rtl="0" algn="l">
                        <a:lnSpc>
                          <a:spcPct val="115000"/>
                        </a:lnSpc>
                        <a:spcBef>
                          <a:spcPts val="900"/>
                        </a:spcBef>
                        <a:spcAft>
                          <a:spcPts val="0"/>
                        </a:spcAft>
                        <a:buNone/>
                      </a:pPr>
                      <a:r>
                        <a:rPr lang="en-US" sz="1000"/>
                        <a:t>Total marks for the section</a:t>
                      </a:r>
                      <a:endParaRPr sz="1000"/>
                    </a:p>
                    <a:p>
                      <a:pPr indent="0" lvl="0" marL="63500" rtl="0" algn="l">
                        <a:lnSpc>
                          <a:spcPct val="115000"/>
                        </a:lnSpc>
                        <a:spcBef>
                          <a:spcPts val="300"/>
                        </a:spcBef>
                        <a:spcAft>
                          <a:spcPts val="0"/>
                        </a:spcAft>
                        <a:buNone/>
                      </a:pPr>
                      <a:r>
                        <a:rPr lang="en-US" sz="1000"/>
                        <a:t>= 6 points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500" rtl="0" algn="l">
                        <a:lnSpc>
                          <a:spcPct val="115000"/>
                        </a:lnSpc>
                        <a:spcBef>
                          <a:spcPts val="900"/>
                        </a:spcBef>
                        <a:spcAft>
                          <a:spcPts val="0"/>
                        </a:spcAft>
                        <a:buNone/>
                      </a:pPr>
                      <a:r>
                        <a:rPr lang="en-US" sz="1000"/>
                        <a:t>Total marks for the section</a:t>
                      </a:r>
                      <a:endParaRPr sz="1000"/>
                    </a:p>
                    <a:p>
                      <a:pPr indent="0" lvl="0" marL="63500" rtl="0" algn="l">
                        <a:lnSpc>
                          <a:spcPct val="115000"/>
                        </a:lnSpc>
                        <a:spcBef>
                          <a:spcPts val="300"/>
                        </a:spcBef>
                        <a:spcAft>
                          <a:spcPts val="0"/>
                        </a:spcAft>
                        <a:buNone/>
                      </a:pPr>
                      <a:r>
                        <a:rPr lang="en-US" sz="1000"/>
                        <a:t>= 6 points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500" rtl="0" algn="l">
                        <a:lnSpc>
                          <a:spcPct val="115000"/>
                        </a:lnSpc>
                        <a:spcBef>
                          <a:spcPts val="900"/>
                        </a:spcBef>
                        <a:spcAft>
                          <a:spcPts val="0"/>
                        </a:spcAft>
                        <a:buNone/>
                      </a:pPr>
                      <a:r>
                        <a:rPr lang="en-US" sz="1000"/>
                        <a:t>Total marks for the section</a:t>
                      </a:r>
                      <a:endParaRPr sz="1000"/>
                    </a:p>
                    <a:p>
                      <a:pPr indent="0" lvl="0" marL="63500" rtl="0" algn="l">
                        <a:lnSpc>
                          <a:spcPct val="115000"/>
                        </a:lnSpc>
                        <a:spcBef>
                          <a:spcPts val="300"/>
                        </a:spcBef>
                        <a:spcAft>
                          <a:spcPts val="0"/>
                        </a:spcAft>
                        <a:buNone/>
                      </a:pPr>
                      <a:r>
                        <a:rPr lang="en-US" sz="1000"/>
                        <a:t>= 3 points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gridSpan="3">
                  <a:txBody>
                    <a:bodyPr/>
                    <a:lstStyle/>
                    <a:p>
                      <a:pPr indent="0" lvl="0" marL="63500" rtl="0" algn="l">
                        <a:lnSpc>
                          <a:spcPct val="115000"/>
                        </a:lnSpc>
                        <a:spcBef>
                          <a:spcPts val="900"/>
                        </a:spcBef>
                        <a:spcAft>
                          <a:spcPts val="0"/>
                        </a:spcAft>
                        <a:buNone/>
                      </a:pPr>
                      <a:r>
                        <a:rPr b="1" lang="en-US" sz="1000"/>
                        <a:t>TOTAL MAXIMUM MARKS AWARDED = 15 points</a:t>
                      </a:r>
                      <a:endParaRPr b="1"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1C3C1"/>
                    </a:solidFill>
                  </a:tcPr>
                </a:tc>
                <a:tc hMerge="1"/>
                <a:tc hMerge="1"/>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2a68e24341e_0_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2023 Five COST Innovators Grant</a:t>
            </a:r>
            <a:endParaRPr/>
          </a:p>
        </p:txBody>
      </p:sp>
      <p:sp>
        <p:nvSpPr>
          <p:cNvPr id="133" name="Google Shape;133;g2a68e24341e_0_6"/>
          <p:cNvSpPr txBox="1"/>
          <p:nvPr>
            <p:ph idx="1" type="body"/>
          </p:nvPr>
        </p:nvSpPr>
        <p:spPr>
          <a:xfrm>
            <a:off x="838200" y="1825625"/>
            <a:ext cx="10515600" cy="4667400"/>
          </a:xfrm>
          <a:prstGeom prst="rect">
            <a:avLst/>
          </a:prstGeom>
          <a:noFill/>
          <a:ln>
            <a:noFill/>
          </a:ln>
        </p:spPr>
        <p:txBody>
          <a:bodyPr anchorCtr="0" anchor="t" bIns="45700" lIns="91425" spcFirstLastPara="1" rIns="91425" wrap="square" tIns="45700">
            <a:noAutofit/>
          </a:bodyPr>
          <a:lstStyle/>
          <a:p>
            <a:pPr indent="-101600" lvl="0" marL="228600" rtl="0" algn="l">
              <a:lnSpc>
                <a:spcPct val="90000"/>
              </a:lnSpc>
              <a:spcBef>
                <a:spcPts val="1000"/>
              </a:spcBef>
              <a:spcAft>
                <a:spcPts val="0"/>
              </a:spcAft>
              <a:buClr>
                <a:schemeClr val="dk1"/>
              </a:buClr>
              <a:buSzPts val="2000"/>
              <a:buNone/>
            </a:pPr>
            <a:r>
              <a:rPr b="1" lang="en-US" sz="1400"/>
              <a:t>Link to the article: </a:t>
            </a:r>
            <a:r>
              <a:rPr b="1" lang="en-US" sz="1400" u="sng">
                <a:solidFill>
                  <a:schemeClr val="hlink"/>
                </a:solidFill>
                <a:hlinkClick r:id="rId3"/>
              </a:rPr>
              <a:t>https://www.cost.eu/five-new-cost-innovators-grants-2023/</a:t>
            </a:r>
            <a:endParaRPr b="1" sz="1400"/>
          </a:p>
          <a:p>
            <a:pPr indent="-101600" lvl="0" marL="228600" rtl="0" algn="l">
              <a:lnSpc>
                <a:spcPct val="90000"/>
              </a:lnSpc>
              <a:spcBef>
                <a:spcPts val="1000"/>
              </a:spcBef>
              <a:spcAft>
                <a:spcPts val="0"/>
              </a:spcAft>
              <a:buClr>
                <a:schemeClr val="dk1"/>
              </a:buClr>
              <a:buSzPts val="2000"/>
              <a:buNone/>
            </a:pPr>
            <a:r>
              <a:t/>
            </a:r>
            <a:endParaRPr b="1" sz="1400"/>
          </a:p>
        </p:txBody>
      </p:sp>
      <p:pic>
        <p:nvPicPr>
          <p:cNvPr id="134" name="Google Shape;134;g2a68e24341e_0_6"/>
          <p:cNvPicPr preferRelativeResize="0"/>
          <p:nvPr/>
        </p:nvPicPr>
        <p:blipFill>
          <a:blip r:embed="rId4">
            <a:alphaModFix/>
          </a:blip>
          <a:stretch>
            <a:fillRect/>
          </a:stretch>
        </p:blipFill>
        <p:spPr>
          <a:xfrm>
            <a:off x="2615949" y="2438274"/>
            <a:ext cx="6960124" cy="3639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latin typeface="Century Gothic"/>
                <a:ea typeface="Century Gothic"/>
                <a:cs typeface="Century Gothic"/>
                <a:sym typeface="Century Gothic"/>
              </a:rPr>
              <a:t>Start application writing</a:t>
            </a:r>
            <a:endParaRPr/>
          </a:p>
        </p:txBody>
      </p:sp>
      <p:sp>
        <p:nvSpPr>
          <p:cNvPr id="141" name="Google Shape;141;p6"/>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lang="en-US" sz="1400">
                <a:latin typeface="Century Gothic"/>
                <a:ea typeface="Century Gothic"/>
                <a:cs typeface="Century Gothic"/>
                <a:sym typeface="Century Gothic"/>
              </a:rPr>
              <a:t>CIG Team Members (</a:t>
            </a:r>
            <a:r>
              <a:rPr lang="en-US" sz="1400" u="sng">
                <a:solidFill>
                  <a:schemeClr val="hlink"/>
                </a:solidFill>
                <a:latin typeface="Century Gothic"/>
                <a:ea typeface="Century Gothic"/>
                <a:cs typeface="Century Gothic"/>
                <a:sym typeface="Century Gothic"/>
                <a:hlinkClick r:id="rId3"/>
              </a:rPr>
              <a:t>Excel sheet link</a:t>
            </a:r>
            <a:r>
              <a:rPr lang="en-US" sz="1400">
                <a:latin typeface="Century Gothic"/>
                <a:ea typeface="Century Gothic"/>
                <a:cs typeface="Century Gothic"/>
                <a:sym typeface="Century Gothic"/>
              </a:rPr>
              <a:t>)</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Write a summary of the ACTION (100-500 words)</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Prepare business plan (part B of CIG application,  max 6 pages)</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Filling the CIG application Part A and Part B </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Application form (Part A and B) for 2024-2025:</a:t>
            </a:r>
            <a:endParaRPr/>
          </a:p>
          <a:p>
            <a:pPr indent="-228600" lvl="0" marL="228600" rtl="0" algn="l">
              <a:lnSpc>
                <a:spcPct val="90000"/>
              </a:lnSpc>
              <a:spcBef>
                <a:spcPts val="1000"/>
              </a:spcBef>
              <a:spcAft>
                <a:spcPts val="0"/>
              </a:spcAft>
              <a:buClr>
                <a:schemeClr val="dk1"/>
              </a:buClr>
              <a:buSzPts val="1400"/>
              <a:buChar char="•"/>
            </a:pPr>
            <a:r>
              <a:rPr lang="en-US" sz="1400" u="sng">
                <a:solidFill>
                  <a:schemeClr val="hlink"/>
                </a:solidFill>
                <a:latin typeface="Century Gothic"/>
                <a:ea typeface="Century Gothic"/>
                <a:cs typeface="Century Gothic"/>
                <a:sym typeface="Century Gothic"/>
                <a:hlinkClick r:id="rId4"/>
              </a:rPr>
              <a:t>https://docs.google.com/document/d/1P2kLXN00AUoJwdFOUjmh3Oqgkwg9vxmR/edit?rtpof=true</a:t>
            </a:r>
            <a:r>
              <a:rPr lang="en-US" sz="1400">
                <a:latin typeface="Century Gothic"/>
                <a:ea typeface="Century Gothic"/>
                <a:cs typeface="Century Gothic"/>
                <a:sym typeface="Century Gothic"/>
              </a:rPr>
              <a:t> </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Send the application email to </a:t>
            </a:r>
            <a:r>
              <a:rPr lang="en-US" sz="1400" u="sng">
                <a:solidFill>
                  <a:schemeClr val="hlink"/>
                </a:solidFill>
                <a:latin typeface="Century Gothic"/>
                <a:ea typeface="Century Gothic"/>
                <a:cs typeface="Century Gothic"/>
                <a:sym typeface="Century Gothic"/>
                <a:hlinkClick r:id="rId5"/>
              </a:rPr>
              <a:t>CIG@cost.eu</a:t>
            </a:r>
            <a:r>
              <a:rPr lang="en-US" sz="1400">
                <a:latin typeface="Century Gothic"/>
                <a:ea typeface="Century Gothic"/>
                <a:cs typeface="Century Gothic"/>
                <a:sym typeface="Century Gothic"/>
              </a:rPr>
              <a:t>, by January 24th, 11 am, </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Reserve date for Hearings: 23th and 24th May 2024</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Wait for April 30, 2024</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Open questions</a:t>
            </a:r>
            <a:endParaRPr/>
          </a:p>
        </p:txBody>
      </p:sp>
      <p:sp>
        <p:nvSpPr>
          <p:cNvPr id="147" name="Google Shape;147;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1400"/>
              <a:buChar char="•"/>
            </a:pPr>
            <a:r>
              <a:rPr b="1" lang="en-US" sz="1400"/>
              <a:t>Does this topic have to be connected to the existing one?</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Guidelines quotes (p. 5, section 1: Introduction): “The COST Innovators Grant is a scheme designed for those ending COST Actions which demonstrate innovation potential.“</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FAQ quotes: “Can we include different innovations in various areas, in the same application? If this is possible, has the business plan to be presented for all the innovation presented, or only for the best one? </a:t>
            </a:r>
            <a:r>
              <a:rPr b="1" lang="en-US" sz="1400"/>
              <a:t>Yes, you can include different innovations in various areas in the CIG application and the business plan should address all of them</a:t>
            </a:r>
            <a:r>
              <a:rPr lang="en-US" sz="1400"/>
              <a:t>.”</a:t>
            </a:r>
            <a:endParaRPr/>
          </a:p>
          <a:p>
            <a:pPr indent="0" lvl="1" marL="457200" rtl="0" algn="l">
              <a:lnSpc>
                <a:spcPct val="90000"/>
              </a:lnSpc>
              <a:spcBef>
                <a:spcPts val="500"/>
              </a:spcBef>
              <a:spcAft>
                <a:spcPts val="0"/>
              </a:spcAft>
              <a:buClr>
                <a:schemeClr val="dk1"/>
              </a:buClr>
              <a:buSzPts val="1400"/>
              <a:buNone/>
            </a:pPr>
            <a:r>
              <a:t/>
            </a:r>
            <a:endParaRPr sz="1400"/>
          </a:p>
          <a:p>
            <a:pPr indent="-228600" lvl="0" marL="228600" rtl="0" algn="l">
              <a:lnSpc>
                <a:spcPct val="90000"/>
              </a:lnSpc>
              <a:spcBef>
                <a:spcPts val="1000"/>
              </a:spcBef>
              <a:spcAft>
                <a:spcPts val="0"/>
              </a:spcAft>
              <a:buClr>
                <a:schemeClr val="dk1"/>
              </a:buClr>
              <a:buSzPts val="1400"/>
              <a:buChar char="•"/>
            </a:pPr>
            <a:r>
              <a:rPr b="1" lang="en-US" sz="1400"/>
              <a:t>What is the definition of business plan? Do we need to attach a business plan?</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Glossary quote: “For the purposes of the CIG the following definition of Business Plan applies: </a:t>
            </a:r>
            <a:r>
              <a:rPr b="1" lang="en-US" sz="1400"/>
              <a:t>Business Plan means a written document that describes in detail how an innovation is going to reach the users. A business plan defines the overall strategy for bringing the innovation to the users and lays out an appropriate written plan from a marketing, advocacy, communication, or promotion</a:t>
            </a:r>
            <a:r>
              <a:rPr lang="en-US" sz="1400"/>
              <a:t>.”</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Guidelines say to refer to section 2.2.2.2. for the Business Plan, but this section is named “CIG APPLICATION - PART B” so is about Part B of application form</a:t>
            </a:r>
            <a:endParaRPr/>
          </a:p>
          <a:p>
            <a:pPr indent="-139700" lvl="0" marL="228600" rtl="0" algn="l">
              <a:lnSpc>
                <a:spcPct val="90000"/>
              </a:lnSpc>
              <a:spcBef>
                <a:spcPts val="1000"/>
              </a:spcBef>
              <a:spcAft>
                <a:spcPts val="0"/>
              </a:spcAft>
              <a:buClr>
                <a:schemeClr val="dk1"/>
              </a:buClr>
              <a:buSzPts val="1400"/>
              <a:buNone/>
            </a:pPr>
            <a:r>
              <a:t/>
            </a:r>
            <a:endParaRPr b="1" sz="1400"/>
          </a:p>
          <a:p>
            <a:pPr indent="0" lvl="0" marL="0" rtl="0" algn="l">
              <a:lnSpc>
                <a:spcPct val="90000"/>
              </a:lnSpc>
              <a:spcBef>
                <a:spcPts val="1000"/>
              </a:spcBef>
              <a:spcAft>
                <a:spcPts val="0"/>
              </a:spcAft>
              <a:buClr>
                <a:schemeClr val="dk1"/>
              </a:buClr>
              <a:buSzPts val="1400"/>
              <a:buNone/>
            </a:pPr>
            <a:r>
              <a:t/>
            </a:r>
            <a:endParaRPr b="1" sz="1400"/>
          </a:p>
          <a:p>
            <a:pPr indent="0" lvl="0" marL="0" rtl="0" algn="l">
              <a:lnSpc>
                <a:spcPct val="90000"/>
              </a:lnSpc>
              <a:spcBef>
                <a:spcPts val="1000"/>
              </a:spcBef>
              <a:spcAft>
                <a:spcPts val="0"/>
              </a:spcAft>
              <a:buClr>
                <a:schemeClr val="dk1"/>
              </a:buClr>
              <a:buSzPts val="1400"/>
              <a:buNone/>
            </a:pPr>
            <a:r>
              <a:t/>
            </a:r>
            <a:endParaRPr b="1" sz="1400"/>
          </a:p>
          <a:p>
            <a:pPr indent="-228600" lvl="0" marL="228600" rtl="0" algn="l">
              <a:lnSpc>
                <a:spcPct val="90000"/>
              </a:lnSpc>
              <a:spcBef>
                <a:spcPts val="1000"/>
              </a:spcBef>
              <a:spcAft>
                <a:spcPts val="0"/>
              </a:spcAft>
              <a:buClr>
                <a:schemeClr val="dk1"/>
              </a:buClr>
              <a:buSzPts val="1400"/>
              <a:buChar char="•"/>
            </a:pPr>
            <a:r>
              <a:rPr lang="en-US" sz="1400"/>
              <a:t>All enquiries concerning the COST Innovators Grant can be addressed to </a:t>
            </a:r>
            <a:r>
              <a:rPr lang="en-US" sz="1400" u="sng">
                <a:solidFill>
                  <a:schemeClr val="hlink"/>
                </a:solidFill>
                <a:hlinkClick r:id="rId3"/>
              </a:rPr>
              <a:t>CIG@cost.eu</a:t>
            </a:r>
            <a:endParaRPr b="1" sz="1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Open questions</a:t>
            </a:r>
            <a:endParaRPr/>
          </a:p>
        </p:txBody>
      </p:sp>
      <p:sp>
        <p:nvSpPr>
          <p:cNvPr id="153" name="Google Shape;153;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dk1"/>
              </a:buClr>
              <a:buSzPts val="1400"/>
              <a:buChar char="•"/>
            </a:pPr>
            <a:r>
              <a:rPr b="1" lang="en-US" sz="1400"/>
              <a:t>Can we just write 20 papers?</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No</a:t>
            </a:r>
            <a:endParaRPr/>
          </a:p>
          <a:p>
            <a:pPr indent="0" lvl="1" marL="457200" rtl="0" algn="l">
              <a:lnSpc>
                <a:spcPct val="90000"/>
              </a:lnSpc>
              <a:spcBef>
                <a:spcPts val="500"/>
              </a:spcBef>
              <a:spcAft>
                <a:spcPts val="0"/>
              </a:spcAft>
              <a:buClr>
                <a:schemeClr val="dk1"/>
              </a:buClr>
              <a:buSzPts val="1400"/>
              <a:buNone/>
            </a:pPr>
            <a:r>
              <a:t/>
            </a:r>
            <a:endParaRPr sz="1400"/>
          </a:p>
          <a:p>
            <a:pPr indent="-228600" lvl="0" marL="228600" rtl="0" algn="l">
              <a:lnSpc>
                <a:spcPct val="90000"/>
              </a:lnSpc>
              <a:spcBef>
                <a:spcPts val="1000"/>
              </a:spcBef>
              <a:spcAft>
                <a:spcPts val="0"/>
              </a:spcAft>
              <a:buClr>
                <a:schemeClr val="dk1"/>
              </a:buClr>
              <a:buSzPts val="1400"/>
              <a:buChar char="•"/>
            </a:pPr>
            <a:r>
              <a:rPr b="1" lang="en-US" sz="1400"/>
              <a:t>Can everyone be a team member? What about non-COST Countries?</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Quote from FAQ: “Is the CIG Team composed exclusively of MC members or can substitutes, Working Group (WG) members or even people outside of the Action also be in the CIG team? </a:t>
            </a:r>
            <a:r>
              <a:rPr b="1" lang="en-US" sz="1400"/>
              <a:t>The CIG Team can be composed of any researcher and innovator affiliated to a legal entity located in any COST Full or Cooperating Member regardless of their former contribution in the Action</a:t>
            </a:r>
            <a:r>
              <a:rPr lang="en-US" sz="1400"/>
              <a:t>. “</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Quote from FAQ: “Can CIG Team members be from the United Kingdom? Can partners be from UK? </a:t>
            </a:r>
            <a:r>
              <a:rPr b="1" lang="en-US" sz="1400"/>
              <a:t>CIG Team members and participants affiliated to an Institution in the UK can participate in CIGs and are eligible for reimbursements as described in the Annotated Rules for COST Actions (COST 094/21; https://www.cost.eu/Annotated_Rules_for_COST_Actions_C)</a:t>
            </a:r>
            <a:r>
              <a:rPr lang="en-US" sz="1400"/>
              <a:t>.”</a:t>
            </a:r>
            <a:endParaRPr/>
          </a:p>
          <a:p>
            <a:pPr indent="-139700" lvl="0" marL="228600" rtl="0" algn="l">
              <a:lnSpc>
                <a:spcPct val="90000"/>
              </a:lnSpc>
              <a:spcBef>
                <a:spcPts val="1000"/>
              </a:spcBef>
              <a:spcAft>
                <a:spcPts val="0"/>
              </a:spcAft>
              <a:buClr>
                <a:schemeClr val="dk1"/>
              </a:buClr>
              <a:buSzPts val="1400"/>
              <a:buNone/>
            </a:pPr>
            <a:r>
              <a:t/>
            </a:r>
            <a:endParaRPr b="1" sz="1400"/>
          </a:p>
          <a:p>
            <a:pPr indent="-139700" lvl="0" marL="228600" rtl="0" algn="l">
              <a:lnSpc>
                <a:spcPct val="90000"/>
              </a:lnSpc>
              <a:spcBef>
                <a:spcPts val="1000"/>
              </a:spcBef>
              <a:spcAft>
                <a:spcPts val="0"/>
              </a:spcAft>
              <a:buClr>
                <a:schemeClr val="dk1"/>
              </a:buClr>
              <a:buSzPts val="1400"/>
              <a:buNone/>
            </a:pPr>
            <a:r>
              <a:t/>
            </a:r>
            <a:endParaRPr b="1" sz="1400"/>
          </a:p>
          <a:p>
            <a:pPr indent="-139700" lvl="0" marL="228600" rtl="0" algn="l">
              <a:lnSpc>
                <a:spcPct val="90000"/>
              </a:lnSpc>
              <a:spcBef>
                <a:spcPts val="1000"/>
              </a:spcBef>
              <a:spcAft>
                <a:spcPts val="0"/>
              </a:spcAft>
              <a:buClr>
                <a:schemeClr val="dk1"/>
              </a:buClr>
              <a:buSzPts val="1400"/>
              <a:buNone/>
            </a:pPr>
            <a:r>
              <a:t/>
            </a:r>
            <a:endParaRPr b="1" sz="1400"/>
          </a:p>
          <a:p>
            <a:pPr indent="-139700" lvl="0" marL="228600" rtl="0" algn="l">
              <a:lnSpc>
                <a:spcPct val="90000"/>
              </a:lnSpc>
              <a:spcBef>
                <a:spcPts val="1000"/>
              </a:spcBef>
              <a:spcAft>
                <a:spcPts val="0"/>
              </a:spcAft>
              <a:buClr>
                <a:schemeClr val="dk1"/>
              </a:buClr>
              <a:buSzPts val="1400"/>
              <a:buNone/>
            </a:pPr>
            <a:r>
              <a:t/>
            </a:r>
            <a:endParaRPr b="1" sz="1400"/>
          </a:p>
          <a:p>
            <a:pPr indent="-139700" lvl="0" marL="228600" rtl="0" algn="l">
              <a:lnSpc>
                <a:spcPct val="90000"/>
              </a:lnSpc>
              <a:spcBef>
                <a:spcPts val="1000"/>
              </a:spcBef>
              <a:spcAft>
                <a:spcPts val="0"/>
              </a:spcAft>
              <a:buClr>
                <a:schemeClr val="dk1"/>
              </a:buClr>
              <a:buSzPts val="1400"/>
              <a:buNone/>
            </a:pPr>
            <a:r>
              <a:t/>
            </a:r>
            <a:endParaRPr b="1" sz="1400"/>
          </a:p>
          <a:p>
            <a:pPr indent="-228600" lvl="0" marL="228600" rtl="0" algn="l">
              <a:lnSpc>
                <a:spcPct val="90000"/>
              </a:lnSpc>
              <a:spcBef>
                <a:spcPts val="1000"/>
              </a:spcBef>
              <a:spcAft>
                <a:spcPts val="0"/>
              </a:spcAft>
              <a:buClr>
                <a:schemeClr val="dk1"/>
              </a:buClr>
              <a:buSzPts val="1400"/>
              <a:buChar char="•"/>
            </a:pPr>
            <a:r>
              <a:rPr lang="en-US" sz="1400"/>
              <a:t>All enquiries concerning the COST Innovators Grant can be addressed to </a:t>
            </a:r>
            <a:r>
              <a:rPr lang="en-US" sz="1400" u="sng">
                <a:solidFill>
                  <a:schemeClr val="hlink"/>
                </a:solidFill>
                <a:hlinkClick r:id="rId3"/>
              </a:rPr>
              <a:t>CIG@cost.eu</a:t>
            </a:r>
            <a:endParaRPr b="1" sz="1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Appendix</a:t>
            </a:r>
            <a:endParaRPr/>
          </a:p>
        </p:txBody>
      </p:sp>
      <p:sp>
        <p:nvSpPr>
          <p:cNvPr id="159" name="Google Shape;159;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Stylistic Requirements</a:t>
            </a:r>
            <a:endParaRPr/>
          </a:p>
        </p:txBody>
      </p:sp>
      <p:sp>
        <p:nvSpPr>
          <p:cNvPr id="166" name="Google Shape;166;p10"/>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t>Find writing style guide </a:t>
            </a:r>
            <a:r>
              <a:rPr b="1" lang="en-US" sz="1400" u="sng">
                <a:solidFill>
                  <a:schemeClr val="hlink"/>
                </a:solidFill>
                <a:hlinkClick r:id="rId3"/>
              </a:rPr>
              <a:t>here</a:t>
            </a:r>
            <a:r>
              <a:rPr b="1" lang="en-US" sz="1400"/>
              <a:t>, page 10, section 2.2.2.3.</a:t>
            </a:r>
            <a:endParaRPr/>
          </a:p>
          <a:p>
            <a:pPr indent="-228600" lvl="0" marL="228600" rtl="0" algn="l">
              <a:lnSpc>
                <a:spcPct val="90000"/>
              </a:lnSpc>
              <a:spcBef>
                <a:spcPts val="1000"/>
              </a:spcBef>
              <a:spcAft>
                <a:spcPts val="0"/>
              </a:spcAft>
              <a:buClr>
                <a:schemeClr val="dk1"/>
              </a:buClr>
              <a:buSzPts val="1400"/>
              <a:buChar char="•"/>
            </a:pPr>
            <a:r>
              <a:rPr lang="en-US" sz="1400"/>
              <a:t>Checking language and spelling, presenting the text in a logical way, avoiding unnecessary repetition between the different sections;</a:t>
            </a:r>
            <a:endParaRPr/>
          </a:p>
          <a:p>
            <a:pPr indent="-228600" lvl="0" marL="228600" rtl="0" algn="l">
              <a:lnSpc>
                <a:spcPct val="90000"/>
              </a:lnSpc>
              <a:spcBef>
                <a:spcPts val="1000"/>
              </a:spcBef>
              <a:spcAft>
                <a:spcPts val="0"/>
              </a:spcAft>
              <a:buClr>
                <a:schemeClr val="dk1"/>
              </a:buClr>
              <a:buSzPts val="1400"/>
              <a:buChar char="•"/>
            </a:pPr>
            <a:r>
              <a:rPr lang="en-US" sz="1400"/>
              <a:t>Use of capital letters for COST-specific and Action-related expressions and explaining all acronyms, including those commonly used in the Framework Programme context;</a:t>
            </a:r>
            <a:endParaRPr/>
          </a:p>
          <a:p>
            <a:pPr indent="-228600" lvl="0" marL="228600" rtl="0" algn="l">
              <a:lnSpc>
                <a:spcPct val="90000"/>
              </a:lnSpc>
              <a:spcBef>
                <a:spcPts val="1000"/>
              </a:spcBef>
              <a:spcAft>
                <a:spcPts val="0"/>
              </a:spcAft>
              <a:buClr>
                <a:schemeClr val="dk1"/>
              </a:buClr>
              <a:buSzPts val="1400"/>
              <a:buChar char="•"/>
            </a:pPr>
            <a:r>
              <a:rPr lang="en-US" sz="1400"/>
              <a:t>Use of "Europe" or "COST Member Countries" when referring to the overall geographical scope of COST. "European Union" or "EU Member States" should only be used to refer to the EU as a player ("EU legislation", "EU programmes", "EU policies" etc.) or when only EU Member State(s) need to be explicitly mentioned, excluding COST Members not being Member States of the EU;</a:t>
            </a:r>
            <a:endParaRPr/>
          </a:p>
          <a:p>
            <a:pPr indent="-228600" lvl="0" marL="228600" rtl="0" algn="l">
              <a:lnSpc>
                <a:spcPct val="90000"/>
              </a:lnSpc>
              <a:spcBef>
                <a:spcPts val="1000"/>
              </a:spcBef>
              <a:spcAft>
                <a:spcPts val="0"/>
              </a:spcAft>
              <a:buClr>
                <a:schemeClr val="dk1"/>
              </a:buClr>
              <a:buSzPts val="1400"/>
              <a:buChar char="•"/>
            </a:pPr>
            <a:r>
              <a:rPr lang="en-US" sz="1400"/>
              <a:t>Use of "framework" or "scheme" when referring to COST (COST is an intergovernmental framework, not an "EU instrument", although it is funded by the EU Framework Programme);</a:t>
            </a:r>
            <a:endParaRPr/>
          </a:p>
          <a:p>
            <a:pPr indent="-228600" lvl="0" marL="228600" rtl="0" algn="l">
              <a:lnSpc>
                <a:spcPct val="90000"/>
              </a:lnSpc>
              <a:spcBef>
                <a:spcPts val="1000"/>
              </a:spcBef>
              <a:spcAft>
                <a:spcPts val="0"/>
              </a:spcAft>
              <a:buClr>
                <a:schemeClr val="dk1"/>
              </a:buClr>
              <a:buSzPts val="1400"/>
              <a:buChar char="•"/>
            </a:pPr>
            <a:r>
              <a:rPr lang="en-US" sz="1400"/>
              <a:t>Avoiding pronouns such as “I”, “we”; rather use “the CIG”;</a:t>
            </a:r>
            <a:endParaRPr/>
          </a:p>
          <a:p>
            <a:pPr indent="-228600" lvl="0" marL="228600" rtl="0" algn="l">
              <a:lnSpc>
                <a:spcPct val="90000"/>
              </a:lnSpc>
              <a:spcBef>
                <a:spcPts val="1000"/>
              </a:spcBef>
              <a:spcAft>
                <a:spcPts val="0"/>
              </a:spcAft>
              <a:buClr>
                <a:schemeClr val="dk1"/>
              </a:buClr>
              <a:buSzPts val="1400"/>
              <a:buChar char="•"/>
            </a:pPr>
            <a:r>
              <a:rPr lang="en-US" sz="1400"/>
              <a:t>Avoiding expressions such as “planned” or “proposed” when referring to the CIG; rather use “aims at”, “will”, etc.;</a:t>
            </a:r>
            <a:endParaRPr/>
          </a:p>
          <a:p>
            <a:pPr indent="-228600" lvl="0" marL="228600" rtl="0" algn="l">
              <a:lnSpc>
                <a:spcPct val="90000"/>
              </a:lnSpc>
              <a:spcBef>
                <a:spcPts val="1000"/>
              </a:spcBef>
              <a:spcAft>
                <a:spcPts val="0"/>
              </a:spcAft>
              <a:buClr>
                <a:schemeClr val="dk1"/>
              </a:buClr>
              <a:buSzPts val="1400"/>
              <a:buChar char="•"/>
            </a:pPr>
            <a:r>
              <a:rPr lang="en-US" sz="1400"/>
              <a:t>Avoiding overstatements regarding the potential impact of the CIG.</a:t>
            </a:r>
            <a:endParaRPr/>
          </a:p>
          <a:p>
            <a:pPr indent="-228600" lvl="0" marL="228600" rtl="0" algn="l">
              <a:lnSpc>
                <a:spcPct val="90000"/>
              </a:lnSpc>
              <a:spcBef>
                <a:spcPts val="1000"/>
              </a:spcBef>
              <a:spcAft>
                <a:spcPts val="0"/>
              </a:spcAft>
              <a:buClr>
                <a:schemeClr val="dk1"/>
              </a:buClr>
              <a:buSzPts val="1400"/>
              <a:buChar char="•"/>
            </a:pPr>
            <a:r>
              <a:rPr lang="en-US" sz="1400"/>
              <a:t>Using of the “CIG application template” and the following COST standard style: Arial font, size 10, line spacing 1 - choose “Normal, Text” style option from the ribbon styles gallery, margins, line spacing, etc. Any application not fulfilling the aforementioned “CIG application template”, will be converted into the standard template by COST. In case of exceeding pages, these will not be provided to CIG Committee for evaluation.</a:t>
            </a:r>
            <a:endParaRPr/>
          </a:p>
          <a:p>
            <a:pPr indent="-228600" lvl="0" marL="228600" rtl="0" algn="l">
              <a:lnSpc>
                <a:spcPct val="90000"/>
              </a:lnSpc>
              <a:spcBef>
                <a:spcPts val="1000"/>
              </a:spcBef>
              <a:spcAft>
                <a:spcPts val="0"/>
              </a:spcAft>
              <a:buClr>
                <a:schemeClr val="dk1"/>
              </a:buClr>
              <a:buSzPts val="1400"/>
              <a:buChar char="•"/>
            </a:pPr>
            <a:r>
              <a:rPr lang="en-US" sz="1400"/>
              <a:t>No footnotes;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Application form content</a:t>
            </a:r>
            <a:endParaRPr/>
          </a:p>
        </p:txBody>
      </p:sp>
      <p:sp>
        <p:nvSpPr>
          <p:cNvPr id="173" name="Google Shape;173;p11"/>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b="1" lang="en-US" sz="1400"/>
              <a:t>See evaluation </a:t>
            </a:r>
            <a:r>
              <a:rPr b="1" lang="en-US" sz="1400" u="sng">
                <a:solidFill>
                  <a:schemeClr val="hlink"/>
                </a:solidFill>
                <a:hlinkClick r:id="rId3"/>
              </a:rPr>
              <a:t>guidelines</a:t>
            </a:r>
            <a:r>
              <a:rPr b="1" lang="en-US" sz="1400"/>
              <a:t> before filling the CIG application</a:t>
            </a:r>
            <a:endParaRPr/>
          </a:p>
          <a:p>
            <a:pPr indent="-228600" lvl="0" marL="228600" rtl="0" algn="l">
              <a:lnSpc>
                <a:spcPct val="90000"/>
              </a:lnSpc>
              <a:spcBef>
                <a:spcPts val="1000"/>
              </a:spcBef>
              <a:spcAft>
                <a:spcPts val="0"/>
              </a:spcAft>
              <a:buClr>
                <a:schemeClr val="dk1"/>
              </a:buClr>
              <a:buSzPts val="1400"/>
              <a:buChar char="•"/>
            </a:pPr>
            <a:r>
              <a:rPr b="1" lang="en-US" sz="1400"/>
              <a:t>CIG application Part A:</a:t>
            </a:r>
            <a:endParaRPr/>
          </a:p>
          <a:p>
            <a:pPr indent="-228600" lvl="1" marL="685800" rtl="0" algn="l">
              <a:lnSpc>
                <a:spcPct val="90000"/>
              </a:lnSpc>
              <a:spcBef>
                <a:spcPts val="500"/>
              </a:spcBef>
              <a:spcAft>
                <a:spcPts val="0"/>
              </a:spcAft>
              <a:buClr>
                <a:schemeClr val="dk1"/>
              </a:buClr>
              <a:buSzPts val="1400"/>
              <a:buChar char="•"/>
            </a:pPr>
            <a:r>
              <a:rPr lang="en-US" sz="1400"/>
              <a:t>Application title, application acronym, Code of COST Action, Submitter (must be Action Chair/ Vice Chair), Origin of CIG application in the Action, CIG Grant Holder, Summary (for publication if the application is approved, between 100 and 500 words), Composition of CIG Team.</a:t>
            </a:r>
            <a:endParaRPr/>
          </a:p>
          <a:p>
            <a:pPr indent="-228600" lvl="1" marL="685800" rtl="0" algn="l">
              <a:lnSpc>
                <a:spcPct val="90000"/>
              </a:lnSpc>
              <a:spcBef>
                <a:spcPts val="500"/>
              </a:spcBef>
              <a:spcAft>
                <a:spcPts val="0"/>
              </a:spcAft>
              <a:buClr>
                <a:schemeClr val="dk1"/>
              </a:buClr>
              <a:buSzPts val="1400"/>
              <a:buChar char="•"/>
            </a:pPr>
            <a:r>
              <a:rPr lang="en-US" sz="1400"/>
              <a:t>Name, email, institution, country of affiliation, role in the CIG, relevant expertise and expected contribution in the CIG for: CIG Chair, CIG Vice-Chair and CIG Team Members.</a:t>
            </a:r>
            <a:endParaRPr/>
          </a:p>
          <a:p>
            <a:pPr indent="-228600" lvl="0" marL="228600" rtl="0" algn="l">
              <a:lnSpc>
                <a:spcPct val="90000"/>
              </a:lnSpc>
              <a:spcBef>
                <a:spcPts val="1000"/>
              </a:spcBef>
              <a:spcAft>
                <a:spcPts val="0"/>
              </a:spcAft>
              <a:buClr>
                <a:schemeClr val="dk1"/>
              </a:buClr>
              <a:buSzPts val="1400"/>
              <a:buChar char="•"/>
            </a:pPr>
            <a:r>
              <a:rPr b="1" lang="en-US" sz="1400"/>
              <a:t>CIG application Part B (max. 6 pages) – the Business Plan:</a:t>
            </a:r>
            <a:endParaRPr/>
          </a:p>
          <a:p>
            <a:pPr indent="-228600" lvl="1" marL="685800" rtl="0" algn="l">
              <a:lnSpc>
                <a:spcPct val="90000"/>
              </a:lnSpc>
              <a:spcBef>
                <a:spcPts val="500"/>
              </a:spcBef>
              <a:spcAft>
                <a:spcPts val="0"/>
              </a:spcAft>
              <a:buClr>
                <a:schemeClr val="dk1"/>
              </a:buClr>
              <a:buSzPts val="1400"/>
              <a:buChar char="•"/>
            </a:pPr>
            <a:r>
              <a:rPr lang="en-US" sz="1400"/>
              <a:t>Innovation Potential: </a:t>
            </a:r>
            <a:endParaRPr/>
          </a:p>
          <a:p>
            <a:pPr indent="-228600" lvl="2" marL="1143000" rtl="0" algn="l">
              <a:lnSpc>
                <a:spcPct val="90000"/>
              </a:lnSpc>
              <a:spcBef>
                <a:spcPts val="500"/>
              </a:spcBef>
              <a:spcAft>
                <a:spcPts val="0"/>
              </a:spcAft>
              <a:buClr>
                <a:schemeClr val="dk1"/>
              </a:buClr>
              <a:buSzPts val="1400"/>
              <a:buChar char="•"/>
            </a:pPr>
            <a:r>
              <a:rPr lang="en-US" sz="1400"/>
              <a:t>What is the practical challenge and target group that you will address? </a:t>
            </a:r>
            <a:endParaRPr/>
          </a:p>
          <a:p>
            <a:pPr indent="-228600" lvl="2" marL="1143000" rtl="0" algn="l">
              <a:lnSpc>
                <a:spcPct val="90000"/>
              </a:lnSpc>
              <a:spcBef>
                <a:spcPts val="500"/>
              </a:spcBef>
              <a:spcAft>
                <a:spcPts val="0"/>
              </a:spcAft>
              <a:buClr>
                <a:schemeClr val="dk1"/>
              </a:buClr>
              <a:buSzPts val="1400"/>
              <a:buChar char="•"/>
            </a:pPr>
            <a:r>
              <a:rPr lang="en-US" sz="1400"/>
              <a:t>What is your proposed solution, what will be the main outcomes of the CIG? </a:t>
            </a:r>
            <a:endParaRPr/>
          </a:p>
          <a:p>
            <a:pPr indent="-228600" lvl="2" marL="1143000" rtl="0" algn="l">
              <a:lnSpc>
                <a:spcPct val="90000"/>
              </a:lnSpc>
              <a:spcBef>
                <a:spcPts val="500"/>
              </a:spcBef>
              <a:spcAft>
                <a:spcPts val="0"/>
              </a:spcAft>
              <a:buClr>
                <a:schemeClr val="dk1"/>
              </a:buClr>
              <a:buSzPts val="1400"/>
              <a:buChar char="•"/>
            </a:pPr>
            <a:r>
              <a:rPr lang="en-US" sz="1400"/>
              <a:t>Objectives of the CIG? </a:t>
            </a:r>
            <a:endParaRPr/>
          </a:p>
          <a:p>
            <a:pPr indent="-228600" lvl="2" marL="1143000" rtl="0" algn="l">
              <a:lnSpc>
                <a:spcPct val="90000"/>
              </a:lnSpc>
              <a:spcBef>
                <a:spcPts val="500"/>
              </a:spcBef>
              <a:spcAft>
                <a:spcPts val="0"/>
              </a:spcAft>
              <a:buClr>
                <a:schemeClr val="dk1"/>
              </a:buClr>
              <a:buSzPts val="1400"/>
              <a:buChar char="•"/>
            </a:pPr>
            <a:r>
              <a:rPr lang="en-US" sz="1400"/>
              <a:t>What is innovative about your solution?</a:t>
            </a:r>
            <a:endParaRPr/>
          </a:p>
          <a:p>
            <a:pPr indent="-228600" lvl="1" marL="685800" rtl="0" algn="l">
              <a:lnSpc>
                <a:spcPct val="90000"/>
              </a:lnSpc>
              <a:spcBef>
                <a:spcPts val="500"/>
              </a:spcBef>
              <a:spcAft>
                <a:spcPts val="0"/>
              </a:spcAft>
              <a:buClr>
                <a:schemeClr val="dk1"/>
              </a:buClr>
              <a:buSzPts val="1400"/>
              <a:buChar char="•"/>
            </a:pPr>
            <a:r>
              <a:rPr lang="en-US" sz="1400"/>
              <a:t>Expected impact: </a:t>
            </a:r>
            <a:endParaRPr/>
          </a:p>
          <a:p>
            <a:pPr indent="-228600" lvl="2" marL="1143000" rtl="0" algn="l">
              <a:lnSpc>
                <a:spcPct val="90000"/>
              </a:lnSpc>
              <a:spcBef>
                <a:spcPts val="500"/>
              </a:spcBef>
              <a:spcAft>
                <a:spcPts val="0"/>
              </a:spcAft>
              <a:buClr>
                <a:schemeClr val="dk1"/>
              </a:buClr>
              <a:buSzPts val="1400"/>
              <a:buChar char="•"/>
            </a:pPr>
            <a:r>
              <a:rPr lang="en-US" sz="1400"/>
              <a:t>Describe who and/or what will benefit, how, when and to which extent. </a:t>
            </a:r>
            <a:endParaRPr/>
          </a:p>
          <a:p>
            <a:pPr indent="-228600" lvl="2" marL="1143000" rtl="0" algn="l">
              <a:lnSpc>
                <a:spcPct val="90000"/>
              </a:lnSpc>
              <a:spcBef>
                <a:spcPts val="500"/>
              </a:spcBef>
              <a:spcAft>
                <a:spcPts val="0"/>
              </a:spcAft>
              <a:buClr>
                <a:schemeClr val="dk1"/>
              </a:buClr>
              <a:buSzPts val="1400"/>
              <a:buChar char="•"/>
            </a:pPr>
            <a:r>
              <a:rPr lang="en-US" sz="1400"/>
              <a:t>Plan for exploitation.</a:t>
            </a:r>
            <a:endParaRPr/>
          </a:p>
          <a:p>
            <a:pPr indent="-228600" lvl="1" marL="685800" rtl="0" algn="l">
              <a:lnSpc>
                <a:spcPct val="90000"/>
              </a:lnSpc>
              <a:spcBef>
                <a:spcPts val="500"/>
              </a:spcBef>
              <a:spcAft>
                <a:spcPts val="0"/>
              </a:spcAft>
              <a:buClr>
                <a:schemeClr val="dk1"/>
              </a:buClr>
              <a:buSzPts val="1400"/>
              <a:buChar char="•"/>
            </a:pPr>
            <a:r>
              <a:rPr lang="en-US" sz="1400"/>
              <a:t>Plan for Implementing the CIG</a:t>
            </a:r>
            <a:endParaRPr/>
          </a:p>
          <a:p>
            <a:pPr indent="-228600" lvl="2" marL="1143000" rtl="0" algn="l">
              <a:lnSpc>
                <a:spcPct val="90000"/>
              </a:lnSpc>
              <a:spcBef>
                <a:spcPts val="500"/>
              </a:spcBef>
              <a:spcAft>
                <a:spcPts val="0"/>
              </a:spcAft>
              <a:buClr>
                <a:schemeClr val="dk1"/>
              </a:buClr>
              <a:buSzPts val="1400"/>
              <a:buChar char="•"/>
            </a:pPr>
            <a:r>
              <a:rPr lang="en-US" sz="1400"/>
              <a:t>Work plan. </a:t>
            </a:r>
            <a:endParaRPr/>
          </a:p>
          <a:p>
            <a:pPr indent="-228600" lvl="2" marL="1143000" rtl="0" algn="l">
              <a:lnSpc>
                <a:spcPct val="90000"/>
              </a:lnSpc>
              <a:spcBef>
                <a:spcPts val="500"/>
              </a:spcBef>
              <a:spcAft>
                <a:spcPts val="0"/>
              </a:spcAft>
              <a:buClr>
                <a:schemeClr val="dk1"/>
              </a:buClr>
              <a:buSzPts val="1400"/>
              <a:buChar char="•"/>
            </a:pPr>
            <a:r>
              <a:rPr lang="en-US" sz="1400"/>
              <a:t>Intellectual property rights considerations.</a:t>
            </a:r>
            <a:endParaRPr/>
          </a:p>
          <a:p>
            <a:pPr indent="-114300" lvl="0" marL="228600" rtl="0" algn="l">
              <a:lnSpc>
                <a:spcPct val="90000"/>
              </a:lnSpc>
              <a:spcBef>
                <a:spcPts val="1000"/>
              </a:spcBef>
              <a:spcAft>
                <a:spcPts val="0"/>
              </a:spcAft>
              <a:buClr>
                <a:schemeClr val="dk1"/>
              </a:buClr>
              <a:buSzPts val="1800"/>
              <a:buNone/>
            </a:pPr>
            <a:r>
              <a:t/>
            </a:r>
            <a:endParaRPr sz="1800"/>
          </a:p>
          <a:p>
            <a:pPr indent="-101600" lvl="0" marL="228600" rtl="0" algn="l">
              <a:lnSpc>
                <a:spcPct val="90000"/>
              </a:lnSpc>
              <a:spcBef>
                <a:spcPts val="1000"/>
              </a:spcBef>
              <a:spcAft>
                <a:spcPts val="0"/>
              </a:spcAft>
              <a:buClr>
                <a:schemeClr val="dk1"/>
              </a:buClr>
              <a:buSzPts val="2000"/>
              <a:buNone/>
            </a:pPr>
            <a:r>
              <a:t/>
            </a:r>
            <a:endParaRPr b="1" sz="20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54B87C28FEFA4AAE092391D0079FE1" ma:contentTypeVersion="15" ma:contentTypeDescription="Crée un document." ma:contentTypeScope="" ma:versionID="e8a67af5a7778341a5c1ff2fb99b9b87">
  <xsd:schema xmlns:xsd="http://www.w3.org/2001/XMLSchema" xmlns:xs="http://www.w3.org/2001/XMLSchema" xmlns:p="http://schemas.microsoft.com/office/2006/metadata/properties" xmlns:ns2="421fce7b-b771-4f81-be52-15a33b1b6b95" xmlns:ns3="da5cdfc7-013d-46ce-9160-57d9aef5e595" targetNamespace="http://schemas.microsoft.com/office/2006/metadata/properties" ma:root="true" ma:fieldsID="3e7b7c105bfc366d4a65a365cb66a125" ns2:_="" ns3:_="">
    <xsd:import namespace="421fce7b-b771-4f81-be52-15a33b1b6b95"/>
    <xsd:import namespace="da5cdfc7-013d-46ce-9160-57d9aef5e59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1fce7b-b771-4f81-be52-15a33b1b6b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5762c749-3c58-4e44-b2b3-1d952cc78e7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a5cdfc7-013d-46ce-9160-57d9aef5e595"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fa1394f0-86dd-4812-9a49-c010ed93629d}" ma:internalName="TaxCatchAll" ma:showField="CatchAllData" ma:web="da5cdfc7-013d-46ce-9160-57d9aef5e5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21fce7b-b771-4f81-be52-15a33b1b6b95">
      <Terms xmlns="http://schemas.microsoft.com/office/infopath/2007/PartnerControls"/>
    </lcf76f155ced4ddcb4097134ff3c332f>
    <TaxCatchAll xmlns="da5cdfc7-013d-46ce-9160-57d9aef5e595" xsi:nil="true"/>
  </documentManagement>
</p:properties>
</file>

<file path=customXml/itemProps1.xml><?xml version="1.0" encoding="utf-8"?>
<ds:datastoreItem xmlns:ds="http://schemas.openxmlformats.org/officeDocument/2006/customXml" ds:itemID="{1123CBCC-96C2-4CE6-8929-EF5742271BDD}"/>
</file>

<file path=customXml/itemProps2.xml><?xml version="1.0" encoding="utf-8"?>
<ds:datastoreItem xmlns:ds="http://schemas.openxmlformats.org/officeDocument/2006/customXml" ds:itemID="{CB8BA262-215A-4F12-B06E-C6CADB420634}"/>
</file>

<file path=customXml/itemProps3.xml><?xml version="1.0" encoding="utf-8"?>
<ds:datastoreItem xmlns:ds="http://schemas.openxmlformats.org/officeDocument/2006/customXml" ds:itemID="{C5E0C5AF-12CE-444A-A8AF-4EE1A481CF45}"/>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Osterrieder, Jörg</dc:creator>
  <dcterms:created xsi:type="dcterms:W3CDTF">2023-08-05T16:07:15Z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0x0101006C54B87C28FEFA4AAE092391D0079FE1</vt:lpwstr>
  </property>
  <property fmtid="{D5CDD505-2E9C-101B-9397-08002B2CF9AE}" pid="3" name="MediaServiceImageTags">
    <vt:lpwstr/>
  </property>
</Properties>
</file>