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Century Gothic"/>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HHmhWeOJkmJNA5SVqM3ayknY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B8EA18-4D8A-4463-92B0-A9EBDC0296AE}">
  <a:tblStyle styleId="{9FB8EA18-4D8A-4463-92B0-A9EBDC0296A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CenturyGothic-boldItalic.fntdata"/><Relationship Id="rId8" Type="http://schemas.openxmlformats.org/officeDocument/2006/relationships/slide" Target="slides/slide3.xml"/><Relationship Id="rId3" Type="http://schemas.openxmlformats.org/officeDocument/2006/relationships/tableStyles" Target="tableStyles.xml"/><Relationship Id="rId21" Type="http://schemas.openxmlformats.org/officeDocument/2006/relationships/customXml" Target="../customXml/item2.xml"/><Relationship Id="rId12" Type="http://schemas.openxmlformats.org/officeDocument/2006/relationships/slide" Target="slides/slide7.xml"/><Relationship Id="rId17" Type="http://schemas.openxmlformats.org/officeDocument/2006/relationships/font" Target="fonts/CenturyGothic-italic.fntdata"/><Relationship Id="rId7" Type="http://schemas.openxmlformats.org/officeDocument/2006/relationships/slide" Target="slides/slide2.xml"/><Relationship Id="rId2" Type="http://schemas.openxmlformats.org/officeDocument/2006/relationships/presProps" Target="presProps.xml"/><Relationship Id="rId16" Type="http://schemas.openxmlformats.org/officeDocument/2006/relationships/font" Target="fonts/CenturyGothic-bold.fntdata"/><Relationship Id="rId20" Type="http://schemas.openxmlformats.org/officeDocument/2006/relationships/customXml" Target="../customXml/item1.xml"/><Relationship Id="rId11" Type="http://schemas.openxmlformats.org/officeDocument/2006/relationships/slide" Target="slides/slide6.xml"/><Relationship Id="rId1" Type="http://schemas.openxmlformats.org/officeDocument/2006/relationships/theme" Target="theme/theme1.xml"/><Relationship Id="rId6" Type="http://schemas.openxmlformats.org/officeDocument/2006/relationships/slide" Target="slides/slide1.xml"/><Relationship Id="rId15" Type="http://schemas.openxmlformats.org/officeDocument/2006/relationships/font" Target="fonts/CenturyGothic-regular.fntdata"/><Relationship Id="rId5" Type="http://schemas.openxmlformats.org/officeDocument/2006/relationships/notesMaster" Target="notesMasters/notesMaster1.xml"/><Relationship Id="rId10" Type="http://schemas.openxmlformats.org/officeDocument/2006/relationships/slide" Target="slides/slide5.xml"/><Relationship Id="rId19"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68e2429f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a68e2429f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2a68e2429f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68e24341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2a68e24341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2a68e24341e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spreadsheets/d/1SiArmTypGwmyUNSih7gQuWCegJ6pUZZfZfznp1ze68w/edit#gid=0" TargetMode="External"/><Relationship Id="rId5" Type="http://schemas.openxmlformats.org/officeDocument/2006/relationships/hyperlink" Target="https://www.cost.eu/uploads/2021/10/Annex-II-level-A-Glossary-REVISION.pdf" TargetMode="External"/><Relationship Id="rId6" Type="http://schemas.openxmlformats.org/officeDocument/2006/relationships/hyperlink" Target="https://www.cost.eu/funding/documents-guidel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cost.eu/five-new-cost-innovators-grants-2023/"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cost.eu/uploads/2022/12/COST-CIG-Guidelines-105-21-2023-2024.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p:nvPr>
            <p:ph idx="1" type="subTitle"/>
          </p:nvPr>
        </p:nvSpPr>
        <p:spPr>
          <a:xfrm>
            <a:off x="1524000" y="3602038"/>
            <a:ext cx="9144000" cy="2646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Century Gothic"/>
                <a:ea typeface="Century Gothic"/>
                <a:cs typeface="Century Gothic"/>
                <a:sym typeface="Century Gothic"/>
              </a:rPr>
              <a:t>Admin details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24th January 2024, at 11:00 (CET).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 23th and 24th May 2024 in Brussels.</a:t>
            </a:r>
            <a:endParaRPr>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Decision: End of April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CIG team needs to be specified beforehand and cannot be changed afterwards, relevant expertise and expected contribution need to be given per team member: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latin typeface="Century Gothic"/>
                <a:ea typeface="Century Gothic"/>
                <a:cs typeface="Century Gothic"/>
                <a:sym typeface="Century Gothic"/>
                <a:hlinkClick r:id="rId5"/>
              </a:rPr>
              <a:t>https://www.cost.eu/uploads/2021/10/Annex-II-level-A-Glossary-REVISION.pdf</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indent="0" lvl="0" marL="0" rtl="0" algn="l">
              <a:lnSpc>
                <a:spcPct val="90000"/>
              </a:lnSpc>
              <a:spcBef>
                <a:spcPts val="1000"/>
              </a:spcBef>
              <a:spcAft>
                <a:spcPts val="0"/>
              </a:spcAft>
              <a:buClr>
                <a:schemeClr val="dk1"/>
              </a:buClr>
              <a:buSzPts val="1400"/>
              <a:buNone/>
            </a:pPr>
            <a:r>
              <a:rPr b="1" lang="en-US" sz="1400">
                <a:latin typeface="Century Gothic"/>
                <a:ea typeface="Century Gothic"/>
                <a:cs typeface="Century Gothic"/>
                <a:sym typeface="Century Gothic"/>
              </a:rPr>
              <a:t>Content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Action overview (code, name, origin, team members, roles, etc.)</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Summary (for publication if the application is approved, between 100 and 500 words)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Business Plan (6 pages)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From application to implementation</a:t>
            </a:r>
            <a:endParaRPr/>
          </a:p>
          <a:p>
            <a:pPr indent="-228600" lvl="0" marL="228600" rtl="0" algn="l">
              <a:lnSpc>
                <a:spcPct val="90000"/>
              </a:lnSpc>
              <a:spcBef>
                <a:spcPts val="1000"/>
              </a:spcBef>
              <a:spcAft>
                <a:spcPts val="0"/>
              </a:spcAft>
              <a:buClr>
                <a:schemeClr val="dk1"/>
              </a:buClr>
              <a:buSzPts val="1400"/>
              <a:buChar char="•"/>
            </a:pPr>
            <a:r>
              <a:rPr lang="en-US" sz="1400"/>
              <a:t>Start Date: November 1, 2024</a:t>
            </a:r>
            <a:endParaRPr/>
          </a:p>
          <a:p>
            <a:pPr indent="-228600" lvl="0" marL="228600" rtl="0" algn="l">
              <a:lnSpc>
                <a:spcPct val="90000"/>
              </a:lnSpc>
              <a:spcBef>
                <a:spcPts val="1000"/>
              </a:spcBef>
              <a:spcAft>
                <a:spcPts val="0"/>
              </a:spcAft>
              <a:buClr>
                <a:schemeClr val="dk1"/>
              </a:buClr>
              <a:buSzPts val="1400"/>
              <a:buChar char="•"/>
            </a:pPr>
            <a:r>
              <a:rPr lang="en-US" sz="1400"/>
              <a:t>Duration: 12 months</a:t>
            </a:r>
            <a:endParaRPr/>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A content:</a:t>
            </a:r>
            <a:endParaRPr/>
          </a:p>
          <a:p>
            <a:pPr indent="-228600" lvl="1" marL="685800" rtl="0" algn="l">
              <a:lnSpc>
                <a:spcPct val="90000"/>
              </a:lnSpc>
              <a:spcBef>
                <a:spcPts val="500"/>
              </a:spcBef>
              <a:spcAft>
                <a:spcPts val="0"/>
              </a:spcAft>
              <a:buClr>
                <a:schemeClr val="dk1"/>
              </a:buClr>
              <a:buSzPts val="1400"/>
              <a:buChar char="•"/>
            </a:pPr>
            <a:r>
              <a:rPr lang="en-US" sz="1400"/>
              <a:t>Application title</a:t>
            </a:r>
            <a:endParaRPr/>
          </a:p>
          <a:p>
            <a:pPr indent="-228600" lvl="1" marL="685800" rtl="0" algn="l">
              <a:lnSpc>
                <a:spcPct val="90000"/>
              </a:lnSpc>
              <a:spcBef>
                <a:spcPts val="500"/>
              </a:spcBef>
              <a:spcAft>
                <a:spcPts val="0"/>
              </a:spcAft>
              <a:buClr>
                <a:schemeClr val="dk1"/>
              </a:buClr>
              <a:buSzPts val="1400"/>
              <a:buChar char="•"/>
            </a:pPr>
            <a:r>
              <a:rPr lang="en-US" sz="1400"/>
              <a:t>Application acronym</a:t>
            </a:r>
            <a:endParaRPr/>
          </a:p>
          <a:p>
            <a:pPr indent="-228600" lvl="1" marL="685800" rtl="0" algn="l">
              <a:lnSpc>
                <a:spcPct val="90000"/>
              </a:lnSpc>
              <a:spcBef>
                <a:spcPts val="500"/>
              </a:spcBef>
              <a:spcAft>
                <a:spcPts val="0"/>
              </a:spcAft>
              <a:buClr>
                <a:schemeClr val="dk1"/>
              </a:buClr>
              <a:buSzPts val="1400"/>
              <a:buChar char="•"/>
            </a:pPr>
            <a:r>
              <a:rPr lang="en-US" sz="1400"/>
              <a:t>Code of COST Action, here is CA19130</a:t>
            </a:r>
            <a:endParaRPr/>
          </a:p>
          <a:p>
            <a:pPr indent="-228600" lvl="1" marL="685800" rtl="0" algn="l">
              <a:lnSpc>
                <a:spcPct val="90000"/>
              </a:lnSpc>
              <a:spcBef>
                <a:spcPts val="500"/>
              </a:spcBef>
              <a:spcAft>
                <a:spcPts val="0"/>
              </a:spcAft>
              <a:buClr>
                <a:schemeClr val="dk1"/>
              </a:buClr>
              <a:buSzPts val="1400"/>
              <a:buChar char="•"/>
            </a:pPr>
            <a:r>
              <a:rPr lang="en-US" sz="1400"/>
              <a:t>Submitter (must be Action Chair/ Vice Chair)</a:t>
            </a:r>
            <a:endParaRPr/>
          </a:p>
          <a:p>
            <a:pPr indent="-228600" lvl="1" marL="685800" rtl="0" algn="l">
              <a:lnSpc>
                <a:spcPct val="90000"/>
              </a:lnSpc>
              <a:spcBef>
                <a:spcPts val="500"/>
              </a:spcBef>
              <a:spcAft>
                <a:spcPts val="0"/>
              </a:spcAft>
              <a:buClr>
                <a:schemeClr val="dk1"/>
              </a:buClr>
              <a:buSzPts val="1400"/>
              <a:buChar char="•"/>
            </a:pPr>
            <a:r>
              <a:rPr lang="en-US" sz="1400"/>
              <a:t>Origin of CIG application in the Action</a:t>
            </a:r>
            <a:endParaRPr/>
          </a:p>
          <a:p>
            <a:pPr indent="-228600" lvl="1" marL="685800" rtl="0" algn="l">
              <a:lnSpc>
                <a:spcPct val="90000"/>
              </a:lnSpc>
              <a:spcBef>
                <a:spcPts val="500"/>
              </a:spcBef>
              <a:spcAft>
                <a:spcPts val="0"/>
              </a:spcAft>
              <a:buClr>
                <a:schemeClr val="dk1"/>
              </a:buClr>
              <a:buSzPts val="1400"/>
              <a:buChar char="•"/>
            </a:pPr>
            <a:r>
              <a:rPr lang="en-US" sz="1400"/>
              <a:t>CIG Grant Holder</a:t>
            </a:r>
            <a:endParaRPr/>
          </a:p>
          <a:p>
            <a:pPr indent="-228600" lvl="1" marL="685800" rtl="0" algn="l">
              <a:lnSpc>
                <a:spcPct val="90000"/>
              </a:lnSpc>
              <a:spcBef>
                <a:spcPts val="500"/>
              </a:spcBef>
              <a:spcAft>
                <a:spcPts val="0"/>
              </a:spcAft>
              <a:buClr>
                <a:schemeClr val="dk1"/>
              </a:buClr>
              <a:buSzPts val="1400"/>
              <a:buChar char="•"/>
            </a:pPr>
            <a:r>
              <a:rPr lang="en-US" sz="1400"/>
              <a:t>Summary (for publication if the application is approved, </a:t>
            </a:r>
            <a:r>
              <a:rPr b="1" lang="en-US" sz="1400"/>
              <a:t>between 100 and 500 words</a:t>
            </a:r>
            <a:r>
              <a:rPr lang="en-US" sz="1400"/>
              <a:t>)</a:t>
            </a:r>
            <a:endParaRPr/>
          </a:p>
          <a:p>
            <a:pPr indent="-228600" lvl="1" marL="685800" rtl="0" algn="l">
              <a:lnSpc>
                <a:spcPct val="90000"/>
              </a:lnSpc>
              <a:spcBef>
                <a:spcPts val="500"/>
              </a:spcBef>
              <a:spcAft>
                <a:spcPts val="0"/>
              </a:spcAft>
              <a:buClr>
                <a:schemeClr val="dk1"/>
              </a:buClr>
              <a:buSzPts val="1400"/>
              <a:buChar char="•"/>
            </a:pPr>
            <a:r>
              <a:rPr lang="en-US" sz="1400"/>
              <a:t>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Vice-Chair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B (max. 6 pages):</a:t>
            </a:r>
            <a:endParaRPr/>
          </a:p>
          <a:p>
            <a:pPr indent="-317500" lvl="0" marL="914400" rtl="0" algn="l">
              <a:lnSpc>
                <a:spcPct val="90000"/>
              </a:lnSpc>
              <a:spcBef>
                <a:spcPts val="0"/>
              </a:spcBef>
              <a:spcAft>
                <a:spcPts val="0"/>
              </a:spcAft>
              <a:buSzPts val="1400"/>
              <a:buAutoNum type="arabicPeriod"/>
            </a:pPr>
            <a:r>
              <a:rPr lang="en-US" sz="1400"/>
              <a:t>Innovation Potential (recommended 2 pages): </a:t>
            </a:r>
            <a:endParaRPr/>
          </a:p>
          <a:p>
            <a:pPr indent="457200" lvl="0" marL="457200" rtl="0" algn="l">
              <a:lnSpc>
                <a:spcPct val="90000"/>
              </a:lnSpc>
              <a:spcBef>
                <a:spcPts val="500"/>
              </a:spcBef>
              <a:spcAft>
                <a:spcPts val="0"/>
              </a:spcAft>
              <a:buSzPts val="2800"/>
              <a:buNone/>
            </a:pPr>
            <a:r>
              <a:rPr lang="en-US" sz="1400"/>
              <a:t>1.1. What is the practical challenge and target group that you will address? </a:t>
            </a:r>
            <a:endParaRPr/>
          </a:p>
          <a:p>
            <a:pPr indent="457200" lvl="0" marL="457200" rtl="0" algn="l">
              <a:lnSpc>
                <a:spcPct val="90000"/>
              </a:lnSpc>
              <a:spcBef>
                <a:spcPts val="500"/>
              </a:spcBef>
              <a:spcAft>
                <a:spcPts val="0"/>
              </a:spcAft>
              <a:buSzPts val="2800"/>
              <a:buNone/>
            </a:pPr>
            <a:r>
              <a:rPr lang="en-US" sz="1400"/>
              <a:t>1.2. What is your proposed solution, what will be the main outcomes of the CIG? </a:t>
            </a:r>
            <a:endParaRPr/>
          </a:p>
          <a:p>
            <a:pPr indent="457200" lvl="0" marL="457200" rtl="0" algn="l">
              <a:lnSpc>
                <a:spcPct val="90000"/>
              </a:lnSpc>
              <a:spcBef>
                <a:spcPts val="500"/>
              </a:spcBef>
              <a:spcAft>
                <a:spcPts val="0"/>
              </a:spcAft>
              <a:buSzPts val="2800"/>
              <a:buNone/>
            </a:pPr>
            <a:r>
              <a:rPr lang="en-US" sz="1400"/>
              <a:t>1.3. Objectives of the CIG? </a:t>
            </a:r>
            <a:endParaRPr/>
          </a:p>
          <a:p>
            <a:pPr indent="457200" lvl="0" marL="457200" rtl="0" algn="l">
              <a:lnSpc>
                <a:spcPct val="90000"/>
              </a:lnSpc>
              <a:spcBef>
                <a:spcPts val="500"/>
              </a:spcBef>
              <a:spcAft>
                <a:spcPts val="0"/>
              </a:spcAft>
              <a:buSzPts val="2800"/>
              <a:buNone/>
            </a:pPr>
            <a:r>
              <a:rPr lang="en-US" sz="1400"/>
              <a:t>1.4. What is innovative about your solution?</a:t>
            </a:r>
            <a:endParaRPr/>
          </a:p>
          <a:p>
            <a:pPr indent="-317500" lvl="0" marL="914400" rtl="0" algn="l">
              <a:lnSpc>
                <a:spcPct val="90000"/>
              </a:lnSpc>
              <a:spcBef>
                <a:spcPts val="500"/>
              </a:spcBef>
              <a:spcAft>
                <a:spcPts val="0"/>
              </a:spcAft>
              <a:buSzPts val="1400"/>
              <a:buAutoNum type="arabicPeriod"/>
            </a:pPr>
            <a:r>
              <a:rPr lang="en-US" sz="1400"/>
              <a:t>Expected impact (recommended 2 pages): </a:t>
            </a:r>
            <a:endParaRPr/>
          </a:p>
          <a:p>
            <a:pPr indent="457200" lvl="0" marL="457200" rtl="0" algn="l">
              <a:lnSpc>
                <a:spcPct val="90000"/>
              </a:lnSpc>
              <a:spcBef>
                <a:spcPts val="500"/>
              </a:spcBef>
              <a:spcAft>
                <a:spcPts val="0"/>
              </a:spcAft>
              <a:buSzPts val="2800"/>
              <a:buNone/>
            </a:pPr>
            <a:r>
              <a:rPr lang="en-US" sz="1400"/>
              <a:t>2.1. Describe who and/or what will benefit, how, when and to which extent. </a:t>
            </a:r>
            <a:endParaRPr/>
          </a:p>
          <a:p>
            <a:pPr indent="457200" lvl="0" marL="457200" rtl="0" algn="l">
              <a:lnSpc>
                <a:spcPct val="90000"/>
              </a:lnSpc>
              <a:spcBef>
                <a:spcPts val="500"/>
              </a:spcBef>
              <a:spcAft>
                <a:spcPts val="0"/>
              </a:spcAft>
              <a:buSzPts val="2800"/>
              <a:buNone/>
            </a:pPr>
            <a:r>
              <a:rPr lang="en-US" sz="1400"/>
              <a:t>2.2. Plan for exploitation.</a:t>
            </a:r>
            <a:endParaRPr/>
          </a:p>
          <a:p>
            <a:pPr indent="-317500" lvl="0" marL="914400" rtl="0" algn="l">
              <a:lnSpc>
                <a:spcPct val="90000"/>
              </a:lnSpc>
              <a:spcBef>
                <a:spcPts val="500"/>
              </a:spcBef>
              <a:spcAft>
                <a:spcPts val="0"/>
              </a:spcAft>
              <a:buSzPts val="1400"/>
              <a:buAutoNum type="arabicPeriod"/>
            </a:pPr>
            <a:r>
              <a:rPr lang="en-US" sz="1400"/>
              <a:t>Plan for Implementing the CIG (recommended 2 pages)</a:t>
            </a:r>
            <a:endParaRPr/>
          </a:p>
          <a:p>
            <a:pPr indent="457200" lvl="0" marL="457200" rtl="0" algn="l">
              <a:lnSpc>
                <a:spcPct val="90000"/>
              </a:lnSpc>
              <a:spcBef>
                <a:spcPts val="500"/>
              </a:spcBef>
              <a:spcAft>
                <a:spcPts val="0"/>
              </a:spcAft>
              <a:buSzPts val="2800"/>
              <a:buNone/>
            </a:pPr>
            <a:r>
              <a:rPr lang="en-US" sz="1400"/>
              <a:t>3.1. Work plan. </a:t>
            </a:r>
            <a:endParaRPr/>
          </a:p>
          <a:p>
            <a:pPr indent="457200" lvl="0" marL="457200" rtl="0" algn="l">
              <a:lnSpc>
                <a:spcPct val="90000"/>
              </a:lnSpc>
              <a:spcBef>
                <a:spcPts val="500"/>
              </a:spcBef>
              <a:spcAft>
                <a:spcPts val="0"/>
              </a:spcAft>
              <a:buSzPts val="2800"/>
              <a:buNone/>
            </a:pPr>
            <a:r>
              <a:rPr lang="en-US" sz="1400"/>
              <a:t>3.2. Intellectual property rights considerations.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68e2429f2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p:nvPr>
            <p:ph idx="1" type="body"/>
          </p:nvPr>
        </p:nvSpPr>
        <p:spPr>
          <a:xfrm>
            <a:off x="838200" y="1803400"/>
            <a:ext cx="10515600" cy="4689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SzPts val="2800"/>
              <a:buNone/>
            </a:pPr>
            <a:r>
              <a:rPr b="1" lang="en-US" sz="1400"/>
              <a:t>1. INNOVATION POTENTIAL</a:t>
            </a:r>
            <a:endParaRPr b="1" sz="1400"/>
          </a:p>
          <a:p>
            <a:pPr indent="0" lvl="0" marL="457200" marR="0" rtl="0" algn="l">
              <a:lnSpc>
                <a:spcPct val="90000"/>
              </a:lnSpc>
              <a:spcBef>
                <a:spcPts val="1000"/>
              </a:spcBef>
              <a:spcAft>
                <a:spcPts val="0"/>
              </a:spcAft>
              <a:buSzPts val="2800"/>
              <a:buNone/>
            </a:pPr>
            <a:r>
              <a:rPr lang="en-US" sz="1300"/>
              <a:t>Q1: To what extent does the application describe an innovation challenge, problem or need that is real, relevant, and timely?</a:t>
            </a:r>
            <a:endParaRPr sz="1300"/>
          </a:p>
          <a:p>
            <a:pPr indent="0" lvl="0" marL="457200" marR="0" rtl="0" algn="l">
              <a:lnSpc>
                <a:spcPct val="90000"/>
              </a:lnSpc>
              <a:spcBef>
                <a:spcPts val="1000"/>
              </a:spcBef>
              <a:spcAft>
                <a:spcPts val="0"/>
              </a:spcAft>
              <a:buSzPts val="2800"/>
              <a:buNone/>
            </a:pPr>
            <a:r>
              <a:rPr lang="en-US" sz="1300"/>
              <a:t>Q2: To what extent is the proposed solution innovative, feasible, and adequate in addressing the problem or need described above?</a:t>
            </a:r>
            <a:endParaRPr sz="1300"/>
          </a:p>
          <a:p>
            <a:pPr indent="0" lvl="0" marL="0" marR="0" rtl="0" algn="l">
              <a:lnSpc>
                <a:spcPct val="90000"/>
              </a:lnSpc>
              <a:spcBef>
                <a:spcPts val="1000"/>
              </a:spcBef>
              <a:spcAft>
                <a:spcPts val="0"/>
              </a:spcAft>
              <a:buSzPts val="2800"/>
              <a:buNone/>
            </a:pPr>
            <a:r>
              <a:rPr b="1" lang="en-US" sz="1400"/>
              <a:t>2. EXPECTED IMPACT</a:t>
            </a:r>
            <a:endParaRPr b="1" sz="1400"/>
          </a:p>
          <a:p>
            <a:pPr indent="0" lvl="0" marL="457200" marR="0" rtl="0" algn="l">
              <a:lnSpc>
                <a:spcPct val="90000"/>
              </a:lnSpc>
              <a:spcBef>
                <a:spcPts val="1000"/>
              </a:spcBef>
              <a:spcAft>
                <a:spcPts val="0"/>
              </a:spcAft>
              <a:buSzPts val="2800"/>
              <a:buNone/>
            </a:pPr>
            <a:r>
              <a:rPr lang="en-US" sz="1300"/>
              <a:t>Q3: To what extent does the application describe expected impacts that are both significant and credible (realistic)?</a:t>
            </a:r>
            <a:endParaRPr sz="1300"/>
          </a:p>
          <a:p>
            <a:pPr indent="0" lvl="0" marL="457200" marR="0" rtl="0" algn="l">
              <a:lnSpc>
                <a:spcPct val="90000"/>
              </a:lnSpc>
              <a:spcBef>
                <a:spcPts val="1000"/>
              </a:spcBef>
              <a:spcAft>
                <a:spcPts val="0"/>
              </a:spcAft>
              <a:buSzPts val="2800"/>
              <a:buNone/>
            </a:pPr>
            <a:r>
              <a:rPr lang="en-US" sz="1300"/>
              <a:t>Q4: To what extent is the plan for exploitation both realistic and adequate?</a:t>
            </a:r>
            <a:endParaRPr sz="1300"/>
          </a:p>
          <a:p>
            <a:pPr indent="0" lvl="0" marL="0" marR="0" rtl="0" algn="l">
              <a:lnSpc>
                <a:spcPct val="90000"/>
              </a:lnSpc>
              <a:spcBef>
                <a:spcPts val="1000"/>
              </a:spcBef>
              <a:spcAft>
                <a:spcPts val="0"/>
              </a:spcAft>
              <a:buSzPts val="2800"/>
              <a:buNone/>
            </a:pPr>
            <a:r>
              <a:rPr b="1" lang="en-US" sz="1400"/>
              <a:t>3. PLAN FOR IMPLEMENTING THE CIG</a:t>
            </a:r>
            <a:endParaRPr b="1" sz="1400"/>
          </a:p>
          <a:p>
            <a:pPr indent="457200" lvl="0" marL="0" marR="0" rtl="0" algn="l">
              <a:lnSpc>
                <a:spcPct val="90000"/>
              </a:lnSpc>
              <a:spcBef>
                <a:spcPts val="1000"/>
              </a:spcBef>
              <a:spcAft>
                <a:spcPts val="0"/>
              </a:spcAft>
              <a:buSzPts val="2800"/>
              <a:buNone/>
            </a:pPr>
            <a:r>
              <a:rPr lang="en-US" sz="1300"/>
              <a:t>Q5: To what extent are the work plan and the team appropriate for achieving the stated objectives of the CIG?</a:t>
            </a:r>
            <a:endParaRPr sz="1300"/>
          </a:p>
          <a:p>
            <a:pPr indent="0" lvl="0" marL="63500" rtl="0" algn="l">
              <a:lnSpc>
                <a:spcPct val="115000"/>
              </a:lnSpc>
              <a:spcBef>
                <a:spcPts val="200"/>
              </a:spcBef>
              <a:spcAft>
                <a:spcPts val="0"/>
              </a:spcAft>
              <a:buSzPts val="2800"/>
              <a:buNone/>
            </a:pPr>
            <a:r>
              <a:t/>
            </a:r>
            <a:endParaRPr sz="1000">
              <a:solidFill>
                <a:srgbClr val="000000"/>
              </a:solidFill>
              <a:latin typeface="Arial"/>
              <a:ea typeface="Arial"/>
              <a:cs typeface="Arial"/>
              <a:sym typeface="Arial"/>
            </a:endParaRPr>
          </a:p>
          <a:p>
            <a:pPr indent="-101600" lvl="0" marL="228600" marR="0" rtl="0" algn="l">
              <a:lnSpc>
                <a:spcPct val="90000"/>
              </a:lnSpc>
              <a:spcBef>
                <a:spcPts val="1000"/>
              </a:spcBef>
              <a:spcAft>
                <a:spcPts val="0"/>
              </a:spcAft>
              <a:buClr>
                <a:schemeClr val="dk1"/>
              </a:buClr>
              <a:buSzPts val="2000"/>
              <a:buFont typeface="Arial"/>
              <a:buNone/>
            </a:pPr>
            <a:r>
              <a:t/>
            </a: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{9FB8EA18-4D8A-4463-92B0-A9EBDC0296AE}</a:tableStyleId>
              </a:tblPr>
              <a:tblGrid>
                <a:gridCol w="1895475"/>
                <a:gridCol w="1905000"/>
                <a:gridCol w="1990725"/>
              </a:tblGrid>
              <a:tr h="342900">
                <a:tc>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INNOVATION POTENTIAL</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270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EXPECTED IMPACT</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016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IMPLEMENTATION</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r>
              <a:tr h="561975">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3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gridSpan="3">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t>TOTAL MAXIMUM MARKS AWARDED = 15 points</a:t>
                      </a:r>
                      <a:endParaRPr b="1"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C3C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a68e24341e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33" name="Google Shape;133;g2a68e24341e_0_6"/>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https://www.cost.eu/five-new-cost-innovators-grants-2023/</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34" name="Google Shape;134;g2a68e24341e_0_6"/>
          <p:cNvPicPr preferRelativeResize="0"/>
          <p:nvPr/>
        </p:nvPicPr>
        <p:blipFill rotWithShape="1">
          <a:blip r:embed="rId4">
            <a:alphaModFix/>
          </a:blip>
          <a:srcRect b="0" l="0" r="0" t="0"/>
          <a:stretch/>
        </p:blipFill>
        <p:spPr>
          <a:xfrm>
            <a:off x="2615949" y="2438274"/>
            <a:ext cx="6960124" cy="363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Appendix</a:t>
            </a:r>
            <a:endParaRPr/>
          </a:p>
        </p:txBody>
      </p:sp>
      <p:sp>
        <p:nvSpPr>
          <p:cNvPr id="140" name="Google Shape;140;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Stylistic Requirements</a:t>
            </a:r>
            <a:endParaRPr/>
          </a:p>
        </p:txBody>
      </p:sp>
      <p:sp>
        <p:nvSpPr>
          <p:cNvPr id="147" name="Google Shape;147;p10"/>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Find writing style guide </a:t>
            </a:r>
            <a:r>
              <a:rPr b="1" lang="en-US" sz="1400" u="sng">
                <a:solidFill>
                  <a:schemeClr val="hlink"/>
                </a:solidFill>
                <a:hlinkClick r:id="rId3"/>
              </a:rPr>
              <a:t>here</a:t>
            </a:r>
            <a:r>
              <a:rPr b="1" lang="en-US" sz="1400"/>
              <a:t>, page 10, section 2.2.2.3.</a:t>
            </a:r>
            <a:endParaRPr/>
          </a:p>
          <a:p>
            <a:pPr indent="-228600" lvl="0" marL="228600" rtl="0" algn="l">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indent="-228600" lvl="0" marL="228600" rtl="0" algn="l">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indent="-228600" lvl="0" marL="228600" rtl="0" algn="l">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indent="-228600" lvl="0" marL="228600" rtl="0" algn="l">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indent="-228600" lvl="0" marL="228600" rtl="0" algn="l">
              <a:lnSpc>
                <a:spcPct val="90000"/>
              </a:lnSpc>
              <a:spcBef>
                <a:spcPts val="1000"/>
              </a:spcBef>
              <a:spcAft>
                <a:spcPts val="0"/>
              </a:spcAft>
              <a:buClr>
                <a:schemeClr val="dk1"/>
              </a:buClr>
              <a:buSzPts val="1400"/>
              <a:buChar char="•"/>
            </a:pPr>
            <a:r>
              <a:rPr lang="en-US" sz="1400"/>
              <a:t>Avoiding pronouns such as “I”, “we”; rather use “the CIG”;</a:t>
            </a:r>
            <a:endParaRPr/>
          </a:p>
          <a:p>
            <a:pPr indent="-228600" lvl="0" marL="228600" rtl="0" algn="l">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indent="-228600" lvl="0" marL="228600" rtl="0" algn="l">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indent="-228600" lvl="0" marL="228600" rtl="0" algn="l">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indent="-228600" lvl="0" marL="228600" rtl="0" algn="l">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6C54B87C28FEFA4AAE092391D0079FE1" ma:contentTypeVersion="15" ma:contentTypeDescription="Ein neues Dokument erstellen." ma:contentTypeScope="" ma:versionID="da42cae8d2939c3fefc615b99f38a5ce">
  <xsd:schema xmlns:xsd="http://www.w3.org/2001/XMLSchema" xmlns:xs="http://www.w3.org/2001/XMLSchema" xmlns:p="http://schemas.microsoft.com/office/2006/metadata/properties" xmlns:ns2="421fce7b-b771-4f81-be52-15a33b1b6b95" xmlns:ns3="da5cdfc7-013d-46ce-9160-57d9aef5e595" targetNamespace="http://schemas.microsoft.com/office/2006/metadata/properties" ma:root="true" ma:fieldsID="477aa56a77a37150309c309deb33ff66" ns2:_="" ns3:_="">
    <xsd:import namespace="421fce7b-b771-4f81-be52-15a33b1b6b95"/>
    <xsd:import namespace="da5cdfc7-013d-46ce-9160-57d9aef5e59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fce7b-b771-4f81-be52-15a33b1b6b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5762c749-3c58-4e44-b2b3-1d952cc78e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5cdfc7-013d-46ce-9160-57d9aef5e595"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element name="TaxCatchAll" ma:index="14" nillable="true" ma:displayName="Taxonomy Catch All Column" ma:hidden="true" ma:list="{fa1394f0-86dd-4812-9a49-c010ed93629d}" ma:internalName="TaxCatchAll" ma:showField="CatchAllData" ma:web="da5cdfc7-013d-46ce-9160-57d9aef5e5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21fce7b-b771-4f81-be52-15a33b1b6b95">
      <Terms xmlns="http://schemas.microsoft.com/office/infopath/2007/PartnerControls"/>
    </lcf76f155ced4ddcb4097134ff3c332f>
    <TaxCatchAll xmlns="da5cdfc7-013d-46ce-9160-57d9aef5e595" xsi:nil="true"/>
  </documentManagement>
</p:properties>
</file>

<file path=customXml/itemProps1.xml><?xml version="1.0" encoding="utf-8"?>
<ds:datastoreItem xmlns:ds="http://schemas.openxmlformats.org/officeDocument/2006/customXml" ds:itemID="{2BC7F2CF-806C-4FBD-BEAD-127FB32C0F5C}"/>
</file>

<file path=customXml/itemProps2.xml><?xml version="1.0" encoding="utf-8"?>
<ds:datastoreItem xmlns:ds="http://schemas.openxmlformats.org/officeDocument/2006/customXml" ds:itemID="{4B42A771-9813-426D-A9EF-07A5C614C1A1}"/>
</file>

<file path=customXml/itemProps3.xml><?xml version="1.0" encoding="utf-8"?>
<ds:datastoreItem xmlns:ds="http://schemas.openxmlformats.org/officeDocument/2006/customXml" ds:itemID="{128CBCB8-DAD2-4783-95C3-3657219AB391}"/>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Osterrieder, Jörg</dc:creator>
  <dcterms:created xsi:type="dcterms:W3CDTF">2023-08-05T16:07:15Z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