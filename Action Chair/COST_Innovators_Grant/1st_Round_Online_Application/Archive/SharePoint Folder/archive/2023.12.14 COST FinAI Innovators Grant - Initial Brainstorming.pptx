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3"/>
  </p:sldMasterIdLst>
  <p:notesMasterIdLst>
    <p:notesMasterId r:id="rId1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9144000"/>
  <p:embeddedFontLst>
    <p:embeddedFont>
      <p:font typeface="Century Gothic" panose="020B060402020202020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jQNQsSzwYfEEDY286ajFlD3uimG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0D3971-AC07-164C-BDB9-7466875CFEAA}" v="3" dt="2024-01-03T15:47:01.130"/>
  </p1510:revLst>
</p1510:revInfo>
</file>

<file path=ppt/tableStyles.xml><?xml version="1.0" encoding="utf-8"?>
<a:tblStyleLst xmlns:a="http://schemas.openxmlformats.org/drawingml/2006/main" def="{0D2BAA1A-4786-4506-ACAC-9E7CE9EBFE0B}">
  <a:tblStyle styleId="{0D2BAA1A-4786-4506-ACAC-9E7CE9EBFE0B}"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Master" Target="slideMasters/slideMaster1.xml"/><Relationship Id="rId21" Type="http://schemas.openxmlformats.org/officeDocument/2006/relationships/font" Target="fonts/font4.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font" Target="fonts/font3.fntdata"/><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customschemas.google.com/relationships/presentationmetadata" Target="metadata"/><Relationship Id="rId28" Type="http://schemas.microsoft.com/office/2016/11/relationships/changesInfo" Target="changesInfos/changesInfo1.xml"/><Relationship Id="rId10" Type="http://schemas.openxmlformats.org/officeDocument/2006/relationships/slide" Target="slides/slide7.xml"/><Relationship Id="rId19" Type="http://schemas.openxmlformats.org/officeDocument/2006/relationships/font" Target="fonts/font2.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ibi Gabin" userId="163c3ddc-3afa-49b5-8439-27c751c16697" providerId="ADAL" clId="{6A0D3971-AC07-164C-BDB9-7466875CFEAA}"/>
    <pc:docChg chg="custSel modSld">
      <pc:chgData name="Taibi Gabin" userId="163c3ddc-3afa-49b5-8439-27c751c16697" providerId="ADAL" clId="{6A0D3971-AC07-164C-BDB9-7466875CFEAA}" dt="2024-01-03T15:47:01.131" v="0" actId="27636"/>
      <pc:docMkLst>
        <pc:docMk/>
      </pc:docMkLst>
      <pc:sldChg chg="modSp mod">
        <pc:chgData name="Taibi Gabin" userId="163c3ddc-3afa-49b5-8439-27c751c16697" providerId="ADAL" clId="{6A0D3971-AC07-164C-BDB9-7466875CFEAA}" dt="2024-01-03T15:47:01.131" v="0" actId="27636"/>
        <pc:sldMkLst>
          <pc:docMk/>
          <pc:sldMk cId="0" sldId="265"/>
        </pc:sldMkLst>
        <pc:spChg chg="mod">
          <ac:chgData name="Taibi Gabin" userId="163c3ddc-3afa-49b5-8439-27c751c16697" providerId="ADAL" clId="{6A0D3971-AC07-164C-BDB9-7466875CFEAA}" dt="2024-01-03T15:47:01.131" v="0" actId="27636"/>
          <ac:spMkLst>
            <pc:docMk/>
            <pc:sldMk cId="0" sldId="265"/>
            <ac:spMk id="15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a68e2429f2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g2a68e2429f2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g2a68e2429f2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a68e24341e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g2a68e24341e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g2a68e24341e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 To be checked</a:t>
            </a:r>
            <a:endParaRPr/>
          </a:p>
        </p:txBody>
      </p:sp>
      <p:sp>
        <p:nvSpPr>
          <p:cNvPr id="138" name="Google Shape;13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Century Gothic"/>
                <a:ea typeface="Century Gothic"/>
                <a:cs typeface="Century Gothic"/>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marL="914400" lvl="1" indent="-3810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marL="1371600" lvl="2" indent="-355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marL="1828800" lvl="3" indent="-3429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marL="2286000" lvl="4" indent="-3429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latin typeface="Century Gothic"/>
                <a:ea typeface="Century Gothic"/>
                <a:cs typeface="Century Gothic"/>
                <a:sym typeface="Century Gothic"/>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marL="914400" lvl="1" indent="-3810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marL="1371600" lvl="2" indent="-355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marL="1828800" lvl="3" indent="-3429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marL="2286000" lvl="4" indent="-3429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marL="914400" lvl="1" indent="-3810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marL="1371600" lvl="2" indent="-355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marL="1828800" lvl="3" indent="-3429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marL="2286000" lvl="4" indent="-3429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Century Gothic"/>
                <a:ea typeface="Century Gothic"/>
                <a:cs typeface="Century Gothic"/>
                <a:sym typeface="Century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marL="914400" lvl="1" indent="-3810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marL="1371600" lvl="2" indent="-355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marL="1828800" lvl="3" indent="-3429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marL="2286000" lvl="4" indent="-3429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Century Gothic"/>
                <a:ea typeface="Century Gothic"/>
                <a:cs typeface="Century Gothic"/>
                <a:sym typeface="Century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marL="914400" lvl="1" indent="-3810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marL="1371600" lvl="2" indent="-355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marL="1828800" lvl="3" indent="-3429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marL="2286000" lvl="4" indent="-3429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1"/>
          <p:cNvSpPr>
            <a:spLocks noGrp="1"/>
          </p:cNvSpPr>
          <p:nvPr>
            <p:ph type="pic" idx="2"/>
          </p:nvPr>
        </p:nvSpPr>
        <p:spPr>
          <a:xfrm>
            <a:off x="5183188" y="987425"/>
            <a:ext cx="6172200" cy="4873625"/>
          </a:xfrm>
          <a:prstGeom prst="rect">
            <a:avLst/>
          </a:prstGeom>
          <a:noFill/>
          <a:ln>
            <a:noFill/>
          </a:ln>
        </p:spPr>
      </p:sp>
      <p:sp>
        <p:nvSpPr>
          <p:cNvPr id="68" name="Google Shape;68;p2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CIG@cost.eu?subject=COST%20Innovators%20Grant%20Application%20for%20Action%20CA1913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cost.eu/funding/documents-guidelines/" TargetMode="External"/><Relationship Id="rId5" Type="http://schemas.openxmlformats.org/officeDocument/2006/relationships/hyperlink" Target="https://www.cost.eu/uploads/2021/10/Annex-II-level-A-Glossary-REVISION.pdf" TargetMode="External"/><Relationship Id="rId4" Type="http://schemas.openxmlformats.org/officeDocument/2006/relationships/hyperlink" Target="https://docs.google.com/spreadsheets/d/1SiArmTypGwmyUNSih7gQuWCegJ6pUZZfZfznp1ze68w/edit#gid=0"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cost.eu/uploads/2022/12/COST-CIG-Guidelines-105-21-2023-2024.pdf"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www.cost.eu/innovators_grant_application" TargetMode="External"/><Relationship Id="rId4" Type="http://schemas.openxmlformats.org/officeDocument/2006/relationships/hyperlink" Target="https://docs.google.com/document/d/1P2kLXN00AUoJwdFOUjmh3Oqgkwg9vxmR/edit?rtpof=true"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cost.eu/uploads/2022/12/COST-CIG-Guidelines-105-21-2023-2024.pdf"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www.cost.eu/innovators_grant_application" TargetMode="External"/><Relationship Id="rId4" Type="http://schemas.openxmlformats.org/officeDocument/2006/relationships/hyperlink" Target="https://docs.google.com/document/d/1P2kLXN00AUoJwdFOUjmh3Oqgkwg9vxmR/edit?rtpof=true"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cost.eu/five-new-cost-innovators-grants-2023/"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hyperlink" Target="https://docs.google.com/spreadsheets/d/1SiArmTypGwmyUNSih7gQuWCegJ6pUZZfZfznp1ze68w/edit#gid=0"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mailto:CIG@cost.eu?subject=COST%20Innovators%20Grant%20Application%20for%20Action%20CA19130" TargetMode="External"/><Relationship Id="rId4" Type="http://schemas.openxmlformats.org/officeDocument/2006/relationships/hyperlink" Target="https://docs.google.com/document/d/1P2kLXN00AUoJwdFOUjmh3Oqgkwg9vxmR/edit?rtpof=true"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mailto:CIG@cost.eu?subject=CIG%20inquiry,%20FinAI%20CA19130:"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mailto:CIG@cost.eu?subject=CIG%20inquiry,%20FinAI%20CA19130:"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cost.eu/uploads/2022/12/COST-CIG-Guidelines-105-21-2023-2024.pdf"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cost.eu/uploads/2022/12/COST-CIG-Guidelines-105-21-2023-2024.pdf"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entury Gothic"/>
              <a:buNone/>
            </a:pPr>
            <a:r>
              <a:rPr lang="en-US"/>
              <a:t>COST CA19130 Fintech and AI in Finance</a:t>
            </a:r>
            <a:endParaRPr/>
          </a:p>
        </p:txBody>
      </p:sp>
      <p:sp>
        <p:nvSpPr>
          <p:cNvPr id="90" name="Google Shape;90;p1"/>
          <p:cNvSpPr txBox="1">
            <a:spLocks noGrp="1"/>
          </p:cNvSpPr>
          <p:nvPr>
            <p:ph type="subTitle" idx="1"/>
          </p:nvPr>
        </p:nvSpPr>
        <p:spPr>
          <a:xfrm>
            <a:off x="1524000" y="3602038"/>
            <a:ext cx="9144000" cy="26463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000"/>
              <a:buNone/>
            </a:pPr>
            <a:r>
              <a:rPr lang="en-US" sz="2000"/>
              <a:t>COST Innovators Grant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entury Gothic"/>
              <a:buNone/>
            </a:pPr>
            <a:r>
              <a:rPr lang="en-US" sz="4400"/>
              <a:t>Application Phase</a:t>
            </a:r>
            <a:endParaRPr/>
          </a:p>
        </p:txBody>
      </p:sp>
      <p:sp>
        <p:nvSpPr>
          <p:cNvPr id="97" name="Google Shape;97;p2"/>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400"/>
              <a:buNone/>
            </a:pPr>
            <a:r>
              <a:rPr lang="en-US" sz="1400" b="1">
                <a:latin typeface="Century Gothic"/>
                <a:ea typeface="Century Gothic"/>
                <a:cs typeface="Century Gothic"/>
                <a:sym typeface="Century Gothic"/>
              </a:rPr>
              <a:t>Admin details</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The deadline for the application is 24th January 2024, at 11:00 (CET).</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Hearings: 23th and 24th May 2024 in Brussels.</a:t>
            </a:r>
            <a:endParaRPr>
              <a:latin typeface="Century Gothic"/>
              <a:ea typeface="Century Gothic"/>
              <a:cs typeface="Century Gothic"/>
              <a:sym typeface="Century Gothic"/>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Decision: End of April 2024.</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Applications submitted by email to </a:t>
            </a:r>
            <a:r>
              <a:rPr lang="en-US" sz="1400" u="sng">
                <a:solidFill>
                  <a:schemeClr val="hlink"/>
                </a:solidFill>
                <a:latin typeface="Century Gothic"/>
                <a:ea typeface="Century Gothic"/>
                <a:cs typeface="Century Gothic"/>
                <a:sym typeface="Century Gothic"/>
                <a:hlinkClick r:id="rId3"/>
              </a:rPr>
              <a:t>CIG@cost.eu</a:t>
            </a:r>
            <a:r>
              <a:rPr lang="en-US" sz="1400">
                <a:latin typeface="Century Gothic"/>
                <a:ea typeface="Century Gothic"/>
                <a:cs typeface="Century Gothic"/>
                <a:sym typeface="Century Gothic"/>
              </a:rPr>
              <a:t> by Action Chair or Vice-Chair on behalf of the Management Committee.</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One submission allowed per COST Action, submission by the Chair takes precedence.</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CIG team needs to be specified beforehand and cannot be changed afterwards, relevant expertise and expected contribution need to be given per team member: </a:t>
            </a:r>
            <a:r>
              <a:rPr lang="en-US" sz="1400" u="sng">
                <a:solidFill>
                  <a:schemeClr val="hlink"/>
                </a:solidFill>
                <a:latin typeface="Century Gothic"/>
                <a:ea typeface="Century Gothic"/>
                <a:cs typeface="Century Gothic"/>
                <a:sym typeface="Century Gothic"/>
                <a:hlinkClick r:id="rId4"/>
              </a:rPr>
              <a:t>link to the excel team members</a:t>
            </a:r>
            <a:endParaRPr sz="1400">
              <a:latin typeface="Century Gothic"/>
              <a:ea typeface="Century Gothic"/>
              <a:cs typeface="Century Gothic"/>
              <a:sym typeface="Century Gothic"/>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Glossary: </a:t>
            </a:r>
            <a:r>
              <a:rPr lang="en-US" sz="1400" u="sng">
                <a:solidFill>
                  <a:schemeClr val="hlink"/>
                </a:solidFill>
                <a:latin typeface="Century Gothic"/>
                <a:ea typeface="Century Gothic"/>
                <a:cs typeface="Century Gothic"/>
                <a:sym typeface="Century Gothic"/>
                <a:hlinkClick r:id="rId5"/>
              </a:rPr>
              <a:t>https://www.cost.eu/uploads/2021/10/Annex-II-level-A-Glossary-REVISION.pdf</a:t>
            </a:r>
            <a:r>
              <a:rPr lang="en-US" sz="1400">
                <a:latin typeface="Century Gothic"/>
                <a:ea typeface="Century Gothic"/>
                <a:cs typeface="Century Gothic"/>
                <a:sym typeface="Century Gothic"/>
              </a:rPr>
              <a:t> </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Useful COST documents: </a:t>
            </a:r>
            <a:r>
              <a:rPr lang="en-US" sz="1400" u="sng">
                <a:solidFill>
                  <a:schemeClr val="hlink"/>
                </a:solidFill>
                <a:latin typeface="Century Gothic"/>
                <a:ea typeface="Century Gothic"/>
                <a:cs typeface="Century Gothic"/>
                <a:sym typeface="Century Gothic"/>
                <a:hlinkClick r:id="rId6"/>
              </a:rPr>
              <a:t>https://www.cost.eu/funding/documents-guidelines/</a:t>
            </a:r>
            <a:r>
              <a:rPr lang="en-US" sz="1400">
                <a:latin typeface="Century Gothic"/>
                <a:ea typeface="Century Gothic"/>
                <a:cs typeface="Century Gothic"/>
                <a:sym typeface="Century Gothic"/>
              </a:rPr>
              <a:t> </a:t>
            </a:r>
            <a:endParaRPr sz="1400"/>
          </a:p>
          <a:p>
            <a:pPr marL="0" lvl="0" indent="0" algn="l" rtl="0">
              <a:lnSpc>
                <a:spcPct val="90000"/>
              </a:lnSpc>
              <a:spcBef>
                <a:spcPts val="1000"/>
              </a:spcBef>
              <a:spcAft>
                <a:spcPts val="0"/>
              </a:spcAft>
              <a:buClr>
                <a:schemeClr val="dk1"/>
              </a:buClr>
              <a:buSzPts val="1400"/>
              <a:buNone/>
            </a:pPr>
            <a:r>
              <a:rPr lang="en-US" sz="1400" b="1">
                <a:latin typeface="Century Gothic"/>
                <a:ea typeface="Century Gothic"/>
                <a:cs typeface="Century Gothic"/>
                <a:sym typeface="Century Gothic"/>
              </a:rPr>
              <a:t>Content</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Action overview (code, name, origin, team members, roles, etc.)</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Summary (for publication if the application is approved, between 100 and 500 words)</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Business Plan (6 pages)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entury Gothic"/>
              <a:buNone/>
            </a:pPr>
            <a:r>
              <a:rPr lang="en-US"/>
              <a:t>Project Phase</a:t>
            </a:r>
            <a:endParaRPr/>
          </a:p>
        </p:txBody>
      </p:sp>
      <p:sp>
        <p:nvSpPr>
          <p:cNvPr id="104" name="Google Shape;104;p3"/>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400"/>
              <a:buNone/>
            </a:pPr>
            <a:r>
              <a:rPr lang="en-US" sz="1400" b="1"/>
              <a:t>From application to implementation</a:t>
            </a:r>
            <a:endParaRPr/>
          </a:p>
          <a:p>
            <a:pPr marL="228600" lvl="0" indent="-228600" algn="l" rtl="0">
              <a:lnSpc>
                <a:spcPct val="90000"/>
              </a:lnSpc>
              <a:spcBef>
                <a:spcPts val="1000"/>
              </a:spcBef>
              <a:spcAft>
                <a:spcPts val="0"/>
              </a:spcAft>
              <a:buClr>
                <a:schemeClr val="dk1"/>
              </a:buClr>
              <a:buSzPts val="1400"/>
              <a:buChar char="•"/>
            </a:pPr>
            <a:r>
              <a:rPr lang="en-US" sz="1400"/>
              <a:t>Start Date: November 1, 2024</a:t>
            </a:r>
            <a:endParaRPr/>
          </a:p>
          <a:p>
            <a:pPr marL="228600" lvl="0" indent="-228600" algn="l" rtl="0">
              <a:lnSpc>
                <a:spcPct val="90000"/>
              </a:lnSpc>
              <a:spcBef>
                <a:spcPts val="1000"/>
              </a:spcBef>
              <a:spcAft>
                <a:spcPts val="0"/>
              </a:spcAft>
              <a:buClr>
                <a:schemeClr val="dk1"/>
              </a:buClr>
              <a:buSzPts val="1400"/>
              <a:buChar char="•"/>
            </a:pPr>
            <a:r>
              <a:rPr lang="en-US" sz="1400"/>
              <a:t>Duration: 12 months</a:t>
            </a:r>
            <a:endParaRPr/>
          </a:p>
          <a:p>
            <a:pPr marL="228600" lvl="0" indent="-139700" algn="l" rtl="0">
              <a:lnSpc>
                <a:spcPct val="90000"/>
              </a:lnSpc>
              <a:spcBef>
                <a:spcPts val="1000"/>
              </a:spcBef>
              <a:spcAft>
                <a:spcPts val="0"/>
              </a:spcAft>
              <a:buClr>
                <a:schemeClr val="dk1"/>
              </a:buClr>
              <a:buSzPts val="1400"/>
              <a:buNone/>
            </a:pP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entury Gothic"/>
              <a:buNone/>
            </a:pPr>
            <a:r>
              <a:rPr lang="en-US"/>
              <a:t>Application Form – Part A</a:t>
            </a:r>
            <a:endParaRPr/>
          </a:p>
        </p:txBody>
      </p:sp>
      <p:sp>
        <p:nvSpPr>
          <p:cNvPr id="111" name="Google Shape;111;p4"/>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1400"/>
              <a:buChar char="•"/>
            </a:pPr>
            <a:r>
              <a:rPr lang="en-US" sz="1400" b="1" u="sng">
                <a:solidFill>
                  <a:schemeClr val="hlink"/>
                </a:solidFill>
                <a:hlinkClick r:id="rId3"/>
              </a:rPr>
              <a:t>Guidelines</a:t>
            </a:r>
            <a:endParaRPr sz="1400" b="1"/>
          </a:p>
          <a:p>
            <a:pPr marL="228600" lvl="0" indent="-228600" algn="l" rtl="0">
              <a:lnSpc>
                <a:spcPct val="90000"/>
              </a:lnSpc>
              <a:spcBef>
                <a:spcPts val="1000"/>
              </a:spcBef>
              <a:spcAft>
                <a:spcPts val="0"/>
              </a:spcAft>
              <a:buClr>
                <a:schemeClr val="dk1"/>
              </a:buClr>
              <a:buSzPts val="1400"/>
              <a:buChar char="•"/>
            </a:pPr>
            <a:r>
              <a:rPr lang="en-US" sz="1400" b="1"/>
              <a:t>Google drive application form </a:t>
            </a:r>
            <a:r>
              <a:rPr lang="en-US" sz="1400" b="1" u="sng">
                <a:solidFill>
                  <a:schemeClr val="hlink"/>
                </a:solidFill>
                <a:hlinkClick r:id="rId4"/>
              </a:rPr>
              <a:t>link</a:t>
            </a:r>
            <a:endParaRPr sz="1400" b="1"/>
          </a:p>
          <a:p>
            <a:pPr marL="228600" lvl="0" indent="-228600" algn="l" rtl="0">
              <a:lnSpc>
                <a:spcPct val="90000"/>
              </a:lnSpc>
              <a:spcBef>
                <a:spcPts val="1000"/>
              </a:spcBef>
              <a:spcAft>
                <a:spcPts val="0"/>
              </a:spcAft>
              <a:buClr>
                <a:schemeClr val="dk1"/>
              </a:buClr>
              <a:buSzPts val="1400"/>
              <a:buChar char="•"/>
            </a:pPr>
            <a:r>
              <a:rPr lang="en-US" sz="1400" b="1"/>
              <a:t>COST website application form </a:t>
            </a:r>
            <a:r>
              <a:rPr lang="en-US" sz="1400" b="1" u="sng">
                <a:solidFill>
                  <a:schemeClr val="hlink"/>
                </a:solidFill>
                <a:hlinkClick r:id="rId5"/>
              </a:rPr>
              <a:t>link</a:t>
            </a:r>
            <a:endParaRPr sz="1400" b="1"/>
          </a:p>
          <a:p>
            <a:pPr marL="228600" lvl="0" indent="-228600" algn="l" rtl="0">
              <a:lnSpc>
                <a:spcPct val="90000"/>
              </a:lnSpc>
              <a:spcBef>
                <a:spcPts val="1000"/>
              </a:spcBef>
              <a:spcAft>
                <a:spcPts val="0"/>
              </a:spcAft>
              <a:buClr>
                <a:schemeClr val="dk1"/>
              </a:buClr>
              <a:buSzPts val="1400"/>
              <a:buChar char="•"/>
            </a:pPr>
            <a:r>
              <a:rPr lang="en-US" sz="1400" b="1"/>
              <a:t>CIG application Part A content:</a:t>
            </a:r>
            <a:endParaRPr/>
          </a:p>
          <a:p>
            <a:pPr marL="685800" lvl="1" indent="-228600" algn="l" rtl="0">
              <a:lnSpc>
                <a:spcPct val="90000"/>
              </a:lnSpc>
              <a:spcBef>
                <a:spcPts val="500"/>
              </a:spcBef>
              <a:spcAft>
                <a:spcPts val="0"/>
              </a:spcAft>
              <a:buClr>
                <a:schemeClr val="dk1"/>
              </a:buClr>
              <a:buSzPts val="1400"/>
              <a:buChar char="•"/>
            </a:pPr>
            <a:r>
              <a:rPr lang="en-US" sz="1400"/>
              <a:t>Application title</a:t>
            </a:r>
            <a:endParaRPr/>
          </a:p>
          <a:p>
            <a:pPr marL="685800" lvl="1" indent="-228600" algn="l" rtl="0">
              <a:lnSpc>
                <a:spcPct val="90000"/>
              </a:lnSpc>
              <a:spcBef>
                <a:spcPts val="500"/>
              </a:spcBef>
              <a:spcAft>
                <a:spcPts val="0"/>
              </a:spcAft>
              <a:buClr>
                <a:schemeClr val="dk1"/>
              </a:buClr>
              <a:buSzPts val="1400"/>
              <a:buChar char="•"/>
            </a:pPr>
            <a:r>
              <a:rPr lang="en-US" sz="1400"/>
              <a:t>Application acronym</a:t>
            </a:r>
            <a:endParaRPr/>
          </a:p>
          <a:p>
            <a:pPr marL="685800" lvl="1" indent="-228600" algn="l" rtl="0">
              <a:lnSpc>
                <a:spcPct val="90000"/>
              </a:lnSpc>
              <a:spcBef>
                <a:spcPts val="500"/>
              </a:spcBef>
              <a:spcAft>
                <a:spcPts val="0"/>
              </a:spcAft>
              <a:buClr>
                <a:schemeClr val="dk1"/>
              </a:buClr>
              <a:buSzPts val="1400"/>
              <a:buChar char="•"/>
            </a:pPr>
            <a:r>
              <a:rPr lang="en-US" sz="1400"/>
              <a:t>Code of COST Action, here is CA19130</a:t>
            </a:r>
            <a:endParaRPr/>
          </a:p>
          <a:p>
            <a:pPr marL="685800" lvl="1" indent="-228600" algn="l" rtl="0">
              <a:lnSpc>
                <a:spcPct val="90000"/>
              </a:lnSpc>
              <a:spcBef>
                <a:spcPts val="500"/>
              </a:spcBef>
              <a:spcAft>
                <a:spcPts val="0"/>
              </a:spcAft>
              <a:buClr>
                <a:schemeClr val="dk1"/>
              </a:buClr>
              <a:buSzPts val="1400"/>
              <a:buChar char="•"/>
            </a:pPr>
            <a:r>
              <a:rPr lang="en-US" sz="1400"/>
              <a:t>Submitter (must be Action Chair/ Vice Chair)</a:t>
            </a:r>
            <a:endParaRPr/>
          </a:p>
          <a:p>
            <a:pPr marL="685800" lvl="1" indent="-228600" algn="l" rtl="0">
              <a:lnSpc>
                <a:spcPct val="90000"/>
              </a:lnSpc>
              <a:spcBef>
                <a:spcPts val="500"/>
              </a:spcBef>
              <a:spcAft>
                <a:spcPts val="0"/>
              </a:spcAft>
              <a:buClr>
                <a:schemeClr val="dk1"/>
              </a:buClr>
              <a:buSzPts val="1400"/>
              <a:buChar char="•"/>
            </a:pPr>
            <a:r>
              <a:rPr lang="en-US" sz="1400"/>
              <a:t>Origin of CIG application in the Action</a:t>
            </a:r>
            <a:endParaRPr/>
          </a:p>
          <a:p>
            <a:pPr marL="685800" lvl="1" indent="-228600" algn="l" rtl="0">
              <a:lnSpc>
                <a:spcPct val="90000"/>
              </a:lnSpc>
              <a:spcBef>
                <a:spcPts val="500"/>
              </a:spcBef>
              <a:spcAft>
                <a:spcPts val="0"/>
              </a:spcAft>
              <a:buClr>
                <a:schemeClr val="dk1"/>
              </a:buClr>
              <a:buSzPts val="1400"/>
              <a:buChar char="•"/>
            </a:pPr>
            <a:r>
              <a:rPr lang="en-US" sz="1400"/>
              <a:t>CIG Grant Holder</a:t>
            </a:r>
            <a:endParaRPr/>
          </a:p>
          <a:p>
            <a:pPr marL="685800" lvl="1" indent="-228600" algn="l" rtl="0">
              <a:lnSpc>
                <a:spcPct val="90000"/>
              </a:lnSpc>
              <a:spcBef>
                <a:spcPts val="500"/>
              </a:spcBef>
              <a:spcAft>
                <a:spcPts val="0"/>
              </a:spcAft>
              <a:buClr>
                <a:schemeClr val="dk1"/>
              </a:buClr>
              <a:buSzPts val="1400"/>
              <a:buChar char="•"/>
            </a:pPr>
            <a:r>
              <a:rPr lang="en-US" sz="1400"/>
              <a:t>Summary (for publication if the application is approved, </a:t>
            </a:r>
            <a:r>
              <a:rPr lang="en-US" sz="1400" b="1"/>
              <a:t>between 100 and 500 words</a:t>
            </a:r>
            <a:r>
              <a:rPr lang="en-US" sz="1400"/>
              <a:t>)</a:t>
            </a:r>
            <a:endParaRPr/>
          </a:p>
          <a:p>
            <a:pPr marL="685800" lvl="1" indent="-228600" algn="l" rtl="0">
              <a:lnSpc>
                <a:spcPct val="90000"/>
              </a:lnSpc>
              <a:spcBef>
                <a:spcPts val="500"/>
              </a:spcBef>
              <a:spcAft>
                <a:spcPts val="0"/>
              </a:spcAft>
              <a:buClr>
                <a:schemeClr val="dk1"/>
              </a:buClr>
              <a:buSzPts val="1400"/>
              <a:buChar char="•"/>
            </a:pPr>
            <a:r>
              <a:rPr lang="en-US" sz="1400"/>
              <a:t>Composition of CIG Team.</a:t>
            </a:r>
            <a:endParaRPr/>
          </a:p>
          <a:p>
            <a:pPr marL="685800" lvl="1" indent="-228600" algn="l" rtl="0">
              <a:lnSpc>
                <a:spcPct val="90000"/>
              </a:lnSpc>
              <a:spcBef>
                <a:spcPts val="500"/>
              </a:spcBef>
              <a:spcAft>
                <a:spcPts val="0"/>
              </a:spcAft>
              <a:buClr>
                <a:schemeClr val="dk1"/>
              </a:buClr>
              <a:buSzPts val="1400"/>
              <a:buChar char="•"/>
            </a:pPr>
            <a:r>
              <a:rPr lang="en-US" sz="1400"/>
              <a:t>Name, email, institution, country of affiliation, role in the CIG, relevant expertise and expected contribution in the CIG for: </a:t>
            </a:r>
            <a:endParaRPr/>
          </a:p>
          <a:p>
            <a:pPr marL="1143000" lvl="2" indent="-228600" algn="l" rtl="0">
              <a:lnSpc>
                <a:spcPct val="90000"/>
              </a:lnSpc>
              <a:spcBef>
                <a:spcPts val="500"/>
              </a:spcBef>
              <a:spcAft>
                <a:spcPts val="0"/>
              </a:spcAft>
              <a:buClr>
                <a:schemeClr val="dk1"/>
              </a:buClr>
              <a:buSzPts val="1400"/>
              <a:buFont typeface="Courier New"/>
              <a:buChar char="o"/>
            </a:pPr>
            <a:r>
              <a:rPr lang="en-US" sz="1400"/>
              <a:t>CIG Chair</a:t>
            </a:r>
            <a:endParaRPr/>
          </a:p>
          <a:p>
            <a:pPr marL="1143000" lvl="2" indent="-228600" algn="l" rtl="0">
              <a:lnSpc>
                <a:spcPct val="90000"/>
              </a:lnSpc>
              <a:spcBef>
                <a:spcPts val="500"/>
              </a:spcBef>
              <a:spcAft>
                <a:spcPts val="0"/>
              </a:spcAft>
              <a:buClr>
                <a:schemeClr val="dk1"/>
              </a:buClr>
              <a:buSzPts val="1400"/>
              <a:buFont typeface="Courier New"/>
              <a:buChar char="o"/>
            </a:pPr>
            <a:r>
              <a:rPr lang="en-US" sz="1400"/>
              <a:t>CIG Vice-Chair</a:t>
            </a:r>
            <a:endParaRPr/>
          </a:p>
          <a:p>
            <a:pPr marL="1143000" lvl="2" indent="-228600" algn="l" rtl="0">
              <a:lnSpc>
                <a:spcPct val="90000"/>
              </a:lnSpc>
              <a:spcBef>
                <a:spcPts val="500"/>
              </a:spcBef>
              <a:spcAft>
                <a:spcPts val="0"/>
              </a:spcAft>
              <a:buClr>
                <a:schemeClr val="dk1"/>
              </a:buClr>
              <a:buSzPts val="1400"/>
              <a:buFont typeface="Courier New"/>
              <a:buChar char="o"/>
            </a:pPr>
            <a:r>
              <a:rPr lang="en-US" sz="1400"/>
              <a:t>CIG Team Members.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entury Gothic"/>
              <a:buNone/>
            </a:pPr>
            <a:r>
              <a:rPr lang="en-US"/>
              <a:t>Application Form – Part B</a:t>
            </a:r>
            <a:endParaRPr/>
          </a:p>
        </p:txBody>
      </p:sp>
      <p:sp>
        <p:nvSpPr>
          <p:cNvPr id="118" name="Google Shape;118;p5"/>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1400"/>
              <a:buChar char="•"/>
            </a:pPr>
            <a:r>
              <a:rPr lang="en-US" sz="1400" b="1" u="sng">
                <a:solidFill>
                  <a:schemeClr val="hlink"/>
                </a:solidFill>
                <a:hlinkClick r:id="rId3"/>
              </a:rPr>
              <a:t>Guidelines</a:t>
            </a:r>
            <a:endParaRPr sz="1400" b="1"/>
          </a:p>
          <a:p>
            <a:pPr marL="228600" lvl="0" indent="-228600" algn="l" rtl="0">
              <a:lnSpc>
                <a:spcPct val="90000"/>
              </a:lnSpc>
              <a:spcBef>
                <a:spcPts val="1000"/>
              </a:spcBef>
              <a:spcAft>
                <a:spcPts val="0"/>
              </a:spcAft>
              <a:buClr>
                <a:schemeClr val="dk1"/>
              </a:buClr>
              <a:buSzPts val="1400"/>
              <a:buChar char="•"/>
            </a:pPr>
            <a:r>
              <a:rPr lang="en-US" sz="1400" b="1"/>
              <a:t>Google drive application form </a:t>
            </a:r>
            <a:r>
              <a:rPr lang="en-US" sz="1400" b="1" u="sng">
                <a:solidFill>
                  <a:schemeClr val="hlink"/>
                </a:solidFill>
                <a:hlinkClick r:id="rId4"/>
              </a:rPr>
              <a:t>link</a:t>
            </a:r>
            <a:endParaRPr sz="1400" b="1"/>
          </a:p>
          <a:p>
            <a:pPr marL="228600" lvl="0" indent="-228600" algn="l" rtl="0">
              <a:lnSpc>
                <a:spcPct val="90000"/>
              </a:lnSpc>
              <a:spcBef>
                <a:spcPts val="1000"/>
              </a:spcBef>
              <a:spcAft>
                <a:spcPts val="0"/>
              </a:spcAft>
              <a:buClr>
                <a:schemeClr val="dk1"/>
              </a:buClr>
              <a:buSzPts val="1400"/>
              <a:buChar char="•"/>
            </a:pPr>
            <a:r>
              <a:rPr lang="en-US" sz="1400" b="1"/>
              <a:t>COST website application form </a:t>
            </a:r>
            <a:r>
              <a:rPr lang="en-US" sz="1400" b="1" u="sng">
                <a:solidFill>
                  <a:schemeClr val="hlink"/>
                </a:solidFill>
                <a:hlinkClick r:id="rId5"/>
              </a:rPr>
              <a:t>link</a:t>
            </a:r>
            <a:endParaRPr sz="1400" b="1"/>
          </a:p>
          <a:p>
            <a:pPr marL="228600" lvl="0" indent="-228600" algn="l" rtl="0">
              <a:lnSpc>
                <a:spcPct val="90000"/>
              </a:lnSpc>
              <a:spcBef>
                <a:spcPts val="1000"/>
              </a:spcBef>
              <a:spcAft>
                <a:spcPts val="0"/>
              </a:spcAft>
              <a:buClr>
                <a:schemeClr val="dk1"/>
              </a:buClr>
              <a:buSzPts val="1400"/>
              <a:buChar char="•"/>
            </a:pPr>
            <a:r>
              <a:rPr lang="en-US" sz="1400" b="1"/>
              <a:t>CIG application Part B (max. 6 pages):</a:t>
            </a:r>
            <a:endParaRPr/>
          </a:p>
          <a:p>
            <a:pPr marL="914400" lvl="0" indent="-317500" algn="l" rtl="0">
              <a:lnSpc>
                <a:spcPct val="90000"/>
              </a:lnSpc>
              <a:spcBef>
                <a:spcPts val="0"/>
              </a:spcBef>
              <a:spcAft>
                <a:spcPts val="0"/>
              </a:spcAft>
              <a:buSzPts val="1400"/>
              <a:buAutoNum type="arabicPeriod"/>
            </a:pPr>
            <a:r>
              <a:rPr lang="en-US" sz="1400"/>
              <a:t>Innovation Potential (recommended 2 pages): </a:t>
            </a:r>
            <a:endParaRPr/>
          </a:p>
          <a:p>
            <a:pPr marL="457200" lvl="0" indent="457200" algn="l" rtl="0">
              <a:lnSpc>
                <a:spcPct val="90000"/>
              </a:lnSpc>
              <a:spcBef>
                <a:spcPts val="500"/>
              </a:spcBef>
              <a:spcAft>
                <a:spcPts val="0"/>
              </a:spcAft>
              <a:buNone/>
            </a:pPr>
            <a:r>
              <a:rPr lang="en-US" sz="1400"/>
              <a:t>1.1. What is the practical challenge and target group that you will address? </a:t>
            </a:r>
            <a:endParaRPr/>
          </a:p>
          <a:p>
            <a:pPr marL="457200" lvl="0" indent="457200" algn="l" rtl="0">
              <a:lnSpc>
                <a:spcPct val="90000"/>
              </a:lnSpc>
              <a:spcBef>
                <a:spcPts val="500"/>
              </a:spcBef>
              <a:spcAft>
                <a:spcPts val="0"/>
              </a:spcAft>
              <a:buNone/>
            </a:pPr>
            <a:r>
              <a:rPr lang="en-US" sz="1400"/>
              <a:t>1.2. What is your proposed solution, what will be the main outcomes of the CIG? </a:t>
            </a:r>
            <a:endParaRPr/>
          </a:p>
          <a:p>
            <a:pPr marL="457200" lvl="0" indent="457200" algn="l" rtl="0">
              <a:lnSpc>
                <a:spcPct val="90000"/>
              </a:lnSpc>
              <a:spcBef>
                <a:spcPts val="500"/>
              </a:spcBef>
              <a:spcAft>
                <a:spcPts val="0"/>
              </a:spcAft>
              <a:buNone/>
            </a:pPr>
            <a:r>
              <a:rPr lang="en-US" sz="1400"/>
              <a:t>1.3. Objectives of the CIG? </a:t>
            </a:r>
            <a:endParaRPr/>
          </a:p>
          <a:p>
            <a:pPr marL="457200" lvl="0" indent="457200" algn="l" rtl="0">
              <a:lnSpc>
                <a:spcPct val="90000"/>
              </a:lnSpc>
              <a:spcBef>
                <a:spcPts val="500"/>
              </a:spcBef>
              <a:spcAft>
                <a:spcPts val="0"/>
              </a:spcAft>
              <a:buNone/>
            </a:pPr>
            <a:r>
              <a:rPr lang="en-US" sz="1400"/>
              <a:t>1.4. What is innovative about your solution?</a:t>
            </a:r>
            <a:endParaRPr/>
          </a:p>
          <a:p>
            <a:pPr marL="914400" lvl="0" indent="-317500" algn="l" rtl="0">
              <a:lnSpc>
                <a:spcPct val="90000"/>
              </a:lnSpc>
              <a:spcBef>
                <a:spcPts val="500"/>
              </a:spcBef>
              <a:spcAft>
                <a:spcPts val="0"/>
              </a:spcAft>
              <a:buSzPts val="1400"/>
              <a:buAutoNum type="arabicPeriod"/>
            </a:pPr>
            <a:r>
              <a:rPr lang="en-US" sz="1400"/>
              <a:t>Expected impact (recommended 2 pages): </a:t>
            </a:r>
            <a:endParaRPr/>
          </a:p>
          <a:p>
            <a:pPr marL="457200" lvl="0" indent="457200" algn="l" rtl="0">
              <a:lnSpc>
                <a:spcPct val="90000"/>
              </a:lnSpc>
              <a:spcBef>
                <a:spcPts val="500"/>
              </a:spcBef>
              <a:spcAft>
                <a:spcPts val="0"/>
              </a:spcAft>
              <a:buNone/>
            </a:pPr>
            <a:r>
              <a:rPr lang="en-US" sz="1400"/>
              <a:t>2.1. Describe who and/or what will benefit, how, when and to which extent. </a:t>
            </a:r>
            <a:endParaRPr/>
          </a:p>
          <a:p>
            <a:pPr marL="457200" lvl="0" indent="457200" algn="l" rtl="0">
              <a:lnSpc>
                <a:spcPct val="90000"/>
              </a:lnSpc>
              <a:spcBef>
                <a:spcPts val="500"/>
              </a:spcBef>
              <a:spcAft>
                <a:spcPts val="0"/>
              </a:spcAft>
              <a:buNone/>
            </a:pPr>
            <a:r>
              <a:rPr lang="en-US" sz="1400"/>
              <a:t>2.2. Plan for exploitation.</a:t>
            </a:r>
            <a:endParaRPr/>
          </a:p>
          <a:p>
            <a:pPr marL="914400" lvl="0" indent="-317500" algn="l" rtl="0">
              <a:lnSpc>
                <a:spcPct val="90000"/>
              </a:lnSpc>
              <a:spcBef>
                <a:spcPts val="500"/>
              </a:spcBef>
              <a:spcAft>
                <a:spcPts val="0"/>
              </a:spcAft>
              <a:buSzPts val="1400"/>
              <a:buAutoNum type="arabicPeriod"/>
            </a:pPr>
            <a:r>
              <a:rPr lang="en-US" sz="1400"/>
              <a:t>Plan for Implementing the CIG (recommended 2 pages)</a:t>
            </a:r>
            <a:endParaRPr/>
          </a:p>
          <a:p>
            <a:pPr marL="457200" lvl="0" indent="457200" algn="l" rtl="0">
              <a:lnSpc>
                <a:spcPct val="90000"/>
              </a:lnSpc>
              <a:spcBef>
                <a:spcPts val="500"/>
              </a:spcBef>
              <a:spcAft>
                <a:spcPts val="0"/>
              </a:spcAft>
              <a:buNone/>
            </a:pPr>
            <a:r>
              <a:rPr lang="en-US" sz="1400"/>
              <a:t>3.1. Work plan. </a:t>
            </a:r>
            <a:endParaRPr/>
          </a:p>
          <a:p>
            <a:pPr marL="457200" lvl="0" indent="457200" algn="l" rtl="0">
              <a:lnSpc>
                <a:spcPct val="90000"/>
              </a:lnSpc>
              <a:spcBef>
                <a:spcPts val="500"/>
              </a:spcBef>
              <a:spcAft>
                <a:spcPts val="0"/>
              </a:spcAft>
              <a:buNone/>
            </a:pPr>
            <a:r>
              <a:rPr lang="en-US" sz="1400"/>
              <a:t>3.2. Intellectual property rights considerations.</a:t>
            </a:r>
            <a:endParaRPr sz="20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g2a68e2429f2_1_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entury Gothic"/>
              <a:buNone/>
            </a:pPr>
            <a:r>
              <a:rPr lang="en-US"/>
              <a:t>Evaluation</a:t>
            </a:r>
            <a:endParaRPr/>
          </a:p>
        </p:txBody>
      </p:sp>
      <p:sp>
        <p:nvSpPr>
          <p:cNvPr id="125" name="Google Shape;125;g2a68e2429f2_1_0"/>
          <p:cNvSpPr txBox="1">
            <a:spLocks noGrp="1"/>
          </p:cNvSpPr>
          <p:nvPr>
            <p:ph type="body" idx="1"/>
          </p:nvPr>
        </p:nvSpPr>
        <p:spPr>
          <a:xfrm>
            <a:off x="838200" y="1803400"/>
            <a:ext cx="10515600" cy="4689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None/>
            </a:pPr>
            <a:r>
              <a:rPr lang="en-US" sz="1400" b="1"/>
              <a:t>1. INNOVATION POTENTIAL</a:t>
            </a:r>
            <a:endParaRPr sz="1400" b="1"/>
          </a:p>
          <a:p>
            <a:pPr marL="457200" marR="0" lvl="0" indent="0" algn="l" rtl="0">
              <a:lnSpc>
                <a:spcPct val="90000"/>
              </a:lnSpc>
              <a:spcBef>
                <a:spcPts val="1000"/>
              </a:spcBef>
              <a:spcAft>
                <a:spcPts val="0"/>
              </a:spcAft>
              <a:buNone/>
            </a:pPr>
            <a:r>
              <a:rPr lang="en-US" sz="1300"/>
              <a:t>Q1: To what extent does the application describe an innovation challenge, problem or need that is real, relevant, and timely?</a:t>
            </a:r>
            <a:endParaRPr sz="1300"/>
          </a:p>
          <a:p>
            <a:pPr marL="457200" marR="0" lvl="0" indent="0" algn="l" rtl="0">
              <a:lnSpc>
                <a:spcPct val="90000"/>
              </a:lnSpc>
              <a:spcBef>
                <a:spcPts val="1000"/>
              </a:spcBef>
              <a:spcAft>
                <a:spcPts val="0"/>
              </a:spcAft>
              <a:buNone/>
            </a:pPr>
            <a:r>
              <a:rPr lang="en-US" sz="1300"/>
              <a:t>Q2: To what extent is the proposed solution innovative, feasible, and adequate in addressing the problem or need described above?</a:t>
            </a:r>
            <a:endParaRPr sz="1300"/>
          </a:p>
          <a:p>
            <a:pPr marL="0" marR="0" lvl="0" indent="0" algn="l" rtl="0">
              <a:lnSpc>
                <a:spcPct val="90000"/>
              </a:lnSpc>
              <a:spcBef>
                <a:spcPts val="1000"/>
              </a:spcBef>
              <a:spcAft>
                <a:spcPts val="0"/>
              </a:spcAft>
              <a:buNone/>
            </a:pPr>
            <a:r>
              <a:rPr lang="en-US" sz="1400" b="1"/>
              <a:t>2. EXPECTED IMPACT</a:t>
            </a:r>
            <a:endParaRPr sz="1400" b="1"/>
          </a:p>
          <a:p>
            <a:pPr marL="457200" marR="0" lvl="0" indent="0" algn="l" rtl="0">
              <a:lnSpc>
                <a:spcPct val="90000"/>
              </a:lnSpc>
              <a:spcBef>
                <a:spcPts val="1000"/>
              </a:spcBef>
              <a:spcAft>
                <a:spcPts val="0"/>
              </a:spcAft>
              <a:buNone/>
            </a:pPr>
            <a:r>
              <a:rPr lang="en-US" sz="1300"/>
              <a:t>Q3: To what extent does the application describe expected impacts that are both significant and credible (realistic)?</a:t>
            </a:r>
            <a:endParaRPr sz="1300"/>
          </a:p>
          <a:p>
            <a:pPr marL="457200" marR="0" lvl="0" indent="0" algn="l" rtl="0">
              <a:lnSpc>
                <a:spcPct val="90000"/>
              </a:lnSpc>
              <a:spcBef>
                <a:spcPts val="1000"/>
              </a:spcBef>
              <a:spcAft>
                <a:spcPts val="0"/>
              </a:spcAft>
              <a:buNone/>
            </a:pPr>
            <a:r>
              <a:rPr lang="en-US" sz="1300"/>
              <a:t>Q4: To what extent is the plan for exploitation both realistic and adequate?</a:t>
            </a:r>
            <a:endParaRPr sz="1300"/>
          </a:p>
          <a:p>
            <a:pPr marL="0" marR="0" lvl="0" indent="0" algn="l" rtl="0">
              <a:lnSpc>
                <a:spcPct val="90000"/>
              </a:lnSpc>
              <a:spcBef>
                <a:spcPts val="1000"/>
              </a:spcBef>
              <a:spcAft>
                <a:spcPts val="0"/>
              </a:spcAft>
              <a:buNone/>
            </a:pPr>
            <a:r>
              <a:rPr lang="en-US" sz="1400" b="1"/>
              <a:t>3. PLAN FOR IMPLEMENTING THE CIG</a:t>
            </a:r>
            <a:endParaRPr sz="1400" b="1"/>
          </a:p>
          <a:p>
            <a:pPr marL="0" marR="0" lvl="0" indent="457200" algn="l" rtl="0">
              <a:lnSpc>
                <a:spcPct val="90000"/>
              </a:lnSpc>
              <a:spcBef>
                <a:spcPts val="1000"/>
              </a:spcBef>
              <a:spcAft>
                <a:spcPts val="0"/>
              </a:spcAft>
              <a:buNone/>
            </a:pPr>
            <a:r>
              <a:rPr lang="en-US" sz="1300"/>
              <a:t>Q5: To what extent are the work plan and the team appropriate for achieving the stated objectives of the CIG?</a:t>
            </a:r>
            <a:endParaRPr sz="1300"/>
          </a:p>
          <a:p>
            <a:pPr marL="63500" lvl="0" indent="0" algn="l" rtl="0">
              <a:lnSpc>
                <a:spcPct val="115000"/>
              </a:lnSpc>
              <a:spcBef>
                <a:spcPts val="200"/>
              </a:spcBef>
              <a:spcAft>
                <a:spcPts val="0"/>
              </a:spcAft>
              <a:buNone/>
            </a:pPr>
            <a:endParaRPr sz="1000">
              <a:solidFill>
                <a:srgbClr val="000000"/>
              </a:solidFill>
              <a:latin typeface="Arial"/>
              <a:ea typeface="Arial"/>
              <a:cs typeface="Arial"/>
              <a:sym typeface="Arial"/>
            </a:endParaRPr>
          </a:p>
          <a:p>
            <a:pPr marL="228600" marR="0" lvl="0" indent="-101600" algn="l" rtl="0">
              <a:lnSpc>
                <a:spcPct val="90000"/>
              </a:lnSpc>
              <a:spcBef>
                <a:spcPts val="1000"/>
              </a:spcBef>
              <a:spcAft>
                <a:spcPts val="0"/>
              </a:spcAft>
              <a:buClr>
                <a:schemeClr val="dk1"/>
              </a:buClr>
              <a:buSzPts val="2000"/>
              <a:buFont typeface="Arial"/>
              <a:buNone/>
            </a:pPr>
            <a:endParaRPr sz="1400"/>
          </a:p>
        </p:txBody>
      </p:sp>
      <p:graphicFrame>
        <p:nvGraphicFramePr>
          <p:cNvPr id="126" name="Google Shape;126;g2a68e2429f2_1_0"/>
          <p:cNvGraphicFramePr/>
          <p:nvPr/>
        </p:nvGraphicFramePr>
        <p:xfrm>
          <a:off x="3200400" y="4835350"/>
          <a:ext cx="3000000" cy="3000000"/>
        </p:xfrm>
        <a:graphic>
          <a:graphicData uri="http://schemas.openxmlformats.org/drawingml/2006/table">
            <a:tbl>
              <a:tblPr>
                <a:noFill/>
                <a:tableStyleId>{0D2BAA1A-4786-4506-ACAC-9E7CE9EBFE0B}</a:tableStyleId>
              </a:tblPr>
              <a:tblGrid>
                <a:gridCol w="1895475">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90725">
                  <a:extLst>
                    <a:ext uri="{9D8B030D-6E8A-4147-A177-3AD203B41FA5}">
                      <a16:colId xmlns:a16="http://schemas.microsoft.com/office/drawing/2014/main" val="20002"/>
                    </a:ext>
                  </a:extLst>
                </a:gridCol>
              </a:tblGrid>
              <a:tr h="342900">
                <a:tc>
                  <a:txBody>
                    <a:bodyPr/>
                    <a:lstStyle/>
                    <a:p>
                      <a:pPr marL="63500" lvl="0" indent="0" algn="l" rtl="0">
                        <a:lnSpc>
                          <a:spcPct val="115000"/>
                        </a:lnSpc>
                        <a:spcBef>
                          <a:spcPts val="900"/>
                        </a:spcBef>
                        <a:spcAft>
                          <a:spcPts val="0"/>
                        </a:spcAft>
                        <a:buNone/>
                      </a:pPr>
                      <a:r>
                        <a:rPr lang="en-US" sz="1000" b="1">
                          <a:solidFill>
                            <a:srgbClr val="FFFFFF"/>
                          </a:solidFill>
                        </a:rPr>
                        <a:t>INNOVATION POTENTIAL</a:t>
                      </a:r>
                      <a:endParaRPr sz="1000" b="1">
                        <a:solidFill>
                          <a:srgbClr val="FFFFFF"/>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46864"/>
                    </a:solidFill>
                  </a:tcPr>
                </a:tc>
                <a:tc>
                  <a:txBody>
                    <a:bodyPr/>
                    <a:lstStyle/>
                    <a:p>
                      <a:pPr marL="127000" lvl="0" indent="0" algn="l" rtl="0">
                        <a:lnSpc>
                          <a:spcPct val="115000"/>
                        </a:lnSpc>
                        <a:spcBef>
                          <a:spcPts val="900"/>
                        </a:spcBef>
                        <a:spcAft>
                          <a:spcPts val="0"/>
                        </a:spcAft>
                        <a:buNone/>
                      </a:pPr>
                      <a:r>
                        <a:rPr lang="en-US" sz="1000" b="1">
                          <a:solidFill>
                            <a:srgbClr val="FFFFFF"/>
                          </a:solidFill>
                        </a:rPr>
                        <a:t>EXPECTED IMPACT</a:t>
                      </a:r>
                      <a:endParaRPr sz="1000" b="1">
                        <a:solidFill>
                          <a:srgbClr val="FFFFFF"/>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46864"/>
                    </a:solidFill>
                  </a:tcPr>
                </a:tc>
                <a:tc>
                  <a:txBody>
                    <a:bodyPr/>
                    <a:lstStyle/>
                    <a:p>
                      <a:pPr marL="101600" lvl="0" indent="0" algn="l" rtl="0">
                        <a:lnSpc>
                          <a:spcPct val="115000"/>
                        </a:lnSpc>
                        <a:spcBef>
                          <a:spcPts val="900"/>
                        </a:spcBef>
                        <a:spcAft>
                          <a:spcPts val="0"/>
                        </a:spcAft>
                        <a:buNone/>
                      </a:pPr>
                      <a:r>
                        <a:rPr lang="en-US" sz="1000" b="1">
                          <a:solidFill>
                            <a:srgbClr val="FFFFFF"/>
                          </a:solidFill>
                        </a:rPr>
                        <a:t>IMPLEMENTATION</a:t>
                      </a:r>
                      <a:endParaRPr sz="1000" b="1">
                        <a:solidFill>
                          <a:srgbClr val="FFFFFF"/>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46864"/>
                    </a:solidFill>
                  </a:tcPr>
                </a:tc>
                <a:extLst>
                  <a:ext uri="{0D108BD9-81ED-4DB2-BD59-A6C34878D82A}">
                    <a16:rowId xmlns:a16="http://schemas.microsoft.com/office/drawing/2014/main" val="10000"/>
                  </a:ext>
                </a:extLst>
              </a:tr>
              <a:tr h="561975">
                <a:tc>
                  <a:txBody>
                    <a:bodyPr/>
                    <a:lstStyle/>
                    <a:p>
                      <a:pPr marL="63500" lvl="0" indent="0" algn="l" rtl="0">
                        <a:lnSpc>
                          <a:spcPct val="115000"/>
                        </a:lnSpc>
                        <a:spcBef>
                          <a:spcPts val="900"/>
                        </a:spcBef>
                        <a:spcAft>
                          <a:spcPts val="0"/>
                        </a:spcAft>
                        <a:buNone/>
                      </a:pPr>
                      <a:r>
                        <a:rPr lang="en-US" sz="1000"/>
                        <a:t>Total marks for the section</a:t>
                      </a:r>
                      <a:endParaRPr sz="1000"/>
                    </a:p>
                    <a:p>
                      <a:pPr marL="63500" lvl="0" indent="0" algn="l" rtl="0">
                        <a:lnSpc>
                          <a:spcPct val="115000"/>
                        </a:lnSpc>
                        <a:spcBef>
                          <a:spcPts val="300"/>
                        </a:spcBef>
                        <a:spcAft>
                          <a:spcPts val="0"/>
                        </a:spcAft>
                        <a:buNone/>
                      </a:pPr>
                      <a:r>
                        <a:rPr lang="en-US" sz="1000"/>
                        <a:t>= 6 points</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lvl="0" indent="0" algn="l" rtl="0">
                        <a:lnSpc>
                          <a:spcPct val="115000"/>
                        </a:lnSpc>
                        <a:spcBef>
                          <a:spcPts val="900"/>
                        </a:spcBef>
                        <a:spcAft>
                          <a:spcPts val="0"/>
                        </a:spcAft>
                        <a:buNone/>
                      </a:pPr>
                      <a:r>
                        <a:rPr lang="en-US" sz="1000"/>
                        <a:t>Total marks for the section</a:t>
                      </a:r>
                      <a:endParaRPr sz="1000"/>
                    </a:p>
                    <a:p>
                      <a:pPr marL="63500" lvl="0" indent="0" algn="l" rtl="0">
                        <a:lnSpc>
                          <a:spcPct val="115000"/>
                        </a:lnSpc>
                        <a:spcBef>
                          <a:spcPts val="300"/>
                        </a:spcBef>
                        <a:spcAft>
                          <a:spcPts val="0"/>
                        </a:spcAft>
                        <a:buNone/>
                      </a:pPr>
                      <a:r>
                        <a:rPr lang="en-US" sz="1000"/>
                        <a:t>= 6 points</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63500" lvl="0" indent="0" algn="l" rtl="0">
                        <a:lnSpc>
                          <a:spcPct val="115000"/>
                        </a:lnSpc>
                        <a:spcBef>
                          <a:spcPts val="900"/>
                        </a:spcBef>
                        <a:spcAft>
                          <a:spcPts val="0"/>
                        </a:spcAft>
                        <a:buNone/>
                      </a:pPr>
                      <a:r>
                        <a:rPr lang="en-US" sz="1000"/>
                        <a:t>Total marks for the section</a:t>
                      </a:r>
                      <a:endParaRPr sz="1000"/>
                    </a:p>
                    <a:p>
                      <a:pPr marL="63500" lvl="0" indent="0" algn="l" rtl="0">
                        <a:lnSpc>
                          <a:spcPct val="115000"/>
                        </a:lnSpc>
                        <a:spcBef>
                          <a:spcPts val="300"/>
                        </a:spcBef>
                        <a:spcAft>
                          <a:spcPts val="0"/>
                        </a:spcAft>
                        <a:buNone/>
                      </a:pPr>
                      <a:r>
                        <a:rPr lang="en-US" sz="1000"/>
                        <a:t>= 3 points</a:t>
                      </a:r>
                      <a:endParaRPr sz="10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81000">
                <a:tc gridSpan="3">
                  <a:txBody>
                    <a:bodyPr/>
                    <a:lstStyle/>
                    <a:p>
                      <a:pPr marL="63500" lvl="0" indent="0" algn="l" rtl="0">
                        <a:lnSpc>
                          <a:spcPct val="115000"/>
                        </a:lnSpc>
                        <a:spcBef>
                          <a:spcPts val="900"/>
                        </a:spcBef>
                        <a:spcAft>
                          <a:spcPts val="0"/>
                        </a:spcAft>
                        <a:buNone/>
                      </a:pPr>
                      <a:r>
                        <a:rPr lang="en-US" sz="1000" b="1"/>
                        <a:t>TOTAL MAXIMUM MARKS AWARDED = 15 points</a:t>
                      </a:r>
                      <a:endParaRPr sz="1000" b="1"/>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1C3C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g2a68e24341e_0_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entury Gothic"/>
              <a:buNone/>
            </a:pPr>
            <a:r>
              <a:rPr lang="en-US"/>
              <a:t>2023 Five COST Innovators Grant</a:t>
            </a:r>
            <a:endParaRPr/>
          </a:p>
        </p:txBody>
      </p:sp>
      <p:sp>
        <p:nvSpPr>
          <p:cNvPr id="133" name="Google Shape;133;g2a68e24341e_0_6"/>
          <p:cNvSpPr txBox="1">
            <a:spLocks noGrp="1"/>
          </p:cNvSpPr>
          <p:nvPr>
            <p:ph type="body" idx="1"/>
          </p:nvPr>
        </p:nvSpPr>
        <p:spPr>
          <a:xfrm>
            <a:off x="838200" y="1825625"/>
            <a:ext cx="10515600" cy="4667400"/>
          </a:xfrm>
          <a:prstGeom prst="rect">
            <a:avLst/>
          </a:prstGeom>
          <a:noFill/>
          <a:ln>
            <a:noFill/>
          </a:ln>
        </p:spPr>
        <p:txBody>
          <a:bodyPr spcFirstLastPara="1" wrap="square" lIns="91425" tIns="45700" rIns="91425" bIns="45700" anchor="t" anchorCtr="0">
            <a:noAutofit/>
          </a:bodyPr>
          <a:lstStyle/>
          <a:p>
            <a:pPr marL="228600" lvl="0" indent="-101600" algn="l" rtl="0">
              <a:lnSpc>
                <a:spcPct val="90000"/>
              </a:lnSpc>
              <a:spcBef>
                <a:spcPts val="1000"/>
              </a:spcBef>
              <a:spcAft>
                <a:spcPts val="0"/>
              </a:spcAft>
              <a:buClr>
                <a:schemeClr val="dk1"/>
              </a:buClr>
              <a:buSzPts val="2000"/>
              <a:buNone/>
            </a:pPr>
            <a:r>
              <a:rPr lang="en-US" sz="1400" b="1"/>
              <a:t>Link to the article: </a:t>
            </a:r>
            <a:r>
              <a:rPr lang="en-US" sz="1400" b="1" u="sng">
                <a:solidFill>
                  <a:schemeClr val="hlink"/>
                </a:solidFill>
                <a:hlinkClick r:id="rId3"/>
              </a:rPr>
              <a:t>https://www.cost.eu/five-new-cost-innovators-grants-2023/</a:t>
            </a:r>
            <a:endParaRPr sz="1400" b="1"/>
          </a:p>
          <a:p>
            <a:pPr marL="228600" lvl="0" indent="-101600" algn="l" rtl="0">
              <a:lnSpc>
                <a:spcPct val="90000"/>
              </a:lnSpc>
              <a:spcBef>
                <a:spcPts val="1000"/>
              </a:spcBef>
              <a:spcAft>
                <a:spcPts val="0"/>
              </a:spcAft>
              <a:buClr>
                <a:schemeClr val="dk1"/>
              </a:buClr>
              <a:buSzPts val="2000"/>
              <a:buNone/>
            </a:pPr>
            <a:endParaRPr sz="1400" b="1"/>
          </a:p>
        </p:txBody>
      </p:sp>
      <p:pic>
        <p:nvPicPr>
          <p:cNvPr id="134" name="Google Shape;134;g2a68e24341e_0_6"/>
          <p:cNvPicPr preferRelativeResize="0"/>
          <p:nvPr/>
        </p:nvPicPr>
        <p:blipFill>
          <a:blip r:embed="rId4">
            <a:alphaModFix/>
          </a:blip>
          <a:stretch>
            <a:fillRect/>
          </a:stretch>
        </p:blipFill>
        <p:spPr>
          <a:xfrm>
            <a:off x="2615949" y="2438274"/>
            <a:ext cx="6960124" cy="3639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entury Gothic"/>
              <a:buNone/>
            </a:pPr>
            <a:r>
              <a:rPr lang="en-US">
                <a:latin typeface="Century Gothic"/>
                <a:ea typeface="Century Gothic"/>
                <a:cs typeface="Century Gothic"/>
                <a:sym typeface="Century Gothic"/>
              </a:rPr>
              <a:t>Start application writing</a:t>
            </a:r>
            <a:endParaRPr/>
          </a:p>
        </p:txBody>
      </p:sp>
      <p:sp>
        <p:nvSpPr>
          <p:cNvPr id="141" name="Google Shape;141;p6"/>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1400"/>
              <a:buChar char="•"/>
            </a:pPr>
            <a:r>
              <a:rPr lang="en-US" sz="1400">
                <a:latin typeface="Century Gothic"/>
                <a:ea typeface="Century Gothic"/>
                <a:cs typeface="Century Gothic"/>
                <a:sym typeface="Century Gothic"/>
              </a:rPr>
              <a:t>CIG Team Members (</a:t>
            </a:r>
            <a:r>
              <a:rPr lang="en-US" sz="1400" u="sng">
                <a:solidFill>
                  <a:schemeClr val="hlink"/>
                </a:solidFill>
                <a:latin typeface="Century Gothic"/>
                <a:ea typeface="Century Gothic"/>
                <a:cs typeface="Century Gothic"/>
                <a:sym typeface="Century Gothic"/>
                <a:hlinkClick r:id="rId3"/>
              </a:rPr>
              <a:t>Excel sheet link</a:t>
            </a:r>
            <a:r>
              <a:rPr lang="en-US" sz="1400">
                <a:latin typeface="Century Gothic"/>
                <a:ea typeface="Century Gothic"/>
                <a:cs typeface="Century Gothic"/>
                <a:sym typeface="Century Gothic"/>
              </a:rPr>
              <a:t>)</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Write a summary of the ACTION (100-500 words)</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Prepare business plan (part B of CIG application,  max 6 pages)</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Filling the CIG application Part A and Part B </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Application form (Part A and B) for 2024-2025:</a:t>
            </a:r>
            <a:endParaRPr/>
          </a:p>
          <a:p>
            <a:pPr marL="228600" lvl="0" indent="-228600" algn="l" rtl="0">
              <a:lnSpc>
                <a:spcPct val="90000"/>
              </a:lnSpc>
              <a:spcBef>
                <a:spcPts val="1000"/>
              </a:spcBef>
              <a:spcAft>
                <a:spcPts val="0"/>
              </a:spcAft>
              <a:buClr>
                <a:schemeClr val="dk1"/>
              </a:buClr>
              <a:buSzPts val="1400"/>
              <a:buChar char="•"/>
            </a:pPr>
            <a:r>
              <a:rPr lang="en-US" sz="1400" u="sng">
                <a:solidFill>
                  <a:schemeClr val="hlink"/>
                </a:solidFill>
                <a:latin typeface="Century Gothic"/>
                <a:ea typeface="Century Gothic"/>
                <a:cs typeface="Century Gothic"/>
                <a:sym typeface="Century Gothic"/>
                <a:hlinkClick r:id="rId4"/>
              </a:rPr>
              <a:t>https://docs.google.com/document/d/1P2kLXN00AUoJwdFOUjmh3Oqgkwg9vxmR/edit?rtpof=true</a:t>
            </a:r>
            <a:r>
              <a:rPr lang="en-US" sz="1400">
                <a:latin typeface="Century Gothic"/>
                <a:ea typeface="Century Gothic"/>
                <a:cs typeface="Century Gothic"/>
                <a:sym typeface="Century Gothic"/>
              </a:rPr>
              <a:t> </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Send the application email to </a:t>
            </a:r>
            <a:r>
              <a:rPr lang="en-US" sz="1400" u="sng">
                <a:solidFill>
                  <a:schemeClr val="hlink"/>
                </a:solidFill>
                <a:latin typeface="Century Gothic"/>
                <a:ea typeface="Century Gothic"/>
                <a:cs typeface="Century Gothic"/>
                <a:sym typeface="Century Gothic"/>
                <a:hlinkClick r:id="rId5"/>
              </a:rPr>
              <a:t>CIG@cost.eu</a:t>
            </a:r>
            <a:r>
              <a:rPr lang="en-US" sz="1400">
                <a:latin typeface="Century Gothic"/>
                <a:ea typeface="Century Gothic"/>
                <a:cs typeface="Century Gothic"/>
                <a:sym typeface="Century Gothic"/>
              </a:rPr>
              <a:t>, by January 24th, 11 am, </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Reserve date for Hearings: 23th and 24th May 2024</a:t>
            </a:r>
            <a:endParaRPr/>
          </a:p>
          <a:p>
            <a:pPr marL="228600" lvl="0" indent="-228600" algn="l" rtl="0">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Wait for April 30, 2024</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entury Gothic"/>
              <a:buNone/>
            </a:pPr>
            <a:r>
              <a:rPr lang="en-US"/>
              <a:t>Open questions</a:t>
            </a:r>
            <a:endParaRPr/>
          </a:p>
        </p:txBody>
      </p:sp>
      <p:sp>
        <p:nvSpPr>
          <p:cNvPr id="147" name="Google Shape;147;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1400"/>
              <a:buChar char="•"/>
            </a:pPr>
            <a:r>
              <a:rPr lang="en-US" sz="1400" b="1"/>
              <a:t>Does this topic have to be connected to the existing one?</a:t>
            </a:r>
            <a:endParaRPr/>
          </a:p>
          <a:p>
            <a:pPr marL="685800" lvl="1" indent="-228600" algn="l" rtl="0">
              <a:lnSpc>
                <a:spcPct val="90000"/>
              </a:lnSpc>
              <a:spcBef>
                <a:spcPts val="500"/>
              </a:spcBef>
              <a:spcAft>
                <a:spcPts val="0"/>
              </a:spcAft>
              <a:buClr>
                <a:schemeClr val="dk1"/>
              </a:buClr>
              <a:buSzPts val="1400"/>
              <a:buFont typeface="Courier New"/>
              <a:buChar char="o"/>
            </a:pPr>
            <a:r>
              <a:rPr lang="en-US" sz="1400"/>
              <a:t>Guidelines quotes (p. 5, section 1: Introduction): “The COST Innovators Grant is a scheme designed for those ending COST Actions which demonstrate innovation potential.“</a:t>
            </a:r>
            <a:endParaRPr/>
          </a:p>
          <a:p>
            <a:pPr marL="685800" lvl="1" indent="-228600" algn="l" rtl="0">
              <a:lnSpc>
                <a:spcPct val="90000"/>
              </a:lnSpc>
              <a:spcBef>
                <a:spcPts val="500"/>
              </a:spcBef>
              <a:spcAft>
                <a:spcPts val="0"/>
              </a:spcAft>
              <a:buClr>
                <a:schemeClr val="dk1"/>
              </a:buClr>
              <a:buSzPts val="1400"/>
              <a:buFont typeface="Courier New"/>
              <a:buChar char="o"/>
            </a:pPr>
            <a:r>
              <a:rPr lang="en-US" sz="1400"/>
              <a:t>FAQ quotes: “Can we include different innovations in various areas, in the same application? If this is possible, has the business plan to be presented for all the innovation presented, or only for the best one? </a:t>
            </a:r>
            <a:r>
              <a:rPr lang="en-US" sz="1400" b="1"/>
              <a:t>Yes, you can include different innovations in various areas in the CIG application and the business plan should address all of them</a:t>
            </a:r>
            <a:r>
              <a:rPr lang="en-US" sz="1400"/>
              <a:t>.”</a:t>
            </a:r>
            <a:endParaRPr/>
          </a:p>
          <a:p>
            <a:pPr marL="457200" lvl="1" indent="0" algn="l" rtl="0">
              <a:lnSpc>
                <a:spcPct val="90000"/>
              </a:lnSpc>
              <a:spcBef>
                <a:spcPts val="500"/>
              </a:spcBef>
              <a:spcAft>
                <a:spcPts val="0"/>
              </a:spcAft>
              <a:buClr>
                <a:schemeClr val="dk1"/>
              </a:buClr>
              <a:buSzPts val="1400"/>
              <a:buNone/>
            </a:pPr>
            <a:endParaRPr sz="1400"/>
          </a:p>
          <a:p>
            <a:pPr marL="228600" lvl="0" indent="-228600" algn="l" rtl="0">
              <a:lnSpc>
                <a:spcPct val="90000"/>
              </a:lnSpc>
              <a:spcBef>
                <a:spcPts val="1000"/>
              </a:spcBef>
              <a:spcAft>
                <a:spcPts val="0"/>
              </a:spcAft>
              <a:buClr>
                <a:schemeClr val="dk1"/>
              </a:buClr>
              <a:buSzPts val="1400"/>
              <a:buChar char="•"/>
            </a:pPr>
            <a:r>
              <a:rPr lang="en-US" sz="1400" b="1"/>
              <a:t>What is the definition of business plan? Do we need to attach a business plan?</a:t>
            </a:r>
            <a:endParaRPr/>
          </a:p>
          <a:p>
            <a:pPr marL="685800" lvl="1" indent="-228600" algn="l" rtl="0">
              <a:lnSpc>
                <a:spcPct val="90000"/>
              </a:lnSpc>
              <a:spcBef>
                <a:spcPts val="500"/>
              </a:spcBef>
              <a:spcAft>
                <a:spcPts val="0"/>
              </a:spcAft>
              <a:buClr>
                <a:schemeClr val="dk1"/>
              </a:buClr>
              <a:buSzPts val="1400"/>
              <a:buFont typeface="Courier New"/>
              <a:buChar char="o"/>
            </a:pPr>
            <a:r>
              <a:rPr lang="en-US" sz="1400"/>
              <a:t>Glossary quote: “For the purposes of the CIG the following definition of Business Plan applies: </a:t>
            </a:r>
            <a:r>
              <a:rPr lang="en-US" sz="1400" b="1"/>
              <a:t>Business Plan means a written document that describes in detail how an innovation is going to reach the users. A business plan defines the overall strategy for bringing the innovation to the users and lays out an appropriate written plan from a marketing, advocacy, communication, or promotion</a:t>
            </a:r>
            <a:r>
              <a:rPr lang="en-US" sz="1400"/>
              <a:t>.”</a:t>
            </a:r>
            <a:endParaRPr/>
          </a:p>
          <a:p>
            <a:pPr marL="685800" lvl="1" indent="-228600" algn="l" rtl="0">
              <a:lnSpc>
                <a:spcPct val="90000"/>
              </a:lnSpc>
              <a:spcBef>
                <a:spcPts val="500"/>
              </a:spcBef>
              <a:spcAft>
                <a:spcPts val="0"/>
              </a:spcAft>
              <a:buClr>
                <a:schemeClr val="dk1"/>
              </a:buClr>
              <a:buSzPts val="1400"/>
              <a:buFont typeface="Courier New"/>
              <a:buChar char="o"/>
            </a:pPr>
            <a:r>
              <a:rPr lang="en-US" sz="1400"/>
              <a:t>Guidelines say to refer to section 2.2.2.2. for the Business Plan, but this section is named “CIG APPLICATION - PART B” so is about Part B of application form</a:t>
            </a:r>
            <a:endParaRPr/>
          </a:p>
          <a:p>
            <a:pPr marL="228600" lvl="0" indent="-139700" algn="l" rtl="0">
              <a:lnSpc>
                <a:spcPct val="90000"/>
              </a:lnSpc>
              <a:spcBef>
                <a:spcPts val="1000"/>
              </a:spcBef>
              <a:spcAft>
                <a:spcPts val="0"/>
              </a:spcAft>
              <a:buClr>
                <a:schemeClr val="dk1"/>
              </a:buClr>
              <a:buSzPts val="1400"/>
              <a:buNone/>
            </a:pPr>
            <a:endParaRPr sz="1400" b="1"/>
          </a:p>
          <a:p>
            <a:pPr marL="0" lvl="0" indent="0" algn="l" rtl="0">
              <a:lnSpc>
                <a:spcPct val="90000"/>
              </a:lnSpc>
              <a:spcBef>
                <a:spcPts val="1000"/>
              </a:spcBef>
              <a:spcAft>
                <a:spcPts val="0"/>
              </a:spcAft>
              <a:buClr>
                <a:schemeClr val="dk1"/>
              </a:buClr>
              <a:buSzPts val="1400"/>
              <a:buNone/>
            </a:pPr>
            <a:endParaRPr sz="1400" b="1"/>
          </a:p>
          <a:p>
            <a:pPr marL="0" lvl="0" indent="0" algn="l" rtl="0">
              <a:lnSpc>
                <a:spcPct val="90000"/>
              </a:lnSpc>
              <a:spcBef>
                <a:spcPts val="1000"/>
              </a:spcBef>
              <a:spcAft>
                <a:spcPts val="0"/>
              </a:spcAft>
              <a:buClr>
                <a:schemeClr val="dk1"/>
              </a:buClr>
              <a:buSzPts val="1400"/>
              <a:buNone/>
            </a:pPr>
            <a:endParaRPr sz="1400" b="1"/>
          </a:p>
          <a:p>
            <a:pPr marL="228600" lvl="0" indent="-228600" algn="l" rtl="0">
              <a:lnSpc>
                <a:spcPct val="90000"/>
              </a:lnSpc>
              <a:spcBef>
                <a:spcPts val="1000"/>
              </a:spcBef>
              <a:spcAft>
                <a:spcPts val="0"/>
              </a:spcAft>
              <a:buClr>
                <a:schemeClr val="dk1"/>
              </a:buClr>
              <a:buSzPts val="1400"/>
              <a:buChar char="•"/>
            </a:pPr>
            <a:r>
              <a:rPr lang="en-US" sz="1400"/>
              <a:t>All enquiries concerning the COST Innovators Grant can be addressed to </a:t>
            </a:r>
            <a:r>
              <a:rPr lang="en-US" sz="1400" u="sng">
                <a:solidFill>
                  <a:schemeClr val="hlink"/>
                </a:solidFill>
                <a:hlinkClick r:id="rId3"/>
              </a:rPr>
              <a:t>CIG@cost.eu</a:t>
            </a:r>
            <a:endParaRPr sz="1400"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entury Gothic"/>
              <a:buNone/>
            </a:pPr>
            <a:r>
              <a:rPr lang="en-US"/>
              <a:t>Open questions</a:t>
            </a:r>
            <a:endParaRPr/>
          </a:p>
        </p:txBody>
      </p:sp>
      <p:sp>
        <p:nvSpPr>
          <p:cNvPr id="153" name="Google Shape;153;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ts val="1400"/>
              <a:buChar char="•"/>
            </a:pPr>
            <a:r>
              <a:rPr lang="en-US" sz="1400" b="1"/>
              <a:t>Can we just write 20 papers?</a:t>
            </a:r>
            <a:endParaRPr/>
          </a:p>
          <a:p>
            <a:pPr marL="685800" lvl="1" indent="-228600" algn="l" rtl="0">
              <a:lnSpc>
                <a:spcPct val="90000"/>
              </a:lnSpc>
              <a:spcBef>
                <a:spcPts val="500"/>
              </a:spcBef>
              <a:spcAft>
                <a:spcPts val="0"/>
              </a:spcAft>
              <a:buClr>
                <a:schemeClr val="dk1"/>
              </a:buClr>
              <a:buSzPts val="1400"/>
              <a:buFont typeface="Courier New"/>
              <a:buChar char="o"/>
            </a:pPr>
            <a:r>
              <a:rPr lang="en-US" sz="1400"/>
              <a:t>No</a:t>
            </a:r>
            <a:endParaRPr/>
          </a:p>
          <a:p>
            <a:pPr marL="457200" lvl="1" indent="0" algn="l" rtl="0">
              <a:lnSpc>
                <a:spcPct val="90000"/>
              </a:lnSpc>
              <a:spcBef>
                <a:spcPts val="500"/>
              </a:spcBef>
              <a:spcAft>
                <a:spcPts val="0"/>
              </a:spcAft>
              <a:buClr>
                <a:schemeClr val="dk1"/>
              </a:buClr>
              <a:buSzPts val="1400"/>
              <a:buNone/>
            </a:pPr>
            <a:endParaRPr sz="1400"/>
          </a:p>
          <a:p>
            <a:pPr marL="228600" lvl="0" indent="-228600" algn="l" rtl="0">
              <a:lnSpc>
                <a:spcPct val="90000"/>
              </a:lnSpc>
              <a:spcBef>
                <a:spcPts val="1000"/>
              </a:spcBef>
              <a:spcAft>
                <a:spcPts val="0"/>
              </a:spcAft>
              <a:buClr>
                <a:schemeClr val="dk1"/>
              </a:buClr>
              <a:buSzPts val="1400"/>
              <a:buChar char="•"/>
            </a:pPr>
            <a:r>
              <a:rPr lang="en-US" sz="1400" b="1"/>
              <a:t>Can everyone be a team member? What about non-COST Countries?</a:t>
            </a:r>
            <a:endParaRPr/>
          </a:p>
          <a:p>
            <a:pPr marL="685800" lvl="1" indent="-228600" algn="l" rtl="0">
              <a:lnSpc>
                <a:spcPct val="90000"/>
              </a:lnSpc>
              <a:spcBef>
                <a:spcPts val="500"/>
              </a:spcBef>
              <a:spcAft>
                <a:spcPts val="0"/>
              </a:spcAft>
              <a:buClr>
                <a:schemeClr val="dk1"/>
              </a:buClr>
              <a:buSzPts val="1400"/>
              <a:buFont typeface="Courier New"/>
              <a:buChar char="o"/>
            </a:pPr>
            <a:r>
              <a:rPr lang="en-US" sz="1400"/>
              <a:t>Quote from FAQ: “Is the CIG Team composed exclusively of MC members or can substitutes, Working Group (WG) members or even people outside of the Action also be in the CIG team? </a:t>
            </a:r>
            <a:r>
              <a:rPr lang="en-US" sz="1400" b="1"/>
              <a:t>The CIG Team can be composed of any researcher and innovator affiliated to a legal entity located in any COST Full or Cooperating Member regardless of their former contribution in the Action</a:t>
            </a:r>
            <a:r>
              <a:rPr lang="en-US" sz="1400"/>
              <a:t>. “</a:t>
            </a:r>
            <a:endParaRPr/>
          </a:p>
          <a:p>
            <a:pPr marL="685800" lvl="1" indent="-228600" algn="l" rtl="0">
              <a:lnSpc>
                <a:spcPct val="90000"/>
              </a:lnSpc>
              <a:spcBef>
                <a:spcPts val="500"/>
              </a:spcBef>
              <a:spcAft>
                <a:spcPts val="0"/>
              </a:spcAft>
              <a:buClr>
                <a:schemeClr val="dk1"/>
              </a:buClr>
              <a:buSzPts val="1400"/>
              <a:buFont typeface="Courier New"/>
              <a:buChar char="o"/>
            </a:pPr>
            <a:r>
              <a:rPr lang="en-US" sz="1400"/>
              <a:t>Quote from FAQ: “Can CIG Team members be from the United Kingdom? Can partners be from UK? </a:t>
            </a:r>
            <a:r>
              <a:rPr lang="en-US" sz="1400" b="1"/>
              <a:t>CIG Team members and participants affiliated to an Institution in the UK can participate in CIGs and are eligible for reimbursements as described in the Annotated Rules for COST Actions (COST 094/21; https://www.cost.eu/Annotated_Rules_for_COST_Actions_C)</a:t>
            </a:r>
            <a:r>
              <a:rPr lang="en-US" sz="1400"/>
              <a:t>.”</a:t>
            </a:r>
            <a:endParaRPr/>
          </a:p>
          <a:p>
            <a:pPr marL="228600" lvl="0" indent="-139700" algn="l" rtl="0">
              <a:lnSpc>
                <a:spcPct val="90000"/>
              </a:lnSpc>
              <a:spcBef>
                <a:spcPts val="1000"/>
              </a:spcBef>
              <a:spcAft>
                <a:spcPts val="0"/>
              </a:spcAft>
              <a:buClr>
                <a:schemeClr val="dk1"/>
              </a:buClr>
              <a:buSzPts val="1400"/>
              <a:buNone/>
            </a:pPr>
            <a:endParaRPr sz="1400" b="1"/>
          </a:p>
          <a:p>
            <a:pPr marL="228600" lvl="0" indent="-139700" algn="l" rtl="0">
              <a:lnSpc>
                <a:spcPct val="90000"/>
              </a:lnSpc>
              <a:spcBef>
                <a:spcPts val="1000"/>
              </a:spcBef>
              <a:spcAft>
                <a:spcPts val="0"/>
              </a:spcAft>
              <a:buClr>
                <a:schemeClr val="dk1"/>
              </a:buClr>
              <a:buSzPts val="1400"/>
              <a:buNone/>
            </a:pPr>
            <a:endParaRPr sz="1400" b="1"/>
          </a:p>
          <a:p>
            <a:pPr marL="228600" lvl="0" indent="-139700" algn="l" rtl="0">
              <a:lnSpc>
                <a:spcPct val="90000"/>
              </a:lnSpc>
              <a:spcBef>
                <a:spcPts val="1000"/>
              </a:spcBef>
              <a:spcAft>
                <a:spcPts val="0"/>
              </a:spcAft>
              <a:buClr>
                <a:schemeClr val="dk1"/>
              </a:buClr>
              <a:buSzPts val="1400"/>
              <a:buNone/>
            </a:pPr>
            <a:endParaRPr sz="1400" b="1"/>
          </a:p>
          <a:p>
            <a:pPr marL="228600" lvl="0" indent="-139700" algn="l" rtl="0">
              <a:lnSpc>
                <a:spcPct val="90000"/>
              </a:lnSpc>
              <a:spcBef>
                <a:spcPts val="1000"/>
              </a:spcBef>
              <a:spcAft>
                <a:spcPts val="0"/>
              </a:spcAft>
              <a:buClr>
                <a:schemeClr val="dk1"/>
              </a:buClr>
              <a:buSzPts val="1400"/>
              <a:buNone/>
            </a:pPr>
            <a:endParaRPr sz="1400" b="1"/>
          </a:p>
          <a:p>
            <a:pPr marL="228600" lvl="0" indent="-139700" algn="l" rtl="0">
              <a:lnSpc>
                <a:spcPct val="90000"/>
              </a:lnSpc>
              <a:spcBef>
                <a:spcPts val="1000"/>
              </a:spcBef>
              <a:spcAft>
                <a:spcPts val="0"/>
              </a:spcAft>
              <a:buClr>
                <a:schemeClr val="dk1"/>
              </a:buClr>
              <a:buSzPts val="1400"/>
              <a:buNone/>
            </a:pPr>
            <a:endParaRPr sz="1400" b="1"/>
          </a:p>
          <a:p>
            <a:pPr marL="228600" lvl="0" indent="-139700" algn="l" rtl="0">
              <a:lnSpc>
                <a:spcPct val="90000"/>
              </a:lnSpc>
              <a:spcBef>
                <a:spcPts val="1000"/>
              </a:spcBef>
              <a:spcAft>
                <a:spcPts val="0"/>
              </a:spcAft>
              <a:buClr>
                <a:schemeClr val="dk1"/>
              </a:buClr>
              <a:buSzPts val="1400"/>
              <a:buNone/>
            </a:pPr>
            <a:endParaRPr sz="1400" b="1"/>
          </a:p>
          <a:p>
            <a:pPr marL="228600" lvl="0" indent="-228600" algn="l" rtl="0">
              <a:lnSpc>
                <a:spcPct val="90000"/>
              </a:lnSpc>
              <a:spcBef>
                <a:spcPts val="1000"/>
              </a:spcBef>
              <a:spcAft>
                <a:spcPts val="0"/>
              </a:spcAft>
              <a:buClr>
                <a:schemeClr val="dk1"/>
              </a:buClr>
              <a:buSzPts val="1400"/>
              <a:buChar char="•"/>
            </a:pPr>
            <a:r>
              <a:rPr lang="en-US" sz="1400"/>
              <a:t>All enquiries concerning the COST Innovators Grant can be addressed to </a:t>
            </a:r>
            <a:r>
              <a:rPr lang="en-US" sz="1400" u="sng">
                <a:solidFill>
                  <a:schemeClr val="hlink"/>
                </a:solidFill>
                <a:hlinkClick r:id="rId3"/>
              </a:rPr>
              <a:t>CIG@cost.eu</a:t>
            </a:r>
            <a:endParaRPr sz="14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entury Gothic"/>
              <a:buNone/>
            </a:pPr>
            <a:r>
              <a:rPr lang="en-US"/>
              <a:t>Appendix</a:t>
            </a:r>
            <a:endParaRPr/>
          </a:p>
        </p:txBody>
      </p:sp>
      <p:sp>
        <p:nvSpPr>
          <p:cNvPr id="159" name="Google Shape;159;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entury Gothic"/>
              <a:buNone/>
            </a:pPr>
            <a:r>
              <a:rPr lang="en-US"/>
              <a:t>Stylistic Requirements</a:t>
            </a:r>
            <a:endParaRPr/>
          </a:p>
        </p:txBody>
      </p:sp>
      <p:sp>
        <p:nvSpPr>
          <p:cNvPr id="166" name="Google Shape;166;p10"/>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400"/>
              <a:buNone/>
            </a:pPr>
            <a:r>
              <a:rPr lang="en-US" sz="1400" b="1"/>
              <a:t>Find writing style guide </a:t>
            </a:r>
            <a:r>
              <a:rPr lang="en-US" sz="1400" b="1" u="sng">
                <a:solidFill>
                  <a:schemeClr val="hlink"/>
                </a:solidFill>
                <a:hlinkClick r:id="rId3"/>
              </a:rPr>
              <a:t>here</a:t>
            </a:r>
            <a:r>
              <a:rPr lang="en-US" sz="1400" b="1"/>
              <a:t>, page 10, section 2.2.2.3.</a:t>
            </a:r>
            <a:endParaRPr/>
          </a:p>
          <a:p>
            <a:pPr marL="228600" lvl="0" indent="-228600" algn="l" rtl="0">
              <a:lnSpc>
                <a:spcPct val="90000"/>
              </a:lnSpc>
              <a:spcBef>
                <a:spcPts val="1000"/>
              </a:spcBef>
              <a:spcAft>
                <a:spcPts val="0"/>
              </a:spcAft>
              <a:buClr>
                <a:schemeClr val="dk1"/>
              </a:buClr>
              <a:buSzPts val="1400"/>
              <a:buChar char="•"/>
            </a:pPr>
            <a:r>
              <a:rPr lang="en-US" sz="1400"/>
              <a:t>Checking language and spelling, presenting the text in a logical way, avoiding unnecessary repetition between the different sections;</a:t>
            </a:r>
            <a:endParaRPr/>
          </a:p>
          <a:p>
            <a:pPr marL="228600" lvl="0" indent="-228600" algn="l" rtl="0">
              <a:lnSpc>
                <a:spcPct val="90000"/>
              </a:lnSpc>
              <a:spcBef>
                <a:spcPts val="1000"/>
              </a:spcBef>
              <a:spcAft>
                <a:spcPts val="0"/>
              </a:spcAft>
              <a:buClr>
                <a:schemeClr val="dk1"/>
              </a:buClr>
              <a:buSzPts val="1400"/>
              <a:buChar char="•"/>
            </a:pPr>
            <a:r>
              <a:rPr lang="en-US" sz="1400"/>
              <a:t>Use of capital letters for COST-specific and Action-related expressions and explaining all acronyms, including those commonly used in the Framework Programme context;</a:t>
            </a:r>
            <a:endParaRPr/>
          </a:p>
          <a:p>
            <a:pPr marL="228600" lvl="0" indent="-228600" algn="l" rtl="0">
              <a:lnSpc>
                <a:spcPct val="90000"/>
              </a:lnSpc>
              <a:spcBef>
                <a:spcPts val="1000"/>
              </a:spcBef>
              <a:spcAft>
                <a:spcPts val="0"/>
              </a:spcAft>
              <a:buClr>
                <a:schemeClr val="dk1"/>
              </a:buClr>
              <a:buSzPts val="1400"/>
              <a:buChar char="•"/>
            </a:pPr>
            <a:r>
              <a:rPr lang="en-US" sz="1400"/>
              <a:t>Use of "Europe" or "COST Member Countries" when referring to the overall geographical scope of COST. "European Union" or "EU Member States" should only be used to refer to the EU as a player ("EU legislation", "EU programmes", "EU policies" etc.) or when only EU Member State(s) need to be explicitly mentioned, excluding COST Members not being Member States of the EU;</a:t>
            </a:r>
            <a:endParaRPr/>
          </a:p>
          <a:p>
            <a:pPr marL="228600" lvl="0" indent="-228600" algn="l" rtl="0">
              <a:lnSpc>
                <a:spcPct val="90000"/>
              </a:lnSpc>
              <a:spcBef>
                <a:spcPts val="1000"/>
              </a:spcBef>
              <a:spcAft>
                <a:spcPts val="0"/>
              </a:spcAft>
              <a:buClr>
                <a:schemeClr val="dk1"/>
              </a:buClr>
              <a:buSzPts val="1400"/>
              <a:buChar char="•"/>
            </a:pPr>
            <a:r>
              <a:rPr lang="en-US" sz="1400"/>
              <a:t>Use of "framework" or "scheme" when referring to COST (COST is an intergovernmental framework, not an "EU instrument", although it is funded by the EU Framework Programme);</a:t>
            </a:r>
            <a:endParaRPr/>
          </a:p>
          <a:p>
            <a:pPr marL="228600" lvl="0" indent="-228600" algn="l" rtl="0">
              <a:lnSpc>
                <a:spcPct val="90000"/>
              </a:lnSpc>
              <a:spcBef>
                <a:spcPts val="1000"/>
              </a:spcBef>
              <a:spcAft>
                <a:spcPts val="0"/>
              </a:spcAft>
              <a:buClr>
                <a:schemeClr val="dk1"/>
              </a:buClr>
              <a:buSzPts val="1400"/>
              <a:buChar char="•"/>
            </a:pPr>
            <a:r>
              <a:rPr lang="en-US" sz="1400"/>
              <a:t>Avoiding pronouns such as “I”, “we”; rather use “the CIG”;</a:t>
            </a:r>
            <a:endParaRPr/>
          </a:p>
          <a:p>
            <a:pPr marL="228600" lvl="0" indent="-228600" algn="l" rtl="0">
              <a:lnSpc>
                <a:spcPct val="90000"/>
              </a:lnSpc>
              <a:spcBef>
                <a:spcPts val="1000"/>
              </a:spcBef>
              <a:spcAft>
                <a:spcPts val="0"/>
              </a:spcAft>
              <a:buClr>
                <a:schemeClr val="dk1"/>
              </a:buClr>
              <a:buSzPts val="1400"/>
              <a:buChar char="•"/>
            </a:pPr>
            <a:r>
              <a:rPr lang="en-US" sz="1400"/>
              <a:t>Avoiding expressions such as “planned” or “proposed” when referring to the CIG; rather use “aims at”, “will”, etc.;</a:t>
            </a:r>
            <a:endParaRPr/>
          </a:p>
          <a:p>
            <a:pPr marL="228600" lvl="0" indent="-228600" algn="l" rtl="0">
              <a:lnSpc>
                <a:spcPct val="90000"/>
              </a:lnSpc>
              <a:spcBef>
                <a:spcPts val="1000"/>
              </a:spcBef>
              <a:spcAft>
                <a:spcPts val="0"/>
              </a:spcAft>
              <a:buClr>
                <a:schemeClr val="dk1"/>
              </a:buClr>
              <a:buSzPts val="1400"/>
              <a:buChar char="•"/>
            </a:pPr>
            <a:r>
              <a:rPr lang="en-US" sz="1400"/>
              <a:t>Avoiding overstatements regarding the potential impact of the CIG.</a:t>
            </a:r>
            <a:endParaRPr/>
          </a:p>
          <a:p>
            <a:pPr marL="228600" lvl="0" indent="-228600" algn="l" rtl="0">
              <a:lnSpc>
                <a:spcPct val="90000"/>
              </a:lnSpc>
              <a:spcBef>
                <a:spcPts val="1000"/>
              </a:spcBef>
              <a:spcAft>
                <a:spcPts val="0"/>
              </a:spcAft>
              <a:buClr>
                <a:schemeClr val="dk1"/>
              </a:buClr>
              <a:buSzPts val="1400"/>
              <a:buChar char="•"/>
            </a:pPr>
            <a:r>
              <a:rPr lang="en-US" sz="1400"/>
              <a:t>Using of the “CIG application template” and the following COST standard style: Arial font, size 10, line spacing 1 - choose “Normal, Text” style option from the ribbon styles gallery, margins, line spacing, etc. Any application not fulfilling the aforementioned “CIG application template”, will be converted into the standard template by COST. In case of exceeding pages, these will not be provided to CIG Committee for evaluation.</a:t>
            </a:r>
            <a:endParaRPr/>
          </a:p>
          <a:p>
            <a:pPr marL="228600" lvl="0" indent="-228600" algn="l" rtl="0">
              <a:lnSpc>
                <a:spcPct val="90000"/>
              </a:lnSpc>
              <a:spcBef>
                <a:spcPts val="1000"/>
              </a:spcBef>
              <a:spcAft>
                <a:spcPts val="0"/>
              </a:spcAft>
              <a:buClr>
                <a:schemeClr val="dk1"/>
              </a:buClr>
              <a:buSzPts val="1400"/>
              <a:buChar char="•"/>
            </a:pPr>
            <a:r>
              <a:rPr lang="en-US" sz="1400"/>
              <a:t>No footnotes;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171"/>
        <p:cNvGrpSpPr/>
        <p:nvPr/>
      </p:nvGrpSpPr>
      <p:grpSpPr>
        <a:xfrm>
          <a:off x="0" y="0"/>
          <a:ext cx="0" cy="0"/>
          <a:chOff x="0" y="0"/>
          <a:chExt cx="0" cy="0"/>
        </a:xfrm>
      </p:grpSpPr>
      <p:sp>
        <p:nvSpPr>
          <p:cNvPr id="172" name="Google Shape;172;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entury Gothic"/>
              <a:buNone/>
            </a:pPr>
            <a:r>
              <a:rPr lang="en-US"/>
              <a:t>Application form content</a:t>
            </a:r>
            <a:endParaRPr/>
          </a:p>
        </p:txBody>
      </p:sp>
      <p:sp>
        <p:nvSpPr>
          <p:cNvPr id="173" name="Google Shape;173;p11"/>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1400"/>
              <a:buChar char="•"/>
            </a:pPr>
            <a:r>
              <a:rPr lang="en-US" sz="1400" b="1"/>
              <a:t>See evaluation </a:t>
            </a:r>
            <a:r>
              <a:rPr lang="en-US" sz="1400" b="1" u="sng">
                <a:solidFill>
                  <a:schemeClr val="hlink"/>
                </a:solidFill>
                <a:hlinkClick r:id="rId3"/>
              </a:rPr>
              <a:t>guidelines</a:t>
            </a:r>
            <a:r>
              <a:rPr lang="en-US" sz="1400" b="1"/>
              <a:t> before filling the CIG application</a:t>
            </a:r>
            <a:endParaRPr/>
          </a:p>
          <a:p>
            <a:pPr marL="228600" lvl="0" indent="-228600" algn="l" rtl="0">
              <a:lnSpc>
                <a:spcPct val="90000"/>
              </a:lnSpc>
              <a:spcBef>
                <a:spcPts val="1000"/>
              </a:spcBef>
              <a:spcAft>
                <a:spcPts val="0"/>
              </a:spcAft>
              <a:buClr>
                <a:schemeClr val="dk1"/>
              </a:buClr>
              <a:buSzPts val="1400"/>
              <a:buChar char="•"/>
            </a:pPr>
            <a:r>
              <a:rPr lang="en-US" sz="1400" b="1"/>
              <a:t>CIG application Part A:</a:t>
            </a:r>
            <a:endParaRPr/>
          </a:p>
          <a:p>
            <a:pPr marL="685800" lvl="1" indent="-228600" algn="l" rtl="0">
              <a:lnSpc>
                <a:spcPct val="90000"/>
              </a:lnSpc>
              <a:spcBef>
                <a:spcPts val="500"/>
              </a:spcBef>
              <a:spcAft>
                <a:spcPts val="0"/>
              </a:spcAft>
              <a:buClr>
                <a:schemeClr val="dk1"/>
              </a:buClr>
              <a:buSzPts val="1400"/>
              <a:buChar char="•"/>
            </a:pPr>
            <a:r>
              <a:rPr lang="en-US" sz="1400"/>
              <a:t>Application title, application acronym, Code of COST Action, Submitter (must be Action Chair/ Vice Chair), Origin of CIG application in the Action, CIG Grant Holder, Summary (for publication if the application is approved, between 100 and 500 words), Composition of CIG Team.</a:t>
            </a:r>
            <a:endParaRPr/>
          </a:p>
          <a:p>
            <a:pPr marL="685800" lvl="1" indent="-228600" algn="l" rtl="0">
              <a:lnSpc>
                <a:spcPct val="90000"/>
              </a:lnSpc>
              <a:spcBef>
                <a:spcPts val="500"/>
              </a:spcBef>
              <a:spcAft>
                <a:spcPts val="0"/>
              </a:spcAft>
              <a:buClr>
                <a:schemeClr val="dk1"/>
              </a:buClr>
              <a:buSzPts val="1400"/>
              <a:buChar char="•"/>
            </a:pPr>
            <a:r>
              <a:rPr lang="en-US" sz="1400"/>
              <a:t>Name, email, institution, country of affiliation, role in the CIG, relevant expertise and expected contribution in the CIG for: CIG Chair, CIG Vice-Chair and CIG Team Members.</a:t>
            </a:r>
            <a:endParaRPr/>
          </a:p>
          <a:p>
            <a:pPr marL="228600" lvl="0" indent="-228600" algn="l" rtl="0">
              <a:lnSpc>
                <a:spcPct val="90000"/>
              </a:lnSpc>
              <a:spcBef>
                <a:spcPts val="1000"/>
              </a:spcBef>
              <a:spcAft>
                <a:spcPts val="0"/>
              </a:spcAft>
              <a:buClr>
                <a:schemeClr val="dk1"/>
              </a:buClr>
              <a:buSzPts val="1400"/>
              <a:buChar char="•"/>
            </a:pPr>
            <a:r>
              <a:rPr lang="en-US" sz="1400" b="1"/>
              <a:t>CIG application Part B (max. 6 pages) – the Business Plan:</a:t>
            </a:r>
            <a:endParaRPr/>
          </a:p>
          <a:p>
            <a:pPr marL="685800" lvl="1" indent="-228600" algn="l" rtl="0">
              <a:lnSpc>
                <a:spcPct val="90000"/>
              </a:lnSpc>
              <a:spcBef>
                <a:spcPts val="500"/>
              </a:spcBef>
              <a:spcAft>
                <a:spcPts val="0"/>
              </a:spcAft>
              <a:buClr>
                <a:schemeClr val="dk1"/>
              </a:buClr>
              <a:buSzPts val="1400"/>
              <a:buChar char="•"/>
            </a:pPr>
            <a:r>
              <a:rPr lang="en-US" sz="1400"/>
              <a:t>Innovation Potential: </a:t>
            </a:r>
            <a:endParaRPr/>
          </a:p>
          <a:p>
            <a:pPr marL="1143000" lvl="2" indent="-228600" algn="l" rtl="0">
              <a:lnSpc>
                <a:spcPct val="90000"/>
              </a:lnSpc>
              <a:spcBef>
                <a:spcPts val="500"/>
              </a:spcBef>
              <a:spcAft>
                <a:spcPts val="0"/>
              </a:spcAft>
              <a:buClr>
                <a:schemeClr val="dk1"/>
              </a:buClr>
              <a:buSzPts val="1400"/>
              <a:buChar char="•"/>
            </a:pPr>
            <a:r>
              <a:rPr lang="en-US" sz="1400"/>
              <a:t>What is the practical challenge and target group that you will address? </a:t>
            </a:r>
            <a:endParaRPr/>
          </a:p>
          <a:p>
            <a:pPr marL="1143000" lvl="2" indent="-228600" algn="l" rtl="0">
              <a:lnSpc>
                <a:spcPct val="90000"/>
              </a:lnSpc>
              <a:spcBef>
                <a:spcPts val="500"/>
              </a:spcBef>
              <a:spcAft>
                <a:spcPts val="0"/>
              </a:spcAft>
              <a:buClr>
                <a:schemeClr val="dk1"/>
              </a:buClr>
              <a:buSzPts val="1400"/>
              <a:buChar char="•"/>
            </a:pPr>
            <a:r>
              <a:rPr lang="en-US" sz="1400"/>
              <a:t>What is your proposed solution, what will be the main outcomes of the CIG? </a:t>
            </a:r>
            <a:endParaRPr/>
          </a:p>
          <a:p>
            <a:pPr marL="1143000" lvl="2" indent="-228600" algn="l" rtl="0">
              <a:lnSpc>
                <a:spcPct val="90000"/>
              </a:lnSpc>
              <a:spcBef>
                <a:spcPts val="500"/>
              </a:spcBef>
              <a:spcAft>
                <a:spcPts val="0"/>
              </a:spcAft>
              <a:buClr>
                <a:schemeClr val="dk1"/>
              </a:buClr>
              <a:buSzPts val="1400"/>
              <a:buChar char="•"/>
            </a:pPr>
            <a:r>
              <a:rPr lang="en-US" sz="1400"/>
              <a:t>Objectives of the CIG? </a:t>
            </a:r>
            <a:endParaRPr/>
          </a:p>
          <a:p>
            <a:pPr marL="1143000" lvl="2" indent="-228600" algn="l" rtl="0">
              <a:lnSpc>
                <a:spcPct val="90000"/>
              </a:lnSpc>
              <a:spcBef>
                <a:spcPts val="500"/>
              </a:spcBef>
              <a:spcAft>
                <a:spcPts val="0"/>
              </a:spcAft>
              <a:buClr>
                <a:schemeClr val="dk1"/>
              </a:buClr>
              <a:buSzPts val="1400"/>
              <a:buChar char="•"/>
            </a:pPr>
            <a:r>
              <a:rPr lang="en-US" sz="1400"/>
              <a:t>What is innovative about your solution?</a:t>
            </a:r>
            <a:endParaRPr/>
          </a:p>
          <a:p>
            <a:pPr marL="685800" lvl="1" indent="-228600" algn="l" rtl="0">
              <a:lnSpc>
                <a:spcPct val="90000"/>
              </a:lnSpc>
              <a:spcBef>
                <a:spcPts val="500"/>
              </a:spcBef>
              <a:spcAft>
                <a:spcPts val="0"/>
              </a:spcAft>
              <a:buClr>
                <a:schemeClr val="dk1"/>
              </a:buClr>
              <a:buSzPts val="1400"/>
              <a:buChar char="•"/>
            </a:pPr>
            <a:r>
              <a:rPr lang="en-US" sz="1400"/>
              <a:t>Expected impact: </a:t>
            </a:r>
            <a:endParaRPr/>
          </a:p>
          <a:p>
            <a:pPr marL="1143000" lvl="2" indent="-228600" algn="l" rtl="0">
              <a:lnSpc>
                <a:spcPct val="90000"/>
              </a:lnSpc>
              <a:spcBef>
                <a:spcPts val="500"/>
              </a:spcBef>
              <a:spcAft>
                <a:spcPts val="0"/>
              </a:spcAft>
              <a:buClr>
                <a:schemeClr val="dk1"/>
              </a:buClr>
              <a:buSzPts val="1400"/>
              <a:buChar char="•"/>
            </a:pPr>
            <a:r>
              <a:rPr lang="en-US" sz="1400"/>
              <a:t>Describe who and/or what will benefit, how, when and to which extent. </a:t>
            </a:r>
            <a:endParaRPr/>
          </a:p>
          <a:p>
            <a:pPr marL="1143000" lvl="2" indent="-228600" algn="l" rtl="0">
              <a:lnSpc>
                <a:spcPct val="90000"/>
              </a:lnSpc>
              <a:spcBef>
                <a:spcPts val="500"/>
              </a:spcBef>
              <a:spcAft>
                <a:spcPts val="0"/>
              </a:spcAft>
              <a:buClr>
                <a:schemeClr val="dk1"/>
              </a:buClr>
              <a:buSzPts val="1400"/>
              <a:buChar char="•"/>
            </a:pPr>
            <a:r>
              <a:rPr lang="en-US" sz="1400"/>
              <a:t>Plan for exploitation.</a:t>
            </a:r>
            <a:endParaRPr/>
          </a:p>
          <a:p>
            <a:pPr marL="685800" lvl="1" indent="-228600" algn="l" rtl="0">
              <a:lnSpc>
                <a:spcPct val="90000"/>
              </a:lnSpc>
              <a:spcBef>
                <a:spcPts val="500"/>
              </a:spcBef>
              <a:spcAft>
                <a:spcPts val="0"/>
              </a:spcAft>
              <a:buClr>
                <a:schemeClr val="dk1"/>
              </a:buClr>
              <a:buSzPts val="1400"/>
              <a:buChar char="•"/>
            </a:pPr>
            <a:r>
              <a:rPr lang="en-US" sz="1400"/>
              <a:t>Plan for Implementing the CIG</a:t>
            </a:r>
            <a:endParaRPr/>
          </a:p>
          <a:p>
            <a:pPr marL="1143000" lvl="2" indent="-228600" algn="l" rtl="0">
              <a:lnSpc>
                <a:spcPct val="90000"/>
              </a:lnSpc>
              <a:spcBef>
                <a:spcPts val="500"/>
              </a:spcBef>
              <a:spcAft>
                <a:spcPts val="0"/>
              </a:spcAft>
              <a:buClr>
                <a:schemeClr val="dk1"/>
              </a:buClr>
              <a:buSzPts val="1400"/>
              <a:buChar char="•"/>
            </a:pPr>
            <a:r>
              <a:rPr lang="en-US" sz="1400"/>
              <a:t>Work plan. </a:t>
            </a:r>
            <a:endParaRPr/>
          </a:p>
          <a:p>
            <a:pPr marL="1143000" lvl="2" indent="-228600" algn="l" rtl="0">
              <a:lnSpc>
                <a:spcPct val="90000"/>
              </a:lnSpc>
              <a:spcBef>
                <a:spcPts val="500"/>
              </a:spcBef>
              <a:spcAft>
                <a:spcPts val="0"/>
              </a:spcAft>
              <a:buClr>
                <a:schemeClr val="dk1"/>
              </a:buClr>
              <a:buSzPts val="1400"/>
              <a:buChar char="•"/>
            </a:pPr>
            <a:r>
              <a:rPr lang="en-US" sz="1400"/>
              <a:t>Intellectual property rights considerations.</a:t>
            </a:r>
            <a:endParaRPr/>
          </a:p>
          <a:p>
            <a:pPr marL="228600" lvl="0" indent="-114300" algn="l" rtl="0">
              <a:lnSpc>
                <a:spcPct val="90000"/>
              </a:lnSpc>
              <a:spcBef>
                <a:spcPts val="1000"/>
              </a:spcBef>
              <a:spcAft>
                <a:spcPts val="0"/>
              </a:spcAft>
              <a:buClr>
                <a:schemeClr val="dk1"/>
              </a:buClr>
              <a:buSzPts val="1800"/>
              <a:buNone/>
            </a:pPr>
            <a:endParaRPr sz="1800"/>
          </a:p>
          <a:p>
            <a:pPr marL="228600" lvl="0" indent="-101600" algn="l" rtl="0">
              <a:lnSpc>
                <a:spcPct val="90000"/>
              </a:lnSpc>
              <a:spcBef>
                <a:spcPts val="1000"/>
              </a:spcBef>
              <a:spcAft>
                <a:spcPts val="0"/>
              </a:spcAft>
              <a:buClr>
                <a:schemeClr val="dk1"/>
              </a:buClr>
              <a:buSzPts val="2000"/>
              <a:buNone/>
            </a:pPr>
            <a:endParaRPr sz="2000" b="1"/>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54B87C28FEFA4AAE092391D0079FE1" ma:contentTypeVersion="15" ma:contentTypeDescription="Crée un document." ma:contentTypeScope="" ma:versionID="e8a67af5a7778341a5c1ff2fb99b9b87">
  <xsd:schema xmlns:xsd="http://www.w3.org/2001/XMLSchema" xmlns:xs="http://www.w3.org/2001/XMLSchema" xmlns:p="http://schemas.microsoft.com/office/2006/metadata/properties" xmlns:ns2="421fce7b-b771-4f81-be52-15a33b1b6b95" xmlns:ns3="da5cdfc7-013d-46ce-9160-57d9aef5e595" targetNamespace="http://schemas.microsoft.com/office/2006/metadata/properties" ma:root="true" ma:fieldsID="3e7b7c105bfc366d4a65a365cb66a125" ns2:_="" ns3:_="">
    <xsd:import namespace="421fce7b-b771-4f81-be52-15a33b1b6b95"/>
    <xsd:import namespace="da5cdfc7-013d-46ce-9160-57d9aef5e59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1fce7b-b771-4f81-be52-15a33b1b6b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5762c749-3c58-4e44-b2b3-1d952cc78e7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a5cdfc7-013d-46ce-9160-57d9aef5e595"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fa1394f0-86dd-4812-9a49-c010ed93629d}" ma:internalName="TaxCatchAll" ma:showField="CatchAllData" ma:web="da5cdfc7-013d-46ce-9160-57d9aef5e5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98E587-B361-42D1-919E-D1C06B7CCC08}"/>
</file>

<file path=customXml/itemProps2.xml><?xml version="1.0" encoding="utf-8"?>
<ds:datastoreItem xmlns:ds="http://schemas.openxmlformats.org/officeDocument/2006/customXml" ds:itemID="{431FA7F7-026D-4A65-9C26-BD6EE703952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13</Notes>
  <HiddenSlides>1</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COST CA19130 Fintech and AI in Finance</vt:lpstr>
      <vt:lpstr>Application Phase</vt:lpstr>
      <vt:lpstr>Project Phase</vt:lpstr>
      <vt:lpstr>Application Form – Part A</vt:lpstr>
      <vt:lpstr>Application Form – Part B</vt:lpstr>
      <vt:lpstr>Evaluation</vt:lpstr>
      <vt:lpstr>2023 Five COST Innovators Grant</vt:lpstr>
      <vt:lpstr>Start application writing</vt:lpstr>
      <vt:lpstr>Open questions</vt:lpstr>
      <vt:lpstr>Open questions</vt:lpstr>
      <vt:lpstr>Appendix</vt:lpstr>
      <vt:lpstr>Stylistic Requirements</vt:lpstr>
      <vt:lpstr>Application form content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 CA19130 Fintech and AI in Finance</dc:title>
  <dc:creator>Osterrieder, Jörg</dc:creator>
  <cp:revision>1</cp:revision>
  <dcterms:created xsi:type="dcterms:W3CDTF">2023-08-05T16:07:15Z</dcterms:created>
  <dcterms:modified xsi:type="dcterms:W3CDTF">2024-01-03T15:47:45Z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0x0101006C54B87C28FEFA4AAE092391D0079FE1</vt:lpwstr>
  </property>
  <property fmtid="{D5CDD505-2E9C-101B-9397-08002B2CF9AE}" pid="3" name="MediaServiceImageTags">
    <vt:lpwstr/>
  </property>
</Properties>
</file>