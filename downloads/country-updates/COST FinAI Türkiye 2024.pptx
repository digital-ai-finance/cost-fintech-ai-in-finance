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3"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949">
          <p15:clr>
            <a:srgbClr val="A4A3A4"/>
          </p15:clr>
        </p15:guide>
        <p15:guide id="2" orient="horz" pos="2160">
          <p15:clr>
            <a:srgbClr val="A4A3A4"/>
          </p15:clr>
        </p15:guide>
      </p15:sldGuideLst>
    </p:ext>
    <p:ext uri="GoogleSlidesCustomDataVersion2">
      <go:slidesCustomData xmlns:go="http://customooxmlschemas.google.com/" r:id="rId22" roundtripDataSignature="AMtx7mgIHaJp33cpBr7GNtADyR6FZU2p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49"/>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customschemas.google.com/relationships/presentationmetadata" Target="metadata"/><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slide" Target="slides/slide12.xml"/><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80b3b84e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280b3b84e0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g280b3b84e0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80b3b84e0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280b3b84e0b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g280b3b84e0b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80b3b84e0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280b3b84e0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280b3b84e0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80b3b84e0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280b3b84e0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80b3b84e0b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hyperlink" Target="https://twitter.com/costprogramme?lang=fr" TargetMode="External"/><Relationship Id="rId4" Type="http://schemas.openxmlformats.org/officeDocument/2006/relationships/image" Target="../media/image4.jpg"/><Relationship Id="rId11" Type="http://schemas.openxmlformats.org/officeDocument/2006/relationships/image" Target="../media/image5.png"/><Relationship Id="rId10" Type="http://schemas.openxmlformats.org/officeDocument/2006/relationships/hyperlink" Target="https://www.linkedin.com/company/cost-office" TargetMode="External"/><Relationship Id="rId9" Type="http://schemas.openxmlformats.org/officeDocument/2006/relationships/image" Target="../media/image8.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3.png"/><Relationship Id="rId8" Type="http://schemas.openxmlformats.org/officeDocument/2006/relationships/hyperlink" Target="https://www.facebook.com/COST.Programme/"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hyperlink" Target="https://twitter.com/costprogramme?lang=fr" TargetMode="External"/><Relationship Id="rId4" Type="http://schemas.openxmlformats.org/officeDocument/2006/relationships/image" Target="../media/image4.jpg"/><Relationship Id="rId11" Type="http://schemas.openxmlformats.org/officeDocument/2006/relationships/image" Target="../media/image5.png"/><Relationship Id="rId10" Type="http://schemas.openxmlformats.org/officeDocument/2006/relationships/hyperlink" Target="https://www.linkedin.com/company/cost-office" TargetMode="External"/><Relationship Id="rId9" Type="http://schemas.openxmlformats.org/officeDocument/2006/relationships/image" Target="../media/image8.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3.png"/><Relationship Id="rId8" Type="http://schemas.openxmlformats.org/officeDocument/2006/relationships/hyperlink" Target="https://www.facebook.com/COST.Programme/"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hyperlink" Target="https://twitter.com/costprogramme?lang=fr" TargetMode="External"/><Relationship Id="rId4" Type="http://schemas.openxmlformats.org/officeDocument/2006/relationships/image" Target="../media/image4.jpg"/><Relationship Id="rId11" Type="http://schemas.openxmlformats.org/officeDocument/2006/relationships/image" Target="../media/image5.png"/><Relationship Id="rId10" Type="http://schemas.openxmlformats.org/officeDocument/2006/relationships/hyperlink" Target="https://www.linkedin.com/company/cost-office" TargetMode="External"/><Relationship Id="rId9" Type="http://schemas.openxmlformats.org/officeDocument/2006/relationships/image" Target="../media/image8.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3.png"/><Relationship Id="rId8" Type="http://schemas.openxmlformats.org/officeDocument/2006/relationships/hyperlink" Target="https://www.facebook.com/COST.Programme/"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10" name="Shape 10"/>
        <p:cNvGrpSpPr/>
        <p:nvPr/>
      </p:nvGrpSpPr>
      <p:grpSpPr>
        <a:xfrm>
          <a:off x="0" y="0"/>
          <a:ext cx="0" cy="0"/>
          <a:chOff x="0" y="0"/>
          <a:chExt cx="0" cy="0"/>
        </a:xfrm>
      </p:grpSpPr>
      <p:pic>
        <p:nvPicPr>
          <p:cNvPr id="11" name="Google Shape;11;p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 name="Google Shape;12;p4"/>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4"/>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5"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5"/>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5"/>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20" name="Shape 20"/>
        <p:cNvGrpSpPr/>
        <p:nvPr/>
      </p:nvGrpSpPr>
      <p:grpSpPr>
        <a:xfrm>
          <a:off x="0" y="0"/>
          <a:ext cx="0" cy="0"/>
          <a:chOff x="0" y="0"/>
          <a:chExt cx="0" cy="0"/>
        </a:xfrm>
      </p:grpSpPr>
      <p:pic>
        <p:nvPicPr>
          <p:cNvPr id="21" name="Google Shape;21;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6"/>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6"/>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6"/>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25" name="Shape 25"/>
        <p:cNvGrpSpPr/>
        <p:nvPr/>
      </p:nvGrpSpPr>
      <p:grpSpPr>
        <a:xfrm>
          <a:off x="0" y="0"/>
          <a:ext cx="0" cy="0"/>
          <a:chOff x="0" y="0"/>
          <a:chExt cx="0" cy="0"/>
        </a:xfrm>
      </p:grpSpPr>
      <p:pic>
        <p:nvPicPr>
          <p:cNvPr id="26" name="Google Shape;26;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7" name="Google Shape;27;p7"/>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7"/>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7"/>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30" name="Shape 30"/>
        <p:cNvGrpSpPr/>
        <p:nvPr/>
      </p:nvGrpSpPr>
      <p:grpSpPr>
        <a:xfrm>
          <a:off x="0" y="0"/>
          <a:ext cx="0" cy="0"/>
          <a:chOff x="0" y="0"/>
          <a:chExt cx="0" cy="0"/>
        </a:xfrm>
      </p:grpSpPr>
      <p:pic>
        <p:nvPicPr>
          <p:cNvPr id="31" name="Google Shape;31;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2" name="Google Shape;32;p8"/>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35" name="Shape 35"/>
        <p:cNvGrpSpPr/>
        <p:nvPr/>
      </p:nvGrpSpPr>
      <p:grpSpPr>
        <a:xfrm>
          <a:off x="0" y="0"/>
          <a:ext cx="0" cy="0"/>
          <a:chOff x="0" y="0"/>
          <a:chExt cx="0" cy="0"/>
        </a:xfrm>
      </p:grpSpPr>
      <p:pic>
        <p:nvPicPr>
          <p:cNvPr id="36" name="Google Shape;36;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7" name="Google Shape;37;p9"/>
          <p:cNvSpPr txBox="1"/>
          <p:nvPr>
            <p:ph idx="1" type="body"/>
          </p:nvPr>
        </p:nvSpPr>
        <p:spPr>
          <a:xfrm>
            <a:off x="874713" y="1093983"/>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40" name="Shape 40"/>
        <p:cNvGrpSpPr/>
        <p:nvPr/>
      </p:nvGrpSpPr>
      <p:grpSpPr>
        <a:xfrm>
          <a:off x="0" y="0"/>
          <a:ext cx="0" cy="0"/>
          <a:chOff x="0" y="0"/>
          <a:chExt cx="0" cy="0"/>
        </a:xfrm>
      </p:grpSpPr>
      <p:pic>
        <p:nvPicPr>
          <p:cNvPr id="41" name="Google Shape;41;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2" name="Google Shape;42;p10"/>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1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5" name="Google Shape;45;p10"/>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46" name="Shape 46"/>
        <p:cNvGrpSpPr/>
        <p:nvPr/>
      </p:nvGrpSpPr>
      <p:grpSpPr>
        <a:xfrm>
          <a:off x="0" y="0"/>
          <a:ext cx="0" cy="0"/>
          <a:chOff x="0" y="0"/>
          <a:chExt cx="0" cy="0"/>
        </a:xfrm>
      </p:grpSpPr>
      <p:pic>
        <p:nvPicPr>
          <p:cNvPr id="47" name="Google Shape;47;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1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9" name="Google Shape;49;p1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1"/>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51" name="Shape 51"/>
        <p:cNvGrpSpPr/>
        <p:nvPr/>
      </p:nvGrpSpPr>
      <p:grpSpPr>
        <a:xfrm>
          <a:off x="0" y="0"/>
          <a:ext cx="0" cy="0"/>
          <a:chOff x="0" y="0"/>
          <a:chExt cx="0" cy="0"/>
        </a:xfrm>
      </p:grpSpPr>
      <p:pic>
        <p:nvPicPr>
          <p:cNvPr id="52" name="Google Shape;52;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3" name="Google Shape;53;p1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4" name="Google Shape;54;p12"/>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2"/>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56" name="Shape 56"/>
        <p:cNvGrpSpPr/>
        <p:nvPr/>
      </p:nvGrpSpPr>
      <p:grpSpPr>
        <a:xfrm>
          <a:off x="0" y="0"/>
          <a:ext cx="0" cy="0"/>
          <a:chOff x="0" y="0"/>
          <a:chExt cx="0" cy="0"/>
        </a:xfrm>
      </p:grpSpPr>
      <p:pic>
        <p:nvPicPr>
          <p:cNvPr id="57" name="Google Shape;57;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1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9" name="Google Shape;59;p1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13"/>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61" name="Shape 61"/>
        <p:cNvGrpSpPr/>
        <p:nvPr/>
      </p:nvGrpSpPr>
      <p:grpSpPr>
        <a:xfrm>
          <a:off x="0" y="0"/>
          <a:ext cx="0" cy="0"/>
          <a:chOff x="0" y="0"/>
          <a:chExt cx="0" cy="0"/>
        </a:xfrm>
      </p:grpSpPr>
      <p:pic>
        <p:nvPicPr>
          <p:cNvPr id="62" name="Google Shape;62;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3" name="Google Shape;63;p1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4" name="Google Shape;64;p1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14"/>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14"/>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9" name="Google Shape;69;p15"/>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15"/>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71" name="Google Shape;71;p15"/>
          <p:cNvGrpSpPr/>
          <p:nvPr/>
        </p:nvGrpSpPr>
        <p:grpSpPr>
          <a:xfrm>
            <a:off x="9026219" y="5182889"/>
            <a:ext cx="2200682" cy="1172172"/>
            <a:chOff x="6636485" y="5354057"/>
            <a:chExt cx="2200682" cy="1172172"/>
          </a:xfrm>
        </p:grpSpPr>
        <p:grpSp>
          <p:nvGrpSpPr>
            <p:cNvPr id="72" name="Google Shape;72;p15"/>
            <p:cNvGrpSpPr/>
            <p:nvPr/>
          </p:nvGrpSpPr>
          <p:grpSpPr>
            <a:xfrm>
              <a:off x="6883674" y="5354057"/>
              <a:ext cx="1953493" cy="1172172"/>
              <a:chOff x="6883674" y="5354057"/>
              <a:chExt cx="1953493" cy="1172172"/>
            </a:xfrm>
          </p:grpSpPr>
          <p:pic>
            <p:nvPicPr>
              <p:cNvPr descr="Plan de travail 1OFF-Icones.jpg" id="73" name="Google Shape;73;p15">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74" name="Google Shape;74;p15">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75" name="Google Shape;75;p15">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76" name="Google Shape;76;p15">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77" name="Google Shape;77;p15"/>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78" name="Google Shape;78;p15">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79" name="Shape 79"/>
        <p:cNvGrpSpPr/>
        <p:nvPr/>
      </p:nvGrpSpPr>
      <p:grpSpPr>
        <a:xfrm>
          <a:off x="0" y="0"/>
          <a:ext cx="0" cy="0"/>
          <a:chOff x="0" y="0"/>
          <a:chExt cx="0" cy="0"/>
        </a:xfrm>
      </p:grpSpPr>
      <p:pic>
        <p:nvPicPr>
          <p:cNvPr id="80" name="Google Shape;80;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1" name="Google Shape;81;p1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82" name="Shape 82"/>
        <p:cNvGrpSpPr/>
        <p:nvPr/>
      </p:nvGrpSpPr>
      <p:grpSpPr>
        <a:xfrm>
          <a:off x="0" y="0"/>
          <a:ext cx="0" cy="0"/>
          <a:chOff x="0" y="0"/>
          <a:chExt cx="0" cy="0"/>
        </a:xfrm>
      </p:grpSpPr>
      <p:pic>
        <p:nvPicPr>
          <p:cNvPr id="83" name="Google Shape;83;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1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86" name="Shape 86"/>
        <p:cNvGrpSpPr/>
        <p:nvPr/>
      </p:nvGrpSpPr>
      <p:grpSpPr>
        <a:xfrm>
          <a:off x="0" y="0"/>
          <a:ext cx="0" cy="0"/>
          <a:chOff x="0" y="0"/>
          <a:chExt cx="0" cy="0"/>
        </a:xfrm>
      </p:grpSpPr>
      <p:pic>
        <p:nvPicPr>
          <p:cNvPr id="87" name="Google Shape;87;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19"/>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19"/>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 name="Google Shape;90;p19"/>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91" name="Shape 91"/>
        <p:cNvGrpSpPr/>
        <p:nvPr/>
      </p:nvGrpSpPr>
      <p:grpSpPr>
        <a:xfrm>
          <a:off x="0" y="0"/>
          <a:ext cx="0" cy="0"/>
          <a:chOff x="0" y="0"/>
          <a:chExt cx="0" cy="0"/>
        </a:xfrm>
      </p:grpSpPr>
      <p:pic>
        <p:nvPicPr>
          <p:cNvPr id="92" name="Google Shape;92;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3" name="Google Shape;93;p20"/>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 name="Google Shape;94;p20"/>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20"/>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96" name="Shape 96"/>
        <p:cNvGrpSpPr/>
        <p:nvPr/>
      </p:nvGrpSpPr>
      <p:grpSpPr>
        <a:xfrm>
          <a:off x="0" y="0"/>
          <a:ext cx="0" cy="0"/>
          <a:chOff x="0" y="0"/>
          <a:chExt cx="0" cy="0"/>
        </a:xfrm>
      </p:grpSpPr>
      <p:pic>
        <p:nvPicPr>
          <p:cNvPr id="97" name="Google Shape;97;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8" name="Google Shape;98;p21"/>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p21"/>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p21"/>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01" name="Shape 101"/>
        <p:cNvGrpSpPr/>
        <p:nvPr/>
      </p:nvGrpSpPr>
      <p:grpSpPr>
        <a:xfrm>
          <a:off x="0" y="0"/>
          <a:ext cx="0" cy="0"/>
          <a:chOff x="0" y="0"/>
          <a:chExt cx="0" cy="0"/>
        </a:xfrm>
      </p:grpSpPr>
      <p:pic>
        <p:nvPicPr>
          <p:cNvPr id="102" name="Google Shape;102;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3" name="Google Shape;103;p22"/>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4" name="Google Shape;104;p2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2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106" name="Shape 106"/>
        <p:cNvGrpSpPr/>
        <p:nvPr/>
      </p:nvGrpSpPr>
      <p:grpSpPr>
        <a:xfrm>
          <a:off x="0" y="0"/>
          <a:ext cx="0" cy="0"/>
          <a:chOff x="0" y="0"/>
          <a:chExt cx="0" cy="0"/>
        </a:xfrm>
      </p:grpSpPr>
      <p:pic>
        <p:nvPicPr>
          <p:cNvPr id="107" name="Google Shape;107;p2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8" name="Google Shape;108;p23"/>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9" name="Google Shape;109;p2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111" name="Shape 111"/>
        <p:cNvGrpSpPr/>
        <p:nvPr/>
      </p:nvGrpSpPr>
      <p:grpSpPr>
        <a:xfrm>
          <a:off x="0" y="0"/>
          <a:ext cx="0" cy="0"/>
          <a:chOff x="0" y="0"/>
          <a:chExt cx="0" cy="0"/>
        </a:xfrm>
      </p:grpSpPr>
      <p:pic>
        <p:nvPicPr>
          <p:cNvPr id="112" name="Google Shape;112;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3" name="Google Shape;113;p24"/>
          <p:cNvSpPr txBox="1"/>
          <p:nvPr>
            <p:ph idx="1" type="body"/>
          </p:nvPr>
        </p:nvSpPr>
        <p:spPr>
          <a:xfrm>
            <a:off x="874713" y="1093982"/>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2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16" name="Shape 116"/>
        <p:cNvGrpSpPr/>
        <p:nvPr/>
      </p:nvGrpSpPr>
      <p:grpSpPr>
        <a:xfrm>
          <a:off x="0" y="0"/>
          <a:ext cx="0" cy="0"/>
          <a:chOff x="0" y="0"/>
          <a:chExt cx="0" cy="0"/>
        </a:xfrm>
      </p:grpSpPr>
      <p:pic>
        <p:nvPicPr>
          <p:cNvPr id="117" name="Google Shape;117;p2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8" name="Google Shape;118;p25"/>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9" name="Google Shape;119;p2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2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1" name="Google Shape;121;p25"/>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122" name="Shape 122"/>
        <p:cNvGrpSpPr/>
        <p:nvPr/>
      </p:nvGrpSpPr>
      <p:grpSpPr>
        <a:xfrm>
          <a:off x="0" y="0"/>
          <a:ext cx="0" cy="0"/>
          <a:chOff x="0" y="0"/>
          <a:chExt cx="0" cy="0"/>
        </a:xfrm>
      </p:grpSpPr>
      <p:pic>
        <p:nvPicPr>
          <p:cNvPr id="123" name="Google Shape;123;p2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2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5" name="Google Shape;125;p2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 name="Google Shape;126;p26"/>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127" name="Shape 127"/>
        <p:cNvGrpSpPr/>
        <p:nvPr/>
      </p:nvGrpSpPr>
      <p:grpSpPr>
        <a:xfrm>
          <a:off x="0" y="0"/>
          <a:ext cx="0" cy="0"/>
          <a:chOff x="0" y="0"/>
          <a:chExt cx="0" cy="0"/>
        </a:xfrm>
      </p:grpSpPr>
      <p:pic>
        <p:nvPicPr>
          <p:cNvPr id="128" name="Google Shape;128;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9" name="Google Shape;129;p2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0" name="Google Shape;130;p27"/>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7"/>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132" name="Shape 132"/>
        <p:cNvGrpSpPr/>
        <p:nvPr/>
      </p:nvGrpSpPr>
      <p:grpSpPr>
        <a:xfrm>
          <a:off x="0" y="0"/>
          <a:ext cx="0" cy="0"/>
          <a:chOff x="0" y="0"/>
          <a:chExt cx="0" cy="0"/>
        </a:xfrm>
      </p:grpSpPr>
      <p:pic>
        <p:nvPicPr>
          <p:cNvPr id="133" name="Google Shape;133;p2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4" name="Google Shape;134;p2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5" name="Google Shape;135;p2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8"/>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137" name="Shape 137"/>
        <p:cNvGrpSpPr/>
        <p:nvPr/>
      </p:nvGrpSpPr>
      <p:grpSpPr>
        <a:xfrm>
          <a:off x="0" y="0"/>
          <a:ext cx="0" cy="0"/>
          <a:chOff x="0" y="0"/>
          <a:chExt cx="0" cy="0"/>
        </a:xfrm>
      </p:grpSpPr>
      <p:pic>
        <p:nvPicPr>
          <p:cNvPr id="138" name="Google Shape;138;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2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40" name="Google Shape;140;p2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 name="Google Shape;141;p29"/>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2" name="Google Shape;142;p29"/>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143" name="Shape 143"/>
        <p:cNvGrpSpPr/>
        <p:nvPr/>
      </p:nvGrpSpPr>
      <p:grpSpPr>
        <a:xfrm>
          <a:off x="0" y="0"/>
          <a:ext cx="0" cy="0"/>
          <a:chOff x="0" y="0"/>
          <a:chExt cx="0" cy="0"/>
        </a:xfrm>
      </p:grpSpPr>
      <p:pic>
        <p:nvPicPr>
          <p:cNvPr id="144" name="Google Shape;144;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p30"/>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 name="Google Shape;146;p30"/>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147" name="Google Shape;147;p30"/>
          <p:cNvGrpSpPr/>
          <p:nvPr/>
        </p:nvGrpSpPr>
        <p:grpSpPr>
          <a:xfrm>
            <a:off x="9026219" y="5182889"/>
            <a:ext cx="2200682" cy="1172172"/>
            <a:chOff x="6636485" y="5354057"/>
            <a:chExt cx="2200682" cy="1172172"/>
          </a:xfrm>
        </p:grpSpPr>
        <p:grpSp>
          <p:nvGrpSpPr>
            <p:cNvPr id="148" name="Google Shape;148;p30"/>
            <p:cNvGrpSpPr/>
            <p:nvPr/>
          </p:nvGrpSpPr>
          <p:grpSpPr>
            <a:xfrm>
              <a:off x="6883674" y="5354057"/>
              <a:ext cx="1953493" cy="1172172"/>
              <a:chOff x="6883674" y="5354057"/>
              <a:chExt cx="1953493" cy="1172172"/>
            </a:xfrm>
          </p:grpSpPr>
          <p:pic>
            <p:nvPicPr>
              <p:cNvPr descr="Plan de travail 1OFF-Icones.jpg" id="149" name="Google Shape;149;p30">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150" name="Google Shape;150;p30">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151" name="Google Shape;151;p30">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152" name="Google Shape;152;p30">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153" name="Google Shape;153;p30"/>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154" name="Google Shape;154;p30">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155" name="Shape 155"/>
        <p:cNvGrpSpPr/>
        <p:nvPr/>
      </p:nvGrpSpPr>
      <p:grpSpPr>
        <a:xfrm>
          <a:off x="0" y="0"/>
          <a:ext cx="0" cy="0"/>
          <a:chOff x="0" y="0"/>
          <a:chExt cx="0" cy="0"/>
        </a:xfrm>
      </p:grpSpPr>
      <p:pic>
        <p:nvPicPr>
          <p:cNvPr id="156" name="Google Shape;156;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7" name="Google Shape;157;p3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158" name="Shape 158"/>
        <p:cNvGrpSpPr/>
        <p:nvPr/>
      </p:nvGrpSpPr>
      <p:grpSpPr>
        <a:xfrm>
          <a:off x="0" y="0"/>
          <a:ext cx="0" cy="0"/>
          <a:chOff x="0" y="0"/>
          <a:chExt cx="0" cy="0"/>
        </a:xfrm>
      </p:grpSpPr>
      <p:pic>
        <p:nvPicPr>
          <p:cNvPr id="159" name="Google Shape;159;p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0" name="Google Shape;160;p3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title">
  <p:cSld name="3_Presentation - title">
    <p:spTree>
      <p:nvGrpSpPr>
        <p:cNvPr id="162" name="Shape 162"/>
        <p:cNvGrpSpPr/>
        <p:nvPr/>
      </p:nvGrpSpPr>
      <p:grpSpPr>
        <a:xfrm>
          <a:off x="0" y="0"/>
          <a:ext cx="0" cy="0"/>
          <a:chOff x="0" y="0"/>
          <a:chExt cx="0" cy="0"/>
        </a:xfrm>
      </p:grpSpPr>
      <p:pic>
        <p:nvPicPr>
          <p:cNvPr id="163" name="Google Shape;163;p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4" name="Google Shape;164;p34"/>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5" name="Google Shape;165;p34"/>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6" name="Google Shape;166;p34"/>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resentation - title">
  <p:cSld name="4_Presentation - title">
    <p:spTree>
      <p:nvGrpSpPr>
        <p:cNvPr id="167" name="Shape 167"/>
        <p:cNvGrpSpPr/>
        <p:nvPr/>
      </p:nvGrpSpPr>
      <p:grpSpPr>
        <a:xfrm>
          <a:off x="0" y="0"/>
          <a:ext cx="0" cy="0"/>
          <a:chOff x="0" y="0"/>
          <a:chExt cx="0" cy="0"/>
        </a:xfrm>
      </p:grpSpPr>
      <p:pic>
        <p:nvPicPr>
          <p:cNvPr id="168" name="Google Shape;168;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9" name="Google Shape;169;p35"/>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0" name="Google Shape;170;p35"/>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1" name="Google Shape;171;p35"/>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resentation - title">
  <p:cSld name="5_Presentation - title">
    <p:spTree>
      <p:nvGrpSpPr>
        <p:cNvPr id="172" name="Shape 172"/>
        <p:cNvGrpSpPr/>
        <p:nvPr/>
      </p:nvGrpSpPr>
      <p:grpSpPr>
        <a:xfrm>
          <a:off x="0" y="0"/>
          <a:ext cx="0" cy="0"/>
          <a:chOff x="0" y="0"/>
          <a:chExt cx="0" cy="0"/>
        </a:xfrm>
      </p:grpSpPr>
      <p:pic>
        <p:nvPicPr>
          <p:cNvPr id="173" name="Google Shape;173;p3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4" name="Google Shape;174;p36"/>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6"/>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6" name="Google Shape;176;p36"/>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p:cSld name="2_Presentation - Content">
    <p:spTree>
      <p:nvGrpSpPr>
        <p:cNvPr id="177" name="Shape 177"/>
        <p:cNvGrpSpPr/>
        <p:nvPr/>
      </p:nvGrpSpPr>
      <p:grpSpPr>
        <a:xfrm>
          <a:off x="0" y="0"/>
          <a:ext cx="0" cy="0"/>
          <a:chOff x="0" y="0"/>
          <a:chExt cx="0" cy="0"/>
        </a:xfrm>
      </p:grpSpPr>
      <p:pic>
        <p:nvPicPr>
          <p:cNvPr id="178" name="Google Shape;178;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9" name="Google Shape;179;p37"/>
          <p:cNvSpPr txBox="1"/>
          <p:nvPr>
            <p:ph idx="1" type="body"/>
          </p:nvPr>
        </p:nvSpPr>
        <p:spPr>
          <a:xfrm>
            <a:off x="874713" y="2102946"/>
            <a:ext cx="10225087" cy="367328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37"/>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2">
  <p:cSld name="2_Presentation - Content 2">
    <p:spTree>
      <p:nvGrpSpPr>
        <p:cNvPr id="182" name="Shape 182"/>
        <p:cNvGrpSpPr/>
        <p:nvPr/>
      </p:nvGrpSpPr>
      <p:grpSpPr>
        <a:xfrm>
          <a:off x="0" y="0"/>
          <a:ext cx="0" cy="0"/>
          <a:chOff x="0" y="0"/>
          <a:chExt cx="0" cy="0"/>
        </a:xfrm>
      </p:grpSpPr>
      <p:pic>
        <p:nvPicPr>
          <p:cNvPr id="183" name="Google Shape;183;p3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4" name="Google Shape;184;p38"/>
          <p:cNvSpPr txBox="1"/>
          <p:nvPr>
            <p:ph idx="1" type="body"/>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5" name="Google Shape;185;p3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6" name="Google Shape;186;p3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Empty - Content">
  <p:cSld name="2_Presentation - Empty - Content">
    <p:spTree>
      <p:nvGrpSpPr>
        <p:cNvPr id="187" name="Shape 187"/>
        <p:cNvGrpSpPr/>
        <p:nvPr/>
      </p:nvGrpSpPr>
      <p:grpSpPr>
        <a:xfrm>
          <a:off x="0" y="0"/>
          <a:ext cx="0" cy="0"/>
          <a:chOff x="0" y="0"/>
          <a:chExt cx="0" cy="0"/>
        </a:xfrm>
      </p:grpSpPr>
      <p:pic>
        <p:nvPicPr>
          <p:cNvPr id="188" name="Google Shape;188;p3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9" name="Google Shape;189;p39"/>
          <p:cNvSpPr txBox="1"/>
          <p:nvPr>
            <p:ph idx="1" type="body"/>
          </p:nvPr>
        </p:nvSpPr>
        <p:spPr>
          <a:xfrm>
            <a:off x="874713" y="1093983"/>
            <a:ext cx="10225087" cy="468224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0" name="Google Shape;190;p3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1" name="Google Shape;191;p3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92" name="Shape 192"/>
        <p:cNvGrpSpPr/>
        <p:nvPr/>
      </p:nvGrpSpPr>
      <p:grpSpPr>
        <a:xfrm>
          <a:off x="0" y="0"/>
          <a:ext cx="0" cy="0"/>
          <a:chOff x="0" y="0"/>
          <a:chExt cx="0" cy="0"/>
        </a:xfrm>
      </p:grpSpPr>
      <p:pic>
        <p:nvPicPr>
          <p:cNvPr id="193" name="Google Shape;193;p4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4" name="Google Shape;194;p40"/>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5" name="Google Shape;195;p4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4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97" name="Google Shape;197;p40"/>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p:cSld name="3_Presentation - Content">
    <p:spTree>
      <p:nvGrpSpPr>
        <p:cNvPr id="198" name="Shape 198"/>
        <p:cNvGrpSpPr/>
        <p:nvPr/>
      </p:nvGrpSpPr>
      <p:grpSpPr>
        <a:xfrm>
          <a:off x="0" y="0"/>
          <a:ext cx="0" cy="0"/>
          <a:chOff x="0" y="0"/>
          <a:chExt cx="0" cy="0"/>
        </a:xfrm>
      </p:grpSpPr>
      <p:pic>
        <p:nvPicPr>
          <p:cNvPr id="199" name="Google Shape;199;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0" name="Google Shape;200;p4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1" name="Google Shape;201;p4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41"/>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2">
  <p:cSld name="3_Presentation - Content 2">
    <p:spTree>
      <p:nvGrpSpPr>
        <p:cNvPr id="203" name="Shape 203"/>
        <p:cNvGrpSpPr/>
        <p:nvPr/>
      </p:nvGrpSpPr>
      <p:grpSpPr>
        <a:xfrm>
          <a:off x="0" y="0"/>
          <a:ext cx="0" cy="0"/>
          <a:chOff x="0" y="0"/>
          <a:chExt cx="0" cy="0"/>
        </a:xfrm>
      </p:grpSpPr>
      <p:pic>
        <p:nvPicPr>
          <p:cNvPr id="204" name="Google Shape;204;p4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5" name="Google Shape;205;p4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6" name="Google Shape;206;p42"/>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 name="Google Shape;207;p42"/>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Empty - Content">
  <p:cSld name="3_Presentation - Empty - Content">
    <p:spTree>
      <p:nvGrpSpPr>
        <p:cNvPr id="208" name="Shape 208"/>
        <p:cNvGrpSpPr/>
        <p:nvPr/>
      </p:nvGrpSpPr>
      <p:grpSpPr>
        <a:xfrm>
          <a:off x="0" y="0"/>
          <a:ext cx="0" cy="0"/>
          <a:chOff x="0" y="0"/>
          <a:chExt cx="0" cy="0"/>
        </a:xfrm>
      </p:grpSpPr>
      <p:pic>
        <p:nvPicPr>
          <p:cNvPr id="209" name="Google Shape;209;p4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0" name="Google Shape;210;p4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1" name="Google Shape;211;p4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43"/>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213" name="Shape 213"/>
        <p:cNvGrpSpPr/>
        <p:nvPr/>
      </p:nvGrpSpPr>
      <p:grpSpPr>
        <a:xfrm>
          <a:off x="0" y="0"/>
          <a:ext cx="0" cy="0"/>
          <a:chOff x="0" y="0"/>
          <a:chExt cx="0" cy="0"/>
        </a:xfrm>
      </p:grpSpPr>
      <p:pic>
        <p:nvPicPr>
          <p:cNvPr id="214" name="Google Shape;214;p4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5" name="Google Shape;215;p4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6" name="Google Shape;216;p4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 name="Google Shape;217;p44"/>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8" name="Google Shape;218;p44"/>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p:cSld name="1_Presentation - Empty">
    <p:spTree>
      <p:nvGrpSpPr>
        <p:cNvPr id="219" name="Shape 219"/>
        <p:cNvGrpSpPr/>
        <p:nvPr/>
      </p:nvGrpSpPr>
      <p:grpSpPr>
        <a:xfrm>
          <a:off x="0" y="0"/>
          <a:ext cx="0" cy="0"/>
          <a:chOff x="0" y="0"/>
          <a:chExt cx="0" cy="0"/>
        </a:xfrm>
      </p:grpSpPr>
      <p:pic>
        <p:nvPicPr>
          <p:cNvPr id="220" name="Google Shape;220;p4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1" name="Google Shape;221;p45"/>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 name="Google Shape;222;p45"/>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223" name="Google Shape;223;p45"/>
          <p:cNvGrpSpPr/>
          <p:nvPr/>
        </p:nvGrpSpPr>
        <p:grpSpPr>
          <a:xfrm>
            <a:off x="9026219" y="5182889"/>
            <a:ext cx="2200682" cy="1172172"/>
            <a:chOff x="6636485" y="5354057"/>
            <a:chExt cx="2200682" cy="1172172"/>
          </a:xfrm>
        </p:grpSpPr>
        <p:grpSp>
          <p:nvGrpSpPr>
            <p:cNvPr id="224" name="Google Shape;224;p45"/>
            <p:cNvGrpSpPr/>
            <p:nvPr/>
          </p:nvGrpSpPr>
          <p:grpSpPr>
            <a:xfrm>
              <a:off x="6883674" y="5354057"/>
              <a:ext cx="1953493" cy="1172172"/>
              <a:chOff x="6883674" y="5354057"/>
              <a:chExt cx="1953493" cy="1172172"/>
            </a:xfrm>
          </p:grpSpPr>
          <p:pic>
            <p:nvPicPr>
              <p:cNvPr descr="Plan de travail 1OFF-Icones.jpg" id="225" name="Google Shape;225;p45">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226" name="Google Shape;226;p45">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227" name="Google Shape;227;p45">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228" name="Google Shape;228;p45">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229" name="Google Shape;229;p45"/>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230" name="Google Shape;230;p45">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2">
  <p:cSld name="1_Presentation - Empty 2">
    <p:spTree>
      <p:nvGrpSpPr>
        <p:cNvPr id="231" name="Shape 231"/>
        <p:cNvGrpSpPr/>
        <p:nvPr/>
      </p:nvGrpSpPr>
      <p:grpSpPr>
        <a:xfrm>
          <a:off x="0" y="0"/>
          <a:ext cx="0" cy="0"/>
          <a:chOff x="0" y="0"/>
          <a:chExt cx="0" cy="0"/>
        </a:xfrm>
      </p:grpSpPr>
      <p:pic>
        <p:nvPicPr>
          <p:cNvPr id="232" name="Google Shape;232;p4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3" name="Google Shape;233;p4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Empty">
  <p:cSld name="1_Presentation - Empty - Empty">
    <p:spTree>
      <p:nvGrpSpPr>
        <p:cNvPr id="234" name="Shape 234"/>
        <p:cNvGrpSpPr/>
        <p:nvPr/>
      </p:nvGrpSpPr>
      <p:grpSpPr>
        <a:xfrm>
          <a:off x="0" y="0"/>
          <a:ext cx="0" cy="0"/>
          <a:chOff x="0" y="0"/>
          <a:chExt cx="0" cy="0"/>
        </a:xfrm>
      </p:grpSpPr>
      <p:pic>
        <p:nvPicPr>
          <p:cNvPr id="235" name="Google Shape;235;p4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6" name="Google Shape;236;p4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4.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2.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1.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x.com/YildizEdu/status/1793201926189826471" TargetMode="External"/><Relationship Id="rId4" Type="http://schemas.openxmlformats.org/officeDocument/2006/relationships/hyperlink" Target="https://www.linkedin.com/posts/y%C4%B1ld%C4%B1z-teknik-%C3%BCniversitesi_internationalytu-internationalytu-activity-7198973952935751681-ehOL?utm_source=share&amp;utm_medium=member_androi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
          <p:cNvSpPr txBox="1"/>
          <p:nvPr>
            <p:ph type="title"/>
          </p:nvPr>
        </p:nvSpPr>
        <p:spPr>
          <a:xfrm>
            <a:off x="1107253" y="3961396"/>
            <a:ext cx="10346809"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500"/>
              <a:buFont typeface="Arial"/>
              <a:buNone/>
            </a:pPr>
            <a:r>
              <a:rPr lang="en-US"/>
              <a:t>COST Fin AI Country Update- May 2024</a:t>
            </a:r>
            <a:endParaRPr/>
          </a:p>
        </p:txBody>
      </p:sp>
      <p:sp>
        <p:nvSpPr>
          <p:cNvPr id="242" name="Google Shape;242;p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lang="en-US"/>
              <a:t>Türkiye</a:t>
            </a:r>
            <a:endParaRPr/>
          </a:p>
        </p:txBody>
      </p:sp>
      <p:sp>
        <p:nvSpPr>
          <p:cNvPr id="243" name="Google Shape;243;p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600"/>
              <a:buNone/>
            </a:pPr>
            <a:r>
              <a:rPr lang="en-US"/>
              <a:t>Belma Öztürkkal, Pınar Nur, Ozgur YILDIRIM, Enis Kayış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
          <p:cNvSpPr txBox="1"/>
          <p:nvPr>
            <p:ph idx="1" type="body"/>
          </p:nvPr>
        </p:nvSpPr>
        <p:spPr>
          <a:xfrm>
            <a:off x="742100" y="0"/>
            <a:ext cx="10616100" cy="6572400"/>
          </a:xfrm>
          <a:prstGeom prst="rect">
            <a:avLst/>
          </a:prstGeom>
          <a:noFill/>
          <a:ln>
            <a:noFill/>
          </a:ln>
        </p:spPr>
        <p:txBody>
          <a:bodyPr anchorCtr="0" anchor="t" bIns="45700" lIns="91425" spcFirstLastPara="1" rIns="91425" wrap="square" tIns="45700">
            <a:noAutofit/>
          </a:bodyPr>
          <a:lstStyle/>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rPr lang="en-US" sz="2000"/>
              <a:t>MC Members:</a:t>
            </a:r>
            <a:endParaRPr sz="2000"/>
          </a:p>
          <a:p>
            <a:pPr indent="0" lvl="0" marL="914400" rtl="0" algn="l">
              <a:lnSpc>
                <a:spcPct val="100000"/>
              </a:lnSpc>
              <a:spcBef>
                <a:spcPts val="0"/>
              </a:spcBef>
              <a:spcAft>
                <a:spcPts val="0"/>
              </a:spcAft>
              <a:buSzPts val="2800"/>
              <a:buNone/>
            </a:pPr>
            <a:r>
              <a:rPr b="1" lang="en-US" sz="1600"/>
              <a:t>Enis Kayış </a:t>
            </a:r>
            <a:r>
              <a:rPr lang="en-US" sz="1600"/>
              <a:t>is Assistant Professor of Industrial Engineering at Ozyegin University</a:t>
            </a:r>
            <a:endParaRPr sz="1200"/>
          </a:p>
          <a:p>
            <a:pPr indent="0" lvl="0" marL="914400" rtl="0" algn="l">
              <a:lnSpc>
                <a:spcPct val="100000"/>
              </a:lnSpc>
              <a:spcBef>
                <a:spcPts val="0"/>
              </a:spcBef>
              <a:spcAft>
                <a:spcPts val="0"/>
              </a:spcAft>
              <a:buSzPts val="2800"/>
              <a:buNone/>
            </a:pPr>
            <a:r>
              <a:rPr lang="en-US" sz="1200"/>
              <a:t>Related Research Interests: data driven decision making, XAI (i.e., optimal classification trees)</a:t>
            </a:r>
            <a:endParaRPr sz="1200"/>
          </a:p>
          <a:p>
            <a:pPr indent="0" lvl="0" marL="914400" rtl="0" algn="l">
              <a:lnSpc>
                <a:spcPct val="100000"/>
              </a:lnSpc>
              <a:spcBef>
                <a:spcPts val="1000"/>
              </a:spcBef>
              <a:spcAft>
                <a:spcPts val="0"/>
              </a:spcAft>
              <a:buSzPts val="2800"/>
              <a:buNone/>
            </a:pPr>
            <a:r>
              <a:rPr b="1" lang="en-US" sz="1600"/>
              <a:t>Belma Öztürkkal </a:t>
            </a:r>
            <a:r>
              <a:rPr lang="en-US" sz="1600"/>
              <a:t>is Professor of Finance at Kadir Has University</a:t>
            </a:r>
            <a:endParaRPr/>
          </a:p>
          <a:p>
            <a:pPr indent="0" lvl="0" marL="914400" rtl="0" algn="l">
              <a:lnSpc>
                <a:spcPct val="100000"/>
              </a:lnSpc>
              <a:spcBef>
                <a:spcPts val="1000"/>
              </a:spcBef>
              <a:spcAft>
                <a:spcPts val="0"/>
              </a:spcAft>
              <a:buSzPts val="2800"/>
              <a:buNone/>
            </a:pPr>
            <a:r>
              <a:rPr lang="en-US" sz="1200"/>
              <a:t>Related Research Interests: venture capital, behavioral finance, corporate finance, ESG, mutual funds</a:t>
            </a:r>
            <a:endParaRPr sz="1200"/>
          </a:p>
          <a:p>
            <a:pPr indent="0" lvl="0" marL="101600" rtl="0" algn="l">
              <a:lnSpc>
                <a:spcPct val="100000"/>
              </a:lnSpc>
              <a:spcBef>
                <a:spcPts val="0"/>
              </a:spcBef>
              <a:spcAft>
                <a:spcPts val="0"/>
              </a:spcAft>
              <a:buSzPts val="2800"/>
              <a:buNone/>
            </a:pPr>
            <a:r>
              <a:rPr lang="en-US" sz="2000"/>
              <a:t>Substitute MC Member:</a:t>
            </a:r>
            <a:endParaRPr sz="2000"/>
          </a:p>
          <a:p>
            <a:pPr indent="0" lvl="0" marL="914400" rtl="0" algn="l">
              <a:lnSpc>
                <a:spcPct val="100000"/>
              </a:lnSpc>
              <a:spcBef>
                <a:spcPts val="0"/>
              </a:spcBef>
              <a:spcAft>
                <a:spcPts val="0"/>
              </a:spcAft>
              <a:buSzPts val="2800"/>
              <a:buNone/>
            </a:pPr>
            <a:r>
              <a:rPr b="1" lang="en-US" sz="1600"/>
              <a:t>Selçuk Karabatı</a:t>
            </a:r>
            <a:r>
              <a:rPr lang="en-US" sz="1600"/>
              <a:t> is Professor of Operations Management at Koc University</a:t>
            </a:r>
            <a:endParaRPr/>
          </a:p>
          <a:p>
            <a:pPr indent="0" lvl="0" marL="1371600" rtl="0" algn="l">
              <a:lnSpc>
                <a:spcPct val="100000"/>
              </a:lnSpc>
              <a:spcBef>
                <a:spcPts val="0"/>
              </a:spcBef>
              <a:spcAft>
                <a:spcPts val="0"/>
              </a:spcAft>
              <a:buSzPts val="2800"/>
              <a:buNone/>
            </a:pPr>
            <a:r>
              <a:rPr lang="en-US" sz="1200"/>
              <a:t>Related Research Interests: finance, applied optimization in retail operations and supply chain management</a:t>
            </a:r>
            <a:endParaRPr sz="1200"/>
          </a:p>
          <a:p>
            <a:pPr indent="0" lvl="0" marL="1371600" rtl="0" algn="l">
              <a:lnSpc>
                <a:spcPct val="100000"/>
              </a:lnSpc>
              <a:spcBef>
                <a:spcPts val="0"/>
              </a:spcBef>
              <a:spcAft>
                <a:spcPts val="0"/>
              </a:spcAft>
              <a:buSzPts val="2800"/>
              <a:buNone/>
            </a:pPr>
            <a:r>
              <a:t/>
            </a:r>
            <a:endParaRPr sz="1200"/>
          </a:p>
          <a:p>
            <a:pPr indent="0" lvl="0" marL="0" rtl="0" algn="l">
              <a:lnSpc>
                <a:spcPct val="90000"/>
              </a:lnSpc>
              <a:spcBef>
                <a:spcPts val="0"/>
              </a:spcBef>
              <a:spcAft>
                <a:spcPts val="0"/>
              </a:spcAft>
              <a:buSzPts val="2800"/>
              <a:buNone/>
            </a:pPr>
            <a:r>
              <a:rPr b="1" lang="en-US" sz="2000"/>
              <a:t>Total </a:t>
            </a:r>
            <a:r>
              <a:rPr b="1" lang="en-US" sz="2000">
                <a:solidFill>
                  <a:srgbClr val="FF0000"/>
                </a:solidFill>
              </a:rPr>
              <a:t>34 members (11 Female, 23 Male</a:t>
            </a:r>
            <a:r>
              <a:rPr b="1" lang="en-US" sz="2000"/>
              <a:t>) for all Working Groups: WG 1, WG 2, WG 3 </a:t>
            </a:r>
            <a:endParaRPr sz="2000"/>
          </a:p>
          <a:p>
            <a:pPr indent="0" lvl="0" marL="101600" rtl="0" algn="l">
              <a:lnSpc>
                <a:spcPct val="90000"/>
              </a:lnSpc>
              <a:spcBef>
                <a:spcPts val="0"/>
              </a:spcBef>
              <a:spcAft>
                <a:spcPts val="0"/>
              </a:spcAft>
              <a:buSzPts val="2000"/>
              <a:buNone/>
            </a:pPr>
            <a:r>
              <a:t/>
            </a:r>
            <a:endParaRPr b="1" sz="2000"/>
          </a:p>
          <a:p>
            <a:pPr indent="0" lvl="0" marL="101600" rtl="0" algn="l">
              <a:lnSpc>
                <a:spcPct val="90000"/>
              </a:lnSpc>
              <a:spcBef>
                <a:spcPts val="0"/>
              </a:spcBef>
              <a:spcAft>
                <a:spcPts val="0"/>
              </a:spcAft>
              <a:buSzPts val="2000"/>
              <a:buNone/>
            </a:pPr>
            <a:r>
              <a:rPr b="1" lang="en-US" sz="2000"/>
              <a:t>Responsibilities</a:t>
            </a:r>
            <a:endParaRPr b="1" sz="2000"/>
          </a:p>
          <a:p>
            <a:pPr indent="-317500" lvl="0" marL="457200" rtl="0" algn="l">
              <a:lnSpc>
                <a:spcPct val="90000"/>
              </a:lnSpc>
              <a:spcBef>
                <a:spcPts val="0"/>
              </a:spcBef>
              <a:spcAft>
                <a:spcPts val="0"/>
              </a:spcAft>
              <a:buSzPts val="1400"/>
              <a:buChar char="▪"/>
            </a:pPr>
            <a:r>
              <a:rPr lang="en-US" sz="1400"/>
              <a:t>Diversity Team (B. Öztürkkal, Pınar Nur, E. Kabaklarlı, M. Akar, G. Nur Yilmaz, G. Öztürk Danışman,)</a:t>
            </a:r>
            <a:endParaRPr sz="1400"/>
          </a:p>
          <a:p>
            <a:pPr indent="0" lvl="0" marL="101600" rtl="0" algn="l">
              <a:lnSpc>
                <a:spcPct val="90000"/>
              </a:lnSpc>
              <a:spcBef>
                <a:spcPts val="0"/>
              </a:spcBef>
              <a:spcAft>
                <a:spcPts val="0"/>
              </a:spcAft>
              <a:buSzPts val="2000"/>
              <a:buNone/>
            </a:pPr>
            <a:r>
              <a:t/>
            </a:r>
            <a:endParaRPr b="1" sz="2000"/>
          </a:p>
          <a:p>
            <a:pPr indent="0" lvl="0" marL="101600" rtl="0" algn="l">
              <a:lnSpc>
                <a:spcPct val="90000"/>
              </a:lnSpc>
              <a:spcBef>
                <a:spcPts val="0"/>
              </a:spcBef>
              <a:spcAft>
                <a:spcPts val="0"/>
              </a:spcAft>
              <a:buSzPts val="2000"/>
              <a:buNone/>
            </a:pPr>
            <a:r>
              <a:rPr b="1" lang="en-US" sz="2000"/>
              <a:t>Actions Planned:</a:t>
            </a:r>
            <a:endParaRPr b="1" sz="1400"/>
          </a:p>
          <a:p>
            <a:pPr indent="-355600" lvl="1" marL="914400" rtl="0" algn="l">
              <a:lnSpc>
                <a:spcPct val="90000"/>
              </a:lnSpc>
              <a:spcBef>
                <a:spcPts val="0"/>
              </a:spcBef>
              <a:spcAft>
                <a:spcPts val="0"/>
              </a:spcAft>
              <a:buSzPts val="2000"/>
              <a:buChar char="▪"/>
            </a:pPr>
            <a:r>
              <a:rPr b="1" lang="en-US" sz="1400">
                <a:solidFill>
                  <a:srgbClr val="FF0000"/>
                </a:solidFill>
              </a:rPr>
              <a:t>COST FinAI Meets Istanbul </a:t>
            </a:r>
            <a:r>
              <a:rPr lang="en-US" sz="1400"/>
              <a:t>in </a:t>
            </a:r>
            <a:r>
              <a:rPr b="1" lang="en-US" sz="1400"/>
              <a:t>May 2024</a:t>
            </a:r>
            <a:endParaRPr b="1" sz="1400">
              <a:solidFill>
                <a:srgbClr val="FF0000"/>
              </a:solidFill>
            </a:endParaRPr>
          </a:p>
          <a:p>
            <a:pPr indent="-355600" lvl="1" marL="914400" rtl="0" algn="l">
              <a:lnSpc>
                <a:spcPct val="90000"/>
              </a:lnSpc>
              <a:spcBef>
                <a:spcPts val="0"/>
              </a:spcBef>
              <a:spcAft>
                <a:spcPts val="0"/>
              </a:spcAft>
              <a:buSzPts val="2000"/>
              <a:buChar char="▪"/>
            </a:pPr>
            <a:r>
              <a:rPr lang="en-US" sz="1400">
                <a:solidFill>
                  <a:schemeClr val="dk1"/>
                </a:solidFill>
              </a:rPr>
              <a:t>Erasmus+ nextGen ESG application </a:t>
            </a:r>
            <a:r>
              <a:rPr lang="en-US" sz="1400"/>
              <a:t>in 2023 to be revised with leadership of Maria Ioannario in </a:t>
            </a:r>
            <a:r>
              <a:rPr b="1" lang="en-US" sz="1400"/>
              <a:t>October 2024</a:t>
            </a:r>
            <a:endParaRPr/>
          </a:p>
          <a:p>
            <a:pPr indent="-355600" lvl="1" marL="914400" rtl="0" algn="l">
              <a:lnSpc>
                <a:spcPct val="90000"/>
              </a:lnSpc>
              <a:spcBef>
                <a:spcPts val="0"/>
              </a:spcBef>
              <a:spcAft>
                <a:spcPts val="0"/>
              </a:spcAft>
              <a:buSzPts val="2000"/>
              <a:buChar char="▪"/>
            </a:pPr>
            <a:r>
              <a:rPr lang="en-US" sz="1400"/>
              <a:t>Help create ties between researchers from Türkiye and our existing Action network</a:t>
            </a:r>
            <a:endParaRPr sz="1400"/>
          </a:p>
        </p:txBody>
      </p:sp>
      <p:sp>
        <p:nvSpPr>
          <p:cNvPr id="250" name="Google Shape;250;p2"/>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Türkiye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9"/>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 conference took place in </a:t>
            </a:r>
            <a:r>
              <a:rPr b="1" lang="en-US" sz="1400"/>
              <a:t>Otag-i Humayun</a:t>
            </a:r>
            <a:r>
              <a:rPr lang="en-US" sz="1400"/>
              <a:t>, which is located as a historical building in </a:t>
            </a:r>
            <a:r>
              <a:rPr b="1" lang="en-US" sz="1400"/>
              <a:t>Yildiz Technical University</a:t>
            </a:r>
            <a:r>
              <a:rPr lang="en-US" sz="1400"/>
              <a:t>-Davutpasa Campus, Istanbul, Türkiye.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 presentations from WG1, WG2, WG3, and a Core group meeting on COST FinAI Topics were featured during a two-day event. All speakers and participants were from COST FinAI, with a focus on those with active participation.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There were 0.5 of a day talks including PhD presentations on topics related to WG1 and WG3. 0.25 day working session for drafting D7 a DP on the methodology used by P2P and crowdfunding regarding fraud detection. </a:t>
            </a:r>
            <a:endParaRPr sz="1400"/>
          </a:p>
        </p:txBody>
      </p:sp>
      <p:sp>
        <p:nvSpPr>
          <p:cNvPr id="256" name="Google Shape;256;p49"/>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1" marL="0" rtl="0" algn="l">
              <a:lnSpc>
                <a:spcPct val="90000"/>
              </a:lnSpc>
              <a:spcBef>
                <a:spcPts val="0"/>
              </a:spcBef>
              <a:spcAft>
                <a:spcPts val="0"/>
              </a:spcAft>
              <a:buClr>
                <a:schemeClr val="dk2"/>
              </a:buClr>
              <a:buSzPts val="2800"/>
              <a:buNone/>
            </a:pPr>
            <a:r>
              <a:rPr b="1" lang="en-US" sz="2000">
                <a:solidFill>
                  <a:srgbClr val="737373"/>
                </a:solidFill>
              </a:rPr>
              <a:t>COST FinAI Meets Istanbul, 20-21 May 2024</a:t>
            </a:r>
            <a:br>
              <a:rPr b="1" lang="en-US" sz="1400">
                <a:solidFill>
                  <a:srgbClr val="FF0000"/>
                </a:solidFill>
              </a:rPr>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0"/>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accent4"/>
              </a:buClr>
              <a:buSzPts val="2800"/>
              <a:buFont typeface="Noto Sans Symbols"/>
              <a:buChar char="▪"/>
            </a:pPr>
            <a:r>
              <a:rPr lang="en-US" sz="1400"/>
              <a:t>Secondly, 0.25 of a day was allocated for Core group meeting and presenting the call for publications for an edited volume belonging to the event, 0.25 of a day for WG2 presentations, and 0.25 for working session on finalizing the paper for D7 involving all the COST members present and online.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This event has contributed to the reaching our Action's objectives of transparency in financial services and the development of conceptual and methodological tools for establishing when black-box models are admissible and, to the extent possible, making them more transparent and/or replacing them with interpretable and explainable models.</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It has also contributed to the objective of creating an excellent network of researchers in Europe with lasting collaboration beyond the lifetime of the Action.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Participants from at least 5 countries from our members were involved in the organization and participated in the event and thus we ensured gender balance.</a:t>
            </a:r>
            <a:endParaRPr sz="1400"/>
          </a:p>
        </p:txBody>
      </p:sp>
      <p:sp>
        <p:nvSpPr>
          <p:cNvPr id="262" name="Google Shape;262;p50"/>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1"/>
          <p:cNvSpPr txBox="1"/>
          <p:nvPr>
            <p:ph idx="1" type="body"/>
          </p:nvPr>
        </p:nvSpPr>
        <p:spPr>
          <a:xfrm>
            <a:off x="639271" y="2629912"/>
            <a:ext cx="10460529" cy="3139063"/>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accent4"/>
              </a:buClr>
              <a:buSzPts val="2800"/>
              <a:buFont typeface="Noto Sans Symbols"/>
              <a:buChar char="▪"/>
            </a:pPr>
            <a:r>
              <a:rPr lang="en-US" sz="1400" u="sng">
                <a:solidFill>
                  <a:schemeClr val="hlink"/>
                </a:solidFill>
                <a:hlinkClick r:id="rId3"/>
              </a:rPr>
              <a:t>https://x.com/YildizEdu/status/1793201926189826471</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u="sng">
                <a:solidFill>
                  <a:schemeClr val="hlink"/>
                </a:solidFill>
                <a:hlinkClick r:id="rId4"/>
              </a:rPr>
              <a:t>https://www.linkedin.com/posts/y%C4%B1ld%C4%B1z-teknik-%C3%BCniversitesi_internationalytu-internationalytu-activity-7198973952935751681-ehOL?utm_source=share&amp;utm_medium=member_android</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https://www.facebook.com/share/p/kmCydpLSfqDnz8Dt/?mibextid=xfxF2i</a:t>
            </a:r>
            <a:endParaRPr/>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https://www.instagram.com/p/C7Q7gqQobzr/?igsh=MTFjY3d3b3Z1ZzFmZg%3D%3D&amp;img_index=1</a:t>
            </a:r>
            <a:endParaRPr/>
          </a:p>
        </p:txBody>
      </p:sp>
      <p:sp>
        <p:nvSpPr>
          <p:cNvPr id="268" name="Google Shape;268;p51"/>
          <p:cNvSpPr txBox="1"/>
          <p:nvPr>
            <p:ph type="title"/>
          </p:nvPr>
        </p:nvSpPr>
        <p:spPr>
          <a:xfrm>
            <a:off x="874713" y="1515179"/>
            <a:ext cx="8414944" cy="8072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US" sz="2000">
                <a:solidFill>
                  <a:srgbClr val="737373"/>
                </a:solidFill>
              </a:rPr>
              <a:t>COST FinAI Istanbul Meeting at official social media accounts of Yildiz Technical University</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C:\Users\MasterYtu\OneDrive - Yildiz Technical University\A ARAŞTIRMA KONULARIM\COST\CA19130 Fintech AI in Finance\Country Report\istanbul_meeting1.jpeg" id="273" name="Google Shape;273;p52"/>
          <p:cNvPicPr preferRelativeResize="0"/>
          <p:nvPr/>
        </p:nvPicPr>
        <p:blipFill rotWithShape="1">
          <a:blip r:embed="rId3">
            <a:alphaModFix/>
          </a:blip>
          <a:srcRect b="0" l="0" r="0" t="0"/>
          <a:stretch/>
        </p:blipFill>
        <p:spPr>
          <a:xfrm>
            <a:off x="1966365" y="1290291"/>
            <a:ext cx="8488543" cy="47787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C:\Users\MasterYtu\OneDrive - Yildiz Technical University\A ARAŞTIRMA KONULARIM\COST\CA19130 Fintech AI in Finance\Country Report\istanbul_meeting2.jpeg" id="278" name="Google Shape;278;p53"/>
          <p:cNvPicPr preferRelativeResize="0"/>
          <p:nvPr/>
        </p:nvPicPr>
        <p:blipFill rotWithShape="1">
          <a:blip r:embed="rId3">
            <a:alphaModFix/>
          </a:blip>
          <a:srcRect b="0" l="0" r="0" t="0"/>
          <a:stretch/>
        </p:blipFill>
        <p:spPr>
          <a:xfrm>
            <a:off x="2072821" y="1265647"/>
            <a:ext cx="8632941" cy="486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280b3b84e0b_0_0"/>
          <p:cNvSpPr txBox="1"/>
          <p:nvPr>
            <p:ph idx="1" type="body"/>
          </p:nvPr>
        </p:nvSpPr>
        <p:spPr>
          <a:xfrm>
            <a:off x="874725" y="2102950"/>
            <a:ext cx="10225200" cy="40188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0"/>
              </a:spcBef>
              <a:spcAft>
                <a:spcPts val="0"/>
              </a:spcAft>
              <a:buSzPts val="2800"/>
              <a:buNone/>
            </a:pPr>
            <a:r>
              <a:rPr b="1" lang="en-US" sz="2000"/>
              <a:t>Total 34 members (11 Female, 23 Male) for Working Groups WG 1, WG 2, WG 3 </a:t>
            </a:r>
            <a:endParaRPr b="1" sz="2000"/>
          </a:p>
          <a:p>
            <a:pPr indent="-355600" lvl="1" marL="914400" rtl="0" algn="l">
              <a:lnSpc>
                <a:spcPct val="90000"/>
              </a:lnSpc>
              <a:spcBef>
                <a:spcPts val="0"/>
              </a:spcBef>
              <a:spcAft>
                <a:spcPts val="0"/>
              </a:spcAft>
              <a:buSzPts val="2000"/>
              <a:buChar char="▪"/>
            </a:pPr>
            <a:r>
              <a:rPr b="1" lang="en-US" sz="1800"/>
              <a:t>Different fields (Finance, Law, Business, Economics, Engineering, Mathematics)</a:t>
            </a:r>
            <a:endParaRPr b="1" sz="1600"/>
          </a:p>
          <a:p>
            <a:pPr indent="-355600" lvl="1" marL="914400" rtl="0" algn="l">
              <a:lnSpc>
                <a:spcPct val="100000"/>
              </a:lnSpc>
              <a:spcBef>
                <a:spcPts val="0"/>
              </a:spcBef>
              <a:spcAft>
                <a:spcPts val="0"/>
              </a:spcAft>
              <a:buSzPts val="2000"/>
              <a:buChar char="▪"/>
            </a:pPr>
            <a:r>
              <a:rPr b="1" lang="en-US" sz="1600"/>
              <a:t>MC Members:</a:t>
            </a:r>
            <a:endParaRPr b="1" sz="1600"/>
          </a:p>
          <a:p>
            <a:pPr indent="0" lvl="0" marL="1371600" rtl="0" algn="l">
              <a:lnSpc>
                <a:spcPct val="100000"/>
              </a:lnSpc>
              <a:spcBef>
                <a:spcPts val="0"/>
              </a:spcBef>
              <a:spcAft>
                <a:spcPts val="0"/>
              </a:spcAft>
              <a:buSzPts val="2800"/>
              <a:buNone/>
            </a:pPr>
            <a:r>
              <a:rPr b="1" lang="en-US" sz="1600"/>
              <a:t>Enis Kayış: </a:t>
            </a:r>
            <a:r>
              <a:rPr lang="en-US" sz="1600"/>
              <a:t>Assistant Professor of Industrial Engineering at Ozyegin University</a:t>
            </a:r>
            <a:endParaRPr sz="1200"/>
          </a:p>
          <a:p>
            <a:pPr indent="-355600" lvl="3" marL="1828800" rtl="0" algn="l">
              <a:lnSpc>
                <a:spcPct val="100000"/>
              </a:lnSpc>
              <a:spcBef>
                <a:spcPts val="0"/>
              </a:spcBef>
              <a:spcAft>
                <a:spcPts val="0"/>
              </a:spcAft>
              <a:buSzPts val="2000"/>
              <a:buChar char="▪"/>
            </a:pPr>
            <a:r>
              <a:rPr lang="en-US" sz="1200"/>
              <a:t>ITC CG Coordinator, Core Group Member</a:t>
            </a:r>
            <a:endParaRPr sz="1200"/>
          </a:p>
          <a:p>
            <a:pPr indent="0" lvl="0" marL="1371600" rtl="0" algn="l">
              <a:lnSpc>
                <a:spcPct val="100000"/>
              </a:lnSpc>
              <a:spcBef>
                <a:spcPts val="0"/>
              </a:spcBef>
              <a:spcAft>
                <a:spcPts val="0"/>
              </a:spcAft>
              <a:buSzPts val="2800"/>
              <a:buNone/>
            </a:pPr>
            <a:r>
              <a:rPr b="1" lang="en-US" sz="1600"/>
              <a:t>Belma Öztürkkal: </a:t>
            </a:r>
            <a:r>
              <a:rPr lang="en-US" sz="1600"/>
              <a:t>Professor of Finance at Kadir Has University</a:t>
            </a:r>
            <a:endParaRPr/>
          </a:p>
          <a:p>
            <a:pPr indent="-355600" lvl="3" marL="1828800" rtl="0" algn="l">
              <a:lnSpc>
                <a:spcPct val="100000"/>
              </a:lnSpc>
              <a:spcBef>
                <a:spcPts val="0"/>
              </a:spcBef>
              <a:spcAft>
                <a:spcPts val="0"/>
              </a:spcAft>
              <a:buSzPts val="2000"/>
              <a:buChar char="▪"/>
            </a:pPr>
            <a:r>
              <a:rPr lang="en-US" sz="1200"/>
              <a:t>Diversity Team Member</a:t>
            </a:r>
            <a:endParaRPr sz="1200"/>
          </a:p>
          <a:p>
            <a:pPr indent="-330200" lvl="1" marL="914400" rtl="0" algn="l">
              <a:lnSpc>
                <a:spcPct val="100000"/>
              </a:lnSpc>
              <a:spcBef>
                <a:spcPts val="0"/>
              </a:spcBef>
              <a:spcAft>
                <a:spcPts val="0"/>
              </a:spcAft>
              <a:buSzPts val="1600"/>
              <a:buChar char="▪"/>
            </a:pPr>
            <a:r>
              <a:rPr b="1" lang="en-US" sz="1600"/>
              <a:t>Substitute MC Member:</a:t>
            </a:r>
            <a:endParaRPr b="1" sz="1600"/>
          </a:p>
          <a:p>
            <a:pPr indent="-355600" lvl="2" marL="1371600" rtl="0" algn="l">
              <a:lnSpc>
                <a:spcPct val="100000"/>
              </a:lnSpc>
              <a:spcBef>
                <a:spcPts val="0"/>
              </a:spcBef>
              <a:spcAft>
                <a:spcPts val="0"/>
              </a:spcAft>
              <a:buSzPts val="2000"/>
              <a:buChar char="▪"/>
            </a:pPr>
            <a:r>
              <a:rPr b="1" lang="en-US" sz="1600"/>
              <a:t>Selçuk Karabatı:</a:t>
            </a:r>
            <a:r>
              <a:rPr lang="en-US" sz="1600"/>
              <a:t> Professor of Operations Management at Koc University</a:t>
            </a:r>
            <a:endParaRPr/>
          </a:p>
          <a:p>
            <a:pPr indent="-330200" lvl="1" marL="914400" rtl="0" algn="l">
              <a:lnSpc>
                <a:spcPct val="100000"/>
              </a:lnSpc>
              <a:spcBef>
                <a:spcPts val="0"/>
              </a:spcBef>
              <a:spcAft>
                <a:spcPts val="0"/>
              </a:spcAft>
              <a:buSzPts val="1600"/>
              <a:buChar char="▪"/>
            </a:pPr>
            <a:r>
              <a:rPr b="1" lang="en-US" sz="1600"/>
              <a:t>Other Responsibilities</a:t>
            </a:r>
            <a:endParaRPr b="1" sz="1600"/>
          </a:p>
          <a:p>
            <a:pPr indent="-330200" lvl="0" marL="1371600" rtl="0" algn="l">
              <a:lnSpc>
                <a:spcPct val="100000"/>
              </a:lnSpc>
              <a:spcBef>
                <a:spcPts val="0"/>
              </a:spcBef>
              <a:spcAft>
                <a:spcPts val="0"/>
              </a:spcAft>
              <a:buSzPts val="1600"/>
              <a:buChar char="▪"/>
            </a:pPr>
            <a:r>
              <a:rPr lang="en-US" sz="1600"/>
              <a:t>Diversity Team: Pınar Nur (Assistant Professor and Deputy Dean at Ankara Medipol University School of Law), Mutlu Akar, G. Nur Yilmaz (Professor and Head of the Department of Computer Engineering at TED University) Esra Kabaklarlı (Associate Professor of Economics Dept at Selçuk University), </a:t>
            </a:r>
            <a:endParaRPr sz="1600"/>
          </a:p>
        </p:txBody>
      </p:sp>
      <p:sp>
        <p:nvSpPr>
          <p:cNvPr id="285" name="Google Shape;285;g280b3b84e0b_0_0"/>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Members</a:t>
            </a:r>
            <a:endParaRPr/>
          </a:p>
        </p:txBody>
      </p:sp>
      <p:sp>
        <p:nvSpPr>
          <p:cNvPr id="286" name="Google Shape;286;g280b3b84e0b_0_0"/>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80b3b84e0b_0_6"/>
          <p:cNvSpPr txBox="1"/>
          <p:nvPr>
            <p:ph idx="1" type="body"/>
          </p:nvPr>
        </p:nvSpPr>
        <p:spPr>
          <a:xfrm>
            <a:off x="874725" y="1450731"/>
            <a:ext cx="10225200" cy="4727119"/>
          </a:xfrm>
          <a:prstGeom prst="rect">
            <a:avLst/>
          </a:prstGeom>
          <a:noFill/>
          <a:ln>
            <a:noFill/>
          </a:ln>
        </p:spPr>
        <p:txBody>
          <a:bodyPr anchorCtr="0" anchor="t" bIns="45700" lIns="91425" spcFirstLastPara="1" rIns="91425" wrap="square" tIns="45700">
            <a:noAutofit/>
          </a:bodyPr>
          <a:lstStyle/>
          <a:p>
            <a:pPr indent="-317500" lvl="0" marL="457200" rtl="0" algn="l">
              <a:lnSpc>
                <a:spcPct val="90000"/>
              </a:lnSpc>
              <a:spcBef>
                <a:spcPts val="0"/>
              </a:spcBef>
              <a:spcAft>
                <a:spcPts val="0"/>
              </a:spcAft>
              <a:buSzPts val="1400"/>
              <a:buChar char="▪"/>
            </a:pPr>
            <a:r>
              <a:rPr lang="en-US" sz="1400"/>
              <a:t>Literature review paper WG2 - Sentiment analysis (ongoing </a:t>
            </a:r>
            <a:r>
              <a:rPr b="1" lang="en-US" sz="1400"/>
              <a:t>2021</a:t>
            </a:r>
            <a:r>
              <a:rPr lang="en-US" sz="1400"/>
              <a:t>, B. Öztürkkal with other members)</a:t>
            </a:r>
            <a:endParaRPr sz="1400">
              <a:highlight>
                <a:schemeClr val="lt1"/>
              </a:highlight>
            </a:endParaRPr>
          </a:p>
          <a:p>
            <a:pPr indent="-317500" lvl="0" marL="457200" rtl="0" algn="l">
              <a:lnSpc>
                <a:spcPct val="90000"/>
              </a:lnSpc>
              <a:spcBef>
                <a:spcPts val="0"/>
              </a:spcBef>
              <a:spcAft>
                <a:spcPts val="0"/>
              </a:spcAft>
              <a:buSzPts val="1400"/>
              <a:buChar char="▪"/>
            </a:pPr>
            <a:r>
              <a:rPr b="1" lang="en-US" sz="1400"/>
              <a:t>Cross-country survey transparency, investors’ perception </a:t>
            </a:r>
            <a:r>
              <a:rPr lang="en-US" sz="1400"/>
              <a:t>(second phase </a:t>
            </a:r>
            <a:r>
              <a:rPr b="1" lang="en-US" sz="1400"/>
              <a:t>in 2023 October</a:t>
            </a:r>
            <a:r>
              <a:rPr lang="en-US" sz="1400"/>
              <a:t> B. Öztürkkal with M. Iannario, C. Tarantola, S. Giordano, B. Bedowska)</a:t>
            </a:r>
            <a:endParaRPr/>
          </a:p>
          <a:p>
            <a:pPr indent="-317500" lvl="0" marL="457200" rtl="0" algn="l">
              <a:lnSpc>
                <a:spcPct val="90000"/>
              </a:lnSpc>
              <a:spcBef>
                <a:spcPts val="0"/>
              </a:spcBef>
              <a:spcAft>
                <a:spcPts val="0"/>
              </a:spcAft>
              <a:buSzPts val="1400"/>
              <a:buChar char="▪"/>
            </a:pPr>
            <a:r>
              <a:rPr b="1" lang="en-US" sz="1400">
                <a:solidFill>
                  <a:srgbClr val="FF0000"/>
                </a:solidFill>
              </a:rPr>
              <a:t>Venture Capital Bibliometric Analysis and Systematic Review </a:t>
            </a:r>
            <a:r>
              <a:rPr lang="en-US" sz="1400"/>
              <a:t>(will be submitted to </a:t>
            </a:r>
            <a:r>
              <a:rPr i="1" lang="en-US" sz="1200"/>
              <a:t>JKE</a:t>
            </a:r>
            <a:r>
              <a:rPr lang="en-US" sz="1400"/>
              <a:t> </a:t>
            </a:r>
            <a:r>
              <a:rPr b="1" lang="en-US" sz="1400"/>
              <a:t>in 2024</a:t>
            </a:r>
            <a:r>
              <a:rPr lang="en-US" sz="1400"/>
              <a:t>, B. Öztürkkal with P. Lameski, E. Zdravevski, A. Tanda, R. Wahlstrom, V. Trajkovik, C. Mare).</a:t>
            </a:r>
            <a:endParaRPr/>
          </a:p>
          <a:p>
            <a:pPr indent="-317500" lvl="0" marL="457200" rtl="0" algn="l">
              <a:lnSpc>
                <a:spcPct val="90000"/>
              </a:lnSpc>
              <a:spcBef>
                <a:spcPts val="0"/>
              </a:spcBef>
              <a:spcAft>
                <a:spcPts val="0"/>
              </a:spcAft>
              <a:buClr>
                <a:schemeClr val="dk2"/>
              </a:buClr>
              <a:buSzPts val="1400"/>
              <a:buChar char="▪"/>
            </a:pPr>
            <a:r>
              <a:rPr b="1" lang="en-US" sz="1400">
                <a:solidFill>
                  <a:srgbClr val="FF0000"/>
                </a:solidFill>
              </a:rPr>
              <a:t>Women Editors</a:t>
            </a:r>
            <a:r>
              <a:rPr lang="en-US" sz="1400">
                <a:solidFill>
                  <a:srgbClr val="FF0000"/>
                </a:solidFill>
              </a:rPr>
              <a:t> </a:t>
            </a:r>
            <a:r>
              <a:rPr lang="en-US" sz="1400"/>
              <a:t>(under review, revised and submitted to Journal of Business Ethics </a:t>
            </a:r>
            <a:r>
              <a:rPr b="1" lang="en-US" sz="1400"/>
              <a:t>in 2023</a:t>
            </a:r>
            <a:r>
              <a:rPr lang="en-US" sz="1400"/>
              <a:t>, B. Öztürkkal, B. Bedowska with other members)</a:t>
            </a:r>
            <a:endParaRPr sz="1400"/>
          </a:p>
          <a:p>
            <a:pPr indent="-317500" lvl="0" marL="457200" rtl="0" algn="l">
              <a:lnSpc>
                <a:spcPct val="90000"/>
              </a:lnSpc>
              <a:spcBef>
                <a:spcPts val="0"/>
              </a:spcBef>
              <a:spcAft>
                <a:spcPts val="0"/>
              </a:spcAft>
              <a:buSzPts val="1400"/>
              <a:buChar char="▪"/>
            </a:pPr>
            <a:r>
              <a:rPr b="1" lang="en-US" sz="1400">
                <a:solidFill>
                  <a:srgbClr val="FF0000"/>
                </a:solidFill>
                <a:highlight>
                  <a:schemeClr val="lt1"/>
                </a:highlight>
              </a:rPr>
              <a:t>Explaining mortgage defaults using SHAP and LASSO</a:t>
            </a:r>
            <a:r>
              <a:rPr b="1" lang="en-US" sz="1400">
                <a:highlight>
                  <a:schemeClr val="lt1"/>
                </a:highlight>
              </a:rPr>
              <a:t> </a:t>
            </a:r>
            <a:r>
              <a:rPr lang="en-US" sz="1400">
                <a:highlight>
                  <a:schemeClr val="lt1"/>
                </a:highlight>
              </a:rPr>
              <a:t>(under review, revised and submitted to Computational Economics </a:t>
            </a:r>
            <a:r>
              <a:rPr b="1" lang="en-US" sz="1400"/>
              <a:t>in 2023</a:t>
            </a:r>
            <a:r>
              <a:rPr lang="en-US" sz="1400">
                <a:highlight>
                  <a:schemeClr val="lt1"/>
                </a:highlight>
              </a:rPr>
              <a:t>,</a:t>
            </a:r>
            <a:r>
              <a:rPr i="1" lang="en-US" sz="1400">
                <a:highlight>
                  <a:schemeClr val="lt1"/>
                </a:highlight>
              </a:rPr>
              <a:t> </a:t>
            </a:r>
            <a:r>
              <a:rPr lang="en-US" sz="1400">
                <a:highlight>
                  <a:schemeClr val="lt1"/>
                </a:highlight>
              </a:rPr>
              <a:t>B. Öztürkkal with R. Wahlstrøm)</a:t>
            </a:r>
            <a:endParaRPr sz="1400">
              <a:highlight>
                <a:schemeClr val="lt1"/>
              </a:highlight>
            </a:endParaRPr>
          </a:p>
          <a:p>
            <a:pPr indent="-317500" lvl="0" marL="457200" rtl="0" algn="l">
              <a:lnSpc>
                <a:spcPct val="90000"/>
              </a:lnSpc>
              <a:spcBef>
                <a:spcPts val="0"/>
              </a:spcBef>
              <a:spcAft>
                <a:spcPts val="0"/>
              </a:spcAft>
              <a:buSzPts val="1400"/>
              <a:buChar char="▪"/>
            </a:pPr>
            <a:r>
              <a:rPr b="1" lang="en-US" sz="1400">
                <a:solidFill>
                  <a:srgbClr val="FF0000"/>
                </a:solidFill>
              </a:rPr>
              <a:t>WG2 - Portfolio management Literature review paper </a:t>
            </a:r>
            <a:r>
              <a:rPr lang="en-US" sz="1400"/>
              <a:t>(Frontiers in AI. published in April </a:t>
            </a:r>
            <a:r>
              <a:rPr b="1" lang="en-US" sz="1400"/>
              <a:t>2024</a:t>
            </a:r>
            <a:r>
              <a:rPr lang="en-US" sz="1400"/>
              <a:t>, K. Sutiene, P. Schwendner, B. Öztürkkal with other members)</a:t>
            </a:r>
            <a:endParaRPr/>
          </a:p>
          <a:p>
            <a:pPr indent="-317500" lvl="0" marL="457200" rtl="0" algn="l">
              <a:lnSpc>
                <a:spcPct val="90000"/>
              </a:lnSpc>
              <a:spcBef>
                <a:spcPts val="0"/>
              </a:spcBef>
              <a:spcAft>
                <a:spcPts val="0"/>
              </a:spcAft>
              <a:buSzPts val="1400"/>
              <a:buChar char="▪"/>
            </a:pPr>
            <a:r>
              <a:rPr b="1" lang="en-US" sz="1400">
                <a:solidFill>
                  <a:srgbClr val="FF0000"/>
                </a:solidFill>
              </a:rPr>
              <a:t>COST </a:t>
            </a:r>
            <a:r>
              <a:rPr b="1" lang="en-US" sz="1400">
                <a:solidFill>
                  <a:srgbClr val="FF0000"/>
                </a:solidFill>
              </a:rPr>
              <a:t>FinAI</a:t>
            </a:r>
            <a:r>
              <a:rPr b="1" lang="en-US" sz="1400">
                <a:solidFill>
                  <a:srgbClr val="FF0000"/>
                </a:solidFill>
              </a:rPr>
              <a:t> and COST DigiNET, Book Chapter</a:t>
            </a:r>
            <a:r>
              <a:rPr lang="en-US" sz="1400"/>
              <a:t>, Springer, </a:t>
            </a:r>
            <a:r>
              <a:rPr b="1" lang="en-US" sz="1400"/>
              <a:t>Impact of Financial Literacy Environmental, Social, and Governance (ESG), Saving and Borrowing Factors on Digital Experiences: A Multi-Country Survey Study Among the Elderly People</a:t>
            </a:r>
            <a:r>
              <a:rPr lang="en-US" sz="1400"/>
              <a:t> (ongoing </a:t>
            </a:r>
            <a:r>
              <a:rPr b="1" lang="en-US" sz="1400"/>
              <a:t>2024. </a:t>
            </a:r>
            <a:r>
              <a:rPr lang="en-US" sz="1400"/>
              <a:t>B. Öztürkkal with M. Iannario, C. Tarantola, A. Tanda, E. Kabaklarlı, R. Perri)</a:t>
            </a:r>
            <a:endParaRPr/>
          </a:p>
          <a:p>
            <a:pPr indent="-317500" lvl="0" marL="457200" rtl="0" algn="l">
              <a:lnSpc>
                <a:spcPct val="90000"/>
              </a:lnSpc>
              <a:spcBef>
                <a:spcPts val="0"/>
              </a:spcBef>
              <a:spcAft>
                <a:spcPts val="0"/>
              </a:spcAft>
              <a:buSzPts val="1400"/>
              <a:buChar char="▪"/>
            </a:pPr>
            <a:r>
              <a:rPr b="1" lang="en-US" sz="1400">
                <a:solidFill>
                  <a:srgbClr val="FF0000"/>
                </a:solidFill>
              </a:rPr>
              <a:t>COST FinAI, Book Chapter</a:t>
            </a:r>
            <a:r>
              <a:rPr lang="en-US" sz="1400"/>
              <a:t>, Springer or similar, </a:t>
            </a:r>
            <a:r>
              <a:rPr lang="en-US" sz="1400"/>
              <a:t>D15. </a:t>
            </a:r>
            <a:r>
              <a:rPr b="1" lang="en-US" sz="1400"/>
              <a:t>Zero Inflated Model Use with Survey Data of Italian Students</a:t>
            </a:r>
            <a:r>
              <a:rPr lang="en-US" sz="1400"/>
              <a:t>. (ongoing </a:t>
            </a:r>
            <a:r>
              <a:rPr b="1" lang="en-US" sz="1400"/>
              <a:t>2024. </a:t>
            </a:r>
            <a:r>
              <a:rPr lang="en-US" sz="1400"/>
              <a:t>B. Öztürkkal with M. Iannario, C. Tarantola, A. Tanda)</a:t>
            </a:r>
            <a:endParaRPr sz="1400"/>
          </a:p>
          <a:p>
            <a:pPr indent="-317500" lvl="0" marL="457200" rtl="0" algn="just">
              <a:spcBef>
                <a:spcPts val="0"/>
              </a:spcBef>
              <a:spcAft>
                <a:spcPts val="0"/>
              </a:spcAft>
              <a:buSzPts val="1400"/>
              <a:buChar char="▪"/>
            </a:pPr>
            <a:r>
              <a:rPr b="1" lang="en-US" sz="1400">
                <a:solidFill>
                  <a:srgbClr val="FF0000"/>
                </a:solidFill>
              </a:rPr>
              <a:t>COST FinAI. </a:t>
            </a:r>
            <a:r>
              <a:rPr lang="en-US" sz="1400"/>
              <a:t>Women in Fintech IV, Crete, Greece, presentation. B. Öztürkkal. </a:t>
            </a:r>
            <a:r>
              <a:rPr b="1" lang="en-US" sz="1400"/>
              <a:t>A Multi-Country Survey Study Among the Elderly People</a:t>
            </a:r>
            <a:r>
              <a:rPr lang="en-US" sz="1400"/>
              <a:t> </a:t>
            </a:r>
            <a:endParaRPr sz="1400"/>
          </a:p>
          <a:p>
            <a:pPr indent="-317500" lvl="0" marL="457200" rtl="0" algn="just">
              <a:spcBef>
                <a:spcPts val="0"/>
              </a:spcBef>
              <a:spcAft>
                <a:spcPts val="0"/>
              </a:spcAft>
              <a:buSzPts val="1400"/>
              <a:buChar char="▪"/>
            </a:pPr>
            <a:r>
              <a:rPr b="1" lang="en-US" sz="1400">
                <a:solidFill>
                  <a:srgbClr val="FF0000"/>
                </a:solidFill>
              </a:rPr>
              <a:t>COST FinAI. </a:t>
            </a:r>
            <a:r>
              <a:rPr lang="en-US" sz="1400"/>
              <a:t>B. Öztürkkal. Women in Fintech IV, Crete, Greece, Scientific Committee Member, Jury Member for </a:t>
            </a:r>
            <a:r>
              <a:rPr lang="en-US" sz="1400">
                <a:solidFill>
                  <a:srgbClr val="777777"/>
                </a:solidFill>
              </a:rPr>
              <a:t>Best WI-FI 2024 Young Researcher Award</a:t>
            </a:r>
            <a:r>
              <a:rPr lang="en-US" sz="1400"/>
              <a:t>.</a:t>
            </a:r>
            <a:endParaRPr sz="1400"/>
          </a:p>
        </p:txBody>
      </p:sp>
      <p:sp>
        <p:nvSpPr>
          <p:cNvPr id="293" name="Google Shape;293;g280b3b84e0b_0_6"/>
          <p:cNvSpPr txBox="1"/>
          <p:nvPr>
            <p:ph type="title"/>
          </p:nvPr>
        </p:nvSpPr>
        <p:spPr>
          <a:xfrm>
            <a:off x="3876085" y="879387"/>
            <a:ext cx="6853954" cy="40724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
        <p:nvSpPr>
          <p:cNvPr id="294" name="Google Shape;294;g280b3b84e0b_0_6"/>
          <p:cNvSpPr txBox="1"/>
          <p:nvPr>
            <p:ph type="title"/>
          </p:nvPr>
        </p:nvSpPr>
        <p:spPr>
          <a:xfrm>
            <a:off x="2268415" y="51200"/>
            <a:ext cx="8352692"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4"/>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0"/>
              </a:spcBef>
              <a:spcAft>
                <a:spcPts val="0"/>
              </a:spcAft>
              <a:buClr>
                <a:srgbClr val="2D3778"/>
              </a:buClr>
              <a:buSzPts val="1400"/>
              <a:buNone/>
            </a:pPr>
            <a:r>
              <a:t/>
            </a:r>
            <a:endParaRPr sz="1400">
              <a:solidFill>
                <a:srgbClr val="737373"/>
              </a:solidFill>
            </a:endParaRPr>
          </a:p>
          <a:p>
            <a:pPr indent="-317500" lvl="0" marL="457200" rtl="0" algn="l">
              <a:lnSpc>
                <a:spcPct val="90000"/>
              </a:lnSpc>
              <a:spcBef>
                <a:spcPts val="0"/>
              </a:spcBef>
              <a:spcAft>
                <a:spcPts val="0"/>
              </a:spcAft>
              <a:buClr>
                <a:srgbClr val="2D3778"/>
              </a:buClr>
              <a:buSzPts val="1400"/>
              <a:buChar char="▪"/>
            </a:pPr>
            <a:r>
              <a:rPr b="1" lang="en-US" sz="1400">
                <a:solidFill>
                  <a:srgbClr val="737373"/>
                </a:solidFill>
              </a:rPr>
              <a:t>Machine Learning Framework to Price Setting Risk Averse Data-Driven Newsvendor Problem: NFT Portfolio Management </a:t>
            </a:r>
            <a:r>
              <a:rPr lang="en-US" sz="1400">
                <a:solidFill>
                  <a:srgbClr val="737373"/>
                </a:solidFill>
              </a:rPr>
              <a:t>(E. Atsiz, E. Kayış, E. Albey)</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Rolling Look-Ahead Approaches for Optimal Classification Trees</a:t>
            </a:r>
            <a:r>
              <a:rPr lang="en-US" sz="1400">
                <a:solidFill>
                  <a:srgbClr val="737373"/>
                </a:solidFill>
              </a:rPr>
              <a:t> (under revision for IISE Transactions, B. Organ, E. Kayış and T. Khaniyev)</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Green FinTech: Sustainability of Bitcoin</a:t>
            </a:r>
            <a:r>
              <a:rPr lang="en-US" sz="1400">
                <a:solidFill>
                  <a:srgbClr val="737373"/>
                </a:solidFill>
              </a:rPr>
              <a:t> (submitted to Digital Finance, E. Kabaklarlı)</a:t>
            </a:r>
            <a:r>
              <a:rPr b="1" lang="en-US" sz="1800">
                <a:solidFill>
                  <a:srgbClr val="737373"/>
                </a:solidFill>
                <a:latin typeface="Times New Roman"/>
                <a:ea typeface="Times New Roman"/>
                <a:cs typeface="Times New Roman"/>
                <a:sym typeface="Times New Roman"/>
              </a:rPr>
              <a:t> </a:t>
            </a:r>
            <a:endParaRPr sz="1800">
              <a:solidFill>
                <a:srgbClr val="737373"/>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2D3778"/>
              </a:buClr>
              <a:buSzPts val="1400"/>
              <a:buChar char="▪"/>
            </a:pPr>
            <a:r>
              <a:rPr lang="en-US" sz="1400">
                <a:solidFill>
                  <a:srgbClr val="737373"/>
                </a:solidFill>
              </a:rPr>
              <a:t>Sustainable Innovation for Resilience and Efficiency Project, HORIZON-CL4-2024-RESILIENCE-01-41 with Codruta Mare and Rubin Haxhiymeri, Esra Kabaklarlı</a:t>
            </a:r>
            <a:endParaRPr sz="1400">
              <a:solidFill>
                <a:srgbClr val="737373"/>
              </a:solidFill>
            </a:endParaRPr>
          </a:p>
          <a:p>
            <a:pPr indent="-317500" lvl="0" marL="457200" rtl="0" algn="l">
              <a:lnSpc>
                <a:spcPct val="115000"/>
              </a:lnSpc>
              <a:spcBef>
                <a:spcPts val="0"/>
              </a:spcBef>
              <a:spcAft>
                <a:spcPts val="0"/>
              </a:spcAft>
              <a:buClr>
                <a:srgbClr val="2D3778"/>
              </a:buClr>
              <a:buSzPts val="1400"/>
              <a:buChar char="▪"/>
            </a:pPr>
            <a:r>
              <a:rPr lang="en-US" sz="1400">
                <a:solidFill>
                  <a:srgbClr val="737373"/>
                </a:solidFill>
              </a:rPr>
              <a:t>Erasmus KA220-YOU - Cooperation partnerships in youth . Project title : Young Green Entrepreneurship Ecosystem , Iceland, Turkey, Italy  (E. Kabaklarlı and Hanna Kristín Skaftadóttir)</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Erasmus+ KA220 HD nextGen ESG Application</a:t>
            </a:r>
            <a:r>
              <a:rPr lang="en-US" sz="1400">
                <a:solidFill>
                  <a:srgbClr val="737373"/>
                </a:solidFill>
              </a:rPr>
              <a:t> in October-Fabruary 2023-2024 </a:t>
            </a:r>
            <a:r>
              <a:rPr b="1" lang="en-US" sz="1400">
                <a:solidFill>
                  <a:srgbClr val="737373"/>
                </a:solidFill>
              </a:rPr>
              <a:t>with leadership of Turkey with Ö. Yıldırım</a:t>
            </a:r>
            <a:r>
              <a:rPr lang="en-US" sz="1400">
                <a:solidFill>
                  <a:srgbClr val="737373"/>
                </a:solidFill>
              </a:rPr>
              <a:t>, B. Öztürkkal, Maria Ionnario, Albuena Shala, Alessia Paccagnini et al.</a:t>
            </a:r>
            <a:endParaRPr sz="1400">
              <a:solidFill>
                <a:srgbClr val="737373"/>
              </a:solidFill>
            </a:endParaRPr>
          </a:p>
          <a:p>
            <a:pPr indent="-228600" lvl="0" marL="457200" rtl="0" algn="l">
              <a:lnSpc>
                <a:spcPct val="115000"/>
              </a:lnSpc>
              <a:spcBef>
                <a:spcPts val="0"/>
              </a:spcBef>
              <a:spcAft>
                <a:spcPts val="0"/>
              </a:spcAft>
              <a:buClr>
                <a:srgbClr val="2D3778"/>
              </a:buClr>
              <a:buSzPts val="1400"/>
              <a:buNone/>
            </a:pPr>
            <a:r>
              <a:t/>
            </a:r>
            <a:endParaRPr sz="1400">
              <a:solidFill>
                <a:srgbClr val="737373"/>
              </a:solidFill>
            </a:endParaRPr>
          </a:p>
          <a:p>
            <a:pPr indent="-228600" lvl="0" marL="457200" marR="0" rtl="0" algn="l">
              <a:lnSpc>
                <a:spcPct val="90000"/>
              </a:lnSpc>
              <a:spcBef>
                <a:spcPts val="1000"/>
              </a:spcBef>
              <a:spcAft>
                <a:spcPts val="0"/>
              </a:spcAft>
              <a:buClr>
                <a:schemeClr val="accent4"/>
              </a:buClr>
              <a:buSzPts val="2800"/>
              <a:buFont typeface="Noto Sans Symbols"/>
              <a:buNone/>
            </a:pPr>
            <a:r>
              <a:t/>
            </a:r>
            <a:endParaRPr/>
          </a:p>
        </p:txBody>
      </p:sp>
      <p:sp>
        <p:nvSpPr>
          <p:cNvPr id="300" name="Google Shape;300;p54"/>
          <p:cNvSpPr txBox="1"/>
          <p:nvPr>
            <p:ph type="title"/>
          </p:nvPr>
        </p:nvSpPr>
        <p:spPr>
          <a:xfrm>
            <a:off x="3277274" y="1364909"/>
            <a:ext cx="6853954" cy="40724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5"/>
          <p:cNvSpPr txBox="1"/>
          <p:nvPr>
            <p:ph idx="1" type="body"/>
          </p:nvPr>
        </p:nvSpPr>
        <p:spPr>
          <a:xfrm>
            <a:off x="874725" y="1450731"/>
            <a:ext cx="10225200" cy="4727119"/>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lang="en-US" sz="1400"/>
              <a:t>Discussion paper(s) on the methodology for evaluating/rating ICOs and crowdfunding/P2P platforms and for detection/early warning about fraud/illegal behaviour with emphasis on the application of AI tools as part of D7 (contributed by Gökçe Nur Yılmaz, Nadi Serhan Aydın, Pınar Nur, Eda Orhun and Esra Kabaklarlı)</a:t>
            </a:r>
            <a:endParaRPr/>
          </a:p>
          <a:p>
            <a:pPr indent="0" lvl="0" marL="139700" rtl="0" algn="l">
              <a:lnSpc>
                <a:spcPct val="115000"/>
              </a:lnSpc>
              <a:spcBef>
                <a:spcPts val="0"/>
              </a:spcBef>
              <a:spcAft>
                <a:spcPts val="0"/>
              </a:spcAft>
              <a:buSzPts val="1400"/>
              <a:buNone/>
            </a:pPr>
            <a:r>
              <a:t/>
            </a:r>
            <a:endParaRPr sz="1400"/>
          </a:p>
          <a:p>
            <a:pPr indent="-317500" lvl="0" marL="457200" rtl="0" algn="l">
              <a:lnSpc>
                <a:spcPct val="114999"/>
              </a:lnSpc>
              <a:spcBef>
                <a:spcPts val="0"/>
              </a:spcBef>
              <a:spcAft>
                <a:spcPts val="0"/>
              </a:spcAft>
              <a:buSzPts val="1400"/>
              <a:buChar char="▪"/>
            </a:pPr>
            <a:r>
              <a:rPr lang="en-US" sz="1400"/>
              <a:t>Methodological discussion paper on AI models to generate “failed trials” of investment product producers and on quantitative strategies with the usage of the promising field of network data analysis as part of D12 (contributed by Mutlu Akar and Nadi Serhan Aydın)</a:t>
            </a:r>
            <a:endParaRPr/>
          </a:p>
          <a:p>
            <a:pPr indent="-228600" lvl="0" marL="457200" rtl="0" algn="l">
              <a:lnSpc>
                <a:spcPct val="114999"/>
              </a:lnSpc>
              <a:spcBef>
                <a:spcPts val="0"/>
              </a:spcBef>
              <a:spcAft>
                <a:spcPts val="0"/>
              </a:spcAft>
              <a:buSzPts val="1400"/>
              <a:buNone/>
            </a:pPr>
            <a:r>
              <a:t/>
            </a:r>
            <a:endParaRPr sz="1400">
              <a:highlight>
                <a:srgbClr val="00FF00"/>
              </a:highlight>
            </a:endParaRPr>
          </a:p>
          <a:p>
            <a:pPr indent="-228600" lvl="0" marL="457200" rtl="0" algn="l">
              <a:lnSpc>
                <a:spcPct val="115000"/>
              </a:lnSpc>
              <a:spcBef>
                <a:spcPts val="0"/>
              </a:spcBef>
              <a:spcAft>
                <a:spcPts val="0"/>
              </a:spcAft>
              <a:buSzPts val="1400"/>
              <a:buNone/>
            </a:pPr>
            <a:r>
              <a:t/>
            </a:r>
            <a:endParaRPr/>
          </a:p>
        </p:txBody>
      </p:sp>
      <p:sp>
        <p:nvSpPr>
          <p:cNvPr id="307" name="Google Shape;307;p55"/>
          <p:cNvSpPr txBox="1"/>
          <p:nvPr>
            <p:ph type="title"/>
          </p:nvPr>
        </p:nvSpPr>
        <p:spPr>
          <a:xfrm>
            <a:off x="2602523" y="526271"/>
            <a:ext cx="7816362" cy="55717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
        <p:nvSpPr>
          <p:cNvPr id="308" name="Google Shape;308;p55"/>
          <p:cNvSpPr txBox="1"/>
          <p:nvPr>
            <p:ph type="title"/>
          </p:nvPr>
        </p:nvSpPr>
        <p:spPr>
          <a:xfrm>
            <a:off x="2268415" y="51200"/>
            <a:ext cx="8352692"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80b3b84e0b_0_25"/>
          <p:cNvSpPr txBox="1"/>
          <p:nvPr>
            <p:ph idx="1" type="body"/>
          </p:nvPr>
        </p:nvSpPr>
        <p:spPr>
          <a:xfrm>
            <a:off x="874713" y="2102946"/>
            <a:ext cx="10225200" cy="3666000"/>
          </a:xfrm>
          <a:prstGeom prst="rect">
            <a:avLst/>
          </a:prstGeom>
          <a:noFill/>
          <a:ln>
            <a:noFill/>
          </a:ln>
        </p:spPr>
        <p:txBody>
          <a:bodyPr anchorCtr="0" anchor="t" bIns="45700" lIns="91425" spcFirstLastPara="1" rIns="91425" wrap="square" tIns="45700">
            <a:noAutofit/>
          </a:bodyPr>
          <a:lstStyle/>
          <a:p>
            <a:pPr indent="-317500" lvl="0" marL="457200" rtl="0" algn="just">
              <a:lnSpc>
                <a:spcPct val="90000"/>
              </a:lnSpc>
              <a:spcBef>
                <a:spcPts val="0"/>
              </a:spcBef>
              <a:spcAft>
                <a:spcPts val="0"/>
              </a:spcAft>
              <a:buSzPts val="1400"/>
              <a:buChar char="▪"/>
            </a:pPr>
            <a:r>
              <a:rPr lang="en-US" sz="1400"/>
              <a:t>COST Virtual Mobility Grant,CA19130, </a:t>
            </a:r>
            <a:r>
              <a:rPr b="1" lang="en-US" sz="1400"/>
              <a:t>Cross-country survey transparency, investors’ perception </a:t>
            </a:r>
            <a:r>
              <a:rPr lang="en-US" sz="1400"/>
              <a:t>(</a:t>
            </a:r>
            <a:r>
              <a:rPr b="1" lang="en-US" sz="1400"/>
              <a:t>2021</a:t>
            </a:r>
            <a:r>
              <a:rPr lang="en-US" sz="1400"/>
              <a:t>- B. Öztürkkal with G. Pisoni, A. Tanda, P. Schwendner).</a:t>
            </a:r>
            <a:endParaRPr/>
          </a:p>
          <a:p>
            <a:pPr indent="-317500" lvl="0" marL="457200" rtl="0" algn="just">
              <a:lnSpc>
                <a:spcPct val="90000"/>
              </a:lnSpc>
              <a:spcBef>
                <a:spcPts val="0"/>
              </a:spcBef>
              <a:spcAft>
                <a:spcPts val="0"/>
              </a:spcAft>
              <a:buSzPts val="1400"/>
              <a:buChar char="▪"/>
            </a:pPr>
            <a:r>
              <a:rPr lang="en-US" sz="1400"/>
              <a:t>COST Virtual Mobility Grant,CA19130, </a:t>
            </a:r>
            <a:r>
              <a:rPr b="1" lang="en-US" sz="1400"/>
              <a:t>Venture Capital Bibliometric Analysis and Systematic Review </a:t>
            </a:r>
            <a:r>
              <a:rPr lang="en-US" sz="1400"/>
              <a:t>(</a:t>
            </a:r>
            <a:r>
              <a:rPr b="1" lang="en-US" sz="1400"/>
              <a:t>2022 </a:t>
            </a:r>
            <a:r>
              <a:rPr lang="en-US" sz="1400"/>
              <a:t>- B. Öztürkkal with P. Lameski, E. Zdravevski, A. Tanda, R. Wahlstrom, V. Trajkovik, C. Mare).</a:t>
            </a:r>
            <a:endParaRPr/>
          </a:p>
          <a:p>
            <a:pPr indent="-317500" lvl="0" marL="457200" rtl="0" algn="just">
              <a:lnSpc>
                <a:spcPct val="100000"/>
              </a:lnSpc>
              <a:spcBef>
                <a:spcPts val="0"/>
              </a:spcBef>
              <a:spcAft>
                <a:spcPts val="0"/>
              </a:spcAft>
              <a:buSzPts val="1400"/>
              <a:buChar char="▪"/>
            </a:pPr>
            <a:r>
              <a:rPr lang="en-US" sz="1400"/>
              <a:t>COST Virtual Mobility Grant,CA19130, </a:t>
            </a:r>
            <a:r>
              <a:rPr b="1" lang="en-US" sz="1400"/>
              <a:t>Bitcoin Mining and Its Environmental Effects; Nexus of Green FinTech</a:t>
            </a:r>
            <a:r>
              <a:rPr lang="en-US" sz="1400"/>
              <a:t>, 01 September 2021- 01 October 2021 Esra Kabaklarlı.</a:t>
            </a:r>
            <a:endParaRPr sz="1400"/>
          </a:p>
          <a:p>
            <a:pPr indent="-317500" lvl="0" marL="457200" rtl="0" algn="just">
              <a:lnSpc>
                <a:spcPct val="100000"/>
              </a:lnSpc>
              <a:spcBef>
                <a:spcPts val="0"/>
              </a:spcBef>
              <a:spcAft>
                <a:spcPts val="0"/>
              </a:spcAft>
              <a:buSzPts val="1400"/>
              <a:buChar char="▪"/>
            </a:pPr>
            <a:r>
              <a:rPr lang="en-US" sz="1400"/>
              <a:t>COST Virtual Mobility Grant CA19130 </a:t>
            </a:r>
            <a:r>
              <a:rPr b="1" lang="en-US" sz="1400">
                <a:highlight>
                  <a:srgbClr val="FCFCFC"/>
                </a:highlight>
              </a:rPr>
              <a:t>The Role of FinTech in Cashless Economy and Green Growth</a:t>
            </a:r>
            <a:r>
              <a:rPr lang="en-US" sz="1400">
                <a:highlight>
                  <a:srgbClr val="FCFCFC"/>
                </a:highlight>
              </a:rPr>
              <a:t>, 27/09/2022-06/10/2022 </a:t>
            </a:r>
            <a:r>
              <a:rPr lang="en-US" sz="1400"/>
              <a:t>Esra Kabaklarlı.</a:t>
            </a:r>
            <a:endParaRPr sz="1400"/>
          </a:p>
          <a:p>
            <a:pPr indent="-317500" lvl="0" marL="457200" rtl="0" algn="just">
              <a:lnSpc>
                <a:spcPct val="115000"/>
              </a:lnSpc>
              <a:spcBef>
                <a:spcPts val="0"/>
              </a:spcBef>
              <a:spcAft>
                <a:spcPts val="0"/>
              </a:spcAft>
              <a:buSzPts val="1400"/>
              <a:buChar char="▪"/>
            </a:pPr>
            <a:r>
              <a:rPr lang="en-US" sz="1400"/>
              <a:t>COST FinAI Summer School 2023, Data Science For Sustainable Finance And Economics, </a:t>
            </a:r>
            <a:r>
              <a:rPr b="1" lang="en-US" sz="1400"/>
              <a:t>Role of Green Fintech in Promoting Economic Growth, Evidence From The OECD Countries : Panel Data Analysis</a:t>
            </a:r>
            <a:r>
              <a:rPr lang="en-US" sz="1400"/>
              <a:t>, Esra Kabaklarlı</a:t>
            </a:r>
            <a:endParaRPr sz="1400"/>
          </a:p>
          <a:p>
            <a:pPr indent="-317500" lvl="0" marL="457200" rtl="0" algn="just">
              <a:lnSpc>
                <a:spcPct val="115000"/>
              </a:lnSpc>
              <a:spcBef>
                <a:spcPts val="0"/>
              </a:spcBef>
              <a:spcAft>
                <a:spcPts val="0"/>
              </a:spcAft>
              <a:buSzPts val="1400"/>
              <a:buChar char="▪"/>
            </a:pPr>
            <a:r>
              <a:rPr lang="en-US" sz="1400"/>
              <a:t>“A Machine Learning Method for Asset Allocation: Nodewise Regression”, A. Özlem Önder,  January 15, online seminer for the COST CA19130  Members.</a:t>
            </a:r>
            <a:endParaRPr sz="1400"/>
          </a:p>
          <a:p>
            <a:pPr indent="0" lvl="0" marL="457200" rtl="0" algn="l">
              <a:lnSpc>
                <a:spcPct val="100000"/>
              </a:lnSpc>
              <a:spcBef>
                <a:spcPts val="1200"/>
              </a:spcBef>
              <a:spcAft>
                <a:spcPts val="0"/>
              </a:spcAft>
              <a:buSzPts val="2800"/>
              <a:buNone/>
            </a:pPr>
            <a:r>
              <a:t/>
            </a:r>
            <a:endParaRPr/>
          </a:p>
        </p:txBody>
      </p:sp>
      <p:sp>
        <p:nvSpPr>
          <p:cNvPr id="315" name="Google Shape;315;g280b3b84e0b_0_25"/>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Networking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80b3b84e0b_0_12"/>
          <p:cNvSpPr txBox="1"/>
          <p:nvPr>
            <p:ph idx="1" type="body"/>
          </p:nvPr>
        </p:nvSpPr>
        <p:spPr>
          <a:xfrm>
            <a:off x="874725" y="1201825"/>
            <a:ext cx="10225200" cy="4566900"/>
          </a:xfrm>
          <a:prstGeom prst="rect">
            <a:avLst/>
          </a:prstGeom>
          <a:noFill/>
          <a:ln>
            <a:noFill/>
          </a:ln>
        </p:spPr>
        <p:txBody>
          <a:bodyPr anchorCtr="0" anchor="t" bIns="45700" lIns="91425" spcFirstLastPara="1" rIns="91425" wrap="square" tIns="45700">
            <a:noAutofit/>
          </a:bodyPr>
          <a:lstStyle/>
          <a:p>
            <a:pPr indent="0" lvl="0" marL="457200" rtl="0" algn="just">
              <a:lnSpc>
                <a:spcPct val="90000"/>
              </a:lnSpc>
              <a:spcBef>
                <a:spcPts val="0"/>
              </a:spcBef>
              <a:spcAft>
                <a:spcPts val="0"/>
              </a:spcAft>
              <a:buNone/>
            </a:pPr>
            <a:r>
              <a:t/>
            </a:r>
            <a:endParaRPr/>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 </a:t>
            </a:r>
            <a:r>
              <a:rPr lang="en-US" sz="1400"/>
              <a:t>Women in Fintech IV, Crete, Greece, presentation. Pınar Nur and G. Nur Yilmaz. </a:t>
            </a:r>
            <a:r>
              <a:rPr b="1" lang="en-US" sz="1400"/>
              <a:t>AI and Generative AI Based Transfer Pricing Tax Transparency</a:t>
            </a:r>
            <a:endParaRPr b="1" sz="1400"/>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a:t>
            </a:r>
            <a:r>
              <a:rPr b="1" lang="en-US" sz="1050">
                <a:solidFill>
                  <a:srgbClr val="FF0000"/>
                </a:solidFill>
              </a:rPr>
              <a:t>  </a:t>
            </a:r>
            <a:r>
              <a:rPr lang="en-US" sz="1400"/>
              <a:t>Book chapter on the Edited Volume on scientific achievements of the action CA19103. «Taxation of the Crowdfunding Platforms» (Pınar Nur), «Best practices of the integration of AI and generative AI for transparency in FinTech» (Gökçe Nur Yılmaz).</a:t>
            </a:r>
            <a:endParaRPr sz="1400"/>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 </a:t>
            </a:r>
            <a:r>
              <a:rPr lang="en-US" sz="1400"/>
              <a:t>Gran Canaria, Spain, presentation. B. Öztürkkal. </a:t>
            </a:r>
            <a:r>
              <a:rPr b="1" lang="en-US" sz="1400"/>
              <a:t>Fintech Report: Türkiye. </a:t>
            </a:r>
            <a:r>
              <a:rPr lang="en-US" sz="1400"/>
              <a:t>AI in finance and society - challenges and opportunities</a:t>
            </a:r>
            <a:endParaRPr b="1" sz="1400"/>
          </a:p>
          <a:p>
            <a:pPr indent="-355600" lvl="0" marL="457200" rtl="0" algn="just">
              <a:lnSpc>
                <a:spcPct val="90000"/>
              </a:lnSpc>
              <a:spcBef>
                <a:spcPts val="0"/>
              </a:spcBef>
              <a:spcAft>
                <a:spcPts val="0"/>
              </a:spcAft>
              <a:buSzPts val="2000"/>
              <a:buChar char="▪"/>
            </a:pPr>
            <a:r>
              <a:rPr b="1" lang="en-US" sz="1400">
                <a:solidFill>
                  <a:srgbClr val="FF0000"/>
                </a:solidFill>
              </a:rPr>
              <a:t>Second Phase of Erasmus+ </a:t>
            </a:r>
            <a:r>
              <a:rPr lang="en-US" sz="1400"/>
              <a:t>in </a:t>
            </a:r>
            <a:r>
              <a:rPr b="1" lang="en-US" sz="1400"/>
              <a:t>October 2024 </a:t>
            </a:r>
            <a:r>
              <a:rPr b="1" lang="en-US" sz="1400">
                <a:solidFill>
                  <a:srgbClr val="FF0000"/>
                </a:solidFill>
              </a:rPr>
              <a:t>nextGen ESG after application with leadership of Italy in 2024.</a:t>
            </a:r>
            <a:r>
              <a:rPr lang="en-US" sz="1400"/>
              <a:t> with M. Iannario, Ö. Yıldırım, M. Akar, B. Öztürkkal</a:t>
            </a:r>
            <a:endParaRPr/>
          </a:p>
          <a:p>
            <a:pPr indent="-355600" lvl="0" marL="457200" rtl="0" algn="just">
              <a:lnSpc>
                <a:spcPct val="90000"/>
              </a:lnSpc>
              <a:spcBef>
                <a:spcPts val="0"/>
              </a:spcBef>
              <a:spcAft>
                <a:spcPts val="0"/>
              </a:spcAft>
              <a:buSzPts val="2000"/>
              <a:buChar char="▪"/>
            </a:pPr>
            <a:r>
              <a:rPr lang="en-US" sz="1400"/>
              <a:t>Help create ties between researchers from Türkiye and our existing Action network</a:t>
            </a:r>
            <a:endParaRPr sz="1400"/>
          </a:p>
          <a:p>
            <a:pPr indent="-355600" lvl="0" marL="457200" rtl="0" algn="l">
              <a:lnSpc>
                <a:spcPct val="90000"/>
              </a:lnSpc>
              <a:spcBef>
                <a:spcPts val="0"/>
              </a:spcBef>
              <a:spcAft>
                <a:spcPts val="0"/>
              </a:spcAft>
              <a:buSzPts val="2000"/>
              <a:buChar char="▪"/>
            </a:pPr>
            <a:r>
              <a:rPr lang="en-US" sz="1400"/>
              <a:t>Inclusion of some of Türkiye s leading fintech companies (Sigortam.net, HangiKredi)  in the action</a:t>
            </a:r>
            <a:endParaRPr sz="1400"/>
          </a:p>
          <a:p>
            <a:pPr indent="-317500" lvl="0" marL="457200" rtl="0" algn="l">
              <a:spcBef>
                <a:spcPts val="1000"/>
              </a:spcBef>
              <a:spcAft>
                <a:spcPts val="0"/>
              </a:spcAft>
              <a:buSzPts val="1400"/>
              <a:buChar char="▪"/>
            </a:pPr>
            <a:r>
              <a:rPr b="1" lang="en-US" sz="1400">
                <a:solidFill>
                  <a:srgbClr val="FF0000"/>
                </a:solidFill>
              </a:rPr>
              <a:t>COST FinAI and COST DigiNET, Book Chapter</a:t>
            </a:r>
            <a:r>
              <a:rPr lang="en-US" sz="1400"/>
              <a:t>, Springer, </a:t>
            </a:r>
            <a:r>
              <a:rPr b="1" lang="en-US" sz="1400"/>
              <a:t>Impact of Financial Literacy Environmental, Social, and Governance (ESG), Saving and Borrowing Factors on Digital Experiences: A Multi-Country Survey Study Among the Elderly People</a:t>
            </a:r>
            <a:r>
              <a:rPr lang="en-US" sz="1400"/>
              <a:t> (ongoing </a:t>
            </a:r>
            <a:r>
              <a:rPr b="1" lang="en-US" sz="1400"/>
              <a:t>2024. </a:t>
            </a:r>
            <a:r>
              <a:rPr lang="en-US" sz="1400"/>
              <a:t>B. Öztürkkal with M. Iannario, C. Tarantola, A. Tanda, E. Kabaklarlı, R. Perri)</a:t>
            </a:r>
            <a:endParaRPr b="1" sz="1400">
              <a:solidFill>
                <a:srgbClr val="FF0000"/>
              </a:solidFill>
            </a:endParaRPr>
          </a:p>
          <a:p>
            <a:pPr indent="-317500" lvl="0" marL="457200" rtl="0" algn="l">
              <a:spcBef>
                <a:spcPts val="1000"/>
              </a:spcBef>
              <a:spcAft>
                <a:spcPts val="0"/>
              </a:spcAft>
              <a:buSzPts val="1400"/>
              <a:buChar char="▪"/>
            </a:pPr>
            <a:r>
              <a:rPr b="1" lang="en-US" sz="1400">
                <a:solidFill>
                  <a:srgbClr val="FF0000"/>
                </a:solidFill>
              </a:rPr>
              <a:t>COST FinAI, Book Chapter</a:t>
            </a:r>
            <a:r>
              <a:rPr lang="en-US" sz="1400"/>
              <a:t>, Springer or similar, D15. Zero Inflated Model Use with Survey Data of Italian Students. (ongoing </a:t>
            </a:r>
            <a:r>
              <a:rPr b="1" lang="en-US" sz="1400"/>
              <a:t>2024. </a:t>
            </a:r>
            <a:r>
              <a:rPr lang="en-US" sz="1400"/>
              <a:t>B. Öztürkkal with M. Iannario, C. Tarantola, A. Tanda)</a:t>
            </a:r>
            <a:endParaRPr sz="1400"/>
          </a:p>
          <a:p>
            <a:pPr indent="0" lvl="0" marL="457200" rtl="0" algn="l">
              <a:lnSpc>
                <a:spcPct val="90000"/>
              </a:lnSpc>
              <a:spcBef>
                <a:spcPts val="0"/>
              </a:spcBef>
              <a:spcAft>
                <a:spcPts val="0"/>
              </a:spcAft>
              <a:buNone/>
            </a:pPr>
            <a:r>
              <a:t/>
            </a:r>
            <a:endParaRPr sz="1400"/>
          </a:p>
          <a:p>
            <a:pPr indent="0" lvl="0" marL="457200" rtl="0" algn="l">
              <a:lnSpc>
                <a:spcPct val="90000"/>
              </a:lnSpc>
              <a:spcBef>
                <a:spcPts val="0"/>
              </a:spcBef>
              <a:spcAft>
                <a:spcPts val="0"/>
              </a:spcAft>
              <a:buSzPts val="2800"/>
              <a:buNone/>
            </a:pPr>
            <a:r>
              <a:t/>
            </a:r>
            <a:endParaRPr sz="1400"/>
          </a:p>
          <a:p>
            <a:pPr indent="0" lvl="0" marL="0" rtl="0" algn="l">
              <a:lnSpc>
                <a:spcPct val="90000"/>
              </a:lnSpc>
              <a:spcBef>
                <a:spcPts val="1000"/>
              </a:spcBef>
              <a:spcAft>
                <a:spcPts val="0"/>
              </a:spcAft>
              <a:buSzPts val="2800"/>
              <a:buNone/>
            </a:pPr>
            <a:r>
              <a:t/>
            </a:r>
            <a:endParaRPr/>
          </a:p>
        </p:txBody>
      </p:sp>
      <p:sp>
        <p:nvSpPr>
          <p:cNvPr id="322" name="Google Shape;322;g280b3b84e0b_0_12"/>
          <p:cNvSpPr txBox="1"/>
          <p:nvPr>
            <p:ph type="title"/>
          </p:nvPr>
        </p:nvSpPr>
        <p:spPr>
          <a:xfrm>
            <a:off x="1390050" y="1143900"/>
            <a:ext cx="7812000" cy="1028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Future Plans</a:t>
            </a:r>
            <a:endParaRPr/>
          </a:p>
        </p:txBody>
      </p:sp>
      <p:sp>
        <p:nvSpPr>
          <p:cNvPr id="323" name="Google Shape;323;g280b3b84e0b_0_12"/>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txBox="1"/>
          <p:nvPr>
            <p:ph idx="1" type="body"/>
          </p:nvPr>
        </p:nvSpPr>
        <p:spPr>
          <a:xfrm>
            <a:off x="874725" y="2102950"/>
            <a:ext cx="4978500" cy="3666000"/>
          </a:xfrm>
          <a:prstGeom prst="rect">
            <a:avLst/>
          </a:prstGeom>
          <a:noFill/>
          <a:ln>
            <a:noFill/>
          </a:ln>
        </p:spPr>
        <p:txBody>
          <a:bodyPr anchorCtr="0" anchor="t" bIns="45700" lIns="91425" spcFirstLastPara="1" rIns="91425" wrap="square" tIns="45700">
            <a:noAutofit/>
          </a:bodyPr>
          <a:lstStyle/>
          <a:p>
            <a:pPr indent="0" lvl="0" marL="50800" rtl="0" algn="l">
              <a:lnSpc>
                <a:spcPct val="150000"/>
              </a:lnSpc>
              <a:spcBef>
                <a:spcPts val="0"/>
              </a:spcBef>
              <a:spcAft>
                <a:spcPts val="0"/>
              </a:spcAft>
              <a:buSzPts val="2800"/>
              <a:buNone/>
            </a:pPr>
            <a:r>
              <a:rPr lang="en-US" sz="1300"/>
              <a:t>Prof.Dr.Ahmet ALKAN, WG 2	</a:t>
            </a:r>
            <a:endParaRPr sz="1300"/>
          </a:p>
          <a:p>
            <a:pPr indent="0" lvl="0" marL="50800" rtl="0" algn="l">
              <a:lnSpc>
                <a:spcPct val="150000"/>
              </a:lnSpc>
              <a:spcBef>
                <a:spcPts val="0"/>
              </a:spcBef>
              <a:spcAft>
                <a:spcPts val="0"/>
              </a:spcAft>
              <a:buSzPts val="2800"/>
              <a:buNone/>
            </a:pPr>
            <a:r>
              <a:rPr lang="en-US" sz="1300"/>
              <a:t>Prof. Mutlu AKAR, WG 2	</a:t>
            </a:r>
            <a:endParaRPr sz="1300"/>
          </a:p>
          <a:p>
            <a:pPr indent="0" lvl="0" marL="50800" rtl="0" algn="l">
              <a:lnSpc>
                <a:spcPct val="150000"/>
              </a:lnSpc>
              <a:spcBef>
                <a:spcPts val="0"/>
              </a:spcBef>
              <a:spcAft>
                <a:spcPts val="0"/>
              </a:spcAft>
              <a:buSzPts val="2800"/>
              <a:buNone/>
            </a:pPr>
            <a:r>
              <a:rPr lang="en-US" sz="1300"/>
              <a:t>Prof Ozgur YILDIRIM, WG 2	</a:t>
            </a:r>
            <a:endParaRPr sz="1300"/>
          </a:p>
          <a:p>
            <a:pPr indent="0" lvl="0" marL="50800" rtl="0" algn="l">
              <a:lnSpc>
                <a:spcPct val="150000"/>
              </a:lnSpc>
              <a:spcBef>
                <a:spcPts val="0"/>
              </a:spcBef>
              <a:spcAft>
                <a:spcPts val="0"/>
              </a:spcAft>
              <a:buSzPts val="2800"/>
              <a:buNone/>
            </a:pPr>
            <a:r>
              <a:rPr lang="en-US" sz="1300"/>
              <a:t>Dr. Seda TURK, WG 2	</a:t>
            </a:r>
            <a:endParaRPr sz="1300"/>
          </a:p>
          <a:p>
            <a:pPr indent="0" lvl="0" marL="50800" rtl="0" algn="l">
              <a:lnSpc>
                <a:spcPct val="150000"/>
              </a:lnSpc>
              <a:spcBef>
                <a:spcPts val="0"/>
              </a:spcBef>
              <a:spcAft>
                <a:spcPts val="0"/>
              </a:spcAft>
              <a:buSzPts val="2800"/>
              <a:buNone/>
            </a:pPr>
            <a:r>
              <a:rPr lang="en-US" sz="1300"/>
              <a:t>Prof. Belma OZTURKKAL, WG 2, WG 3</a:t>
            </a:r>
            <a:endParaRPr/>
          </a:p>
          <a:p>
            <a:pPr indent="0" lvl="0" marL="50800" rtl="0" algn="l">
              <a:lnSpc>
                <a:spcPct val="150000"/>
              </a:lnSpc>
              <a:spcBef>
                <a:spcPts val="0"/>
              </a:spcBef>
              <a:spcAft>
                <a:spcPts val="0"/>
              </a:spcAft>
              <a:buSzPts val="2800"/>
              <a:buNone/>
            </a:pPr>
            <a:r>
              <a:rPr lang="en-US" sz="1300"/>
              <a:t>Prof. Gokce Nur YILMAZ, WG 2	</a:t>
            </a:r>
            <a:endParaRPr sz="1300"/>
          </a:p>
          <a:p>
            <a:pPr indent="0" lvl="0" marL="50800" rtl="0" algn="l">
              <a:lnSpc>
                <a:spcPct val="150000"/>
              </a:lnSpc>
              <a:spcBef>
                <a:spcPts val="0"/>
              </a:spcBef>
              <a:spcAft>
                <a:spcPts val="0"/>
              </a:spcAft>
              <a:buSzPts val="2800"/>
              <a:buNone/>
            </a:pPr>
            <a:r>
              <a:rPr lang="en-US" sz="1300"/>
              <a:t>Prof. Ismail KIRBAS, WG 1, WG 2, WG 3</a:t>
            </a:r>
            <a:endParaRPr sz="1300"/>
          </a:p>
          <a:p>
            <a:pPr indent="0" lvl="0" marL="50800" rtl="0" algn="l">
              <a:lnSpc>
                <a:spcPct val="150000"/>
              </a:lnSpc>
              <a:spcBef>
                <a:spcPts val="0"/>
              </a:spcBef>
              <a:spcAft>
                <a:spcPts val="0"/>
              </a:spcAft>
              <a:buSzPts val="2800"/>
              <a:buNone/>
            </a:pPr>
            <a:r>
              <a:rPr lang="en-US" sz="1300">
                <a:solidFill>
                  <a:schemeClr val="dk2"/>
                </a:solidFill>
              </a:rPr>
              <a:t>Asst. Prof. Pınar Nur </a:t>
            </a:r>
            <a:r>
              <a:rPr lang="en-US" sz="1300"/>
              <a:t>WG 1, WG 2, WG 3</a:t>
            </a:r>
            <a:endParaRPr sz="1300"/>
          </a:p>
          <a:p>
            <a:pPr indent="0" lvl="0" marL="50800" rtl="0" algn="l">
              <a:lnSpc>
                <a:spcPct val="150000"/>
              </a:lnSpc>
              <a:spcBef>
                <a:spcPts val="0"/>
              </a:spcBef>
              <a:spcAft>
                <a:spcPts val="0"/>
              </a:spcAft>
              <a:buSzPts val="2800"/>
              <a:buNone/>
            </a:pPr>
            <a:r>
              <a:rPr lang="en-US" sz="1300"/>
              <a:t>Dr. Gamze OZTURK DANISMAN, WG 1, WG 2, WG 3	</a:t>
            </a:r>
            <a:endParaRPr sz="1300"/>
          </a:p>
          <a:p>
            <a:pPr indent="0" lvl="0" marL="50800" rtl="0" algn="l">
              <a:lnSpc>
                <a:spcPct val="150000"/>
              </a:lnSpc>
              <a:spcBef>
                <a:spcPts val="0"/>
              </a:spcBef>
              <a:spcAft>
                <a:spcPts val="0"/>
              </a:spcAft>
              <a:buSzPts val="2800"/>
              <a:buNone/>
            </a:pPr>
            <a:r>
              <a:rPr lang="en-US" sz="1300"/>
              <a:t>Mr. Bekir BERKCAN, WG 1, WG 2	</a:t>
            </a:r>
            <a:endParaRPr sz="1300"/>
          </a:p>
          <a:p>
            <a:pPr indent="0" lvl="0" marL="50800" rtl="0" algn="l">
              <a:lnSpc>
                <a:spcPct val="150000"/>
              </a:lnSpc>
              <a:spcBef>
                <a:spcPts val="0"/>
              </a:spcBef>
              <a:spcAft>
                <a:spcPts val="0"/>
              </a:spcAft>
              <a:buSzPts val="2800"/>
              <a:buNone/>
            </a:pPr>
            <a:r>
              <a:rPr lang="en-US" sz="1300"/>
              <a:t>Dr. Alper OZCAN, WG 1, WG 2, WG 3	</a:t>
            </a:r>
            <a:endParaRPr sz="1300"/>
          </a:p>
          <a:p>
            <a:pPr indent="0" lvl="0" marL="50800" rtl="0" algn="l">
              <a:lnSpc>
                <a:spcPct val="150000"/>
              </a:lnSpc>
              <a:spcBef>
                <a:spcPts val="0"/>
              </a:spcBef>
              <a:spcAft>
                <a:spcPts val="0"/>
              </a:spcAft>
              <a:buSzPts val="2800"/>
              <a:buNone/>
            </a:pPr>
            <a:r>
              <a:rPr lang="en-US" sz="1300"/>
              <a:t>Dr. Sinan HANAY, WG 1, WG 2, WG 3	</a:t>
            </a:r>
            <a:endParaRPr sz="1300"/>
          </a:p>
          <a:p>
            <a:pPr indent="0" lvl="0" marL="50800" rtl="0" algn="l">
              <a:lnSpc>
                <a:spcPct val="150000"/>
              </a:lnSpc>
              <a:spcBef>
                <a:spcPts val="0"/>
              </a:spcBef>
              <a:spcAft>
                <a:spcPts val="0"/>
              </a:spcAft>
              <a:buSzPts val="2800"/>
              <a:buNone/>
            </a:pPr>
            <a:r>
              <a:rPr lang="en-US" sz="1300"/>
              <a:t>Prof. Melike BILDIRICI, WG 1, WG 2	</a:t>
            </a:r>
            <a:endParaRPr sz="1300"/>
          </a:p>
          <a:p>
            <a:pPr indent="0" lvl="0" marL="50800" rtl="0" algn="l">
              <a:lnSpc>
                <a:spcPct val="150000"/>
              </a:lnSpc>
              <a:spcBef>
                <a:spcPts val="0"/>
              </a:spcBef>
              <a:spcAft>
                <a:spcPts val="0"/>
              </a:spcAft>
              <a:buSzPts val="2800"/>
              <a:buNone/>
            </a:pPr>
            <a:r>
              <a:rPr lang="en-US" sz="1300"/>
              <a:t>Associate Prof. Esra KABAKLARLI, WG 1, WG 3	</a:t>
            </a:r>
            <a:endParaRPr sz="1300"/>
          </a:p>
          <a:p>
            <a:pPr indent="0" lvl="0" marL="50800" rtl="0" algn="l">
              <a:lnSpc>
                <a:spcPct val="150000"/>
              </a:lnSpc>
              <a:spcBef>
                <a:spcPts val="0"/>
              </a:spcBef>
              <a:spcAft>
                <a:spcPts val="0"/>
              </a:spcAft>
              <a:buSzPts val="2800"/>
              <a:buNone/>
            </a:pPr>
            <a:r>
              <a:t/>
            </a:r>
            <a:endParaRPr sz="2900"/>
          </a:p>
        </p:txBody>
      </p:sp>
      <p:sp>
        <p:nvSpPr>
          <p:cNvPr id="329" name="Google Shape;329;p48"/>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US"/>
              <a:t>Members</a:t>
            </a:r>
            <a:endParaRPr/>
          </a:p>
        </p:txBody>
      </p:sp>
      <p:sp>
        <p:nvSpPr>
          <p:cNvPr id="330" name="Google Shape;330;p48"/>
          <p:cNvSpPr txBox="1"/>
          <p:nvPr/>
        </p:nvSpPr>
        <p:spPr>
          <a:xfrm>
            <a:off x="6802650" y="2102950"/>
            <a:ext cx="3908893" cy="2585293"/>
          </a:xfrm>
          <a:prstGeom prst="rect">
            <a:avLst/>
          </a:prstGeom>
          <a:noFill/>
          <a:ln>
            <a:noFill/>
          </a:ln>
        </p:spPr>
        <p:txBody>
          <a:bodyPr anchorCtr="0" anchor="t" bIns="91425" lIns="91425" spcFirstLastPara="1" rIns="91425" wrap="square" tIns="91425">
            <a:spAutoFit/>
          </a:bodyPr>
          <a:lstStyle/>
          <a:p>
            <a:pPr indent="0" lvl="0" marL="50800" marR="0" rtl="0" algn="l">
              <a:lnSpc>
                <a:spcPct val="150000"/>
              </a:lnSpc>
              <a:spcBef>
                <a:spcPts val="0"/>
              </a:spcBef>
              <a:spcAft>
                <a:spcPts val="0"/>
              </a:spcAft>
              <a:buNone/>
            </a:pPr>
            <a:r>
              <a:rPr b="0" i="0" lang="en-US" sz="1300" u="none" cap="none" strike="noStrike">
                <a:solidFill>
                  <a:schemeClr val="dk2"/>
                </a:solidFill>
                <a:latin typeface="Arial"/>
                <a:ea typeface="Arial"/>
                <a:cs typeface="Arial"/>
                <a:sym typeface="Arial"/>
              </a:rPr>
              <a:t>Prof. Enis KAYIS, WG 1, WG 2	</a:t>
            </a:r>
            <a:endParaRPr/>
          </a:p>
          <a:p>
            <a:pPr indent="0" lvl="0" marL="50800" marR="0" rtl="0" algn="l">
              <a:lnSpc>
                <a:spcPct val="150000"/>
              </a:lnSpc>
              <a:spcBef>
                <a:spcPts val="0"/>
              </a:spcBef>
              <a:spcAft>
                <a:spcPts val="0"/>
              </a:spcAft>
              <a:buClr>
                <a:schemeClr val="dk1"/>
              </a:buClr>
              <a:buSzPts val="2800"/>
              <a:buFont typeface="Arial"/>
              <a:buNone/>
            </a:pPr>
            <a:r>
              <a:rPr b="0" i="0" lang="en-US" sz="1300" u="none" cap="none" strike="noStrike">
                <a:solidFill>
                  <a:schemeClr val="dk2"/>
                </a:solidFill>
                <a:latin typeface="Arial"/>
                <a:ea typeface="Arial"/>
                <a:cs typeface="Arial"/>
                <a:sym typeface="Arial"/>
              </a:rPr>
              <a:t>Dr. Bertaç Şakir ŞAHİN WG1, WG2, 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Sadettin Haluk Çitçi 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Dr. Bekir CETINTAV, WG1, WG2</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Mr. Ferit BUYUKKECİCİ, WG1, WG2</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Gizay Daver, WG2,WG3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A. Özlem Önder WG3</a:t>
            </a:r>
            <a:endParaRPr/>
          </a:p>
          <a:p>
            <a:pPr indent="0" lvl="0" marL="50800" marR="0" rtl="0" algn="l">
              <a:lnSpc>
                <a:spcPct val="150000"/>
              </a:lnSpc>
              <a:spcBef>
                <a:spcPts val="0"/>
              </a:spcBef>
              <a:spcAft>
                <a:spcPts val="0"/>
              </a:spcAft>
              <a:buNone/>
            </a:pPr>
            <a:r>
              <a:rPr b="0" i="0" lang="en-US" sz="1300" u="none" cap="none" strike="noStrike">
                <a:solidFill>
                  <a:schemeClr val="dk2"/>
                </a:solidFill>
                <a:latin typeface="Arial"/>
                <a:ea typeface="Arial"/>
                <a:cs typeface="Arial"/>
                <a:sym typeface="Arial"/>
              </a:rPr>
              <a:t>Asst. Prof. N. Serhan Aydın, WG3</a:t>
            </a:r>
            <a:endParaRPr/>
          </a:p>
        </p:txBody>
      </p:sp>
      <p:sp>
        <p:nvSpPr>
          <p:cNvPr id="331" name="Google Shape;331;p48"/>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ST_ppt-16_9-color_3">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ST_ppt-16_9-color_2">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Piotr</dc:creator>
</cp:coreProperties>
</file>